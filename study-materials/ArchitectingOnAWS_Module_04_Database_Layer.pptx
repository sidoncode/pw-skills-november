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2.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855" r:id="rId4"/>
  </p:sldMasterIdLst>
  <p:notesMasterIdLst>
    <p:notesMasterId r:id="rId62"/>
  </p:notesMasterIdLst>
  <p:handoutMasterIdLst>
    <p:handoutMasterId r:id="rId63"/>
  </p:handoutMasterIdLst>
  <p:sldIdLst>
    <p:sldId id="350" r:id="rId5"/>
    <p:sldId id="358" r:id="rId6"/>
    <p:sldId id="351" r:id="rId7"/>
    <p:sldId id="379" r:id="rId8"/>
    <p:sldId id="373" r:id="rId9"/>
    <p:sldId id="390" r:id="rId10"/>
    <p:sldId id="391" r:id="rId11"/>
    <p:sldId id="392" r:id="rId12"/>
    <p:sldId id="382" r:id="rId13"/>
    <p:sldId id="393" r:id="rId14"/>
    <p:sldId id="396" r:id="rId15"/>
    <p:sldId id="394" r:id="rId16"/>
    <p:sldId id="397" r:id="rId17"/>
    <p:sldId id="381" r:id="rId18"/>
    <p:sldId id="416" r:id="rId19"/>
    <p:sldId id="424" r:id="rId20"/>
    <p:sldId id="425" r:id="rId21"/>
    <p:sldId id="386" r:id="rId22"/>
    <p:sldId id="398" r:id="rId23"/>
    <p:sldId id="257" r:id="rId24"/>
    <p:sldId id="402" r:id="rId25"/>
    <p:sldId id="401" r:id="rId26"/>
    <p:sldId id="408" r:id="rId27"/>
    <p:sldId id="399" r:id="rId28"/>
    <p:sldId id="431" r:id="rId29"/>
    <p:sldId id="404" r:id="rId30"/>
    <p:sldId id="400" r:id="rId31"/>
    <p:sldId id="409" r:id="rId32"/>
    <p:sldId id="315" r:id="rId33"/>
    <p:sldId id="430" r:id="rId34"/>
    <p:sldId id="407" r:id="rId35"/>
    <p:sldId id="406" r:id="rId36"/>
    <p:sldId id="405" r:id="rId37"/>
    <p:sldId id="403" r:id="rId38"/>
    <p:sldId id="410" r:id="rId39"/>
    <p:sldId id="417" r:id="rId40"/>
    <p:sldId id="429" r:id="rId41"/>
    <p:sldId id="418" r:id="rId42"/>
    <p:sldId id="419" r:id="rId43"/>
    <p:sldId id="420" r:id="rId44"/>
    <p:sldId id="412" r:id="rId45"/>
    <p:sldId id="428" r:id="rId46"/>
    <p:sldId id="509" r:id="rId47"/>
    <p:sldId id="510" r:id="rId48"/>
    <p:sldId id="511" r:id="rId49"/>
    <p:sldId id="413" r:id="rId50"/>
    <p:sldId id="380" r:id="rId51"/>
    <p:sldId id="383" r:id="rId52"/>
    <p:sldId id="414" r:id="rId53"/>
    <p:sldId id="415" r:id="rId54"/>
    <p:sldId id="503" r:id="rId55"/>
    <p:sldId id="504" r:id="rId56"/>
    <p:sldId id="505" r:id="rId57"/>
    <p:sldId id="506" r:id="rId58"/>
    <p:sldId id="507" r:id="rId59"/>
    <p:sldId id="508" r:id="rId60"/>
    <p:sldId id="372" r:id="rId61"/>
  </p:sldIdLst>
  <p:sldSz cx="12188825" cy="6858000"/>
  <p:notesSz cx="6858000" cy="9144000"/>
  <p:defaultTex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2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C1FF"/>
    <a:srgbClr val="008E7D"/>
    <a:srgbClr val="53A3B1"/>
    <a:srgbClr val="356A74"/>
    <a:srgbClr val="60B8C7"/>
    <a:srgbClr val="F68536"/>
    <a:srgbClr val="FF9900"/>
    <a:srgbClr val="E7E5E8"/>
    <a:srgbClr val="333E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94"/>
    <p:restoredTop sz="79133" autoAdjust="0"/>
  </p:normalViewPr>
  <p:slideViewPr>
    <p:cSldViewPr snapToGrid="0" snapToObjects="1">
      <p:cViewPr varScale="1">
        <p:scale>
          <a:sx n="100" d="100"/>
          <a:sy n="100" d="100"/>
        </p:scale>
        <p:origin x="672" y="176"/>
      </p:cViewPr>
      <p:guideLst/>
    </p:cSldViewPr>
  </p:slideViewPr>
  <p:outlineViewPr>
    <p:cViewPr>
      <p:scale>
        <a:sx n="33" d="100"/>
        <a:sy n="33" d="100"/>
      </p:scale>
      <p:origin x="0" y="-248"/>
    </p:cViewPr>
  </p:outlineViewPr>
  <p:notesTextViewPr>
    <p:cViewPr>
      <p:scale>
        <a:sx n="120" d="100"/>
        <a:sy n="120" d="100"/>
      </p:scale>
      <p:origin x="0" y="0"/>
    </p:cViewPr>
  </p:notesTextViewPr>
  <p:notesViewPr>
    <p:cSldViewPr snapToGrid="0" snapToObjects="1">
      <p:cViewPr varScale="1">
        <p:scale>
          <a:sx n="97" d="100"/>
          <a:sy n="97" d="100"/>
        </p:scale>
        <p:origin x="3688" y="2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son Devereux" userId="1e8ae8d7-e1e4-41d7-b1aa-07c9c7bdc58a" providerId="ADAL" clId="{076641FF-9835-5449-8D1F-CA1A59113F72}"/>
    <pc:docChg chg="modSld">
      <pc:chgData name="Season Devereux" userId="1e8ae8d7-e1e4-41d7-b1aa-07c9c7bdc58a" providerId="ADAL" clId="{076641FF-9835-5449-8D1F-CA1A59113F72}" dt="2020-08-17T23:55:58.831" v="43" actId="20577"/>
      <pc:docMkLst>
        <pc:docMk/>
      </pc:docMkLst>
      <pc:sldChg chg="modNotesTx">
        <pc:chgData name="Season Devereux" userId="1e8ae8d7-e1e4-41d7-b1aa-07c9c7bdc58a" providerId="ADAL" clId="{076641FF-9835-5449-8D1F-CA1A59113F72}" dt="2020-08-17T23:54:43.799" v="5" actId="20577"/>
        <pc:sldMkLst>
          <pc:docMk/>
          <pc:sldMk cId="1217966112" sldId="407"/>
        </pc:sldMkLst>
      </pc:sldChg>
      <pc:sldChg chg="modNotesTx">
        <pc:chgData name="Season Devereux" userId="1e8ae8d7-e1e4-41d7-b1aa-07c9c7bdc58a" providerId="ADAL" clId="{076641FF-9835-5449-8D1F-CA1A59113F72}" dt="2020-08-17T23:55:58.831" v="43" actId="20577"/>
        <pc:sldMkLst>
          <pc:docMk/>
          <pc:sldMk cId="2743867073" sldId="42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E0893DF8-D520-BB40-837C-91CE1787B0EB}" type="datetimeFigureOut">
              <a:rPr lang="en-US" smtClean="0"/>
              <a:t>10/1/20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98FB97-EEE8-A641-B9BA-ACE8418557CD}" type="slidenum">
              <a:rPr lang="en-US" smtClean="0"/>
              <a:t>‹#›</a:t>
            </a:fld>
            <a:endParaRPr lang="en-US" dirty="0"/>
          </a:p>
        </p:txBody>
      </p:sp>
    </p:spTree>
    <p:extLst>
      <p:ext uri="{BB962C8B-B14F-4D97-AF65-F5344CB8AC3E}">
        <p14:creationId xmlns:p14="http://schemas.microsoft.com/office/powerpoint/2010/main" val="1485269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1EFA781-CA11-2141-A5F7-C7B0DDD8E00E}" type="datetimeFigureOut">
              <a:rPr lang="en-US" smtClean="0"/>
              <a:t>10/1/20</a:t>
            </a:fld>
            <a:endParaRPr lang="en-US" dirty="0"/>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35696427"/>
      </p:ext>
    </p:extLst>
  </p:cSld>
  <p:clrMap bg1="lt1" tx1="dk1" bg2="lt2" tx2="dk2" accent1="accent1" accent2="accent2" accent3="accent3" accent4="accent4" accent5="accent5" accent6="accent6" hlink="hlink" folHlink="folHlink"/>
  <p:notesStyle>
    <a:lvl1pPr marL="0" algn="l" defTabSz="913395" rtl="0" eaLnBrk="1" latinLnBrk="0" hangingPunct="1">
      <a:defRPr sz="1200" kern="1200">
        <a:solidFill>
          <a:schemeClr val="tx1"/>
        </a:solidFill>
        <a:latin typeface="+mn-lt"/>
        <a:ea typeface="+mn-ea"/>
        <a:cs typeface="+mn-cs"/>
      </a:defRPr>
    </a:lvl1pPr>
    <a:lvl2pPr marL="456696" algn="l" defTabSz="913395" rtl="0" eaLnBrk="1" latinLnBrk="0" hangingPunct="1">
      <a:defRPr sz="1200" kern="1200">
        <a:solidFill>
          <a:schemeClr val="tx1"/>
        </a:solidFill>
        <a:latin typeface="+mn-lt"/>
        <a:ea typeface="+mn-ea"/>
        <a:cs typeface="+mn-cs"/>
      </a:defRPr>
    </a:lvl2pPr>
    <a:lvl3pPr marL="913395" algn="l" defTabSz="913395" rtl="0" eaLnBrk="1" latinLnBrk="0" hangingPunct="1">
      <a:defRPr sz="1200" kern="1200">
        <a:solidFill>
          <a:schemeClr val="tx1"/>
        </a:solidFill>
        <a:latin typeface="+mn-lt"/>
        <a:ea typeface="+mn-ea"/>
        <a:cs typeface="+mn-cs"/>
      </a:defRPr>
    </a:lvl3pPr>
    <a:lvl4pPr marL="1370091" algn="l" defTabSz="913395" rtl="0" eaLnBrk="1" latinLnBrk="0" hangingPunct="1">
      <a:defRPr sz="1200" kern="1200">
        <a:solidFill>
          <a:schemeClr val="tx1"/>
        </a:solidFill>
        <a:latin typeface="+mn-lt"/>
        <a:ea typeface="+mn-ea"/>
        <a:cs typeface="+mn-cs"/>
      </a:defRPr>
    </a:lvl4pPr>
    <a:lvl5pPr marL="1826787" algn="l" defTabSz="913395" rtl="0" eaLnBrk="1" latinLnBrk="0" hangingPunct="1">
      <a:defRPr sz="1200" kern="1200">
        <a:solidFill>
          <a:schemeClr val="tx1"/>
        </a:solidFill>
        <a:latin typeface="+mn-lt"/>
        <a:ea typeface="+mn-ea"/>
        <a:cs typeface="+mn-cs"/>
      </a:defRPr>
    </a:lvl5pPr>
    <a:lvl6pPr marL="2283486" algn="l" defTabSz="913395" rtl="0" eaLnBrk="1" latinLnBrk="0" hangingPunct="1">
      <a:defRPr sz="1200" kern="1200">
        <a:solidFill>
          <a:schemeClr val="tx1"/>
        </a:solidFill>
        <a:latin typeface="+mn-lt"/>
        <a:ea typeface="+mn-ea"/>
        <a:cs typeface="+mn-cs"/>
      </a:defRPr>
    </a:lvl6pPr>
    <a:lvl7pPr marL="2740183" algn="l" defTabSz="913395" rtl="0" eaLnBrk="1" latinLnBrk="0" hangingPunct="1">
      <a:defRPr sz="1200" kern="1200">
        <a:solidFill>
          <a:schemeClr val="tx1"/>
        </a:solidFill>
        <a:latin typeface="+mn-lt"/>
        <a:ea typeface="+mn-ea"/>
        <a:cs typeface="+mn-cs"/>
      </a:defRPr>
    </a:lvl7pPr>
    <a:lvl8pPr marL="3196881" algn="l" defTabSz="913395" rtl="0" eaLnBrk="1" latinLnBrk="0" hangingPunct="1">
      <a:defRPr sz="1200" kern="1200">
        <a:solidFill>
          <a:schemeClr val="tx1"/>
        </a:solidFill>
        <a:latin typeface="+mn-lt"/>
        <a:ea typeface="+mn-ea"/>
        <a:cs typeface="+mn-cs"/>
      </a:defRPr>
    </a:lvl8pPr>
    <a:lvl9pPr marL="3653578" algn="l" defTabSz="91339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aws.amazon.com/rds/oracle/"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docs.aws.amazon.com/amazondynamodb/latest/developerguide/transactions.html"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aws.amazon.com/blogs/aws/new-amazon-dynamodb-transactions/"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docs.aws.amazon.com/amazondynamodb/latest/developerguide/HowItWorks.Partitions.html#HowItWorks.Partitions.SimpleKey"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docs.aws.amazon.com/dms/latest/userguide/Welcome.html"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aws.amazon.com/snowball-edge/"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docs.aws.amazon.com/SchemaConversionTool/latest/userguide/Welcome.html"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4064815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u="none" dirty="0">
                <a:latin typeface="Calibri" panose="020F0502020204030204" pitchFamily="34" charset="0"/>
              </a:rPr>
              <a:t>By the end of class, you will be able to understand all of the components of this architectural diagram. You will also be able to construct your own architectural solutions that are just as large and robust. </a:t>
            </a:r>
          </a:p>
        </p:txBody>
      </p:sp>
    </p:spTree>
    <p:extLst>
      <p:ext uri="{BB962C8B-B14F-4D97-AF65-F5344CB8AC3E}">
        <p14:creationId xmlns:p14="http://schemas.microsoft.com/office/powerpoint/2010/main" val="2048485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507424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421992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Calibri" panose="020F0502020204030204" pitchFamily="34" charset="0"/>
                <a:ea typeface="+mn-ea"/>
                <a:cs typeface="+mn-cs"/>
              </a:rPr>
              <a:t> </a:t>
            </a:r>
          </a:p>
          <a:p>
            <a:endParaRPr lang="en-US" dirty="0"/>
          </a:p>
        </p:txBody>
      </p:sp>
    </p:spTree>
    <p:extLst>
      <p:ext uri="{BB962C8B-B14F-4D97-AF65-F5344CB8AC3E}">
        <p14:creationId xmlns:p14="http://schemas.microsoft.com/office/powerpoint/2010/main" val="2993833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Calibri" panose="020F0502020204030204" pitchFamily="34" charset="0"/>
                <a:ea typeface="+mn-ea"/>
                <a:cs typeface="+mn-cs"/>
              </a:rPr>
              <a:t> </a:t>
            </a:r>
          </a:p>
          <a:p>
            <a:endParaRPr lang="en-US" dirty="0"/>
          </a:p>
        </p:txBody>
      </p:sp>
    </p:spTree>
    <p:extLst>
      <p:ext uri="{BB962C8B-B14F-4D97-AF65-F5344CB8AC3E}">
        <p14:creationId xmlns:p14="http://schemas.microsoft.com/office/powerpoint/2010/main" val="1839382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Calibri" panose="020F0502020204030204" pitchFamily="34" charset="0"/>
                <a:ea typeface="+mn-ea"/>
                <a:cs typeface="+mn-cs"/>
              </a:rPr>
              <a:t> </a:t>
            </a:r>
          </a:p>
          <a:p>
            <a:endParaRPr lang="en-US" dirty="0"/>
          </a:p>
        </p:txBody>
      </p:sp>
    </p:spTree>
    <p:extLst>
      <p:ext uri="{BB962C8B-B14F-4D97-AF65-F5344CB8AC3E}">
        <p14:creationId xmlns:p14="http://schemas.microsoft.com/office/powerpoint/2010/main" val="872342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Calibri" panose="020F0502020204030204" pitchFamily="34" charset="0"/>
                <a:ea typeface="+mn-ea"/>
                <a:cs typeface="+mn-cs"/>
              </a:rPr>
              <a:t> </a:t>
            </a:r>
          </a:p>
          <a:p>
            <a:endParaRPr lang="en-US" dirty="0"/>
          </a:p>
        </p:txBody>
      </p:sp>
    </p:spTree>
    <p:extLst>
      <p:ext uri="{BB962C8B-B14F-4D97-AF65-F5344CB8AC3E}">
        <p14:creationId xmlns:p14="http://schemas.microsoft.com/office/powerpoint/2010/main" val="4271082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33008068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A SQL database stores data in rows and columns. </a:t>
            </a:r>
            <a:r>
              <a:rPr lang="en-US" i="1" dirty="0">
                <a:latin typeface="Calibri" panose="020F0502020204030204" pitchFamily="34" charset="0"/>
              </a:rPr>
              <a:t>Rows</a:t>
            </a:r>
            <a:r>
              <a:rPr lang="en-US" dirty="0">
                <a:latin typeface="Calibri" panose="020F0502020204030204" pitchFamily="34" charset="0"/>
              </a:rPr>
              <a:t> contain all the information about one entry, and </a:t>
            </a:r>
            <a:r>
              <a:rPr lang="en-US" i="1" dirty="0">
                <a:latin typeface="Calibri" panose="020F0502020204030204" pitchFamily="34" charset="0"/>
              </a:rPr>
              <a:t>columns</a:t>
            </a:r>
            <a:r>
              <a:rPr lang="en-US" dirty="0">
                <a:latin typeface="Calibri" panose="020F0502020204030204" pitchFamily="34" charset="0"/>
              </a:rPr>
              <a:t> are the attributes that separate the data points. A SQL database schema is fixed: columns must be locked before data entry. Schemas can be amended if the database is altered entirely and taken offline. Data in SQL databases is queried using SQL (Structure Query Language), which can allow for complex queries. SQL databases scale vertically by increasing hardware power.</a:t>
            </a:r>
          </a:p>
        </p:txBody>
      </p:sp>
    </p:spTree>
    <p:extLst>
      <p:ext uri="{BB962C8B-B14F-4D97-AF65-F5344CB8AC3E}">
        <p14:creationId xmlns:p14="http://schemas.microsoft.com/office/powerpoint/2010/main" val="1191165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600"/>
              </a:spcAft>
              <a:buClrTx/>
              <a:buSzTx/>
              <a:buFontTx/>
              <a:buNone/>
              <a:tabLst/>
              <a:defRPr/>
            </a:pPr>
            <a:endParaRPr lang="en-US" b="0" i="0" kern="1200" dirty="0">
              <a:solidFill>
                <a:schemeClr val="tx1"/>
              </a:solidFill>
              <a:effectLst/>
              <a:latin typeface="Calibri" panose="020F0502020204030204" pitchFamily="34" charset="0"/>
            </a:endParaRPr>
          </a:p>
          <a:p>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3537181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Calibri" panose="020F0502020204030204" pitchFamily="34" charset="0"/>
                <a:ea typeface="+mn-ea"/>
                <a:cs typeface="+mn-cs"/>
              </a:rPr>
              <a:t>A NoSQL database stores data using one of many storage models, including key-value pairs, documents, and graphs. NoSQL schemas are dynamic. A row doesn’t have to contain data for each column. Data in NoSQL databases is queried by focusing on collections of documents. NoSQL databases scale horizontally by increasing servers.</a:t>
            </a:r>
          </a:p>
          <a:p>
            <a:endParaRPr lang="en-US" dirty="0"/>
          </a:p>
        </p:txBody>
      </p:sp>
    </p:spTree>
    <p:extLst>
      <p:ext uri="{BB962C8B-B14F-4D97-AF65-F5344CB8AC3E}">
        <p14:creationId xmlns:p14="http://schemas.microsoft.com/office/powerpoint/2010/main" val="333362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2511222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2512955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In general: you are responsible for all security backups, DB tuning and replication.</a:t>
            </a:r>
          </a:p>
          <a:p>
            <a:endParaRPr lang="en-US" dirty="0">
              <a:latin typeface="Calibri" panose="020F0502020204030204" pitchFamily="34" charset="0"/>
            </a:endParaRPr>
          </a:p>
          <a:p>
            <a:r>
              <a:rPr lang="en-US" dirty="0">
                <a:latin typeface="Calibri" panose="020F0502020204030204" pitchFamily="34" charset="0"/>
              </a:rPr>
              <a:t>You might be required by compliance obligations to create a self-managed DB solution for your application.</a:t>
            </a:r>
          </a:p>
          <a:p>
            <a:endParaRPr lang="en-US" dirty="0"/>
          </a:p>
        </p:txBody>
      </p:sp>
    </p:spTree>
    <p:extLst>
      <p:ext uri="{BB962C8B-B14F-4D97-AF65-F5344CB8AC3E}">
        <p14:creationId xmlns:p14="http://schemas.microsoft.com/office/powerpoint/2010/main" val="312812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2549668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1065336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2"/>
            <a:r>
              <a:rPr lang="en-US" b="1" kern="1200" dirty="0">
                <a:solidFill>
                  <a:schemeClr val="tx1"/>
                </a:solidFill>
                <a:effectLst/>
                <a:latin typeface="Calibri" panose="020F0502020204030204" pitchFamily="34" charset="0"/>
                <a:ea typeface="+mn-ea"/>
                <a:cs typeface="+mn-cs"/>
              </a:rPr>
              <a:t>AWS-Managed Databases</a:t>
            </a:r>
          </a:p>
          <a:p>
            <a:pPr marL="0" lvl="2"/>
            <a:endParaRPr lang="en-US" kern="1200" dirty="0">
              <a:solidFill>
                <a:schemeClr val="tx1"/>
              </a:solidFill>
              <a:effectLst/>
              <a:latin typeface="Calibri" panose="020F0502020204030204" pitchFamily="34" charset="0"/>
              <a:ea typeface="+mn-ea"/>
              <a:cs typeface="+mn-cs"/>
            </a:endParaRPr>
          </a:p>
          <a:p>
            <a:pPr marL="0" lvl="2"/>
            <a:r>
              <a:rPr lang="en-US" kern="1200" dirty="0">
                <a:solidFill>
                  <a:schemeClr val="tx1"/>
                </a:solidFill>
                <a:effectLst/>
                <a:latin typeface="Calibri" panose="020F0502020204030204" pitchFamily="34" charset="0"/>
                <a:ea typeface="+mn-ea"/>
                <a:cs typeface="+mn-cs"/>
              </a:rPr>
              <a:t>These provide systems for high availability scalability and backups. Packages that you can opt into. Choose to use</a:t>
            </a:r>
          </a:p>
          <a:p>
            <a:pPr marL="0" lvl="2"/>
            <a:r>
              <a:rPr lang="en-US" kern="1200" dirty="0">
                <a:solidFill>
                  <a:schemeClr val="tx1"/>
                </a:solidFill>
                <a:effectLst/>
                <a:latin typeface="Calibri" panose="020F0502020204030204" pitchFamily="34" charset="0"/>
                <a:ea typeface="+mn-ea"/>
                <a:cs typeface="+mn-cs"/>
              </a:rPr>
              <a:t>scaling, high availability, database backups, database software patches, database software installs, OS patches</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Handing over the repetitive heavy lifting</a:t>
            </a:r>
          </a:p>
          <a:p>
            <a:r>
              <a:rPr lang="en-US" kern="1200" dirty="0">
                <a:solidFill>
                  <a:schemeClr val="tx1"/>
                </a:solidFill>
                <a:effectLst/>
                <a:latin typeface="Calibri" panose="020F0502020204030204" pitchFamily="34" charset="0"/>
                <a:ea typeface="+mn-ea"/>
                <a:cs typeface="+mn-cs"/>
              </a:rPr>
              <a:t>OS installation, server maintenance, rack and stack, Power,hvac,net</a:t>
            </a: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In general: You are responsible only for app optimization “making sure the database layer works as well as possible with your application” </a:t>
            </a:r>
          </a:p>
          <a:p>
            <a:endParaRPr lang="en-US" dirty="0"/>
          </a:p>
        </p:txBody>
      </p:sp>
    </p:spTree>
    <p:extLst>
      <p:ext uri="{BB962C8B-B14F-4D97-AF65-F5344CB8AC3E}">
        <p14:creationId xmlns:p14="http://schemas.microsoft.com/office/powerpoint/2010/main" val="6104955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2811510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Amazon Relational Database Service (RDS) for Oracle </a:t>
            </a:r>
            <a:r>
              <a:rPr lang="en-US" sz="1200" b="0" i="0" u="none" kern="1200" dirty="0">
                <a:solidFill>
                  <a:schemeClr val="tx1"/>
                </a:solidFill>
                <a:effectLst/>
                <a:latin typeface="+mn-lt"/>
                <a:ea typeface="+mn-ea"/>
                <a:cs typeface="+mn-cs"/>
              </a:rPr>
              <a:t>supports</a:t>
            </a:r>
            <a:r>
              <a:rPr lang="en-US" sz="1200" b="0" i="0" kern="1200" dirty="0">
                <a:solidFill>
                  <a:schemeClr val="tx1"/>
                </a:solidFill>
                <a:effectLst/>
                <a:latin typeface="+mn-lt"/>
                <a:ea typeface="+mn-ea"/>
                <a:cs typeface="+mn-cs"/>
              </a:rPr>
              <a:t> Read Replicas with Active Data Guard. Amazon RDS for Oracle makes it easy to create the replicas in the same AWS Region as the primary DB instance by fully managing the configuration of Active Data Guard, and maintaining secure network connections between a primary DB instance and its replicas.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more information, see: </a:t>
            </a:r>
            <a:r>
              <a:rPr lang="en-US" dirty="0">
                <a:hlinkClick r:id="rId3"/>
              </a:rPr>
              <a:t>https://aws.amazon.com/rds/oracle/</a:t>
            </a:r>
            <a:endParaRPr lang="en-US" dirty="0">
              <a:latin typeface="Calibri" panose="020F0502020204030204" pitchFamily="34" charset="0"/>
            </a:endParaRPr>
          </a:p>
        </p:txBody>
      </p:sp>
    </p:spTree>
    <p:extLst>
      <p:ext uri="{BB962C8B-B14F-4D97-AF65-F5344CB8AC3E}">
        <p14:creationId xmlns:p14="http://schemas.microsoft.com/office/powerpoint/2010/main" val="41294773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627864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902846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protect against accidental deletion of data, Amazon Relational Database Service (RDS) supports the retention of automated backups after database deletion. In situations where accidental data loss occurs, your Amazon RDS instance can be restored to any point in time defined by the retained backups. Any retained automatic backups will adhere to the lifecycle policy specified for the deleted database. The automated backups will be deleted after the specified retention period passes, removing the need for manually clearing any stale backups. </a:t>
            </a:r>
            <a:r>
              <a:rPr lang="en-US" sz="1200" kern="1200">
                <a:solidFill>
                  <a:schemeClr val="tx1"/>
                </a:solidFill>
                <a:effectLst/>
                <a:latin typeface="+mn-lt"/>
                <a:ea typeface="+mn-ea"/>
                <a:cs typeface="+mn-cs"/>
              </a:rPr>
              <a:t>This is available for MySQL, MariaDB, PostgreSQL, Oracle, and Microsoft SQL Server database engines.</a:t>
            </a:r>
          </a:p>
          <a:p>
            <a:endParaRPr lang="en-US" dirty="0">
              <a:latin typeface="Calibri" panose="020F0502020204030204" pitchFamily="34" charset="0"/>
            </a:endParaRPr>
          </a:p>
        </p:txBody>
      </p:sp>
    </p:spTree>
    <p:extLst>
      <p:ext uri="{BB962C8B-B14F-4D97-AF65-F5344CB8AC3E}">
        <p14:creationId xmlns:p14="http://schemas.microsoft.com/office/powerpoint/2010/main" val="9241169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34422029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5731983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7796119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Calibri" panose="020F0502020204030204" pitchFamily="34" charset="0"/>
                <a:ea typeface="+mn-ea"/>
                <a:cs typeface="+mn-cs"/>
              </a:rPr>
              <a:t>Amazon DynamoDB is a fast, NoSQL database service that makes it simple and cost-effective to store data. Its throughput and single-digit millisecond latency make it a great fit for gaming, ad tech, mobile, and many other applications. DynamoDB delivers seamless throughput and storage scaling via API and an easy-to-use management console, so you can easily scale up or down to meet your needs. Many AWS customers have, with the click of a button, created DynamoDB deployments in a matter of minutes that are able to serve trillions of database requests per year.</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DynamoDB tables do not have fixed schemas, and each item may have a different number of attributes. You can add secondary indexes to increase flexibility in the queries you can perform, without affecting performance. Performance, reliability, and security are built in, with SSD (solid state drive) storage and automatic three-way replication. DynamoDB uses proven cryptographic methods to securely authenticate users and prevent unauthorized data access.</a:t>
            </a:r>
          </a:p>
          <a:p>
            <a:endParaRPr lang="en-US" dirty="0"/>
          </a:p>
          <a:p>
            <a:r>
              <a:rPr lang="en-US" sz="1200" b="0" i="0" kern="1200" dirty="0">
                <a:solidFill>
                  <a:schemeClr val="tx1"/>
                </a:solidFill>
                <a:effectLst/>
                <a:latin typeface="+mn-lt"/>
                <a:ea typeface="+mn-ea"/>
                <a:cs typeface="+mn-cs"/>
              </a:rPr>
              <a:t>Amazon DynamoDB transactions simplify the developer experience of making coordinated, all-or-nothing changes to multiple items both within and across tables. Transactions provide atomicity, consistency, isolation, and durability (ACID) in DynamoDB, enabling you to maintain data correctness in your applications easily.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can use the DynamoDB transactional read and write APIs to manage complex business workflows that require adding, updating, or deleting multiple items as a single, all-or-nothing operation. For more information see: </a:t>
            </a:r>
            <a:r>
              <a:rPr lang="en-US" dirty="0">
                <a:hlinkClick r:id="rId3"/>
              </a:rPr>
              <a:t>https://docs.aws.amazon.com/amazondynamodb/latest/developerguide/transactions.html</a:t>
            </a:r>
            <a:endParaRPr lang="en-US" sz="1200" b="0" i="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711113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DynamoDB transactions provides ACID across one or more tables within a </a:t>
            </a:r>
            <a:r>
              <a:rPr lang="en-US" sz="1200" b="1" kern="1200" dirty="0">
                <a:solidFill>
                  <a:schemeClr val="tx1"/>
                </a:solidFill>
                <a:effectLst/>
                <a:latin typeface="+mn-lt"/>
                <a:ea typeface="+mn-ea"/>
                <a:cs typeface="+mn-cs"/>
              </a:rPr>
              <a:t>single AWS account and region. </a:t>
            </a:r>
            <a:r>
              <a:rPr lang="en-US" sz="1200" kern="1200" dirty="0">
                <a:solidFill>
                  <a:schemeClr val="tx1"/>
                </a:solidFill>
                <a:effectLst/>
                <a:latin typeface="+mn-lt"/>
                <a:ea typeface="+mn-ea"/>
                <a:cs typeface="+mn-cs"/>
              </a:rPr>
              <a:t>Can be used with</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applications that require coordinated inserts, deletes, or updates to multiple items.</a:t>
            </a:r>
          </a:p>
          <a:p>
            <a:r>
              <a:rPr lang="en-US" sz="1200" u="sng" kern="1200" dirty="0">
                <a:solidFill>
                  <a:schemeClr val="tx1"/>
                </a:solidFill>
                <a:effectLst/>
                <a:latin typeface="+mn-lt"/>
                <a:ea typeface="+mn-ea"/>
                <a:cs typeface="+mn-cs"/>
                <a:hlinkClick r:id="rId3"/>
              </a:rPr>
              <a:t>https://aws.amazon.com/blogs/aws/new-amazon-dynamodb-transactions/</a:t>
            </a:r>
            <a:r>
              <a:rPr lang="en-US" sz="1200" kern="1200" dirty="0">
                <a:solidFill>
                  <a:schemeClr val="tx1"/>
                </a:solidFill>
                <a:effectLst/>
                <a:latin typeface="+mn-lt"/>
                <a:ea typeface="+mn-ea"/>
                <a:cs typeface="+mn-cs"/>
              </a:rPr>
              <a:t> </a:t>
            </a:r>
          </a:p>
          <a:p>
            <a:endParaRPr lang="en-US" dirty="0">
              <a:latin typeface="Calibri" panose="020F0502020204030204" pitchFamily="34" charset="0"/>
            </a:endParaRPr>
          </a:p>
        </p:txBody>
      </p:sp>
    </p:spTree>
    <p:extLst>
      <p:ext uri="{BB962C8B-B14F-4D97-AF65-F5344CB8AC3E}">
        <p14:creationId xmlns:p14="http://schemas.microsoft.com/office/powerpoint/2010/main" val="30948926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In the world of DynamoDB, there is no schema. In a table, you have items. An item has </a:t>
            </a:r>
            <a:r>
              <a:rPr lang="en-US" i="1" dirty="0">
                <a:latin typeface="Calibri" panose="020F0502020204030204" pitchFamily="34" charset="0"/>
              </a:rPr>
              <a:t>variable attributes</a:t>
            </a:r>
            <a:r>
              <a:rPr lang="en-US" dirty="0">
                <a:latin typeface="Calibri" panose="020F0502020204030204" pitchFamily="34" charset="0"/>
              </a:rPr>
              <a:t> that have key-value pairs (similar to associative array or hash). In DynamoDB, they are called </a:t>
            </a:r>
            <a:r>
              <a:rPr lang="en-US" i="1" dirty="0">
                <a:latin typeface="Calibri" panose="020F0502020204030204" pitchFamily="34" charset="0"/>
              </a:rPr>
              <a:t>key</a:t>
            </a:r>
            <a:r>
              <a:rPr lang="en-US" dirty="0">
                <a:latin typeface="Calibri" panose="020F0502020204030204" pitchFamily="34" charset="0"/>
              </a:rPr>
              <a:t> and </a:t>
            </a:r>
            <a:r>
              <a:rPr lang="en-US" i="1" dirty="0">
                <a:latin typeface="Calibri" panose="020F0502020204030204" pitchFamily="34" charset="0"/>
              </a:rPr>
              <a:t>attribute</a:t>
            </a:r>
            <a:r>
              <a:rPr lang="en-US" dirty="0">
                <a:latin typeface="Calibri" panose="020F0502020204030204" pitchFamily="34" charset="0"/>
              </a:rPr>
              <a:t>.</a:t>
            </a:r>
          </a:p>
          <a:p>
            <a:endParaRPr lang="en-US" dirty="0">
              <a:latin typeface="Calibri" panose="020F0502020204030204" pitchFamily="34" charset="0"/>
            </a:endParaRPr>
          </a:p>
          <a:p>
            <a:r>
              <a:rPr lang="en-US" dirty="0">
                <a:latin typeface="Calibri" panose="020F0502020204030204" pitchFamily="34" charset="0"/>
              </a:rPr>
              <a:t>DynamoDB supports key-value GET/PUT operations using a user-defined primary key (partition key, also known as a hash key). The primary key is the only required attribute for items in a table and it uniquely identifies each item. You specify the primary key when you create a table. In addition, DynamoDB provides flexible querying by allowing queries on non-primary key attributes using Global Secondary Indexes and Local Secondary Indexes.</a:t>
            </a:r>
          </a:p>
          <a:p>
            <a:endParaRPr lang="en-US" dirty="0">
              <a:latin typeface="Calibri" panose="020F0502020204030204" pitchFamily="34" charset="0"/>
            </a:endParaRPr>
          </a:p>
          <a:p>
            <a:r>
              <a:rPr lang="en-US" dirty="0">
                <a:latin typeface="Calibri" panose="020F0502020204030204" pitchFamily="34" charset="0"/>
              </a:rPr>
              <a:t>A primary key can be a single-attribute partition key or a composite partition-sort key. A composite partition-sort key is indexed as a partition key element and sort (also known as range) key element. This multi-part key could be a combination of “UserID” (partition) and “Timestamp” (sort).  Holding the partition key element constant, you can search across the sort key element to retrieve items. For example, you can retrieve all items for a single UserID across a range of timestamps.</a:t>
            </a:r>
          </a:p>
          <a:p>
            <a:endParaRPr lang="en-US" dirty="0">
              <a:latin typeface="Calibri" panose="020F0502020204030204" pitchFamily="34" charset="0"/>
            </a:endParaRPr>
          </a:p>
          <a:p>
            <a:r>
              <a:rPr lang="en-US" dirty="0">
                <a:latin typeface="Calibri" panose="020F0502020204030204" pitchFamily="34" charset="0"/>
              </a:rPr>
              <a:t>Auto-partitioning occurs with data set size growth and as provisioned capacity increases.</a:t>
            </a:r>
          </a:p>
        </p:txBody>
      </p:sp>
    </p:spTree>
    <p:extLst>
      <p:ext uri="{BB962C8B-B14F-4D97-AF65-F5344CB8AC3E}">
        <p14:creationId xmlns:p14="http://schemas.microsoft.com/office/powerpoint/2010/main" val="2562240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Calibri" panose="020F0502020204030204" pitchFamily="34" charset="0"/>
                <a:ea typeface="+mn-ea"/>
                <a:cs typeface="+mn-cs"/>
              </a:rPr>
              <a:t>If the table has a composite primary key (partition key and sort key), DynamoDB calculates the hash value of the partition key in the same way as described in </a:t>
            </a:r>
            <a:r>
              <a:rPr lang="en-US" b="0" i="0" u="none" strike="noStrike" kern="1200" dirty="0">
                <a:solidFill>
                  <a:schemeClr val="tx1"/>
                </a:solidFill>
                <a:effectLst/>
                <a:latin typeface="Calibri" panose="020F0502020204030204" pitchFamily="34" charset="0"/>
                <a:ea typeface="+mn-ea"/>
                <a:cs typeface="+mn-cs"/>
                <a:hlinkClick r:id="rId3"/>
              </a:rPr>
              <a:t>Data Distribution: Partition Key</a:t>
            </a:r>
            <a:r>
              <a:rPr lang="en-US" b="0" i="0" kern="1200" dirty="0">
                <a:solidFill>
                  <a:schemeClr val="tx1"/>
                </a:solidFill>
                <a:effectLst/>
                <a:latin typeface="Calibri" panose="020F0502020204030204" pitchFamily="34" charset="0"/>
                <a:ea typeface="+mn-ea"/>
                <a:cs typeface="+mn-cs"/>
              </a:rPr>
              <a:t>—but it stores all of the items with the same partition key value physically close together, ordered by sort key value.</a:t>
            </a:r>
          </a:p>
          <a:p>
            <a:r>
              <a:rPr lang="en-US" b="0" i="0" kern="1200" dirty="0">
                <a:solidFill>
                  <a:schemeClr val="tx1"/>
                </a:solidFill>
                <a:effectLst/>
                <a:latin typeface="Calibri" panose="020F0502020204030204" pitchFamily="34" charset="0"/>
                <a:ea typeface="+mn-ea"/>
                <a:cs typeface="+mn-cs"/>
              </a:rPr>
              <a:t>To write an item to the table, DynamoDB calculates the hash value of the partition key to determine which partition should contain the item. In that partition, there could be several items with the same partition key value, so DynamoDB stores the item among the others with the same partition key, in ascending order by sort key.</a:t>
            </a:r>
          </a:p>
          <a:p>
            <a:r>
              <a:rPr lang="en-US" b="0" i="0" kern="1200" dirty="0">
                <a:solidFill>
                  <a:schemeClr val="tx1"/>
                </a:solidFill>
                <a:effectLst/>
                <a:latin typeface="Calibri" panose="020F0502020204030204" pitchFamily="34" charset="0"/>
                <a:ea typeface="+mn-ea"/>
                <a:cs typeface="+mn-cs"/>
              </a:rPr>
              <a:t>To read an item from the table, you must specify its partition key value and sort key value. DynamoDB calculates the partition key's hash value, yielding the partition in which the item can be found.</a:t>
            </a:r>
          </a:p>
          <a:p>
            <a:r>
              <a:rPr lang="en-US" b="0" i="0" kern="1200" dirty="0">
                <a:solidFill>
                  <a:schemeClr val="tx1"/>
                </a:solidFill>
                <a:effectLst/>
                <a:latin typeface="Calibri" panose="020F0502020204030204" pitchFamily="34" charset="0"/>
                <a:ea typeface="+mn-ea"/>
                <a:cs typeface="+mn-cs"/>
              </a:rPr>
              <a:t>You can read multiple items from the table in a single operation (Query), provided that the items you want have the same partition key value. DynamoDB returns all of the items with that partition key value. Optionally, you can apply a condition to the sort key so that it returns only the items within a certain range of values.</a:t>
            </a:r>
          </a:p>
          <a:p>
            <a:r>
              <a:rPr lang="en-US" b="0" i="0" kern="1200" dirty="0">
                <a:solidFill>
                  <a:schemeClr val="tx1"/>
                </a:solidFill>
                <a:effectLst/>
                <a:latin typeface="Calibri" panose="020F0502020204030204" pitchFamily="34" charset="0"/>
                <a:ea typeface="+mn-ea"/>
                <a:cs typeface="+mn-cs"/>
              </a:rPr>
              <a:t>Suppose that the </a:t>
            </a:r>
            <a:r>
              <a:rPr lang="en-US" b="0" i="1" kern="1200" dirty="0">
                <a:solidFill>
                  <a:schemeClr val="tx1"/>
                </a:solidFill>
                <a:effectLst/>
                <a:latin typeface="Calibri" panose="020F0502020204030204" pitchFamily="34" charset="0"/>
                <a:ea typeface="+mn-ea"/>
                <a:cs typeface="+mn-cs"/>
              </a:rPr>
              <a:t>Pets</a:t>
            </a:r>
            <a:r>
              <a:rPr lang="en-US" b="0" i="0" kern="1200" dirty="0">
                <a:solidFill>
                  <a:schemeClr val="tx1"/>
                </a:solidFill>
                <a:effectLst/>
                <a:latin typeface="Calibri" panose="020F0502020204030204" pitchFamily="34" charset="0"/>
                <a:ea typeface="+mn-ea"/>
                <a:cs typeface="+mn-cs"/>
              </a:rPr>
              <a:t> table has a composite primary key consisting of </a:t>
            </a:r>
            <a:r>
              <a:rPr lang="en-US" b="0" i="1" kern="1200" dirty="0">
                <a:solidFill>
                  <a:schemeClr val="tx1"/>
                </a:solidFill>
                <a:effectLst/>
                <a:latin typeface="Calibri" panose="020F0502020204030204" pitchFamily="34" charset="0"/>
                <a:ea typeface="+mn-ea"/>
                <a:cs typeface="+mn-cs"/>
              </a:rPr>
              <a:t>AnimalType</a:t>
            </a:r>
            <a:r>
              <a:rPr lang="en-US" b="0" i="0" kern="1200" dirty="0">
                <a:solidFill>
                  <a:schemeClr val="tx1"/>
                </a:solidFill>
                <a:effectLst/>
                <a:latin typeface="Calibri" panose="020F0502020204030204" pitchFamily="34" charset="0"/>
                <a:ea typeface="+mn-ea"/>
                <a:cs typeface="+mn-cs"/>
              </a:rPr>
              <a:t> (partition key) and </a:t>
            </a:r>
            <a:r>
              <a:rPr lang="en-US" b="0" i="1" kern="1200" dirty="0">
                <a:solidFill>
                  <a:schemeClr val="tx1"/>
                </a:solidFill>
                <a:effectLst/>
                <a:latin typeface="Calibri" panose="020F0502020204030204" pitchFamily="34" charset="0"/>
                <a:ea typeface="+mn-ea"/>
                <a:cs typeface="+mn-cs"/>
              </a:rPr>
              <a:t>Name</a:t>
            </a:r>
            <a:r>
              <a:rPr lang="en-US" b="0" i="0" kern="1200" dirty="0">
                <a:solidFill>
                  <a:schemeClr val="tx1"/>
                </a:solidFill>
                <a:effectLst/>
                <a:latin typeface="Calibri" panose="020F0502020204030204" pitchFamily="34" charset="0"/>
                <a:ea typeface="+mn-ea"/>
                <a:cs typeface="+mn-cs"/>
              </a:rPr>
              <a:t> (sort key). The following diagram shows DynamoDB writing an item with a partition key value of </a:t>
            </a:r>
            <a:r>
              <a:rPr lang="en-US" b="0" i="1" kern="1200" dirty="0">
                <a:solidFill>
                  <a:schemeClr val="tx1"/>
                </a:solidFill>
                <a:effectLst/>
                <a:latin typeface="Calibri" panose="020F0502020204030204" pitchFamily="34" charset="0"/>
                <a:ea typeface="+mn-ea"/>
                <a:cs typeface="+mn-cs"/>
              </a:rPr>
              <a:t>Dog</a:t>
            </a:r>
            <a:r>
              <a:rPr lang="en-US" b="0" i="0" kern="1200" dirty="0">
                <a:solidFill>
                  <a:schemeClr val="tx1"/>
                </a:solidFill>
                <a:effectLst/>
                <a:latin typeface="Calibri" panose="020F0502020204030204" pitchFamily="34" charset="0"/>
                <a:ea typeface="+mn-ea"/>
                <a:cs typeface="+mn-cs"/>
              </a:rPr>
              <a:t> and a sort key value of </a:t>
            </a:r>
            <a:r>
              <a:rPr lang="en-US" b="0" i="1" kern="1200" dirty="0">
                <a:solidFill>
                  <a:schemeClr val="tx1"/>
                </a:solidFill>
                <a:effectLst/>
                <a:latin typeface="Calibri" panose="020F0502020204030204" pitchFamily="34" charset="0"/>
                <a:ea typeface="+mn-ea"/>
                <a:cs typeface="+mn-cs"/>
              </a:rPr>
              <a:t>Fido</a:t>
            </a:r>
            <a:r>
              <a:rPr lang="en-US" b="0" i="0" kern="1200" dirty="0">
                <a:solidFill>
                  <a:schemeClr val="tx1"/>
                </a:solidFill>
                <a:effectLst/>
                <a:latin typeface="Calibri" panose="020F0502020204030204" pitchFamily="34" charset="0"/>
                <a:ea typeface="+mn-ea"/>
                <a:cs typeface="+mn-cs"/>
              </a:rPr>
              <a:t>.</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To read that same item from the </a:t>
            </a:r>
            <a:r>
              <a:rPr lang="en-US" b="0" i="1" kern="1200" dirty="0">
                <a:solidFill>
                  <a:schemeClr val="tx1"/>
                </a:solidFill>
                <a:effectLst/>
                <a:latin typeface="Calibri" panose="020F0502020204030204" pitchFamily="34" charset="0"/>
                <a:ea typeface="+mn-ea"/>
                <a:cs typeface="+mn-cs"/>
              </a:rPr>
              <a:t>Pets</a:t>
            </a:r>
            <a:r>
              <a:rPr lang="en-US" b="0" i="0" kern="1200" dirty="0">
                <a:solidFill>
                  <a:schemeClr val="tx1"/>
                </a:solidFill>
                <a:effectLst/>
                <a:latin typeface="Calibri" panose="020F0502020204030204" pitchFamily="34" charset="0"/>
                <a:ea typeface="+mn-ea"/>
                <a:cs typeface="+mn-cs"/>
              </a:rPr>
              <a:t> table, DynamoDB calculates the hash value of </a:t>
            </a:r>
            <a:r>
              <a:rPr lang="en-US" b="0" i="1" kern="1200" dirty="0">
                <a:solidFill>
                  <a:schemeClr val="tx1"/>
                </a:solidFill>
                <a:effectLst/>
                <a:latin typeface="Calibri" panose="020F0502020204030204" pitchFamily="34" charset="0"/>
                <a:ea typeface="+mn-ea"/>
                <a:cs typeface="+mn-cs"/>
              </a:rPr>
              <a:t>Dog</a:t>
            </a:r>
            <a:r>
              <a:rPr lang="en-US" b="0" i="0" kern="1200" dirty="0">
                <a:solidFill>
                  <a:schemeClr val="tx1"/>
                </a:solidFill>
                <a:effectLst/>
                <a:latin typeface="Calibri" panose="020F0502020204030204" pitchFamily="34" charset="0"/>
                <a:ea typeface="+mn-ea"/>
                <a:cs typeface="+mn-cs"/>
              </a:rPr>
              <a:t>, yielding the partition in which these items are stored. DynamoDB then scans the sort key attribute values until it finds Fido.</a:t>
            </a:r>
          </a:p>
          <a:p>
            <a:r>
              <a:rPr lang="en-US" b="0" i="0" kern="1200" dirty="0">
                <a:solidFill>
                  <a:schemeClr val="tx1"/>
                </a:solidFill>
                <a:effectLst/>
                <a:latin typeface="Calibri" panose="020F0502020204030204" pitchFamily="34" charset="0"/>
                <a:ea typeface="+mn-ea"/>
                <a:cs typeface="+mn-cs"/>
              </a:rPr>
              <a:t>To read all of the items with an </a:t>
            </a:r>
            <a:r>
              <a:rPr lang="en-US" b="0" i="1" kern="1200" dirty="0">
                <a:solidFill>
                  <a:schemeClr val="tx1"/>
                </a:solidFill>
                <a:effectLst/>
                <a:latin typeface="Calibri" panose="020F0502020204030204" pitchFamily="34" charset="0"/>
                <a:ea typeface="+mn-ea"/>
                <a:cs typeface="+mn-cs"/>
              </a:rPr>
              <a:t>AnimalType</a:t>
            </a:r>
            <a:r>
              <a:rPr lang="en-US" b="0" i="0" kern="1200" dirty="0">
                <a:solidFill>
                  <a:schemeClr val="tx1"/>
                </a:solidFill>
                <a:effectLst/>
                <a:latin typeface="Calibri" panose="020F0502020204030204" pitchFamily="34" charset="0"/>
                <a:ea typeface="+mn-ea"/>
                <a:cs typeface="+mn-cs"/>
              </a:rPr>
              <a:t> of </a:t>
            </a:r>
            <a:r>
              <a:rPr lang="en-US" b="0" i="1" kern="1200" dirty="0">
                <a:solidFill>
                  <a:schemeClr val="tx1"/>
                </a:solidFill>
                <a:effectLst/>
                <a:latin typeface="Calibri" panose="020F0502020204030204" pitchFamily="34" charset="0"/>
                <a:ea typeface="+mn-ea"/>
                <a:cs typeface="+mn-cs"/>
              </a:rPr>
              <a:t>Dog</a:t>
            </a:r>
            <a:r>
              <a:rPr lang="en-US" b="0" i="0" kern="1200" dirty="0">
                <a:solidFill>
                  <a:schemeClr val="tx1"/>
                </a:solidFill>
                <a:effectLst/>
                <a:latin typeface="Calibri" panose="020F0502020204030204" pitchFamily="34" charset="0"/>
                <a:ea typeface="+mn-ea"/>
                <a:cs typeface="+mn-cs"/>
              </a:rPr>
              <a:t>, you can issue a Query operation without specifying a sort key condition. By default, the items are returned in the order that they are stored (that is, in ascending order by sort key). Optionally, you can request descending order instead.</a:t>
            </a:r>
          </a:p>
          <a:p>
            <a:endParaRPr lang="en-US" b="0" i="0" kern="1200" dirty="0">
              <a:solidFill>
                <a:schemeClr val="tx1"/>
              </a:solidFill>
              <a:effectLst/>
              <a:latin typeface="Calibri" panose="020F0502020204030204" pitchFamily="34" charset="0"/>
              <a:ea typeface="+mn-ea"/>
              <a:cs typeface="+mn-cs"/>
            </a:endParaRPr>
          </a:p>
          <a:p>
            <a:endParaRPr lang="en-US" dirty="0"/>
          </a:p>
        </p:txBody>
      </p:sp>
    </p:spTree>
    <p:extLst>
      <p:ext uri="{BB962C8B-B14F-4D97-AF65-F5344CB8AC3E}">
        <p14:creationId xmlns:p14="http://schemas.microsoft.com/office/powerpoint/2010/main" val="42832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Calibri" panose="020F0502020204030204" pitchFamily="34" charset="0"/>
                <a:ea typeface="+mn-ea"/>
              </a:rPr>
              <a:t>A </a:t>
            </a:r>
            <a:r>
              <a:rPr lang="en-US" b="0" i="1" kern="1200" dirty="0">
                <a:solidFill>
                  <a:schemeClr val="tx1"/>
                </a:solidFill>
                <a:effectLst/>
                <a:latin typeface="Calibri" panose="020F0502020204030204" pitchFamily="34" charset="0"/>
                <a:ea typeface="+mn-ea"/>
              </a:rPr>
              <a:t>global table</a:t>
            </a:r>
            <a:r>
              <a:rPr lang="en-US" b="0" i="0" kern="1200" dirty="0">
                <a:solidFill>
                  <a:schemeClr val="tx1"/>
                </a:solidFill>
                <a:effectLst/>
                <a:latin typeface="Calibri" panose="020F0502020204030204" pitchFamily="34" charset="0"/>
                <a:ea typeface="+mn-ea"/>
              </a:rPr>
              <a:t> is a collection of one or more DynamoDB</a:t>
            </a:r>
            <a:r>
              <a:rPr lang="en-US" b="0" i="0" kern="1200" baseline="0" dirty="0">
                <a:solidFill>
                  <a:schemeClr val="tx1"/>
                </a:solidFill>
                <a:effectLst/>
                <a:latin typeface="Calibri" panose="020F0502020204030204" pitchFamily="34" charset="0"/>
                <a:ea typeface="+mn-ea"/>
              </a:rPr>
              <a:t> tables, </a:t>
            </a:r>
            <a:r>
              <a:rPr lang="en-US" b="0" i="0" kern="1200" dirty="0">
                <a:solidFill>
                  <a:schemeClr val="tx1"/>
                </a:solidFill>
                <a:effectLst/>
                <a:latin typeface="Calibri" panose="020F0502020204030204" pitchFamily="34" charset="0"/>
                <a:ea typeface="+mn-ea"/>
              </a:rPr>
              <a:t>all owned by a single AWS account,</a:t>
            </a:r>
            <a:r>
              <a:rPr lang="en-US" b="0" i="0" kern="1200" baseline="0" dirty="0">
                <a:solidFill>
                  <a:schemeClr val="tx1"/>
                </a:solidFill>
                <a:effectLst/>
                <a:latin typeface="Calibri" panose="020F0502020204030204" pitchFamily="34" charset="0"/>
                <a:ea typeface="+mn-ea"/>
              </a:rPr>
              <a:t> identified as </a:t>
            </a:r>
            <a:r>
              <a:rPr lang="en-US" b="0" i="0" kern="1200" dirty="0">
                <a:solidFill>
                  <a:schemeClr val="tx1"/>
                </a:solidFill>
                <a:effectLst/>
                <a:latin typeface="Calibri" panose="020F0502020204030204" pitchFamily="34" charset="0"/>
                <a:ea typeface="+mn-ea"/>
              </a:rPr>
              <a:t>replica tables.</a:t>
            </a:r>
            <a:r>
              <a:rPr lang="en-US" b="0" i="0" kern="1200" baseline="0" dirty="0">
                <a:solidFill>
                  <a:schemeClr val="tx1"/>
                </a:solidFill>
                <a:effectLst/>
                <a:latin typeface="Calibri" panose="020F0502020204030204" pitchFamily="34" charset="0"/>
                <a:ea typeface="+mn-ea"/>
              </a:rPr>
              <a:t> </a:t>
            </a:r>
            <a:r>
              <a:rPr lang="en-US" b="0" i="0" kern="1200" dirty="0">
                <a:solidFill>
                  <a:schemeClr val="tx1"/>
                </a:solidFill>
                <a:effectLst/>
                <a:latin typeface="Calibri" panose="020F0502020204030204" pitchFamily="34" charset="0"/>
                <a:ea typeface="+mn-ea"/>
              </a:rPr>
              <a:t>A </a:t>
            </a:r>
            <a:r>
              <a:rPr lang="en-US" b="0" i="1" kern="1200" dirty="0">
                <a:solidFill>
                  <a:schemeClr val="tx1"/>
                </a:solidFill>
                <a:effectLst/>
                <a:latin typeface="Calibri" panose="020F0502020204030204" pitchFamily="34" charset="0"/>
                <a:ea typeface="+mn-ea"/>
              </a:rPr>
              <a:t>replica table</a:t>
            </a:r>
            <a:r>
              <a:rPr lang="en-US" b="0" i="0" kern="1200" dirty="0">
                <a:solidFill>
                  <a:schemeClr val="tx1"/>
                </a:solidFill>
                <a:effectLst/>
                <a:latin typeface="Calibri" panose="020F0502020204030204" pitchFamily="34" charset="0"/>
                <a:ea typeface="+mn-ea"/>
              </a:rPr>
              <a:t> (or </a:t>
            </a:r>
            <a:r>
              <a:rPr lang="en-US" b="0" i="1" kern="1200" dirty="0">
                <a:solidFill>
                  <a:schemeClr val="tx1"/>
                </a:solidFill>
                <a:effectLst/>
                <a:latin typeface="Calibri" panose="020F0502020204030204" pitchFamily="34" charset="0"/>
                <a:ea typeface="+mn-ea"/>
              </a:rPr>
              <a:t>replica</a:t>
            </a:r>
            <a:r>
              <a:rPr lang="en-US" b="0" i="0" kern="1200" dirty="0">
                <a:solidFill>
                  <a:schemeClr val="tx1"/>
                </a:solidFill>
                <a:effectLst/>
                <a:latin typeface="Calibri" panose="020F0502020204030204" pitchFamily="34" charset="0"/>
                <a:ea typeface="+mn-ea"/>
              </a:rPr>
              <a:t>, for short) is a single DynamoDB table that functions as a part of a global table. Each replica stores the same set of data items. Any given global table can only have one replica table per region,</a:t>
            </a:r>
            <a:r>
              <a:rPr lang="en-US" b="0" i="0" kern="1200" baseline="0" dirty="0">
                <a:solidFill>
                  <a:schemeClr val="tx1"/>
                </a:solidFill>
                <a:effectLst/>
                <a:latin typeface="Calibri" panose="020F0502020204030204" pitchFamily="34" charset="0"/>
                <a:ea typeface="+mn-ea"/>
              </a:rPr>
              <a:t> and e</a:t>
            </a:r>
            <a:r>
              <a:rPr lang="en-US" b="0" i="0" kern="1200" dirty="0">
                <a:solidFill>
                  <a:schemeClr val="tx1"/>
                </a:solidFill>
                <a:effectLst/>
                <a:latin typeface="Calibri" panose="020F0502020204030204" pitchFamily="34" charset="0"/>
                <a:ea typeface="+mn-ea"/>
              </a:rPr>
              <a:t>very replica has the same table name and the same primary key schema.</a:t>
            </a:r>
          </a:p>
          <a:p>
            <a:endParaRPr lang="en-US" b="0" i="0" kern="1200" dirty="0">
              <a:solidFill>
                <a:schemeClr val="tx1"/>
              </a:solidFill>
              <a:effectLst/>
              <a:latin typeface="Calibri" panose="020F0502020204030204" pitchFamily="34" charset="0"/>
              <a:ea typeface="+mn-ea"/>
            </a:endParaRPr>
          </a:p>
          <a:p>
            <a:r>
              <a:rPr lang="en-US" b="0" i="0" kern="1200" dirty="0">
                <a:solidFill>
                  <a:schemeClr val="tx1"/>
                </a:solidFill>
                <a:effectLst/>
                <a:latin typeface="Calibri" panose="020F0502020204030204" pitchFamily="34" charset="0"/>
                <a:ea typeface="+mn-ea"/>
              </a:rPr>
              <a:t>Amazon DynamoDB global tables provide a fully managed solution for deploying a multi-region, multi-master database, without having to build and maintain your own replication solution. When you create a global table, you specify the AWS regions where you want the table to be available. DynamoDB performs all of the necessary tasks to create identical tables in these regions, and propagate ongoing data changes to all of them.</a:t>
            </a:r>
            <a:endParaRPr lang="en-US" kern="1200" dirty="0">
              <a:solidFill>
                <a:schemeClr val="tx1"/>
              </a:solidFill>
              <a:effectLst/>
              <a:latin typeface="Calibri" panose="020F0502020204030204" pitchFamily="34" charset="0"/>
              <a:ea typeface="+mn-ea"/>
              <a:cs typeface="Arial" panose="020B0604020202020204" pitchFamily="34" charset="0"/>
            </a:endParaRPr>
          </a:p>
          <a:p>
            <a:endParaRPr lang="en-US" dirty="0"/>
          </a:p>
        </p:txBody>
      </p:sp>
    </p:spTree>
    <p:extLst>
      <p:ext uri="{BB962C8B-B14F-4D97-AF65-F5344CB8AC3E}">
        <p14:creationId xmlns:p14="http://schemas.microsoft.com/office/powerpoint/2010/main" val="15122626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3334379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31192655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511439"/>
          </a:xfrm>
        </p:spPr>
        <p:txBody>
          <a:bodyPr/>
          <a:lstStyle/>
          <a:p>
            <a:r>
              <a:rPr lang="en-US" kern="1200" dirty="0">
                <a:solidFill>
                  <a:schemeClr val="tx1"/>
                </a:solidFill>
                <a:effectLst/>
                <a:latin typeface="Calibri" panose="020F0502020204030204" pitchFamily="34" charset="0"/>
                <a:ea typeface="+mn-ea"/>
                <a:cs typeface="+mn-cs"/>
              </a:rPr>
              <a:t>Read consistency represents the manner and timing in which the successful write or update of a data item is reflected in a subsequent read operation of that same item. Amazon DynamoDB exposes logic that enables you to specify the consistency characteristics you desire for each read request within your application.</a:t>
            </a:r>
          </a:p>
          <a:p>
            <a:r>
              <a:rPr lang="en-US" kern="1200" dirty="0">
                <a:solidFill>
                  <a:schemeClr val="tx1"/>
                </a:solidFill>
                <a:effectLst/>
                <a:latin typeface="Calibri" panose="020F0502020204030204" pitchFamily="34" charset="0"/>
                <a:ea typeface="+mn-ea"/>
                <a:cs typeface="+mn-cs"/>
              </a:rPr>
              <a:t> </a:t>
            </a:r>
          </a:p>
          <a:p>
            <a:r>
              <a:rPr lang="en-US" b="1" kern="1200" dirty="0">
                <a:solidFill>
                  <a:schemeClr val="tx1"/>
                </a:solidFill>
                <a:effectLst/>
                <a:latin typeface="Calibri" panose="020F0502020204030204" pitchFamily="34" charset="0"/>
                <a:ea typeface="+mn-ea"/>
                <a:cs typeface="+mn-cs"/>
              </a:rPr>
              <a:t>Eventually Consistent Reads</a:t>
            </a:r>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When you read data from a DynamoDB table, the response might not reflect the results of a recently completed write operation. The response might include some stale data. If you repeat your read request after a short time, the response should return the latest data.</a:t>
            </a:r>
          </a:p>
          <a:p>
            <a:r>
              <a:rPr lang="en-US" kern="1200" dirty="0">
                <a:solidFill>
                  <a:schemeClr val="tx1"/>
                </a:solidFill>
                <a:effectLst/>
                <a:latin typeface="Calibri" panose="020F0502020204030204" pitchFamily="34" charset="0"/>
                <a:ea typeface="+mn-ea"/>
                <a:cs typeface="+mn-cs"/>
              </a:rPr>
              <a:t> </a:t>
            </a:r>
          </a:p>
          <a:p>
            <a:r>
              <a:rPr lang="en-US" b="1" kern="1200" dirty="0">
                <a:solidFill>
                  <a:schemeClr val="tx1"/>
                </a:solidFill>
                <a:effectLst/>
                <a:latin typeface="Calibri" panose="020F0502020204030204" pitchFamily="34" charset="0"/>
                <a:ea typeface="+mn-ea"/>
                <a:cs typeface="+mn-cs"/>
              </a:rPr>
              <a:t>Strongly Consistent Reads</a:t>
            </a:r>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When you request a strongly consistent read, DynamoDB returns a response with the most up-to-date data, reflecting the updates from all prior write operations that were successful. A strongly consistent read might not be available if there is a network delay or outage.</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DynamoDB uses eventually consistent reads, unless you specify otherwise. Read operations (such as GetItem, Query, and Scan) provide a ConsistentRead parameter. If you set this parameter to true, DynamoDB uses strongly consistent reads during the operation.</a:t>
            </a:r>
          </a:p>
          <a:p>
            <a:endParaRPr lang="en-US" dirty="0"/>
          </a:p>
        </p:txBody>
      </p:sp>
    </p:spTree>
    <p:extLst>
      <p:ext uri="{BB962C8B-B14F-4D97-AF65-F5344CB8AC3E}">
        <p14:creationId xmlns:p14="http://schemas.microsoft.com/office/powerpoint/2010/main" val="460822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7752435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34238093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566030"/>
          </a:xfrm>
        </p:spPr>
        <p:txBody>
          <a:bodyPr/>
          <a:lstStyle/>
          <a:p>
            <a:r>
              <a:rPr lang="en-US" b="1" kern="1200" dirty="0">
                <a:solidFill>
                  <a:schemeClr val="tx1"/>
                </a:solidFill>
                <a:effectLst/>
                <a:latin typeface="Calibri" panose="020F0502020204030204" pitchFamily="34" charset="0"/>
                <a:ea typeface="+mn-ea"/>
                <a:cs typeface="+mn-cs"/>
              </a:rPr>
              <a:t>Access Control</a:t>
            </a:r>
            <a:br>
              <a:rPr lang="en-US" kern="1200" dirty="0">
                <a:solidFill>
                  <a:schemeClr val="tx1"/>
                </a:solidFill>
                <a:effectLst/>
                <a:latin typeface="Calibri" panose="020F0502020204030204" pitchFamily="34" charset="0"/>
                <a:ea typeface="+mn-ea"/>
                <a:cs typeface="+mn-cs"/>
              </a:rPr>
            </a:br>
            <a:r>
              <a:rPr lang="en-US" kern="1200" dirty="0">
                <a:solidFill>
                  <a:schemeClr val="tx1"/>
                </a:solidFill>
                <a:effectLst/>
                <a:latin typeface="Calibri" panose="020F0502020204030204" pitchFamily="34" charset="0"/>
                <a:ea typeface="+mn-ea"/>
                <a:cs typeface="+mn-cs"/>
              </a:rPr>
              <a:t>When you first create a DB instance within Amazon RDS, you create a master user account, which is used only within the context of Amazon RDS to control access to your DB instances. The master user account is a native database user account that allows you to log on to your DB instance with all database privileges. You can specify the master user name and password you want associated with each DB instance when you create the DB instance. After you create your DB instance, you can connect to the database using the master user credentials. Subsequently, you can create additional user accounts so that you can restrict who can access your DB instance.</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You can control Amazon RDS DB instance access via DB security groups, which are similar to Amazon EC2 security groups but not interchangeable. DB security groups act like a firewall that controls network access to your DB instance. Database security groups default to a “deny all” access mode, and customers must specifically authorize network ingress. There are two ways to do this: authorize a network IP range, or authorize an existing Amazon EC2 security group. DB security groups only allow access to the database server port (all others are blocked) and can be updated without restarting the Amazon RDS DB instance, which gives a customer seamless control of their database access. Using AWS IAM, you can further control access to your RDS DB instances. AWS IAM enables you to control which RDS operations each individual AWS IAM user has permission to call.</a:t>
            </a:r>
          </a:p>
          <a:p>
            <a:r>
              <a:rPr lang="en-US" kern="1200" dirty="0">
                <a:solidFill>
                  <a:schemeClr val="tx1"/>
                </a:solidFill>
                <a:effectLst/>
                <a:latin typeface="Calibri" panose="020F0502020204030204" pitchFamily="34" charset="0"/>
                <a:ea typeface="+mn-ea"/>
                <a:cs typeface="+mn-cs"/>
              </a:rPr>
              <a:t> </a:t>
            </a:r>
          </a:p>
        </p:txBody>
      </p:sp>
    </p:spTree>
    <p:extLst>
      <p:ext uri="{BB962C8B-B14F-4D97-AF65-F5344CB8AC3E}">
        <p14:creationId xmlns:p14="http://schemas.microsoft.com/office/powerpoint/2010/main" val="15983828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kern="1200" dirty="0">
                <a:solidFill>
                  <a:schemeClr val="tx1"/>
                </a:solidFill>
                <a:effectLst/>
                <a:latin typeface="Calibri" panose="020F0502020204030204" pitchFamily="34" charset="0"/>
                <a:ea typeface="+mn-ea"/>
                <a:cs typeface="+mn-cs"/>
              </a:rPr>
              <a:t>Encryption at Rest</a:t>
            </a:r>
            <a:br>
              <a:rPr lang="en-US" kern="1200" dirty="0">
                <a:solidFill>
                  <a:schemeClr val="tx1"/>
                </a:solidFill>
                <a:effectLst/>
                <a:latin typeface="Calibri" panose="020F0502020204030204" pitchFamily="34" charset="0"/>
                <a:ea typeface="+mn-ea"/>
                <a:cs typeface="+mn-cs"/>
              </a:rPr>
            </a:br>
            <a:r>
              <a:rPr lang="en-US" kern="1200" dirty="0">
                <a:solidFill>
                  <a:schemeClr val="tx1"/>
                </a:solidFill>
                <a:effectLst/>
                <a:latin typeface="Calibri" panose="020F0502020204030204" pitchFamily="34" charset="0"/>
                <a:ea typeface="+mn-ea"/>
                <a:cs typeface="+mn-cs"/>
              </a:rPr>
              <a:t>Amazon RDS DB instances and snapshots at rest can be encrypted.  When encryption has been enabled, the instance’s automated backups, Read Replicas, and snapshots are encrypted using AES-256.  Amazon RDS then handles authentication of access and decryption of this data with a minimal impact on performance, and with no need to modify your database client applications.  This encryption is available for Amazon RDS with MySQL, PostgreSQL, Oracle, and SQL Server DB instances; however, it is not available for DB instances in the AWS GovCloud (us-gov-west-1) Region.</a:t>
            </a:r>
          </a:p>
        </p:txBody>
      </p:sp>
    </p:spTree>
    <p:extLst>
      <p:ext uri="{BB962C8B-B14F-4D97-AF65-F5344CB8AC3E}">
        <p14:creationId xmlns:p14="http://schemas.microsoft.com/office/powerpoint/2010/main" val="41612976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kern="1200" dirty="0">
                <a:solidFill>
                  <a:schemeClr val="tx1"/>
                </a:solidFill>
                <a:effectLst/>
                <a:latin typeface="Calibri" panose="020F0502020204030204" pitchFamily="34" charset="0"/>
                <a:ea typeface="+mn-ea"/>
                <a:cs typeface="+mn-cs"/>
              </a:rPr>
              <a:t>Encryption in Transit</a:t>
            </a:r>
          </a:p>
          <a:p>
            <a:r>
              <a:rPr lang="en-US" kern="1200" dirty="0">
                <a:solidFill>
                  <a:schemeClr val="tx1"/>
                </a:solidFill>
                <a:effectLst/>
                <a:latin typeface="Calibri" panose="020F0502020204030204" pitchFamily="34" charset="0"/>
                <a:ea typeface="+mn-ea"/>
                <a:cs typeface="+mn-cs"/>
              </a:rPr>
              <a:t>You can use SSL to encrypt connections between your application and your DB instance. For MySQL and SQL Server, RDS creates an SSL certificate and installs the certificate on the DB instance when the instance is provisioned. For MySQL, launch the MySQL client using the --ssl_ca parameter to reference the public key in order to encrypt connections. For SQL Server, download the public key and import the certificate into your Windows operating system. Oracle RDS uses Oracle native network encryption with a DB instance. You simply add the native network encryption option to an option group and associate that option group with the DB instance. When an encrypted connection is established, data transferred between the DB instance and your application will be encrypted during transfer. You can also require your DB instance to only accept encrypted connections. Note that SSL support within Amazon RDS is for encrypting the connection between your application and your DB instance; it should not be relied on for authenticating the DB instance itself. Although SSL offers security benefits, be aware that SSL encryption is a compute-intensive operation and will increase the latency of your database connection.</a:t>
            </a:r>
          </a:p>
        </p:txBody>
      </p:sp>
    </p:spTree>
    <p:extLst>
      <p:ext uri="{BB962C8B-B14F-4D97-AF65-F5344CB8AC3E}">
        <p14:creationId xmlns:p14="http://schemas.microsoft.com/office/powerpoint/2010/main" val="35696835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kern="1200" dirty="0">
                <a:solidFill>
                  <a:schemeClr val="tx1"/>
                </a:solidFill>
                <a:effectLst/>
                <a:latin typeface="Calibri" panose="020F0502020204030204" pitchFamily="34" charset="0"/>
                <a:ea typeface="+mn-ea"/>
                <a:cs typeface="+mn-cs"/>
              </a:rPr>
              <a:t>Event Notification</a:t>
            </a:r>
            <a:br>
              <a:rPr lang="en-US" kern="1200" dirty="0">
                <a:solidFill>
                  <a:schemeClr val="tx1"/>
                </a:solidFill>
                <a:effectLst/>
                <a:latin typeface="Calibri" panose="020F0502020204030204" pitchFamily="34" charset="0"/>
                <a:ea typeface="+mn-ea"/>
                <a:cs typeface="+mn-cs"/>
              </a:rPr>
            </a:br>
            <a:r>
              <a:rPr lang="en-US" kern="1200" dirty="0">
                <a:solidFill>
                  <a:schemeClr val="tx1"/>
                </a:solidFill>
                <a:effectLst/>
                <a:latin typeface="Calibri" panose="020F0502020204030204" pitchFamily="34" charset="0"/>
                <a:ea typeface="+mn-ea"/>
                <a:cs typeface="+mn-cs"/>
              </a:rPr>
              <a:t>You can receive notifications of a variety of important events that can occur on your RDS instance, such as whether the instance was shut down, a backup was started, a failover occurred, the security group was changed, or your storage space is low. Amazon RDS groups events into categories that you can subscribe to so that you can be notified when an event in that category occurs. You can subscribe to an event category for a DB instance, DB snapshot, DB security group, or DB parameter group. Amazon</a:t>
            </a:r>
            <a:r>
              <a:rPr lang="en-US" kern="1200" baseline="0" dirty="0">
                <a:solidFill>
                  <a:schemeClr val="tx1"/>
                </a:solidFill>
                <a:effectLst/>
                <a:latin typeface="Calibri" panose="020F0502020204030204" pitchFamily="34" charset="0"/>
                <a:ea typeface="+mn-ea"/>
                <a:cs typeface="+mn-cs"/>
              </a:rPr>
              <a:t> </a:t>
            </a:r>
            <a:r>
              <a:rPr lang="en-US" kern="1200" dirty="0">
                <a:solidFill>
                  <a:schemeClr val="tx1"/>
                </a:solidFill>
                <a:effectLst/>
                <a:latin typeface="Calibri" panose="020F0502020204030204" pitchFamily="34" charset="0"/>
                <a:ea typeface="+mn-ea"/>
                <a:cs typeface="+mn-cs"/>
              </a:rPr>
              <a:t>RDS events are published via Amazon SNS and sent to you as an email or text message.</a:t>
            </a:r>
          </a:p>
        </p:txBody>
      </p:sp>
    </p:spTree>
    <p:extLst>
      <p:ext uri="{BB962C8B-B14F-4D97-AF65-F5344CB8AC3E}">
        <p14:creationId xmlns:p14="http://schemas.microsoft.com/office/powerpoint/2010/main" val="2178360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0895314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3886660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7653075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32778356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31281409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12157883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470496"/>
          </a:xfrm>
        </p:spPr>
        <p:txBody>
          <a:bodyPr/>
          <a:lstStyle/>
          <a:p>
            <a:pPr>
              <a:spcBef>
                <a:spcPts val="2400"/>
              </a:spcBef>
            </a:pPr>
            <a:r>
              <a:rPr lang="en-US" dirty="0">
                <a:latin typeface="Calibri" panose="020F0502020204030204" pitchFamily="34" charset="0"/>
              </a:rPr>
              <a:t>AWS DMS supports migration between the most widely used databases (Oracle, PostgreSQL, Microsoft SQL Server, Amazon Redshift, Amazon Aurora, MariaDB, and MySQL).</a:t>
            </a:r>
            <a:r>
              <a:rPr lang="en-US" baseline="0" dirty="0">
                <a:latin typeface="Calibri" panose="020F0502020204030204" pitchFamily="34" charset="0"/>
              </a:rPr>
              <a:t> It also supports </a:t>
            </a:r>
            <a:r>
              <a:rPr lang="en-US" dirty="0">
                <a:latin typeface="Calibri" panose="020F0502020204030204" pitchFamily="34" charset="0"/>
              </a:rPr>
              <a:t>homogenous (same engine) and heterogeneous (different engines) migrations.</a:t>
            </a:r>
          </a:p>
          <a:p>
            <a:pPr>
              <a:spcBef>
                <a:spcPts val="600"/>
              </a:spcBef>
            </a:pPr>
            <a:r>
              <a:rPr lang="en-US" dirty="0">
                <a:latin typeface="Calibri" panose="020F0502020204030204" pitchFamily="34" charset="0"/>
              </a:rPr>
              <a:t>The service can be used to migrate between databases on Amazon EC2, Amazon RDS and on-premises.</a:t>
            </a:r>
          </a:p>
          <a:p>
            <a:pPr marL="228600" lvl="0" indent="-161925">
              <a:lnSpc>
                <a:spcPct val="80000"/>
              </a:lnSpc>
              <a:spcBef>
                <a:spcPts val="600"/>
              </a:spcBef>
              <a:buFont typeface="Arial" panose="020B0604020202020204" pitchFamily="34" charset="0"/>
              <a:buChar char="•"/>
            </a:pPr>
            <a:r>
              <a:rPr lang="en-US" dirty="0">
                <a:latin typeface="Calibri" panose="020F0502020204030204" pitchFamily="34" charset="0"/>
              </a:rPr>
              <a:t>This includes migrating from Amazon EC2 or RDS databases to on-premises.</a:t>
            </a:r>
          </a:p>
          <a:p>
            <a:pPr marL="228600" lvl="0" indent="-161925">
              <a:lnSpc>
                <a:spcPct val="80000"/>
              </a:lnSpc>
              <a:spcBef>
                <a:spcPts val="600"/>
              </a:spcBef>
              <a:buFont typeface="Arial" panose="020B0604020202020204" pitchFamily="34" charset="0"/>
              <a:buChar char="•"/>
            </a:pPr>
            <a:r>
              <a:rPr lang="en-US" dirty="0">
                <a:latin typeface="Calibri" panose="020F0502020204030204" pitchFamily="34" charset="0"/>
              </a:rPr>
              <a:t>Either the target or the source database must be located in Amazon EC2 (cannot migrate between two on-premises databases).</a:t>
            </a:r>
          </a:p>
          <a:p>
            <a:pPr>
              <a:spcBef>
                <a:spcPts val="600"/>
              </a:spcBef>
            </a:pPr>
            <a:r>
              <a:rPr lang="en-US" dirty="0">
                <a:latin typeface="Calibri" panose="020F0502020204030204" pitchFamily="34" charset="0"/>
              </a:rPr>
              <a:t>It automatically handles formatting of the source data for consumption by the target database.</a:t>
            </a:r>
          </a:p>
          <a:p>
            <a:pPr>
              <a:spcBef>
                <a:spcPts val="600"/>
              </a:spcBef>
            </a:pPr>
            <a:r>
              <a:rPr lang="en-US" dirty="0">
                <a:latin typeface="Calibri" panose="020F0502020204030204" pitchFamily="34" charset="0"/>
              </a:rPr>
              <a:t>It does not perform schema or code conversion.</a:t>
            </a:r>
          </a:p>
          <a:p>
            <a:pPr marL="228600" indent="-161925">
              <a:lnSpc>
                <a:spcPct val="80000"/>
              </a:lnSpc>
              <a:spcBef>
                <a:spcPts val="600"/>
              </a:spcBef>
              <a:buFont typeface="Arial" panose="020B0604020202020204" pitchFamily="34" charset="0"/>
              <a:buChar char="•"/>
            </a:pPr>
            <a:r>
              <a:rPr lang="en-US" dirty="0">
                <a:latin typeface="Calibri" panose="020F0502020204030204" pitchFamily="34" charset="0"/>
              </a:rPr>
              <a:t>For homogenous migrations, you can use native tools to perform these conversions.</a:t>
            </a:r>
          </a:p>
          <a:p>
            <a:pPr marL="228600" indent="-161925">
              <a:lnSpc>
                <a:spcPct val="80000"/>
              </a:lnSpc>
              <a:spcBef>
                <a:spcPts val="600"/>
              </a:spcBef>
              <a:buFont typeface="Arial" panose="020B0604020202020204" pitchFamily="34" charset="0"/>
              <a:buChar char="•"/>
            </a:pPr>
            <a:r>
              <a:rPr lang="en-US" dirty="0">
                <a:latin typeface="Calibri" panose="020F0502020204030204" pitchFamily="34" charset="0"/>
              </a:rPr>
              <a:t>For heterogeneous migrations, you can use the </a:t>
            </a:r>
            <a:r>
              <a:rPr lang="en-US" b="1" dirty="0">
                <a:solidFill>
                  <a:srgbClr val="0070C0"/>
                </a:solidFill>
                <a:latin typeface="Calibri" panose="020F0502020204030204" pitchFamily="34" charset="0"/>
                <a:ea typeface="Amazon Ember" panose="020B0603020204020204" pitchFamily="34" charset="0"/>
                <a:cs typeface="Amazon Ember" panose="020B0603020204020204" pitchFamily="34" charset="0"/>
              </a:rPr>
              <a:t>AWS Schema Conversion Tool</a:t>
            </a:r>
            <a:r>
              <a:rPr lang="en-US" dirty="0">
                <a:latin typeface="Calibri" panose="020F0502020204030204" pitchFamily="34" charset="0"/>
              </a:rPr>
              <a:t>.</a:t>
            </a:r>
          </a:p>
          <a:p>
            <a:pPr marL="62918" lvl="0" indent="0">
              <a:lnSpc>
                <a:spcPct val="80000"/>
              </a:lnSpc>
              <a:spcBef>
                <a:spcPts val="600"/>
              </a:spcBef>
              <a:buFont typeface="Arial" panose="020B0604020202020204" pitchFamily="34" charset="0"/>
              <a:buNone/>
            </a:pPr>
            <a:endParaRPr lang="en-US" dirty="0">
              <a:latin typeface="Calibri" panose="020F0502020204030204" pitchFamily="34" charset="0"/>
            </a:endParaRPr>
          </a:p>
          <a:p>
            <a:pPr marL="62918" lvl="0" indent="0">
              <a:lnSpc>
                <a:spcPct val="80000"/>
              </a:lnSpc>
              <a:spcBef>
                <a:spcPts val="600"/>
              </a:spcBef>
              <a:buFont typeface="Arial" panose="020B0604020202020204" pitchFamily="34" charset="0"/>
              <a:buNone/>
            </a:pPr>
            <a:r>
              <a:rPr lang="en-US" dirty="0">
                <a:latin typeface="Calibri" panose="020F0502020204030204" pitchFamily="34" charset="0"/>
              </a:rPr>
              <a:t>For more information,</a:t>
            </a:r>
            <a:r>
              <a:rPr lang="en-US" baseline="0" dirty="0">
                <a:latin typeface="Calibri" panose="020F0502020204030204" pitchFamily="34" charset="0"/>
              </a:rPr>
              <a:t> see </a:t>
            </a:r>
            <a:r>
              <a:rPr lang="en-US" baseline="0" dirty="0">
                <a:latin typeface="Calibri" panose="020F0502020204030204" pitchFamily="34" charset="0"/>
                <a:hlinkClick r:id="rId3"/>
              </a:rPr>
              <a:t>http://docs.aws.amazon.com/dms/latest/userguide/Welcome.html</a:t>
            </a:r>
            <a:r>
              <a:rPr lang="en-US" baseline="0" dirty="0">
                <a:latin typeface="Calibri" panose="020F0502020204030204" pitchFamily="34" charset="0"/>
              </a:rPr>
              <a:t>.</a:t>
            </a:r>
            <a:endParaRPr lang="en-US" dirty="0">
              <a:latin typeface="Calibri" panose="020F0502020204030204" pitchFamily="34" charset="0"/>
            </a:endParaRPr>
          </a:p>
        </p:txBody>
      </p:sp>
    </p:spTree>
    <p:extLst>
      <p:ext uri="{BB962C8B-B14F-4D97-AF65-F5344CB8AC3E}">
        <p14:creationId xmlns:p14="http://schemas.microsoft.com/office/powerpoint/2010/main" val="31126373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17343381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19641736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361314"/>
          </a:xfrm>
        </p:spPr>
        <p:txBody>
          <a:bodyPr/>
          <a:lstStyle/>
          <a:p>
            <a:r>
              <a:rPr lang="en-US" b="0" i="0" kern="1200" dirty="0">
                <a:solidFill>
                  <a:schemeClr val="tx1"/>
                </a:solidFill>
                <a:effectLst/>
                <a:latin typeface="Calibri" panose="020F0502020204030204" pitchFamily="34" charset="0"/>
                <a:ea typeface="+mn-ea"/>
                <a:cs typeface="+mn-cs"/>
              </a:rPr>
              <a:t>You get the ability to physically attach a secure, hardened device directly inside your data center rather than opening ports from the outside.</a:t>
            </a:r>
          </a:p>
          <a:p>
            <a:r>
              <a:rPr lang="en-US" b="0" i="0" kern="1200" dirty="0">
                <a:solidFill>
                  <a:schemeClr val="tx1"/>
                </a:solidFill>
                <a:effectLst/>
                <a:latin typeface="Calibri" panose="020F0502020204030204" pitchFamily="34" charset="0"/>
                <a:ea typeface="+mn-ea"/>
                <a:cs typeface="+mn-cs"/>
              </a:rPr>
              <a:t>You can now move very large databases from on-premises to AWS Cloud.</a:t>
            </a:r>
          </a:p>
          <a:p>
            <a:r>
              <a:rPr lang="en-US" b="0" i="0" kern="1200" dirty="0">
                <a:solidFill>
                  <a:schemeClr val="tx1"/>
                </a:solidFill>
                <a:effectLst/>
                <a:latin typeface="Calibri" panose="020F0502020204030204" pitchFamily="34" charset="0"/>
                <a:ea typeface="+mn-ea"/>
                <a:cs typeface="+mn-cs"/>
              </a:rPr>
              <a:t>This integration provides a “push” model to migrate databases instead of a “pull” model.</a:t>
            </a:r>
          </a:p>
          <a:p>
            <a:r>
              <a:rPr lang="en-US" b="0" i="0" kern="1200" dirty="0">
                <a:solidFill>
                  <a:schemeClr val="tx1"/>
                </a:solidFill>
                <a:effectLst/>
                <a:latin typeface="Calibri" panose="020F0502020204030204" pitchFamily="34" charset="0"/>
                <a:ea typeface="+mn-ea"/>
                <a:cs typeface="+mn-cs"/>
              </a:rPr>
              <a:t>You can migrate one or more databases using the same AWS Snowball Edge device without a need to upgrade your network infrastructure and consume dedicated bandwidth.</a:t>
            </a:r>
          </a:p>
          <a:p>
            <a:r>
              <a:rPr lang="en-US" b="0" i="0" kern="1200" dirty="0">
                <a:solidFill>
                  <a:schemeClr val="tx1"/>
                </a:solidFill>
                <a:effectLst/>
                <a:latin typeface="Calibri" panose="020F0502020204030204" pitchFamily="34" charset="0"/>
                <a:ea typeface="+mn-ea"/>
                <a:cs typeface="+mn-cs"/>
              </a:rPr>
              <a:t>While migrating these multi-terabyte and multi-petabyte databases to AWS, your on-premises databases remain online. They can be decommissioned when the AWS Snowball Edge appliance is shipped back to AWS and is automatically loaded onto your target Amazon RDS– or Amazon EC2–based database.</a:t>
            </a:r>
          </a:p>
          <a:p>
            <a:r>
              <a:rPr lang="en-US" b="0" i="0" kern="1200" dirty="0">
                <a:solidFill>
                  <a:schemeClr val="tx1"/>
                </a:solidFill>
                <a:effectLst/>
                <a:latin typeface="Calibri" panose="020F0502020204030204" pitchFamily="34" charset="0"/>
                <a:ea typeface="+mn-ea"/>
                <a:cs typeface="+mn-cs"/>
              </a:rPr>
              <a:t>You can migrate existing data (one time) or optionally perform ongoing data replication to the target database.</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 few notes about working with AWS Snowball Edge and AWS DMS:</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The version of AWS Snowball required for integration with AWS DMS is </a:t>
            </a:r>
            <a:r>
              <a:rPr lang="en-US" b="0" i="0" u="none" strike="noStrike" kern="1200" dirty="0">
                <a:solidFill>
                  <a:schemeClr val="tx1"/>
                </a:solidFill>
                <a:effectLst/>
                <a:latin typeface="Calibri" panose="020F0502020204030204" pitchFamily="34" charset="0"/>
                <a:ea typeface="+mn-ea"/>
                <a:cs typeface="+mn-cs"/>
                <a:hlinkClick r:id="rId3"/>
              </a:rPr>
              <a:t>AWS Snowball Edge</a:t>
            </a:r>
            <a:r>
              <a:rPr lang="en-US" b="0" i="0" kern="1200" dirty="0">
                <a:solidFill>
                  <a:schemeClr val="tx1"/>
                </a:solidFill>
                <a:effectLst/>
                <a:latin typeface="Calibri" panose="020F0502020204030204" pitchFamily="34" charset="0"/>
                <a:ea typeface="+mn-ea"/>
                <a:cs typeface="+mn-cs"/>
              </a:rPr>
              <a:t>.</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Currently, you need a Linux host to run the AWS DMS Snowball agent.</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The AWS Snowball Edge must be on the same network as your source database.</a:t>
            </a:r>
          </a:p>
          <a:p>
            <a:endParaRPr lang="en-US" dirty="0"/>
          </a:p>
        </p:txBody>
      </p:sp>
    </p:spTree>
    <p:extLst>
      <p:ext uri="{BB962C8B-B14F-4D97-AF65-F5344CB8AC3E}">
        <p14:creationId xmlns:p14="http://schemas.microsoft.com/office/powerpoint/2010/main" val="6659840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For more on the AWS Schema Conversion Tool,</a:t>
            </a:r>
            <a:r>
              <a:rPr lang="en-US" baseline="0" dirty="0">
                <a:latin typeface="Calibri" panose="020F0502020204030204" pitchFamily="34" charset="0"/>
              </a:rPr>
              <a:t> go here: </a:t>
            </a:r>
            <a:r>
              <a:rPr lang="en-US" baseline="0" dirty="0">
                <a:latin typeface="Calibri" panose="020F0502020204030204" pitchFamily="34" charset="0"/>
                <a:hlinkClick r:id="rId3"/>
              </a:rPr>
              <a:t>http://docs.aws.amazon.com/SchemaConversionTool/latest/userguide/Welcome.html</a:t>
            </a:r>
            <a:endParaRPr lang="en-US" baseline="0" dirty="0">
              <a:latin typeface="Calibri" panose="020F0502020204030204" pitchFamily="34" charset="0"/>
            </a:endParaRPr>
          </a:p>
          <a:p>
            <a:endParaRPr lang="en-US" baseline="0" dirty="0">
              <a:latin typeface="Calibri" panose="020F0502020204030204" pitchFamily="34" charset="0"/>
            </a:endParaRPr>
          </a:p>
          <a:p>
            <a:endParaRPr lang="en-US" dirty="0"/>
          </a:p>
        </p:txBody>
      </p:sp>
    </p:spTree>
    <p:extLst>
      <p:ext uri="{BB962C8B-B14F-4D97-AF65-F5344CB8AC3E}">
        <p14:creationId xmlns:p14="http://schemas.microsoft.com/office/powerpoint/2010/main" val="20900604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8875995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29164657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8111761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30726191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25219857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1611272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A3D2F37-7CDD-994A-90F6-DC311907F511}" type="slidenum">
              <a:rPr lang="en-US" smtClean="0"/>
              <a:pPr/>
              <a:t>‹#›</a:t>
            </a:fld>
            <a:endParaRPr lang="en-US" dirty="0"/>
          </a:p>
        </p:txBody>
      </p:sp>
    </p:spTree>
    <p:extLst>
      <p:ext uri="{BB962C8B-B14F-4D97-AF65-F5344CB8AC3E}">
        <p14:creationId xmlns:p14="http://schemas.microsoft.com/office/powerpoint/2010/main" val="82453810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4E3476-397E-624A-B458-5B1C64DADFC8}"/>
              </a:ext>
            </a:extLst>
          </p:cNvPr>
          <p:cNvPicPr>
            <a:picLocks noChangeAspect="1"/>
          </p:cNvPicPr>
          <p:nvPr userDrawn="1"/>
        </p:nvPicPr>
        <p:blipFill>
          <a:blip r:embed="rId2"/>
          <a:stretch>
            <a:fillRect/>
          </a:stretch>
        </p:blipFill>
        <p:spPr>
          <a:xfrm>
            <a:off x="880" y="0"/>
            <a:ext cx="12187065" cy="6858000"/>
          </a:xfrm>
          <a:prstGeom prst="rect">
            <a:avLst/>
          </a:prstGeom>
        </p:spPr>
      </p:pic>
      <p:sp>
        <p:nvSpPr>
          <p:cNvPr id="3" name="Title 1">
            <a:extLst>
              <a:ext uri="{FF2B5EF4-FFF2-40B4-BE49-F238E27FC236}">
                <a16:creationId xmlns:a16="http://schemas.microsoft.com/office/drawing/2014/main" id="{9304F276-C0B8-FF45-ACF7-F1815F42AF04}"/>
              </a:ext>
            </a:extLst>
          </p:cNvPr>
          <p:cNvSpPr>
            <a:spLocks noGrp="1"/>
          </p:cNvSpPr>
          <p:nvPr>
            <p:ph type="ctrTitle"/>
          </p:nvPr>
        </p:nvSpPr>
        <p:spPr>
          <a:xfrm>
            <a:off x="921674" y="2688719"/>
            <a:ext cx="6607772" cy="834496"/>
          </a:xfrm>
        </p:spPr>
        <p:txBody>
          <a:bodyPr anchor="b">
            <a:noAutofit/>
          </a:bodyPr>
          <a:lstStyle>
            <a:lvl1pPr algn="l">
              <a:defRPr sz="3999"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4" name="Subtitle 2">
            <a:extLst>
              <a:ext uri="{FF2B5EF4-FFF2-40B4-BE49-F238E27FC236}">
                <a16:creationId xmlns:a16="http://schemas.microsoft.com/office/drawing/2014/main" id="{A77C0C6E-7E06-8049-9CC9-26EAA81B8174}"/>
              </a:ext>
            </a:extLst>
          </p:cNvPr>
          <p:cNvSpPr>
            <a:spLocks noGrp="1"/>
          </p:cNvSpPr>
          <p:nvPr>
            <p:ph type="subTitle" idx="1" hasCustomPrompt="1"/>
          </p:nvPr>
        </p:nvSpPr>
        <p:spPr>
          <a:xfrm>
            <a:off x="921677" y="3523215"/>
            <a:ext cx="6607771" cy="418570"/>
          </a:xfrm>
        </p:spPr>
        <p:txBody>
          <a:bodyPr>
            <a:noAutofit/>
          </a:bodyPr>
          <a:lstStyle>
            <a:lvl1pPr marL="0" indent="0" algn="l">
              <a:buNone/>
              <a:defRPr sz="2000" b="1" i="0" spc="300">
                <a:solidFill>
                  <a:schemeClr val="bg1"/>
                </a:solidFill>
                <a:latin typeface="Amazon Ember Light" charset="0"/>
                <a:ea typeface="Amazon Ember Light" charset="0"/>
                <a:cs typeface="Amazon Ember Light" charset="0"/>
              </a:defRPr>
            </a:lvl1pPr>
            <a:lvl2pPr marL="457127" indent="0" algn="ctr">
              <a:buNone/>
              <a:defRPr sz="2000"/>
            </a:lvl2pPr>
            <a:lvl3pPr marL="914254" indent="0" algn="ctr">
              <a:buNone/>
              <a:defRPr sz="1800"/>
            </a:lvl3pPr>
            <a:lvl4pPr marL="1371381" indent="0" algn="ctr">
              <a:buNone/>
              <a:defRPr sz="1600"/>
            </a:lvl4pPr>
            <a:lvl5pPr marL="1828507" indent="0" algn="ctr">
              <a:buNone/>
              <a:defRPr sz="1600"/>
            </a:lvl5pPr>
            <a:lvl6pPr marL="2285634" indent="0" algn="ctr">
              <a:buNone/>
              <a:defRPr sz="1600"/>
            </a:lvl6pPr>
            <a:lvl7pPr marL="2742760" indent="0" algn="ctr">
              <a:buNone/>
              <a:defRPr sz="1600"/>
            </a:lvl7pPr>
            <a:lvl8pPr marL="3199888" indent="0" algn="ctr">
              <a:buNone/>
              <a:defRPr sz="1600"/>
            </a:lvl8pPr>
            <a:lvl9pPr marL="3657015" indent="0" algn="ctr">
              <a:buNone/>
              <a:defRPr sz="1600"/>
            </a:lvl9pPr>
          </a:lstStyle>
          <a:p>
            <a:r>
              <a:rPr lang="en-US" dirty="0"/>
              <a:t>CLICK TO EDIT MASTER SUBTITLE STYLE</a:t>
            </a:r>
          </a:p>
        </p:txBody>
      </p:sp>
    </p:spTree>
    <p:extLst>
      <p:ext uri="{BB962C8B-B14F-4D97-AF65-F5344CB8AC3E}">
        <p14:creationId xmlns:p14="http://schemas.microsoft.com/office/powerpoint/2010/main" val="33760383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guide id="3" pos="7414" userDrawn="1">
          <p15:clr>
            <a:srgbClr val="FBAE40"/>
          </p15:clr>
        </p15:guide>
        <p15:guide id="4" pos="2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ction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4E9DE3-85AE-154A-AE06-268FDFDB63C8}"/>
              </a:ext>
            </a:extLst>
          </p:cNvPr>
          <p:cNvPicPr>
            <a:picLocks noChangeAspect="1"/>
          </p:cNvPicPr>
          <p:nvPr userDrawn="1"/>
        </p:nvPicPr>
        <p:blipFill>
          <a:blip r:embed="rId2"/>
          <a:stretch>
            <a:fillRect/>
          </a:stretch>
        </p:blipFill>
        <p:spPr>
          <a:xfrm>
            <a:off x="2470" y="894"/>
            <a:ext cx="12183891" cy="6856213"/>
          </a:xfrm>
          <a:prstGeom prst="rect">
            <a:avLst/>
          </a:prstGeom>
        </p:spPr>
      </p:pic>
      <p:sp>
        <p:nvSpPr>
          <p:cNvPr id="2" name="Title 1"/>
          <p:cNvSpPr>
            <a:spLocks noGrp="1"/>
          </p:cNvSpPr>
          <p:nvPr>
            <p:ph type="title"/>
          </p:nvPr>
        </p:nvSpPr>
        <p:spPr>
          <a:xfrm>
            <a:off x="914162" y="2770247"/>
            <a:ext cx="11355811" cy="779463"/>
          </a:xfrm>
        </p:spPr>
        <p:txBody>
          <a:bodyPr>
            <a:noAutofit/>
          </a:bodyPr>
          <a:lstStyle>
            <a:lvl1pPr>
              <a:defRPr sz="3999"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6" name="Slide Number Placeholder 5"/>
          <p:cNvSpPr>
            <a:spLocks noGrp="1"/>
          </p:cNvSpPr>
          <p:nvPr>
            <p:ph type="sldNum" sz="quarter" idx="12"/>
          </p:nvPr>
        </p:nvSpPr>
        <p:spPr>
          <a:xfrm>
            <a:off x="9032316" y="6415343"/>
            <a:ext cx="2742486" cy="365125"/>
          </a:xfrm>
        </p:spPr>
        <p:txBody>
          <a:bodyPr/>
          <a:lstStyle>
            <a:lvl1pPr>
              <a:defRPr b="0" i="0">
                <a:solidFill>
                  <a:schemeClr val="bg1"/>
                </a:solidFill>
                <a:latin typeface="Helvetica Neue LT Std 65 Medium" charset="0"/>
                <a:ea typeface="Helvetica Neue LT Std 65 Medium" charset="0"/>
                <a:cs typeface="Helvetica Neue LT Std 65 Medium" charset="0"/>
              </a:defRPr>
            </a:lvl1pPr>
          </a:lstStyle>
          <a:p>
            <a:fld id="{54DB922D-C4FE-3A46-8063-4E29DB332607}" type="slidenum">
              <a:rPr lang="en-US" smtClean="0"/>
              <a:pPr/>
              <a:t>‹#›</a:t>
            </a:fld>
            <a:endParaRPr lang="en-US" dirty="0"/>
          </a:p>
        </p:txBody>
      </p:sp>
      <p:sp>
        <p:nvSpPr>
          <p:cNvPr id="5" name="TextBox 4">
            <a:extLst>
              <a:ext uri="{FF2B5EF4-FFF2-40B4-BE49-F238E27FC236}">
                <a16:creationId xmlns:a16="http://schemas.microsoft.com/office/drawing/2014/main" id="{9ABBDC7B-FB40-384B-8E30-B1408FF5C90E}"/>
              </a:ext>
            </a:extLst>
          </p:cNvPr>
          <p:cNvSpPr txBox="1"/>
          <p:nvPr userDrawn="1"/>
        </p:nvSpPr>
        <p:spPr>
          <a:xfrm>
            <a:off x="418991" y="6480313"/>
            <a:ext cx="4107104" cy="230832"/>
          </a:xfrm>
          <a:prstGeom prst="rect">
            <a:avLst/>
          </a:prstGeom>
          <a:noFill/>
        </p:spPr>
        <p:txBody>
          <a:bodyPr wrap="square" rtlCol="0">
            <a:spAutoFit/>
          </a:bodyPr>
          <a:lstStyle/>
          <a:p>
            <a:r>
              <a:rPr lang="en-US" sz="900" b="0" i="0" dirty="0">
                <a:solidFill>
                  <a:schemeClr val="bg1"/>
                </a:solidFill>
                <a:latin typeface="Amazon Ember Light" charset="0"/>
                <a:ea typeface="Amazon Ember Light" charset="0"/>
                <a:cs typeface="Amazon Ember Light" charset="0"/>
              </a:rPr>
              <a:t>© </a:t>
            </a:r>
            <a:r>
              <a:rPr lang="en-US" sz="900" dirty="0">
                <a:solidFill>
                  <a:schemeClr val="bg1"/>
                </a:solidFill>
                <a:latin typeface="Amazon Ember Light" charset="0"/>
                <a:ea typeface="Amazon Ember Light" charset="0"/>
                <a:cs typeface="Amazon Ember Light" charset="0"/>
              </a:rPr>
              <a:t>2020</a:t>
            </a:r>
            <a:r>
              <a:rPr lang="en-US" sz="900" b="0" i="0" dirty="0">
                <a:solidFill>
                  <a:schemeClr val="bg1"/>
                </a:solidFill>
                <a:latin typeface="Amazon Ember Light" charset="0"/>
                <a:ea typeface="Amazon Ember Light" charset="0"/>
                <a:cs typeface="Amazon Ember Light" charset="0"/>
              </a:rPr>
              <a:t>, Amazon Web Services, Inc. or its Affiliates. All rights reserved.</a:t>
            </a:r>
          </a:p>
        </p:txBody>
      </p:sp>
    </p:spTree>
    <p:extLst>
      <p:ext uri="{BB962C8B-B14F-4D97-AF65-F5344CB8AC3E}">
        <p14:creationId xmlns:p14="http://schemas.microsoft.com/office/powerpoint/2010/main" val="632646150"/>
      </p:ext>
    </p:extLst>
  </p:cSld>
  <p:clrMapOvr>
    <a:masterClrMapping/>
  </p:clrMapOvr>
  <p:extLst>
    <p:ext uri="{DCECCB84-F9BA-43D5-87BE-67443E8EF086}">
      <p15:sldGuideLst xmlns:p15="http://schemas.microsoft.com/office/powerpoint/2012/main">
        <p15:guide id="1" pos="576" userDrawn="1">
          <p15:clr>
            <a:srgbClr val="FBAE40"/>
          </p15:clr>
        </p15:guide>
        <p15:guide id="2" pos="7414" userDrawn="1">
          <p15:clr>
            <a:srgbClr val="FBAE40"/>
          </p15:clr>
        </p15:guide>
        <p15:guide id="3" orient="horz" pos="417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One Colum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85D7E4-B6B6-1943-8262-63D8CB9E7680}"/>
              </a:ext>
            </a:extLst>
          </p:cNvPr>
          <p:cNvPicPr>
            <a:picLocks noChangeAspect="1"/>
          </p:cNvPicPr>
          <p:nvPr userDrawn="1"/>
        </p:nvPicPr>
        <p:blipFill>
          <a:blip r:embed="rId2"/>
          <a:stretch>
            <a:fillRect/>
          </a:stretch>
        </p:blipFill>
        <p:spPr>
          <a:xfrm>
            <a:off x="2470" y="894"/>
            <a:ext cx="12183891" cy="6856213"/>
          </a:xfrm>
          <a:prstGeom prst="rect">
            <a:avLst/>
          </a:prstGeom>
        </p:spPr>
      </p:pic>
      <p:sp>
        <p:nvSpPr>
          <p:cNvPr id="2" name="Title 1"/>
          <p:cNvSpPr>
            <a:spLocks noGrp="1"/>
          </p:cNvSpPr>
          <p:nvPr userDrawn="1">
            <p:ph type="title"/>
          </p:nvPr>
        </p:nvSpPr>
        <p:spPr>
          <a:xfrm>
            <a:off x="418991" y="263531"/>
            <a:ext cx="9090394"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noChangeAspect="1"/>
          </p:cNvSpPr>
          <p:nvPr userDrawn="1">
            <p:ph idx="1" hasCustomPrompt="1"/>
          </p:nvPr>
        </p:nvSpPr>
        <p:spPr>
          <a:xfrm>
            <a:off x="418991" y="1440305"/>
            <a:ext cx="11350578" cy="4779520"/>
          </a:xfrm>
        </p:spPr>
        <p:txBody>
          <a:bodyPr/>
          <a:lstStyle>
            <a:lvl1pPr marL="228562"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1pPr>
            <a:lvl2pPr marL="685690"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2pPr>
            <a:lvl3pPr marL="1142817"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3pPr>
            <a:lvl4pPr marL="1599944" indent="-228562">
              <a:buFontTx/>
              <a:buBlip>
                <a:blip r:embed="rId3"/>
              </a:buBlip>
              <a:defRPr b="0" i="0">
                <a:solidFill>
                  <a:schemeClr val="tx1"/>
                </a:solidFill>
                <a:latin typeface="Amazon Ember Light" charset="0"/>
                <a:ea typeface="Amazon Ember Light" charset="0"/>
                <a:cs typeface="Amazon Ember Light" charset="0"/>
              </a:defRPr>
            </a:lvl4pPr>
            <a:lvl5pPr marL="2057072" indent="-228562">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p:txBody>
      </p:sp>
      <p:sp>
        <p:nvSpPr>
          <p:cNvPr id="12" name="TextBox 11"/>
          <p:cNvSpPr txBox="1"/>
          <p:nvPr userDrawn="1"/>
        </p:nvSpPr>
        <p:spPr>
          <a:xfrm>
            <a:off x="418991" y="6480313"/>
            <a:ext cx="410710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2020, Amazon Web Services, Inc. or its Affiliates. All rights reserved.</a:t>
            </a:r>
          </a:p>
        </p:txBody>
      </p:sp>
      <p:sp>
        <p:nvSpPr>
          <p:cNvPr id="11" name="Slide Number Placeholder 5">
            <a:extLst>
              <a:ext uri="{FF2B5EF4-FFF2-40B4-BE49-F238E27FC236}">
                <a16:creationId xmlns:a16="http://schemas.microsoft.com/office/drawing/2014/main" id="{621D42AA-576A-CF49-8722-A41914DE957D}"/>
              </a:ext>
            </a:extLst>
          </p:cNvPr>
          <p:cNvSpPr>
            <a:spLocks noGrp="1"/>
          </p:cNvSpPr>
          <p:nvPr>
            <p:ph type="sldNum" sz="quarter" idx="4"/>
          </p:nvPr>
        </p:nvSpPr>
        <p:spPr>
          <a:xfrm>
            <a:off x="9005019" y="6415343"/>
            <a:ext cx="274248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A3D2F37-7CDD-994A-90F6-DC311907F511}" type="slidenum">
              <a:rPr lang="en-US" smtClean="0"/>
              <a:pPr/>
              <a:t>‹#›</a:t>
            </a:fld>
            <a:endParaRPr lang="en-US" dirty="0"/>
          </a:p>
        </p:txBody>
      </p:sp>
    </p:spTree>
    <p:extLst>
      <p:ext uri="{BB962C8B-B14F-4D97-AF65-F5344CB8AC3E}">
        <p14:creationId xmlns:p14="http://schemas.microsoft.com/office/powerpoint/2010/main" val="2480136496"/>
      </p:ext>
    </p:extLst>
  </p:cSld>
  <p:clrMapOvr>
    <a:masterClrMapping/>
  </p:clrMapOvr>
  <p:extLst>
    <p:ext uri="{DCECCB84-F9BA-43D5-87BE-67443E8EF086}">
      <p15:sldGuideLst xmlns:p15="http://schemas.microsoft.com/office/powerpoint/2012/main">
        <p15:guide id="1" pos="264" userDrawn="1">
          <p15:clr>
            <a:srgbClr val="FBAE40"/>
          </p15:clr>
        </p15:guide>
        <p15:guide id="2" pos="7414" userDrawn="1">
          <p15:clr>
            <a:srgbClr val="FBAE40"/>
          </p15:clr>
        </p15:guide>
        <p15:guide id="3" orient="horz" pos="417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F80413-7930-7741-B00C-D03C048F29CC}"/>
              </a:ext>
            </a:extLst>
          </p:cNvPr>
          <p:cNvPicPr>
            <a:picLocks noChangeAspect="1"/>
          </p:cNvPicPr>
          <p:nvPr userDrawn="1"/>
        </p:nvPicPr>
        <p:blipFill>
          <a:blip r:embed="rId2"/>
          <a:stretch>
            <a:fillRect/>
          </a:stretch>
        </p:blipFill>
        <p:spPr>
          <a:xfrm>
            <a:off x="879" y="0"/>
            <a:ext cx="12187066" cy="6858000"/>
          </a:xfrm>
          <a:prstGeom prst="rect">
            <a:avLst/>
          </a:prstGeom>
        </p:spPr>
      </p:pic>
      <p:sp>
        <p:nvSpPr>
          <p:cNvPr id="2" name="Title 1"/>
          <p:cNvSpPr>
            <a:spLocks noGrp="1"/>
          </p:cNvSpPr>
          <p:nvPr userDrawn="1">
            <p:ph type="title"/>
          </p:nvPr>
        </p:nvSpPr>
        <p:spPr>
          <a:xfrm>
            <a:off x="418991" y="263531"/>
            <a:ext cx="9090394"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userDrawn="1">
            <p:ph idx="1" hasCustomPrompt="1"/>
          </p:nvPr>
        </p:nvSpPr>
        <p:spPr>
          <a:xfrm>
            <a:off x="418991" y="1440305"/>
            <a:ext cx="3594916" cy="4779520"/>
          </a:xfrm>
        </p:spPr>
        <p:txBody>
          <a:bodyPr/>
          <a:lstStyle>
            <a:lvl1pPr marL="228562"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1pPr>
            <a:lvl2pPr marL="685690"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2pPr>
            <a:lvl3pPr marL="1142817"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3pPr>
            <a:lvl4pPr marL="1599944" indent="-228562">
              <a:buFontTx/>
              <a:buBlip>
                <a:blip r:embed="rId3"/>
              </a:buBlip>
              <a:defRPr b="0" i="0">
                <a:solidFill>
                  <a:schemeClr val="tx1"/>
                </a:solidFill>
                <a:latin typeface="Amazon Ember Light" charset="0"/>
                <a:ea typeface="Amazon Ember Light" charset="0"/>
                <a:cs typeface="Amazon Ember Light" charset="0"/>
              </a:defRPr>
            </a:lvl4pPr>
            <a:lvl5pPr marL="2057072" indent="-228562">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p:txBody>
      </p:sp>
      <p:sp>
        <p:nvSpPr>
          <p:cNvPr id="12" name="TextBox 11"/>
          <p:cNvSpPr txBox="1"/>
          <p:nvPr userDrawn="1"/>
        </p:nvSpPr>
        <p:spPr>
          <a:xfrm>
            <a:off x="418991" y="6480313"/>
            <a:ext cx="410710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2020, Amazon Web Services, Inc. or its Affiliates. All rights reserved.</a:t>
            </a:r>
          </a:p>
        </p:txBody>
      </p:sp>
      <p:sp>
        <p:nvSpPr>
          <p:cNvPr id="15" name="Content Placeholder 2">
            <a:extLst>
              <a:ext uri="{FF2B5EF4-FFF2-40B4-BE49-F238E27FC236}">
                <a16:creationId xmlns:a16="http://schemas.microsoft.com/office/drawing/2014/main" id="{F368BCE3-B485-3C45-924E-36E71CEA90C5}"/>
              </a:ext>
            </a:extLst>
          </p:cNvPr>
          <p:cNvSpPr>
            <a:spLocks noGrp="1"/>
          </p:cNvSpPr>
          <p:nvPr>
            <p:ph idx="10" hasCustomPrompt="1"/>
          </p:nvPr>
        </p:nvSpPr>
        <p:spPr>
          <a:xfrm>
            <a:off x="8173606" y="1440305"/>
            <a:ext cx="3594916" cy="4779520"/>
          </a:xfrm>
        </p:spPr>
        <p:txBody>
          <a:bodyPr/>
          <a:lstStyle>
            <a:lvl1pPr marL="228562"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1pPr>
            <a:lvl2pPr marL="685690"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2pPr>
            <a:lvl3pPr marL="1142817"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3pPr>
            <a:lvl4pPr marL="1599944" indent="-228562">
              <a:buFontTx/>
              <a:buBlip>
                <a:blip r:embed="rId3"/>
              </a:buBlip>
              <a:defRPr b="0" i="0">
                <a:solidFill>
                  <a:schemeClr val="tx1"/>
                </a:solidFill>
                <a:latin typeface="Amazon Ember Light" charset="0"/>
                <a:ea typeface="Amazon Ember Light" charset="0"/>
                <a:cs typeface="Amazon Ember Light" charset="0"/>
              </a:defRPr>
            </a:lvl4pPr>
            <a:lvl5pPr marL="2057072" indent="-228562">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p:txBody>
      </p:sp>
      <p:sp>
        <p:nvSpPr>
          <p:cNvPr id="16" name="Content Placeholder 2">
            <a:extLst>
              <a:ext uri="{FF2B5EF4-FFF2-40B4-BE49-F238E27FC236}">
                <a16:creationId xmlns:a16="http://schemas.microsoft.com/office/drawing/2014/main" id="{C6141B5D-7BD9-A047-8497-729C66548A46}"/>
              </a:ext>
            </a:extLst>
          </p:cNvPr>
          <p:cNvSpPr>
            <a:spLocks noGrp="1"/>
          </p:cNvSpPr>
          <p:nvPr>
            <p:ph idx="11" hasCustomPrompt="1"/>
          </p:nvPr>
        </p:nvSpPr>
        <p:spPr>
          <a:xfrm>
            <a:off x="4317315" y="1440305"/>
            <a:ext cx="3594916" cy="4779520"/>
          </a:xfrm>
        </p:spPr>
        <p:txBody>
          <a:bodyPr/>
          <a:lstStyle>
            <a:lvl1pPr marL="228562"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1pPr>
            <a:lvl2pPr marL="685690"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2pPr>
            <a:lvl3pPr marL="1142817" indent="-319990">
              <a:buClr>
                <a:srgbClr val="FF9900"/>
              </a:buClr>
              <a:buFont typeface="Arial" panose="020B0604020202020204" pitchFamily="34" charset="0"/>
              <a:buChar char="•"/>
              <a:defRPr b="0" i="0">
                <a:solidFill>
                  <a:schemeClr val="tx1"/>
                </a:solidFill>
                <a:latin typeface="Amazon Ember Light" charset="0"/>
                <a:ea typeface="Amazon Ember Light" charset="0"/>
                <a:cs typeface="Amazon Ember Light" charset="0"/>
              </a:defRPr>
            </a:lvl3pPr>
            <a:lvl4pPr marL="1599944" indent="-228562">
              <a:buFontTx/>
              <a:buBlip>
                <a:blip r:embed="rId3"/>
              </a:buBlip>
              <a:defRPr b="0" i="0">
                <a:solidFill>
                  <a:schemeClr val="tx1"/>
                </a:solidFill>
                <a:latin typeface="Amazon Ember Light" charset="0"/>
                <a:ea typeface="Amazon Ember Light" charset="0"/>
                <a:cs typeface="Amazon Ember Light" charset="0"/>
              </a:defRPr>
            </a:lvl4pPr>
            <a:lvl5pPr marL="2057072" indent="-228562">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p:txBody>
      </p:sp>
      <p:sp>
        <p:nvSpPr>
          <p:cNvPr id="11" name="Slide Number Placeholder 5">
            <a:extLst>
              <a:ext uri="{FF2B5EF4-FFF2-40B4-BE49-F238E27FC236}">
                <a16:creationId xmlns:a16="http://schemas.microsoft.com/office/drawing/2014/main" id="{0D3ABD7E-D050-AF44-9B7F-B956530EAF64}"/>
              </a:ext>
            </a:extLst>
          </p:cNvPr>
          <p:cNvSpPr>
            <a:spLocks noGrp="1"/>
          </p:cNvSpPr>
          <p:nvPr>
            <p:ph type="sldNum" sz="quarter" idx="4"/>
          </p:nvPr>
        </p:nvSpPr>
        <p:spPr>
          <a:xfrm>
            <a:off x="9005019" y="6415343"/>
            <a:ext cx="274248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A3D2F37-7CDD-994A-90F6-DC311907F511}" type="slidenum">
              <a:rPr lang="en-US" smtClean="0"/>
              <a:pPr/>
              <a:t>‹#›</a:t>
            </a:fld>
            <a:endParaRPr lang="en-US" dirty="0"/>
          </a:p>
        </p:txBody>
      </p:sp>
    </p:spTree>
    <p:extLst>
      <p:ext uri="{BB962C8B-B14F-4D97-AF65-F5344CB8AC3E}">
        <p14:creationId xmlns:p14="http://schemas.microsoft.com/office/powerpoint/2010/main" val="2437612997"/>
      </p:ext>
    </p:extLst>
  </p:cSld>
  <p:clrMapOvr>
    <a:masterClrMapping/>
  </p:clrMapOvr>
  <p:extLst>
    <p:ext uri="{DCECCB84-F9BA-43D5-87BE-67443E8EF086}">
      <p15:sldGuideLst xmlns:p15="http://schemas.microsoft.com/office/powerpoint/2012/main">
        <p15:guide id="1" pos="264" userDrawn="1">
          <p15:clr>
            <a:srgbClr val="FBAE40"/>
          </p15:clr>
        </p15:guide>
        <p15:guide id="2" pos="741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hank You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419C8C-A013-7440-B7D3-2A7CE6316ECE}"/>
              </a:ext>
            </a:extLst>
          </p:cNvPr>
          <p:cNvPicPr>
            <a:picLocks noChangeAspect="1"/>
          </p:cNvPicPr>
          <p:nvPr userDrawn="1"/>
        </p:nvPicPr>
        <p:blipFill>
          <a:blip r:embed="rId2"/>
          <a:stretch>
            <a:fillRect/>
          </a:stretch>
        </p:blipFill>
        <p:spPr>
          <a:xfrm>
            <a:off x="880" y="0"/>
            <a:ext cx="12187065" cy="6858000"/>
          </a:xfrm>
          <a:prstGeom prst="rect">
            <a:avLst/>
          </a:prstGeom>
        </p:spPr>
      </p:pic>
      <p:sp>
        <p:nvSpPr>
          <p:cNvPr id="5" name="TextBox 4">
            <a:extLst>
              <a:ext uri="{FF2B5EF4-FFF2-40B4-BE49-F238E27FC236}">
                <a16:creationId xmlns:a16="http://schemas.microsoft.com/office/drawing/2014/main" id="{5BA964E9-A14E-CF49-9636-1249BDF047DA}"/>
              </a:ext>
            </a:extLst>
          </p:cNvPr>
          <p:cNvSpPr txBox="1"/>
          <p:nvPr userDrawn="1"/>
        </p:nvSpPr>
        <p:spPr>
          <a:xfrm>
            <a:off x="934604" y="5903956"/>
            <a:ext cx="8351919" cy="553998"/>
          </a:xfrm>
          <a:prstGeom prst="rect">
            <a:avLst/>
          </a:prstGeom>
          <a:noFill/>
        </p:spPr>
        <p:txBody>
          <a:bodyPr wrap="square" rtlCol="0">
            <a:spAutoFit/>
          </a:bodyPr>
          <a:lstStyle/>
          <a:p>
            <a:pPr algn="just"/>
            <a:r>
              <a:rPr lang="en-US" sz="10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feedback, or other questions? Contact us at </a:t>
            </a:r>
            <a:r>
              <a:rPr lang="en-US" sz="1000" u="sng" dirty="0">
                <a:solidFill>
                  <a:schemeClr val="bg1"/>
                </a:solidFill>
                <a:latin typeface="Amazon Ember Light" charset="0"/>
                <a:ea typeface="Amazon Ember Light" charset="0"/>
                <a:cs typeface="Amazon Ember Light" charset="0"/>
              </a:rPr>
              <a:t>https://support.aws.amazon.com/#/contacts/aws-training</a:t>
            </a:r>
            <a:r>
              <a:rPr lang="en-US" sz="1000" dirty="0">
                <a:solidFill>
                  <a:schemeClr val="bg1"/>
                </a:solidFill>
                <a:latin typeface="Amazon Ember Light" charset="0"/>
                <a:ea typeface="Amazon Ember Light" charset="0"/>
                <a:cs typeface="Amazon Ember Light" charset="0"/>
              </a:rPr>
              <a:t>. All trademarks are the property of their owners.</a:t>
            </a:r>
            <a:endParaRPr lang="en-US" sz="1000" dirty="0"/>
          </a:p>
        </p:txBody>
      </p:sp>
      <p:sp>
        <p:nvSpPr>
          <p:cNvPr id="7" name="Title 1">
            <a:extLst>
              <a:ext uri="{FF2B5EF4-FFF2-40B4-BE49-F238E27FC236}">
                <a16:creationId xmlns:a16="http://schemas.microsoft.com/office/drawing/2014/main" id="{14998C28-E327-E344-81F1-B8A3E863820C}"/>
              </a:ext>
            </a:extLst>
          </p:cNvPr>
          <p:cNvSpPr>
            <a:spLocks noGrp="1"/>
          </p:cNvSpPr>
          <p:nvPr>
            <p:ph type="ctrTitle"/>
          </p:nvPr>
        </p:nvSpPr>
        <p:spPr>
          <a:xfrm>
            <a:off x="921725" y="2688719"/>
            <a:ext cx="6607772" cy="834496"/>
          </a:xfrm>
        </p:spPr>
        <p:txBody>
          <a:bodyPr anchor="b">
            <a:noAutofit/>
          </a:bodyPr>
          <a:lstStyle>
            <a:lvl1pPr algn="l">
              <a:defRPr sz="3999"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8" name="Subtitle 2">
            <a:extLst>
              <a:ext uri="{FF2B5EF4-FFF2-40B4-BE49-F238E27FC236}">
                <a16:creationId xmlns:a16="http://schemas.microsoft.com/office/drawing/2014/main" id="{AC7A01D6-41FD-0845-95DC-F56C211D50DA}"/>
              </a:ext>
            </a:extLst>
          </p:cNvPr>
          <p:cNvSpPr>
            <a:spLocks noGrp="1"/>
          </p:cNvSpPr>
          <p:nvPr>
            <p:ph type="subTitle" idx="1" hasCustomPrompt="1"/>
          </p:nvPr>
        </p:nvSpPr>
        <p:spPr>
          <a:xfrm>
            <a:off x="921728" y="3523215"/>
            <a:ext cx="6607771" cy="418570"/>
          </a:xfrm>
        </p:spPr>
        <p:txBody>
          <a:bodyPr>
            <a:noAutofit/>
          </a:bodyPr>
          <a:lstStyle>
            <a:lvl1pPr marL="0" indent="0" algn="l">
              <a:buNone/>
              <a:defRPr sz="2000" b="1" i="0" spc="300">
                <a:solidFill>
                  <a:schemeClr val="bg1"/>
                </a:solidFill>
                <a:latin typeface="Amazon Ember Light" charset="0"/>
                <a:ea typeface="Amazon Ember Light" charset="0"/>
                <a:cs typeface="Amazon Ember Light" charset="0"/>
              </a:defRPr>
            </a:lvl1pPr>
            <a:lvl2pPr marL="457127" indent="0" algn="ctr">
              <a:buNone/>
              <a:defRPr sz="2000"/>
            </a:lvl2pPr>
            <a:lvl3pPr marL="914254" indent="0" algn="ctr">
              <a:buNone/>
              <a:defRPr sz="1800"/>
            </a:lvl3pPr>
            <a:lvl4pPr marL="1371381" indent="0" algn="ctr">
              <a:buNone/>
              <a:defRPr sz="1600"/>
            </a:lvl4pPr>
            <a:lvl5pPr marL="1828507" indent="0" algn="ctr">
              <a:buNone/>
              <a:defRPr sz="1600"/>
            </a:lvl5pPr>
            <a:lvl6pPr marL="2285634" indent="0" algn="ctr">
              <a:buNone/>
              <a:defRPr sz="1600"/>
            </a:lvl6pPr>
            <a:lvl7pPr marL="2742760" indent="0" algn="ctr">
              <a:buNone/>
              <a:defRPr sz="1600"/>
            </a:lvl7pPr>
            <a:lvl8pPr marL="3199888" indent="0" algn="ctr">
              <a:buNone/>
              <a:defRPr sz="1600"/>
            </a:lvl8pPr>
            <a:lvl9pPr marL="3657015" indent="0" algn="ctr">
              <a:buNone/>
              <a:defRPr sz="1600"/>
            </a:lvl9pPr>
          </a:lstStyle>
          <a:p>
            <a:r>
              <a:rPr lang="en-US" dirty="0"/>
              <a:t>CLICK TO EDIT MASTER SUBTITLE STYLE</a:t>
            </a:r>
          </a:p>
        </p:txBody>
      </p:sp>
    </p:spTree>
    <p:extLst>
      <p:ext uri="{BB962C8B-B14F-4D97-AF65-F5344CB8AC3E}">
        <p14:creationId xmlns:p14="http://schemas.microsoft.com/office/powerpoint/2010/main" val="2162123121"/>
      </p:ext>
    </p:extLst>
  </p:cSld>
  <p:clrMapOvr>
    <a:masterClrMapping/>
  </p:clrMapOvr>
  <p:extLst>
    <p:ext uri="{DCECCB84-F9BA-43D5-87BE-67443E8EF086}">
      <p15:sldGuideLst xmlns:p15="http://schemas.microsoft.com/office/powerpoint/2012/main">
        <p15:guide id="1" orient="horz" pos="2808" userDrawn="1">
          <p15:clr>
            <a:srgbClr val="FBAE40"/>
          </p15:clr>
        </p15:guide>
        <p15:guide id="2" pos="3839" userDrawn="1">
          <p15:clr>
            <a:srgbClr val="FBAE40"/>
          </p15:clr>
        </p15:guide>
        <p15:guide id="3" pos="7414" userDrawn="1">
          <p15:clr>
            <a:srgbClr val="FBAE40"/>
          </p15:clr>
        </p15:guide>
        <p15:guide id="4" pos="576"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65127"/>
            <a:ext cx="1051286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7982" y="6356352"/>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10/1/20</a:t>
            </a:fld>
            <a:endParaRPr lang="en-US" dirty="0"/>
          </a:p>
        </p:txBody>
      </p:sp>
      <p:sp>
        <p:nvSpPr>
          <p:cNvPr id="5" name="Footer Placeholder 4"/>
          <p:cNvSpPr>
            <a:spLocks noGrp="1"/>
          </p:cNvSpPr>
          <p:nvPr>
            <p:ph type="ftr" sz="quarter" idx="3"/>
          </p:nvPr>
        </p:nvSpPr>
        <p:spPr>
          <a:xfrm>
            <a:off x="4037549" y="6356352"/>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08357" y="6356352"/>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3D2F37-7CDD-994A-90F6-DC311907F511}" type="slidenum">
              <a:rPr lang="en-US" smtClean="0"/>
              <a:pPr/>
              <a:t>‹#›</a:t>
            </a:fld>
            <a:endParaRPr lang="en-US" dirty="0"/>
          </a:p>
        </p:txBody>
      </p:sp>
    </p:spTree>
    <p:extLst>
      <p:ext uri="{BB962C8B-B14F-4D97-AF65-F5344CB8AC3E}">
        <p14:creationId xmlns:p14="http://schemas.microsoft.com/office/powerpoint/2010/main" val="2063466796"/>
      </p:ext>
    </p:extLst>
  </p:cSld>
  <p:clrMap bg1="lt1" tx1="dk1" bg2="lt2" tx2="dk2" accent1="accent1" accent2="accent2" accent3="accent3" accent4="accent4" accent5="accent5" accent6="accent6" hlink="hlink" folHlink="folHlink"/>
  <p:sldLayoutIdLst>
    <p:sldLayoutId id="2147483857" r:id="rId1"/>
    <p:sldLayoutId id="2147483867" r:id="rId2"/>
    <p:sldLayoutId id="2147483868" r:id="rId3"/>
    <p:sldLayoutId id="2147483870" r:id="rId4"/>
    <p:sldLayoutId id="2147483677" r:id="rId5"/>
    <p:sldLayoutId id="2147483877" r:id="rId6"/>
  </p:sldLayoutIdLst>
  <p:hf hdr="0" ftr="0" dt="0"/>
  <p:txStyles>
    <p:titleStyle>
      <a:lvl1pPr algn="l" defTabSz="914199" rtl="0" eaLnBrk="1" latinLnBrk="0" hangingPunct="1">
        <a:lnSpc>
          <a:spcPct val="90000"/>
        </a:lnSpc>
        <a:spcBef>
          <a:spcPct val="0"/>
        </a:spcBef>
        <a:buNone/>
        <a:defRPr sz="4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549" indent="-228549" algn="l" defTabSz="914199" rtl="0" eaLnBrk="1" latinLnBrk="0" hangingPunct="1">
        <a:lnSpc>
          <a:spcPct val="90000"/>
        </a:lnSpc>
        <a:spcBef>
          <a:spcPts val="1000"/>
        </a:spcBef>
        <a:buFont typeface="Arial" panose="020B0604020202020204" pitchFamily="34" charset="0"/>
        <a:buChar char="•"/>
        <a:defRPr sz="27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649" indent="-228549" algn="l" defTabSz="914199" rtl="0" eaLnBrk="1" latinLnBrk="0" hangingPunct="1">
        <a:lnSpc>
          <a:spcPct val="90000"/>
        </a:lnSpc>
        <a:spcBef>
          <a:spcPts val="500"/>
        </a:spcBef>
        <a:buFont typeface="Arial" panose="020B0604020202020204" pitchFamily="34" charset="0"/>
        <a:buChar char="•"/>
        <a:defRPr sz="23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2748" indent="-228549" algn="l" defTabSz="914199" rtl="0" eaLnBrk="1" latinLnBrk="0" hangingPunct="1">
        <a:lnSpc>
          <a:spcPct val="90000"/>
        </a:lnSpc>
        <a:spcBef>
          <a:spcPts val="500"/>
        </a:spcBef>
        <a:buFont typeface="Arial" panose="020B0604020202020204" pitchFamily="34" charset="0"/>
        <a:buChar char="•"/>
        <a:defRPr sz="19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599848" indent="-228549" algn="l" defTabSz="914199" rtl="0" eaLnBrk="1" latinLnBrk="0" hangingPunct="1">
        <a:lnSpc>
          <a:spcPct val="90000"/>
        </a:lnSpc>
        <a:spcBef>
          <a:spcPts val="500"/>
        </a:spcBef>
        <a:buFont typeface="Arial" panose="020B0604020202020204" pitchFamily="34" charset="0"/>
        <a:buChar char="•"/>
        <a:defRPr sz="17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6947" indent="-228549" algn="l" defTabSz="914199" rtl="0" eaLnBrk="1" latinLnBrk="0" hangingPunct="1">
        <a:lnSpc>
          <a:spcPct val="90000"/>
        </a:lnSpc>
        <a:spcBef>
          <a:spcPts val="500"/>
        </a:spcBef>
        <a:buFont typeface="Arial" panose="020B0604020202020204" pitchFamily="34" charset="0"/>
        <a:buChar char="•"/>
        <a:defRPr sz="1799"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99" rtl="0" eaLnBrk="1" latinLnBrk="0" hangingPunct="1">
        <a:defRPr sz="1799" kern="1200">
          <a:solidFill>
            <a:schemeClr val="tx1"/>
          </a:solidFill>
          <a:latin typeface="+mn-lt"/>
          <a:ea typeface="+mn-ea"/>
          <a:cs typeface="+mn-cs"/>
        </a:defRPr>
      </a:lvl1pPr>
      <a:lvl2pPr marL="457099" algn="l" defTabSz="914199" rtl="0" eaLnBrk="1" latinLnBrk="0" hangingPunct="1">
        <a:defRPr sz="1799" kern="1200">
          <a:solidFill>
            <a:schemeClr val="tx1"/>
          </a:solidFill>
          <a:latin typeface="+mn-lt"/>
          <a:ea typeface="+mn-ea"/>
          <a:cs typeface="+mn-cs"/>
        </a:defRPr>
      </a:lvl2pPr>
      <a:lvl3pPr marL="914199" algn="l" defTabSz="914199" rtl="0" eaLnBrk="1" latinLnBrk="0" hangingPunct="1">
        <a:defRPr sz="1799" kern="1200">
          <a:solidFill>
            <a:schemeClr val="tx1"/>
          </a:solidFill>
          <a:latin typeface="+mn-lt"/>
          <a:ea typeface="+mn-ea"/>
          <a:cs typeface="+mn-cs"/>
        </a:defRPr>
      </a:lvl3pPr>
      <a:lvl4pPr marL="1371299" algn="l" defTabSz="914199" rtl="0" eaLnBrk="1" latinLnBrk="0" hangingPunct="1">
        <a:defRPr sz="1799" kern="1200">
          <a:solidFill>
            <a:schemeClr val="tx1"/>
          </a:solidFill>
          <a:latin typeface="+mn-lt"/>
          <a:ea typeface="+mn-ea"/>
          <a:cs typeface="+mn-cs"/>
        </a:defRPr>
      </a:lvl4pPr>
      <a:lvl5pPr marL="1828397" algn="l" defTabSz="914199" rtl="0" eaLnBrk="1" latinLnBrk="0" hangingPunct="1">
        <a:defRPr sz="1799" kern="1200">
          <a:solidFill>
            <a:schemeClr val="tx1"/>
          </a:solidFill>
          <a:latin typeface="+mn-lt"/>
          <a:ea typeface="+mn-ea"/>
          <a:cs typeface="+mn-cs"/>
        </a:defRPr>
      </a:lvl5pPr>
      <a:lvl6pPr marL="2285497" algn="l" defTabSz="914199" rtl="0" eaLnBrk="1" latinLnBrk="0" hangingPunct="1">
        <a:defRPr sz="1799" kern="1200">
          <a:solidFill>
            <a:schemeClr val="tx1"/>
          </a:solidFill>
          <a:latin typeface="+mn-lt"/>
          <a:ea typeface="+mn-ea"/>
          <a:cs typeface="+mn-cs"/>
        </a:defRPr>
      </a:lvl6pPr>
      <a:lvl7pPr marL="2742596" algn="l" defTabSz="914199" rtl="0" eaLnBrk="1" latinLnBrk="0" hangingPunct="1">
        <a:defRPr sz="1799" kern="1200">
          <a:solidFill>
            <a:schemeClr val="tx1"/>
          </a:solidFill>
          <a:latin typeface="+mn-lt"/>
          <a:ea typeface="+mn-ea"/>
          <a:cs typeface="+mn-cs"/>
        </a:defRPr>
      </a:lvl7pPr>
      <a:lvl8pPr marL="3199696" algn="l" defTabSz="914199" rtl="0" eaLnBrk="1" latinLnBrk="0" hangingPunct="1">
        <a:defRPr sz="1799" kern="1200">
          <a:solidFill>
            <a:schemeClr val="tx1"/>
          </a:solidFill>
          <a:latin typeface="+mn-lt"/>
          <a:ea typeface="+mn-ea"/>
          <a:cs typeface="+mn-cs"/>
        </a:defRPr>
      </a:lvl8pPr>
      <a:lvl9pPr marL="3656795" algn="l" defTabSz="914199"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2.xml"/><Relationship Id="rId16"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emf"/><Relationship Id="rId9" Type="http://schemas.openxmlformats.org/officeDocument/2006/relationships/image" Target="../media/image12.png"/><Relationship Id="rId14" Type="http://schemas.openxmlformats.org/officeDocument/2006/relationships/image" Target="../media/image1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notesSlide" Target="../notesSlides/notesSlide20.xml"/><Relationship Id="rId16" Type="http://schemas.openxmlformats.org/officeDocument/2006/relationships/image" Target="../media/image40.svg"/><Relationship Id="rId1" Type="http://schemas.openxmlformats.org/officeDocument/2006/relationships/slideLayout" Target="../slideLayouts/slideLayout4.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sv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1.pn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55.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57.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59.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61.tiff"/><Relationship Id="rId5" Type="http://schemas.openxmlformats.org/officeDocument/2006/relationships/image" Target="../media/image42.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8.xml"/><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4.png"/></Relationships>
</file>

<file path=ppt/slides/_rels/slide4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7.emf"/></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4.xml"/><Relationship Id="rId5" Type="http://schemas.openxmlformats.org/officeDocument/2006/relationships/image" Target="../media/image70.png"/><Relationship Id="rId4" Type="http://schemas.openxmlformats.org/officeDocument/2006/relationships/image" Target="../media/image69.png"/></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6.xml"/><Relationship Id="rId1" Type="http://schemas.openxmlformats.org/officeDocument/2006/relationships/slideLayout" Target="../slideLayouts/slideLayout4.xml"/><Relationship Id="rId6" Type="http://schemas.openxmlformats.org/officeDocument/2006/relationships/image" Target="../media/image70.png"/><Relationship Id="rId5" Type="http://schemas.openxmlformats.org/officeDocument/2006/relationships/image" Target="../media/image8.png"/><Relationship Id="rId4" Type="http://schemas.openxmlformats.org/officeDocument/2006/relationships/image" Target="../media/image7.e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859A4E-4743-E04D-A3D3-FD9B8E3B4065}"/>
              </a:ext>
            </a:extLst>
          </p:cNvPr>
          <p:cNvSpPr>
            <a:spLocks noGrp="1"/>
          </p:cNvSpPr>
          <p:nvPr>
            <p:ph type="ctrTitle"/>
          </p:nvPr>
        </p:nvSpPr>
        <p:spPr>
          <a:xfrm>
            <a:off x="921676" y="2688719"/>
            <a:ext cx="6607772" cy="834496"/>
          </a:xfrm>
        </p:spPr>
        <p:txBody>
          <a:bodyPr/>
          <a:lstStyle/>
          <a:p>
            <a:r>
              <a:rPr lang="en-US" dirty="0"/>
              <a:t>Adding A Database Layer</a:t>
            </a:r>
          </a:p>
        </p:txBody>
      </p:sp>
      <p:sp>
        <p:nvSpPr>
          <p:cNvPr id="3" name="Subtitle 2">
            <a:extLst>
              <a:ext uri="{FF2B5EF4-FFF2-40B4-BE49-F238E27FC236}">
                <a16:creationId xmlns:a16="http://schemas.microsoft.com/office/drawing/2014/main" id="{A5FC99F1-C650-C941-BC62-4D2C75E4EBA3}"/>
              </a:ext>
            </a:extLst>
          </p:cNvPr>
          <p:cNvSpPr>
            <a:spLocks noGrp="1"/>
          </p:cNvSpPr>
          <p:nvPr>
            <p:ph type="subTitle" idx="1"/>
          </p:nvPr>
        </p:nvSpPr>
        <p:spPr>
          <a:xfrm>
            <a:off x="921677" y="3523215"/>
            <a:ext cx="6607771" cy="418570"/>
          </a:xfrm>
        </p:spPr>
        <p:txBody>
          <a:bodyPr/>
          <a:lstStyle/>
          <a:p>
            <a:r>
              <a:rPr lang="en-US" dirty="0"/>
              <a:t>Module 4</a:t>
            </a:r>
          </a:p>
        </p:txBody>
      </p:sp>
      <p:grpSp>
        <p:nvGrpSpPr>
          <p:cNvPr id="5" name="Group 4">
            <a:extLst>
              <a:ext uri="{FF2B5EF4-FFF2-40B4-BE49-F238E27FC236}">
                <a16:creationId xmlns:a16="http://schemas.microsoft.com/office/drawing/2014/main" id="{65E5183B-7771-C341-862C-01A0F36BD165}"/>
              </a:ext>
            </a:extLst>
          </p:cNvPr>
          <p:cNvGrpSpPr/>
          <p:nvPr/>
        </p:nvGrpSpPr>
        <p:grpSpPr>
          <a:xfrm>
            <a:off x="1043274" y="5983272"/>
            <a:ext cx="920760" cy="437476"/>
            <a:chOff x="5616294" y="5438302"/>
            <a:chExt cx="1119851" cy="532069"/>
          </a:xfrm>
        </p:grpSpPr>
        <p:grpSp>
          <p:nvGrpSpPr>
            <p:cNvPr id="6" name="Group 5">
              <a:extLst>
                <a:ext uri="{FF2B5EF4-FFF2-40B4-BE49-F238E27FC236}">
                  <a16:creationId xmlns:a16="http://schemas.microsoft.com/office/drawing/2014/main" id="{5AFFDF96-080A-A74D-9A5F-FA671BEC48DA}"/>
                </a:ext>
              </a:extLst>
            </p:cNvPr>
            <p:cNvGrpSpPr/>
            <p:nvPr/>
          </p:nvGrpSpPr>
          <p:grpSpPr>
            <a:xfrm>
              <a:off x="5616294" y="5591126"/>
              <a:ext cx="959878" cy="379245"/>
              <a:chOff x="7703855" y="4087007"/>
              <a:chExt cx="1386355" cy="547745"/>
            </a:xfrm>
          </p:grpSpPr>
          <p:sp>
            <p:nvSpPr>
              <p:cNvPr id="8" name="Rounded Rectangle 7">
                <a:extLst>
                  <a:ext uri="{FF2B5EF4-FFF2-40B4-BE49-F238E27FC236}">
                    <a16:creationId xmlns:a16="http://schemas.microsoft.com/office/drawing/2014/main" id="{6F6B357B-6920-7B48-809B-CF38CD6B9B00}"/>
                  </a:ext>
                </a:extLst>
              </p:cNvPr>
              <p:cNvSpPr/>
              <p:nvPr/>
            </p:nvSpPr>
            <p:spPr>
              <a:xfrm>
                <a:off x="7703855" y="4087007"/>
                <a:ext cx="1386355" cy="547745"/>
              </a:xfrm>
              <a:prstGeom prst="roundRect">
                <a:avLst/>
              </a:prstGeom>
              <a:gradFill rotWithShape="1">
                <a:gsLst>
                  <a:gs pos="0">
                    <a:srgbClr val="474746">
                      <a:tint val="100000"/>
                      <a:shade val="100000"/>
                      <a:satMod val="130000"/>
                    </a:srgbClr>
                  </a:gs>
                  <a:gs pos="100000">
                    <a:srgbClr val="474746">
                      <a:tint val="50000"/>
                      <a:shade val="100000"/>
                      <a:satMod val="350000"/>
                    </a:srgbClr>
                  </a:gs>
                </a:gsLst>
                <a:lin ang="16200000" scaled="0"/>
              </a:gradFill>
              <a:ln w="9525" cap="flat" cmpd="sng" algn="ctr">
                <a:noFill/>
                <a:prstDash val="solid"/>
              </a:ln>
              <a:effectLst>
                <a:outerShdw blurRad="40000" dist="23000" dir="5400000" rotWithShape="0">
                  <a:srgbClr val="000000">
                    <a:alpha val="35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Arial"/>
                  <a:ea typeface="+mn-ea"/>
                  <a:cs typeface="+mn-cs"/>
                </a:endParaRPr>
              </a:p>
            </p:txBody>
          </p:sp>
          <p:pic>
            <p:nvPicPr>
              <p:cNvPr id="9" name="Picture 8" descr="Banner_logo-v2_50">
                <a:extLst>
                  <a:ext uri="{FF2B5EF4-FFF2-40B4-BE49-F238E27FC236}">
                    <a16:creationId xmlns:a16="http://schemas.microsoft.com/office/drawing/2014/main" id="{676F37A5-759F-A342-A99B-DB500B9BB07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784540" y="4087008"/>
                <a:ext cx="1181100" cy="47625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6">
              <a:extLst>
                <a:ext uri="{FF2B5EF4-FFF2-40B4-BE49-F238E27FC236}">
                  <a16:creationId xmlns:a16="http://schemas.microsoft.com/office/drawing/2014/main" id="{99C71EDB-989A-FE4D-B7C8-902B5CC21E9D}"/>
                </a:ext>
              </a:extLst>
            </p:cNvPr>
            <p:cNvSpPr txBox="1"/>
            <p:nvPr/>
          </p:nvSpPr>
          <p:spPr>
            <a:xfrm>
              <a:off x="6433296" y="5438302"/>
              <a:ext cx="302849" cy="311161"/>
            </a:xfrm>
            <a:prstGeom prst="star8">
              <a:avLst/>
            </a:prstGeom>
            <a:solidFill>
              <a:schemeClr val="accent2"/>
            </a:solidFill>
            <a:ln>
              <a:solidFill>
                <a:schemeClr val="accent2"/>
              </a:solidFill>
            </a:ln>
            <a:effectLst>
              <a:outerShdw blurRad="50800" dist="38100" dir="8100000" algn="tr" rotWithShape="0">
                <a:prstClr val="black">
                  <a:alpha val="40000"/>
                </a:prstClr>
              </a:outerShdw>
            </a:effectLst>
          </p:spPr>
          <p:txBody>
            <a:bodyPr wrap="square" rtlCol="0" anchor="ctr">
              <a:noAutofit/>
            </a:bodyPr>
            <a:lstStyle/>
            <a:p>
              <a:pPr algn="ctr"/>
              <a:r>
                <a:rPr lang="en-US" sz="1400" b="1" dirty="0">
                  <a:solidFill>
                    <a:schemeClr val="bg2"/>
                  </a:solidFill>
                </a:rPr>
                <a:t>2</a:t>
              </a:r>
              <a:endParaRPr lang="en-US" b="1" dirty="0">
                <a:solidFill>
                  <a:schemeClr val="bg2"/>
                </a:solidFill>
              </a:endParaRPr>
            </a:p>
          </p:txBody>
        </p:sp>
      </p:grpSp>
    </p:spTree>
    <p:extLst>
      <p:ext uri="{BB962C8B-B14F-4D97-AF65-F5344CB8AC3E}">
        <p14:creationId xmlns:p14="http://schemas.microsoft.com/office/powerpoint/2010/main" val="1372816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extBox 72">
            <a:extLst>
              <a:ext uri="{FF2B5EF4-FFF2-40B4-BE49-F238E27FC236}">
                <a16:creationId xmlns:a16="http://schemas.microsoft.com/office/drawing/2014/main" id="{7EDDDBAE-3DE6-E84D-8317-1A525483C0B2}"/>
              </a:ext>
            </a:extLst>
          </p:cNvPr>
          <p:cNvSpPr txBox="1"/>
          <p:nvPr/>
        </p:nvSpPr>
        <p:spPr>
          <a:xfrm>
            <a:off x="-21130" y="4414867"/>
            <a:ext cx="1051832" cy="461665"/>
          </a:xfrm>
          <a:prstGeom prst="rect">
            <a:avLst/>
          </a:prstGeom>
          <a:noFill/>
        </p:spPr>
        <p:txBody>
          <a:bodyPr wrap="square" rtlCol="0">
            <a:spAutoFit/>
          </a:bodyPr>
          <a:lstStyle>
            <a:defPPr>
              <a:defRPr lang="en-US"/>
            </a:defPPr>
            <a:lvl1pPr algn="ctr">
              <a:defRPr sz="120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Amazon Route 53</a:t>
            </a:r>
          </a:p>
        </p:txBody>
      </p:sp>
      <p:sp>
        <p:nvSpPr>
          <p:cNvPr id="142" name="Rectangle 141">
            <a:extLst>
              <a:ext uri="{FF2B5EF4-FFF2-40B4-BE49-F238E27FC236}">
                <a16:creationId xmlns:a16="http://schemas.microsoft.com/office/drawing/2014/main" id="{40DAAFD1-6719-D446-85C6-A154E592D787}"/>
              </a:ext>
            </a:extLst>
          </p:cNvPr>
          <p:cNvSpPr/>
          <p:nvPr/>
        </p:nvSpPr>
        <p:spPr>
          <a:xfrm>
            <a:off x="313010" y="6343650"/>
            <a:ext cx="3987528"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3" name="Rounded Rectangle 232">
            <a:extLst>
              <a:ext uri="{FF2B5EF4-FFF2-40B4-BE49-F238E27FC236}">
                <a16:creationId xmlns:a16="http://schemas.microsoft.com/office/drawing/2014/main" id="{03DF7305-478D-0E4F-AFC4-F41E32353972}"/>
              </a:ext>
            </a:extLst>
          </p:cNvPr>
          <p:cNvSpPr/>
          <p:nvPr/>
        </p:nvSpPr>
        <p:spPr>
          <a:xfrm>
            <a:off x="916262" y="1360159"/>
            <a:ext cx="11170597" cy="538354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Dedicated Database Layer</a:t>
            </a:r>
          </a:p>
        </p:txBody>
      </p:sp>
      <p:pic>
        <p:nvPicPr>
          <p:cNvPr id="168" name="Picture 167">
            <a:extLst>
              <a:ext uri="{FF2B5EF4-FFF2-40B4-BE49-F238E27FC236}">
                <a16:creationId xmlns:a16="http://schemas.microsoft.com/office/drawing/2014/main" id="{EDC44A11-0B6E-0B45-9A8D-94EA8897F080}"/>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7544689" y="2389192"/>
            <a:ext cx="494088" cy="512387"/>
          </a:xfrm>
          <a:prstGeom prst="rect">
            <a:avLst/>
          </a:prstGeom>
        </p:spPr>
      </p:pic>
      <p:sp>
        <p:nvSpPr>
          <p:cNvPr id="179" name="TextBox 178">
            <a:extLst>
              <a:ext uri="{FF2B5EF4-FFF2-40B4-BE49-F238E27FC236}">
                <a16:creationId xmlns:a16="http://schemas.microsoft.com/office/drawing/2014/main" id="{25B71536-C79E-E144-9104-28653AD3DEAB}"/>
              </a:ext>
            </a:extLst>
          </p:cNvPr>
          <p:cNvSpPr txBox="1"/>
          <p:nvPr/>
        </p:nvSpPr>
        <p:spPr>
          <a:xfrm>
            <a:off x="7053506" y="1932851"/>
            <a:ext cx="1476454" cy="276999"/>
          </a:xfrm>
          <a:prstGeom prst="rect">
            <a:avLst/>
          </a:prstGeom>
          <a:no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Memcached</a:t>
            </a:r>
          </a:p>
        </p:txBody>
      </p:sp>
      <p:sp>
        <p:nvSpPr>
          <p:cNvPr id="180" name="Rounded Rectangle 179">
            <a:extLst>
              <a:ext uri="{FF2B5EF4-FFF2-40B4-BE49-F238E27FC236}">
                <a16:creationId xmlns:a16="http://schemas.microsoft.com/office/drawing/2014/main" id="{A200C75D-0AB5-0D40-BCD0-639600AA4B91}"/>
              </a:ext>
            </a:extLst>
          </p:cNvPr>
          <p:cNvSpPr/>
          <p:nvPr/>
        </p:nvSpPr>
        <p:spPr>
          <a:xfrm>
            <a:off x="6791922" y="1704748"/>
            <a:ext cx="3819370" cy="173355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pic>
        <p:nvPicPr>
          <p:cNvPr id="181" name="Picture 180">
            <a:extLst>
              <a:ext uri="{FF2B5EF4-FFF2-40B4-BE49-F238E27FC236}">
                <a16:creationId xmlns:a16="http://schemas.microsoft.com/office/drawing/2014/main" id="{0FB6E82E-46C8-B840-B9B3-A15117F40622}"/>
              </a:ext>
            </a:extLst>
          </p:cNvPr>
          <p:cNvPicPr>
            <a:picLocks noChangeAspect="1"/>
          </p:cNvPicPr>
          <p:nvPr/>
        </p:nvPicPr>
        <p:blipFill>
          <a:blip r:embed="rId4">
            <a:lum bright="70000" contrast="-70000"/>
          </a:blip>
          <a:stretch>
            <a:fillRect/>
          </a:stretch>
        </p:blipFill>
        <p:spPr>
          <a:xfrm>
            <a:off x="6945556" y="1560166"/>
            <a:ext cx="215900" cy="241300"/>
          </a:xfrm>
          <a:prstGeom prst="rect">
            <a:avLst/>
          </a:prstGeom>
        </p:spPr>
      </p:pic>
      <p:sp>
        <p:nvSpPr>
          <p:cNvPr id="182" name="Rounded Rectangle 181">
            <a:extLst>
              <a:ext uri="{FF2B5EF4-FFF2-40B4-BE49-F238E27FC236}">
                <a16:creationId xmlns:a16="http://schemas.microsoft.com/office/drawing/2014/main" id="{9EEEC5F2-2684-E54A-8BBD-9DCA8904A13E}"/>
              </a:ext>
            </a:extLst>
          </p:cNvPr>
          <p:cNvSpPr/>
          <p:nvPr/>
        </p:nvSpPr>
        <p:spPr>
          <a:xfrm>
            <a:off x="6791922" y="4756531"/>
            <a:ext cx="3819370" cy="1733550"/>
          </a:xfrm>
          <a:prstGeom prst="roundRect">
            <a:avLst>
              <a:gd name="adj" fmla="val 9818"/>
            </a:avLst>
          </a:prstGeom>
          <a:noFill/>
          <a:ln w="6350">
            <a:solidFill>
              <a:schemeClr val="bg2">
                <a:lumMod val="9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pic>
        <p:nvPicPr>
          <p:cNvPr id="183" name="Picture 182">
            <a:extLst>
              <a:ext uri="{FF2B5EF4-FFF2-40B4-BE49-F238E27FC236}">
                <a16:creationId xmlns:a16="http://schemas.microsoft.com/office/drawing/2014/main" id="{D623273A-DCC3-B041-98AD-CBABE7E6E1E5}"/>
              </a:ext>
            </a:extLst>
          </p:cNvPr>
          <p:cNvPicPr>
            <a:picLocks noChangeAspect="1"/>
          </p:cNvPicPr>
          <p:nvPr/>
        </p:nvPicPr>
        <p:blipFill>
          <a:blip r:embed="rId4">
            <a:lum bright="70000" contrast="-70000"/>
          </a:blip>
          <a:stretch>
            <a:fillRect/>
          </a:stretch>
        </p:blipFill>
        <p:spPr>
          <a:xfrm>
            <a:off x="6945556" y="4611949"/>
            <a:ext cx="215900" cy="241300"/>
          </a:xfrm>
          <a:prstGeom prst="rect">
            <a:avLst/>
          </a:prstGeom>
        </p:spPr>
      </p:pic>
      <p:pic>
        <p:nvPicPr>
          <p:cNvPr id="169" name="Picture 168">
            <a:extLst>
              <a:ext uri="{FF2B5EF4-FFF2-40B4-BE49-F238E27FC236}">
                <a16:creationId xmlns:a16="http://schemas.microsoft.com/office/drawing/2014/main" id="{6D62B072-F9FB-2942-9927-CD0C1359B344}"/>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7544689" y="5219367"/>
            <a:ext cx="494088" cy="512387"/>
          </a:xfrm>
          <a:prstGeom prst="rect">
            <a:avLst/>
          </a:prstGeom>
        </p:spPr>
      </p:pic>
      <p:sp>
        <p:nvSpPr>
          <p:cNvPr id="184" name="TextBox 183">
            <a:extLst>
              <a:ext uri="{FF2B5EF4-FFF2-40B4-BE49-F238E27FC236}">
                <a16:creationId xmlns:a16="http://schemas.microsoft.com/office/drawing/2014/main" id="{15C22611-FB66-DC40-A671-51C1E2F6251B}"/>
              </a:ext>
            </a:extLst>
          </p:cNvPr>
          <p:cNvSpPr txBox="1"/>
          <p:nvPr/>
        </p:nvSpPr>
        <p:spPr>
          <a:xfrm>
            <a:off x="7053506" y="5928453"/>
            <a:ext cx="1476454" cy="276999"/>
          </a:xfrm>
          <a:prstGeom prst="rect">
            <a:avLst/>
          </a:prstGeom>
          <a:noFill/>
        </p:spPr>
        <p:txBody>
          <a:bodyPr wrap="square" rtlCol="0">
            <a:spAutoFit/>
          </a:bodyPr>
          <a:lstStyle/>
          <a:p>
            <a:pPr algn="ctr"/>
            <a:r>
              <a:rPr lang="en-US" sz="12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Memcached</a:t>
            </a:r>
          </a:p>
        </p:txBody>
      </p:sp>
      <p:pic>
        <p:nvPicPr>
          <p:cNvPr id="187" name="Picture 186">
            <a:extLst>
              <a:ext uri="{FF2B5EF4-FFF2-40B4-BE49-F238E27FC236}">
                <a16:creationId xmlns:a16="http://schemas.microsoft.com/office/drawing/2014/main" id="{4BD76DC8-0B7A-1746-B7C3-A73E6D12A336}"/>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425669" y="2363268"/>
            <a:ext cx="544781" cy="564959"/>
          </a:xfrm>
          <a:prstGeom prst="rect">
            <a:avLst/>
          </a:prstGeom>
        </p:spPr>
      </p:pic>
      <p:pic>
        <p:nvPicPr>
          <p:cNvPr id="188" name="Picture 187">
            <a:extLst>
              <a:ext uri="{FF2B5EF4-FFF2-40B4-BE49-F238E27FC236}">
                <a16:creationId xmlns:a16="http://schemas.microsoft.com/office/drawing/2014/main" id="{A64F8E1B-CD0C-F445-A02A-E837F2D0C2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25668" y="5186271"/>
            <a:ext cx="544781" cy="564959"/>
          </a:xfrm>
          <a:prstGeom prst="rect">
            <a:avLst/>
          </a:prstGeom>
        </p:spPr>
      </p:pic>
      <p:sp>
        <p:nvSpPr>
          <p:cNvPr id="189" name="TextBox 188">
            <a:extLst>
              <a:ext uri="{FF2B5EF4-FFF2-40B4-BE49-F238E27FC236}">
                <a16:creationId xmlns:a16="http://schemas.microsoft.com/office/drawing/2014/main" id="{33BF5A5E-FE2D-1549-B329-3D3E9E2680F3}"/>
              </a:ext>
            </a:extLst>
          </p:cNvPr>
          <p:cNvSpPr txBox="1"/>
          <p:nvPr/>
        </p:nvSpPr>
        <p:spPr>
          <a:xfrm>
            <a:off x="4954781" y="1733707"/>
            <a:ext cx="1476454" cy="461665"/>
          </a:xfrm>
          <a:prstGeom prst="rect">
            <a:avLst/>
          </a:prstGeom>
          <a:no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Amazon EC2</a:t>
            </a:r>
          </a:p>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sp>
        <p:nvSpPr>
          <p:cNvPr id="190" name="TextBox 189">
            <a:extLst>
              <a:ext uri="{FF2B5EF4-FFF2-40B4-BE49-F238E27FC236}">
                <a16:creationId xmlns:a16="http://schemas.microsoft.com/office/drawing/2014/main" id="{EE77B8BF-5354-464E-936F-F029D3480315}"/>
              </a:ext>
            </a:extLst>
          </p:cNvPr>
          <p:cNvSpPr txBox="1"/>
          <p:nvPr/>
        </p:nvSpPr>
        <p:spPr>
          <a:xfrm>
            <a:off x="4967819" y="5772580"/>
            <a:ext cx="1476454" cy="523220"/>
          </a:xfrm>
          <a:prstGeom prst="rect">
            <a:avLst/>
          </a:prstGeom>
          <a:noFill/>
        </p:spPr>
        <p:txBody>
          <a:bodyPr wrap="square" rtlCol="0">
            <a:sp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Amazon EC2</a:t>
            </a:r>
          </a:p>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Instance</a:t>
            </a:r>
          </a:p>
        </p:txBody>
      </p:sp>
      <p:pic>
        <p:nvPicPr>
          <p:cNvPr id="191" name="Picture 190">
            <a:extLst>
              <a:ext uri="{FF2B5EF4-FFF2-40B4-BE49-F238E27FC236}">
                <a16:creationId xmlns:a16="http://schemas.microsoft.com/office/drawing/2014/main" id="{47F6AA44-4DEF-6B44-B0E9-598E1D874B60}"/>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5341775" y="3722094"/>
            <a:ext cx="712565" cy="692773"/>
          </a:xfrm>
          <a:prstGeom prst="rect">
            <a:avLst/>
          </a:prstGeom>
        </p:spPr>
      </p:pic>
      <p:pic>
        <p:nvPicPr>
          <p:cNvPr id="193" name="Picture 192">
            <a:extLst>
              <a:ext uri="{FF2B5EF4-FFF2-40B4-BE49-F238E27FC236}">
                <a16:creationId xmlns:a16="http://schemas.microsoft.com/office/drawing/2014/main" id="{9EA3BBDB-0C73-5746-8335-6807E8387E70}"/>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3626158" y="2391242"/>
            <a:ext cx="538195" cy="555557"/>
          </a:xfrm>
          <a:prstGeom prst="rect">
            <a:avLst/>
          </a:prstGeom>
        </p:spPr>
      </p:pic>
      <p:pic>
        <p:nvPicPr>
          <p:cNvPr id="194" name="Picture 193">
            <a:extLst>
              <a:ext uri="{FF2B5EF4-FFF2-40B4-BE49-F238E27FC236}">
                <a16:creationId xmlns:a16="http://schemas.microsoft.com/office/drawing/2014/main" id="{DD8AFE7B-EB7F-9940-B2A1-81FF62E7F656}"/>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3626158" y="5169205"/>
            <a:ext cx="538195" cy="555557"/>
          </a:xfrm>
          <a:prstGeom prst="rect">
            <a:avLst/>
          </a:prstGeom>
        </p:spPr>
      </p:pic>
      <p:sp>
        <p:nvSpPr>
          <p:cNvPr id="195" name="TextBox 194">
            <a:extLst>
              <a:ext uri="{FF2B5EF4-FFF2-40B4-BE49-F238E27FC236}">
                <a16:creationId xmlns:a16="http://schemas.microsoft.com/office/drawing/2014/main" id="{5367E616-8E81-1946-92F4-149C1F0E473A}"/>
              </a:ext>
            </a:extLst>
          </p:cNvPr>
          <p:cNvSpPr txBox="1"/>
          <p:nvPr/>
        </p:nvSpPr>
        <p:spPr>
          <a:xfrm>
            <a:off x="3157028" y="1920191"/>
            <a:ext cx="1476454" cy="276999"/>
          </a:xfrm>
          <a:prstGeom prst="rect">
            <a:avLst/>
          </a:prstGeom>
          <a:no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NAT Gateway</a:t>
            </a:r>
          </a:p>
        </p:txBody>
      </p:sp>
      <p:sp>
        <p:nvSpPr>
          <p:cNvPr id="196" name="TextBox 195">
            <a:extLst>
              <a:ext uri="{FF2B5EF4-FFF2-40B4-BE49-F238E27FC236}">
                <a16:creationId xmlns:a16="http://schemas.microsoft.com/office/drawing/2014/main" id="{A87B1465-94C4-5641-A3E0-1858D7371E87}"/>
              </a:ext>
            </a:extLst>
          </p:cNvPr>
          <p:cNvSpPr txBox="1"/>
          <p:nvPr/>
        </p:nvSpPr>
        <p:spPr>
          <a:xfrm>
            <a:off x="3157028" y="5923305"/>
            <a:ext cx="1476454" cy="276999"/>
          </a:xfrm>
          <a:prstGeom prst="rect">
            <a:avLst/>
          </a:prstGeom>
          <a:noFill/>
        </p:spPr>
        <p:txBody>
          <a:bodyPr wrap="square" rtlCol="0">
            <a:spAutoFit/>
          </a:bodyPr>
          <a:lstStyle/>
          <a:p>
            <a:pPr algn="ctr"/>
            <a:r>
              <a:rPr lang="en-US" sz="12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NAT Gateway</a:t>
            </a:r>
          </a:p>
        </p:txBody>
      </p:sp>
      <p:pic>
        <p:nvPicPr>
          <p:cNvPr id="197" name="Picture 196">
            <a:extLst>
              <a:ext uri="{FF2B5EF4-FFF2-40B4-BE49-F238E27FC236}">
                <a16:creationId xmlns:a16="http://schemas.microsoft.com/office/drawing/2014/main" id="{04FF5F7B-71E6-1547-BCB2-4AF02A2CB227}"/>
              </a:ext>
            </a:extLst>
          </p:cNvPr>
          <p:cNvPicPr>
            <a:picLocks noChangeAspect="1"/>
          </p:cNvPicPr>
          <p:nvPr/>
        </p:nvPicPr>
        <p:blipFill>
          <a:blip r:embed="rId8">
            <a:lum bright="70000" contrast="-70000"/>
            <a:extLst>
              <a:ext uri="{28A0092B-C50C-407E-A947-70E740481C1C}">
                <a14:useLocalDpi xmlns:a14="http://schemas.microsoft.com/office/drawing/2010/main" val="0"/>
              </a:ext>
            </a:extLst>
          </a:blip>
          <a:stretch>
            <a:fillRect/>
          </a:stretch>
        </p:blipFill>
        <p:spPr>
          <a:xfrm>
            <a:off x="3134822" y="3786000"/>
            <a:ext cx="543639" cy="564959"/>
          </a:xfrm>
          <a:prstGeom prst="rect">
            <a:avLst/>
          </a:prstGeom>
        </p:spPr>
      </p:pic>
      <p:pic>
        <p:nvPicPr>
          <p:cNvPr id="198" name="Picture 197">
            <a:extLst>
              <a:ext uri="{FF2B5EF4-FFF2-40B4-BE49-F238E27FC236}">
                <a16:creationId xmlns:a16="http://schemas.microsoft.com/office/drawing/2014/main" id="{21AC7EA6-D66D-DA45-B6FF-6EF6268B2C0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54092" y="5168231"/>
            <a:ext cx="543745" cy="563883"/>
          </a:xfrm>
          <a:prstGeom prst="rect">
            <a:avLst/>
          </a:prstGeom>
        </p:spPr>
      </p:pic>
      <p:sp>
        <p:nvSpPr>
          <p:cNvPr id="207" name="Rounded Rectangle 206">
            <a:extLst>
              <a:ext uri="{FF2B5EF4-FFF2-40B4-BE49-F238E27FC236}">
                <a16:creationId xmlns:a16="http://schemas.microsoft.com/office/drawing/2014/main" id="{B0FF9D53-C6A5-3A4E-8FA3-B6248DDAD62E}"/>
              </a:ext>
            </a:extLst>
          </p:cNvPr>
          <p:cNvSpPr/>
          <p:nvPr/>
        </p:nvSpPr>
        <p:spPr>
          <a:xfrm>
            <a:off x="4886439" y="1713848"/>
            <a:ext cx="1681318" cy="173355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pic>
        <p:nvPicPr>
          <p:cNvPr id="208" name="Picture 207">
            <a:extLst>
              <a:ext uri="{FF2B5EF4-FFF2-40B4-BE49-F238E27FC236}">
                <a16:creationId xmlns:a16="http://schemas.microsoft.com/office/drawing/2014/main" id="{6718DBC8-4C86-BC46-BD6F-066BF1DD3458}"/>
              </a:ext>
            </a:extLst>
          </p:cNvPr>
          <p:cNvPicPr>
            <a:picLocks noChangeAspect="1"/>
          </p:cNvPicPr>
          <p:nvPr/>
        </p:nvPicPr>
        <p:blipFill>
          <a:blip r:embed="rId4">
            <a:lum bright="70000" contrast="-70000"/>
          </a:blip>
          <a:stretch>
            <a:fillRect/>
          </a:stretch>
        </p:blipFill>
        <p:spPr>
          <a:xfrm>
            <a:off x="5040073" y="1569266"/>
            <a:ext cx="215900" cy="241300"/>
          </a:xfrm>
          <a:prstGeom prst="rect">
            <a:avLst/>
          </a:prstGeom>
        </p:spPr>
      </p:pic>
      <p:sp>
        <p:nvSpPr>
          <p:cNvPr id="209" name="Rounded Rectangle 208">
            <a:extLst>
              <a:ext uri="{FF2B5EF4-FFF2-40B4-BE49-F238E27FC236}">
                <a16:creationId xmlns:a16="http://schemas.microsoft.com/office/drawing/2014/main" id="{F042507F-2223-D74C-970A-054219A72B97}"/>
              </a:ext>
            </a:extLst>
          </p:cNvPr>
          <p:cNvSpPr/>
          <p:nvPr/>
        </p:nvSpPr>
        <p:spPr>
          <a:xfrm>
            <a:off x="4926278" y="4746893"/>
            <a:ext cx="1681318" cy="1733550"/>
          </a:xfrm>
          <a:prstGeom prst="roundRect">
            <a:avLst>
              <a:gd name="adj" fmla="val 9818"/>
            </a:avLst>
          </a:prstGeom>
          <a:noFill/>
          <a:ln w="6350">
            <a:solidFill>
              <a:schemeClr val="bg2">
                <a:lumMod val="9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211" name="Rounded Rectangle 210">
            <a:extLst>
              <a:ext uri="{FF2B5EF4-FFF2-40B4-BE49-F238E27FC236}">
                <a16:creationId xmlns:a16="http://schemas.microsoft.com/office/drawing/2014/main" id="{6C7B14B3-5D11-DD43-A01A-863A8C83074A}"/>
              </a:ext>
            </a:extLst>
          </p:cNvPr>
          <p:cNvSpPr/>
          <p:nvPr/>
        </p:nvSpPr>
        <p:spPr>
          <a:xfrm>
            <a:off x="3022646" y="4737075"/>
            <a:ext cx="1681318" cy="1733550"/>
          </a:xfrm>
          <a:prstGeom prst="roundRect">
            <a:avLst>
              <a:gd name="adj" fmla="val 9818"/>
            </a:avLst>
          </a:prstGeom>
          <a:noFill/>
          <a:ln w="6350">
            <a:solidFill>
              <a:schemeClr val="bg2">
                <a:lumMod val="9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214" name="Rounded Rectangle 213">
            <a:extLst>
              <a:ext uri="{FF2B5EF4-FFF2-40B4-BE49-F238E27FC236}">
                <a16:creationId xmlns:a16="http://schemas.microsoft.com/office/drawing/2014/main" id="{8553472C-A861-F047-8698-182E6F5C7F16}"/>
              </a:ext>
            </a:extLst>
          </p:cNvPr>
          <p:cNvSpPr/>
          <p:nvPr/>
        </p:nvSpPr>
        <p:spPr>
          <a:xfrm>
            <a:off x="3019221" y="1725317"/>
            <a:ext cx="1681318" cy="173355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215" name="TextBox 214">
            <a:extLst>
              <a:ext uri="{FF2B5EF4-FFF2-40B4-BE49-F238E27FC236}">
                <a16:creationId xmlns:a16="http://schemas.microsoft.com/office/drawing/2014/main" id="{C4F9EDD6-6495-BA45-B9A4-5AB39E1B8A17}"/>
              </a:ext>
            </a:extLst>
          </p:cNvPr>
          <p:cNvSpPr txBox="1"/>
          <p:nvPr/>
        </p:nvSpPr>
        <p:spPr>
          <a:xfrm>
            <a:off x="3259354" y="3335947"/>
            <a:ext cx="1201052" cy="246221"/>
          </a:xfrm>
          <a:prstGeom prst="rect">
            <a:avLst/>
          </a:prstGeom>
          <a:solidFill>
            <a:schemeClr val="bg1"/>
          </a:solidFill>
        </p:spPr>
        <p:txBody>
          <a:bodyPr wrap="square" rtlCol="0">
            <a:spAutoFit/>
          </a:bodyPr>
          <a:lstStyle/>
          <a:p>
            <a:pPr algn="ctr"/>
            <a:r>
              <a:rPr lang="en-US" sz="10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Public Subnet</a:t>
            </a:r>
          </a:p>
        </p:txBody>
      </p:sp>
      <p:sp>
        <p:nvSpPr>
          <p:cNvPr id="216" name="TextBox 215">
            <a:extLst>
              <a:ext uri="{FF2B5EF4-FFF2-40B4-BE49-F238E27FC236}">
                <a16:creationId xmlns:a16="http://schemas.microsoft.com/office/drawing/2014/main" id="{FBEA9A4C-7A4D-A242-8CC5-72C7684A976B}"/>
              </a:ext>
            </a:extLst>
          </p:cNvPr>
          <p:cNvSpPr txBox="1"/>
          <p:nvPr/>
        </p:nvSpPr>
        <p:spPr>
          <a:xfrm>
            <a:off x="3254533" y="4657544"/>
            <a:ext cx="1201052" cy="246221"/>
          </a:xfrm>
          <a:prstGeom prst="rect">
            <a:avLst/>
          </a:prstGeom>
          <a:solidFill>
            <a:schemeClr val="bg1"/>
          </a:solidFill>
        </p:spPr>
        <p:txBody>
          <a:bodyPr wrap="square" rtlCol="0">
            <a:spAutoFit/>
          </a:bodyPr>
          <a:lstStyle/>
          <a:p>
            <a:pPr algn="ctr"/>
            <a:r>
              <a:rPr lang="en-US" sz="10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Public Subnet</a:t>
            </a:r>
          </a:p>
        </p:txBody>
      </p:sp>
      <p:sp>
        <p:nvSpPr>
          <p:cNvPr id="217" name="TextBox 216">
            <a:extLst>
              <a:ext uri="{FF2B5EF4-FFF2-40B4-BE49-F238E27FC236}">
                <a16:creationId xmlns:a16="http://schemas.microsoft.com/office/drawing/2014/main" id="{E3E68619-B43C-2844-9E3E-F2F49D1D9B38}"/>
              </a:ext>
            </a:extLst>
          </p:cNvPr>
          <p:cNvSpPr txBox="1"/>
          <p:nvPr/>
        </p:nvSpPr>
        <p:spPr>
          <a:xfrm>
            <a:off x="5219152" y="4632622"/>
            <a:ext cx="1201052" cy="246221"/>
          </a:xfrm>
          <a:prstGeom prst="rect">
            <a:avLst/>
          </a:prstGeom>
          <a:solidFill>
            <a:schemeClr val="bg1"/>
          </a:solidFill>
        </p:spPr>
        <p:txBody>
          <a:bodyPr wrap="square" rtlCol="0">
            <a:spAutoFit/>
          </a:bodyPr>
          <a:lstStyle/>
          <a:p>
            <a:pPr algn="ctr"/>
            <a:r>
              <a:rPr lang="en-US" sz="10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App Subnet</a:t>
            </a:r>
          </a:p>
        </p:txBody>
      </p:sp>
      <p:pic>
        <p:nvPicPr>
          <p:cNvPr id="210" name="Picture 209">
            <a:extLst>
              <a:ext uri="{FF2B5EF4-FFF2-40B4-BE49-F238E27FC236}">
                <a16:creationId xmlns:a16="http://schemas.microsoft.com/office/drawing/2014/main" id="{116418A5-E250-D446-B493-E378217E8E07}"/>
              </a:ext>
            </a:extLst>
          </p:cNvPr>
          <p:cNvPicPr>
            <a:picLocks noChangeAspect="1"/>
          </p:cNvPicPr>
          <p:nvPr/>
        </p:nvPicPr>
        <p:blipFill>
          <a:blip r:embed="rId4">
            <a:lum bright="70000" contrast="-70000"/>
          </a:blip>
          <a:stretch>
            <a:fillRect/>
          </a:stretch>
        </p:blipFill>
        <p:spPr>
          <a:xfrm>
            <a:off x="5079912" y="4602311"/>
            <a:ext cx="215900" cy="241300"/>
          </a:xfrm>
          <a:prstGeom prst="rect">
            <a:avLst/>
          </a:prstGeom>
        </p:spPr>
      </p:pic>
      <p:sp>
        <p:nvSpPr>
          <p:cNvPr id="218" name="TextBox 217">
            <a:extLst>
              <a:ext uri="{FF2B5EF4-FFF2-40B4-BE49-F238E27FC236}">
                <a16:creationId xmlns:a16="http://schemas.microsoft.com/office/drawing/2014/main" id="{84F7307E-58F9-E842-A665-2CC123F8F349}"/>
              </a:ext>
            </a:extLst>
          </p:cNvPr>
          <p:cNvSpPr txBox="1"/>
          <p:nvPr/>
        </p:nvSpPr>
        <p:spPr>
          <a:xfrm>
            <a:off x="5105520" y="3293103"/>
            <a:ext cx="1201052" cy="246221"/>
          </a:xfrm>
          <a:prstGeom prst="rect">
            <a:avLst/>
          </a:prstGeom>
          <a:solidFill>
            <a:schemeClr val="bg1"/>
          </a:solidFill>
        </p:spPr>
        <p:txBody>
          <a:bodyPr wrap="square" rtlCol="0">
            <a:spAutoFit/>
          </a:bodyPr>
          <a:lstStyle/>
          <a:p>
            <a:pPr algn="ctr"/>
            <a:r>
              <a:rPr lang="en-US" sz="10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App Subnet</a:t>
            </a:r>
          </a:p>
        </p:txBody>
      </p:sp>
      <p:sp>
        <p:nvSpPr>
          <p:cNvPr id="219" name="TextBox 218">
            <a:extLst>
              <a:ext uri="{FF2B5EF4-FFF2-40B4-BE49-F238E27FC236}">
                <a16:creationId xmlns:a16="http://schemas.microsoft.com/office/drawing/2014/main" id="{2336FFA4-8C98-C042-8B3E-49A568F0F865}"/>
              </a:ext>
            </a:extLst>
          </p:cNvPr>
          <p:cNvSpPr txBox="1"/>
          <p:nvPr/>
        </p:nvSpPr>
        <p:spPr>
          <a:xfrm>
            <a:off x="7140826" y="3347627"/>
            <a:ext cx="1201052" cy="246221"/>
          </a:xfrm>
          <a:prstGeom prst="rect">
            <a:avLst/>
          </a:prstGeom>
          <a:solidFill>
            <a:schemeClr val="bg1"/>
          </a:solidFill>
        </p:spPr>
        <p:txBody>
          <a:bodyPr wrap="square" rtlCol="0">
            <a:spAutoFit/>
          </a:bodyPr>
          <a:lstStyle/>
          <a:p>
            <a:pPr algn="ctr"/>
            <a:r>
              <a:rPr lang="en-US" sz="10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Data Subnet</a:t>
            </a:r>
          </a:p>
        </p:txBody>
      </p:sp>
      <p:sp>
        <p:nvSpPr>
          <p:cNvPr id="220" name="TextBox 219">
            <a:extLst>
              <a:ext uri="{FF2B5EF4-FFF2-40B4-BE49-F238E27FC236}">
                <a16:creationId xmlns:a16="http://schemas.microsoft.com/office/drawing/2014/main" id="{439D7E5C-35BD-204B-A4DA-62338A0F5335}"/>
              </a:ext>
            </a:extLst>
          </p:cNvPr>
          <p:cNvSpPr txBox="1"/>
          <p:nvPr/>
        </p:nvSpPr>
        <p:spPr>
          <a:xfrm>
            <a:off x="7161456" y="4642659"/>
            <a:ext cx="1201052" cy="246221"/>
          </a:xfrm>
          <a:prstGeom prst="rect">
            <a:avLst/>
          </a:prstGeom>
          <a:solidFill>
            <a:schemeClr val="bg1"/>
          </a:solidFill>
        </p:spPr>
        <p:txBody>
          <a:bodyPr wrap="square" rtlCol="0">
            <a:spAutoFit/>
          </a:bodyPr>
          <a:lstStyle/>
          <a:p>
            <a:pPr algn="ctr"/>
            <a:r>
              <a:rPr lang="en-US" sz="1000" dirty="0">
                <a:solidFill>
                  <a:schemeClr val="bg2">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Data Subnet</a:t>
            </a:r>
          </a:p>
        </p:txBody>
      </p:sp>
      <p:sp>
        <p:nvSpPr>
          <p:cNvPr id="222" name="TextBox 221">
            <a:extLst>
              <a:ext uri="{FF2B5EF4-FFF2-40B4-BE49-F238E27FC236}">
                <a16:creationId xmlns:a16="http://schemas.microsoft.com/office/drawing/2014/main" id="{01DBD565-6701-E349-B7C9-824935FA6FFC}"/>
              </a:ext>
            </a:extLst>
          </p:cNvPr>
          <p:cNvSpPr txBox="1"/>
          <p:nvPr/>
        </p:nvSpPr>
        <p:spPr>
          <a:xfrm>
            <a:off x="1031323" y="5795254"/>
            <a:ext cx="984281" cy="523220"/>
          </a:xfrm>
          <a:prstGeom prst="rect">
            <a:avLst/>
          </a:prstGeom>
          <a:noFill/>
        </p:spPr>
        <p:txBody>
          <a:bodyPr wrap="square" rtlCol="0">
            <a:sp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Static Assets</a:t>
            </a:r>
          </a:p>
        </p:txBody>
      </p:sp>
      <p:cxnSp>
        <p:nvCxnSpPr>
          <p:cNvPr id="144" name="Straight Arrow Connector 143">
            <a:extLst>
              <a:ext uri="{FF2B5EF4-FFF2-40B4-BE49-F238E27FC236}">
                <a16:creationId xmlns:a16="http://schemas.microsoft.com/office/drawing/2014/main" id="{25DD7C88-3301-D749-B32B-9A1D558523C1}"/>
              </a:ext>
            </a:extLst>
          </p:cNvPr>
          <p:cNvCxnSpPr>
            <a:cxnSpLocks/>
          </p:cNvCxnSpPr>
          <p:nvPr/>
        </p:nvCxnSpPr>
        <p:spPr>
          <a:xfrm>
            <a:off x="559619" y="3992192"/>
            <a:ext cx="1" cy="319186"/>
          </a:xfrm>
          <a:prstGeom prst="straightConnector1">
            <a:avLst/>
          </a:prstGeom>
          <a:ln w="25400">
            <a:solidFill>
              <a:srgbClr val="C9C9C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5" name="Rounded Rectangle 234">
            <a:extLst>
              <a:ext uri="{FF2B5EF4-FFF2-40B4-BE49-F238E27FC236}">
                <a16:creationId xmlns:a16="http://schemas.microsoft.com/office/drawing/2014/main" id="{ABAB2F05-889A-6D41-9ADE-46179AB874EB}"/>
              </a:ext>
            </a:extLst>
          </p:cNvPr>
          <p:cNvSpPr/>
          <p:nvPr/>
        </p:nvSpPr>
        <p:spPr>
          <a:xfrm>
            <a:off x="2777628" y="1636318"/>
            <a:ext cx="8093493" cy="2023239"/>
          </a:xfrm>
          <a:prstGeom prst="roundRect">
            <a:avLst>
              <a:gd name="adj" fmla="val 9818"/>
            </a:avLst>
          </a:prstGeom>
          <a:noFill/>
          <a:ln w="19050">
            <a:solidFill>
              <a:srgbClr val="FDE1BB"/>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237" name="Rounded Rectangle 236">
            <a:extLst>
              <a:ext uri="{FF2B5EF4-FFF2-40B4-BE49-F238E27FC236}">
                <a16:creationId xmlns:a16="http://schemas.microsoft.com/office/drawing/2014/main" id="{35474BD4-2254-544A-8594-2EA95C27B9CE}"/>
              </a:ext>
            </a:extLst>
          </p:cNvPr>
          <p:cNvSpPr/>
          <p:nvPr/>
        </p:nvSpPr>
        <p:spPr>
          <a:xfrm>
            <a:off x="2777628" y="4602311"/>
            <a:ext cx="8093493" cy="2023239"/>
          </a:xfrm>
          <a:prstGeom prst="roundRect">
            <a:avLst>
              <a:gd name="adj" fmla="val 9818"/>
            </a:avLst>
          </a:prstGeom>
          <a:noFill/>
          <a:ln w="19050">
            <a:solidFill>
              <a:srgbClr val="FDE1BB"/>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238" name="TextBox 237">
            <a:extLst>
              <a:ext uri="{FF2B5EF4-FFF2-40B4-BE49-F238E27FC236}">
                <a16:creationId xmlns:a16="http://schemas.microsoft.com/office/drawing/2014/main" id="{6F09F501-7DB3-6A4E-8DF8-173CBD964307}"/>
              </a:ext>
            </a:extLst>
          </p:cNvPr>
          <p:cNvSpPr txBox="1"/>
          <p:nvPr/>
        </p:nvSpPr>
        <p:spPr>
          <a:xfrm rot="5400000">
            <a:off x="10378007" y="5465351"/>
            <a:ext cx="1354850" cy="276999"/>
          </a:xfrm>
          <a:prstGeom prst="rect">
            <a:avLst/>
          </a:prstGeom>
          <a:solidFill>
            <a:schemeClr val="bg1"/>
          </a:solidFill>
        </p:spPr>
        <p:txBody>
          <a:bodyPr wrap="square" rtlCol="0">
            <a:spAutoFit/>
          </a:bodyPr>
          <a:lstStyle/>
          <a:p>
            <a:pPr algn="ctr"/>
            <a:r>
              <a:rPr lang="en-US" sz="1200" dirty="0">
                <a:solidFill>
                  <a:srgbClr val="F6C09C"/>
                </a:solidFill>
                <a:latin typeface="Amazon Ember Light" panose="020B0403020204020204" pitchFamily="34" charset="0"/>
                <a:ea typeface="Amazon Ember Light" panose="020B0403020204020204" pitchFamily="34" charset="0"/>
                <a:cs typeface="Amazon Ember Light" panose="020B0403020204020204" pitchFamily="34" charset="0"/>
              </a:rPr>
              <a:t>Availability Zone</a:t>
            </a:r>
          </a:p>
        </p:txBody>
      </p:sp>
      <p:sp>
        <p:nvSpPr>
          <p:cNvPr id="239" name="TextBox 238">
            <a:extLst>
              <a:ext uri="{FF2B5EF4-FFF2-40B4-BE49-F238E27FC236}">
                <a16:creationId xmlns:a16="http://schemas.microsoft.com/office/drawing/2014/main" id="{C0B7B032-FCDF-8C46-857F-FA9EDDCE37AB}"/>
              </a:ext>
            </a:extLst>
          </p:cNvPr>
          <p:cNvSpPr txBox="1"/>
          <p:nvPr/>
        </p:nvSpPr>
        <p:spPr>
          <a:xfrm rot="5400000">
            <a:off x="10378007" y="2433024"/>
            <a:ext cx="1354850" cy="276999"/>
          </a:xfrm>
          <a:prstGeom prst="rect">
            <a:avLst/>
          </a:prstGeom>
          <a:solidFill>
            <a:schemeClr val="bg1"/>
          </a:solidFill>
        </p:spPr>
        <p:txBody>
          <a:bodyPr wrap="square" rtlCol="0">
            <a:spAutoFit/>
          </a:bodyPr>
          <a:lstStyle/>
          <a:p>
            <a:pPr algn="ctr"/>
            <a:r>
              <a:rPr lang="en-US" sz="1200" dirty="0">
                <a:solidFill>
                  <a:srgbClr val="F6C09C"/>
                </a:solidFill>
                <a:latin typeface="Amazon Ember Light" panose="020B0403020204020204" pitchFamily="34" charset="0"/>
                <a:ea typeface="Amazon Ember Light" panose="020B0403020204020204" pitchFamily="34" charset="0"/>
                <a:cs typeface="Amazon Ember Light" panose="020B0403020204020204" pitchFamily="34" charset="0"/>
              </a:rPr>
              <a:t>Availability Zone</a:t>
            </a:r>
          </a:p>
        </p:txBody>
      </p:sp>
      <p:sp>
        <p:nvSpPr>
          <p:cNvPr id="213" name="TextBox 212">
            <a:extLst>
              <a:ext uri="{FF2B5EF4-FFF2-40B4-BE49-F238E27FC236}">
                <a16:creationId xmlns:a16="http://schemas.microsoft.com/office/drawing/2014/main" id="{4711E6A8-CC47-264E-9BA1-41707478329F}"/>
              </a:ext>
            </a:extLst>
          </p:cNvPr>
          <p:cNvSpPr txBox="1"/>
          <p:nvPr/>
        </p:nvSpPr>
        <p:spPr>
          <a:xfrm>
            <a:off x="3900775" y="3800217"/>
            <a:ext cx="1132536" cy="461665"/>
          </a:xfrm>
          <a:prstGeom prst="rect">
            <a:avLst/>
          </a:prstGeom>
          <a:solidFill>
            <a:schemeClr val="bg1"/>
          </a:solid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Application Load Balancer</a:t>
            </a:r>
          </a:p>
        </p:txBody>
      </p:sp>
      <p:sp>
        <p:nvSpPr>
          <p:cNvPr id="261" name="TextBox 260">
            <a:extLst>
              <a:ext uri="{FF2B5EF4-FFF2-40B4-BE49-F238E27FC236}">
                <a16:creationId xmlns:a16="http://schemas.microsoft.com/office/drawing/2014/main" id="{F3B4EF36-EA44-F84C-B12B-6461406D86C2}"/>
              </a:ext>
            </a:extLst>
          </p:cNvPr>
          <p:cNvSpPr txBox="1"/>
          <p:nvPr/>
        </p:nvSpPr>
        <p:spPr>
          <a:xfrm>
            <a:off x="6097985" y="3949429"/>
            <a:ext cx="1201052" cy="276999"/>
          </a:xfrm>
          <a:prstGeom prst="rect">
            <a:avLst/>
          </a:prstGeom>
          <a:solidFill>
            <a:schemeClr val="bg1"/>
          </a:solid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Auto Scaling</a:t>
            </a:r>
          </a:p>
        </p:txBody>
      </p:sp>
      <p:cxnSp>
        <p:nvCxnSpPr>
          <p:cNvPr id="300" name="Elbow Connector 299">
            <a:extLst>
              <a:ext uri="{FF2B5EF4-FFF2-40B4-BE49-F238E27FC236}">
                <a16:creationId xmlns:a16="http://schemas.microsoft.com/office/drawing/2014/main" id="{3A641206-9121-E540-A024-FED7F767BF1F}"/>
              </a:ext>
            </a:extLst>
          </p:cNvPr>
          <p:cNvCxnSpPr>
            <a:stCxn id="116" idx="0"/>
            <a:endCxn id="188" idx="0"/>
          </p:cNvCxnSpPr>
          <p:nvPr/>
        </p:nvCxnSpPr>
        <p:spPr>
          <a:xfrm rot="16200000" flipV="1">
            <a:off x="7825176" y="3059155"/>
            <a:ext cx="65079" cy="4319311"/>
          </a:xfrm>
          <a:prstGeom prst="bentConnector3">
            <a:avLst>
              <a:gd name="adj1" fmla="val 43348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9" name="Picture 88">
            <a:extLst>
              <a:ext uri="{FF2B5EF4-FFF2-40B4-BE49-F238E27FC236}">
                <a16:creationId xmlns:a16="http://schemas.microsoft.com/office/drawing/2014/main" id="{2FAC9A5B-A94B-A546-B512-69AD4C7DA05F}"/>
              </a:ext>
            </a:extLst>
          </p:cNvPr>
          <p:cNvPicPr>
            <a:picLocks noChangeAspect="1"/>
          </p:cNvPicPr>
          <p:nvPr/>
        </p:nvPicPr>
        <p:blipFill>
          <a:blip r:embed="rId10">
            <a:lum bright="70000" contrast="-70000"/>
            <a:extLst>
              <a:ext uri="{28A0092B-C50C-407E-A947-70E740481C1C}">
                <a14:useLocalDpi xmlns:a14="http://schemas.microsoft.com/office/drawing/2010/main" val="0"/>
              </a:ext>
            </a:extLst>
          </a:blip>
          <a:stretch>
            <a:fillRect/>
          </a:stretch>
        </p:blipFill>
        <p:spPr>
          <a:xfrm>
            <a:off x="277120" y="2666717"/>
            <a:ext cx="544780" cy="653098"/>
          </a:xfrm>
          <a:prstGeom prst="rect">
            <a:avLst/>
          </a:prstGeom>
        </p:spPr>
      </p:pic>
      <p:sp>
        <p:nvSpPr>
          <p:cNvPr id="90" name="TextBox 89">
            <a:extLst>
              <a:ext uri="{FF2B5EF4-FFF2-40B4-BE49-F238E27FC236}">
                <a16:creationId xmlns:a16="http://schemas.microsoft.com/office/drawing/2014/main" id="{24009059-D79B-AA40-8BDB-75C27780DCFF}"/>
              </a:ext>
            </a:extLst>
          </p:cNvPr>
          <p:cNvSpPr txBox="1"/>
          <p:nvPr/>
        </p:nvSpPr>
        <p:spPr>
          <a:xfrm>
            <a:off x="-112618" y="2232959"/>
            <a:ext cx="1234808" cy="461665"/>
          </a:xfrm>
          <a:prstGeom prst="rect">
            <a:avLst/>
          </a:prstGeom>
          <a:no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Amazon CloudFront</a:t>
            </a:r>
          </a:p>
        </p:txBody>
      </p:sp>
      <p:pic>
        <p:nvPicPr>
          <p:cNvPr id="92" name="Picture 91">
            <a:extLst>
              <a:ext uri="{FF2B5EF4-FFF2-40B4-BE49-F238E27FC236}">
                <a16:creationId xmlns:a16="http://schemas.microsoft.com/office/drawing/2014/main" id="{EE64C927-8D69-C143-9965-8B27EA34B197}"/>
              </a:ext>
            </a:extLst>
          </p:cNvPr>
          <p:cNvPicPr>
            <a:picLocks noChangeAspect="1"/>
          </p:cNvPicPr>
          <p:nvPr/>
        </p:nvPicPr>
        <p:blipFill>
          <a:blip r:embed="rId11">
            <a:lum bright="70000" contrast="-70000"/>
            <a:extLst>
              <a:ext uri="{28A0092B-C50C-407E-A947-70E740481C1C}">
                <a14:useLocalDpi xmlns:a14="http://schemas.microsoft.com/office/drawing/2010/main" val="0"/>
              </a:ext>
            </a:extLst>
          </a:blip>
          <a:stretch>
            <a:fillRect/>
          </a:stretch>
        </p:blipFill>
        <p:spPr>
          <a:xfrm>
            <a:off x="277120" y="3786000"/>
            <a:ext cx="537317" cy="638065"/>
          </a:xfrm>
          <a:prstGeom prst="rect">
            <a:avLst/>
          </a:prstGeom>
        </p:spPr>
      </p:pic>
      <p:cxnSp>
        <p:nvCxnSpPr>
          <p:cNvPr id="98" name="Elbow Connector 97">
            <a:extLst>
              <a:ext uri="{FF2B5EF4-FFF2-40B4-BE49-F238E27FC236}">
                <a16:creationId xmlns:a16="http://schemas.microsoft.com/office/drawing/2014/main" id="{084F7952-5B9E-0E48-83F3-7003F88E4127}"/>
              </a:ext>
            </a:extLst>
          </p:cNvPr>
          <p:cNvCxnSpPr>
            <a:cxnSpLocks/>
            <a:stCxn id="117" idx="0"/>
            <a:endCxn id="198" idx="1"/>
          </p:cNvCxnSpPr>
          <p:nvPr/>
        </p:nvCxnSpPr>
        <p:spPr>
          <a:xfrm rot="5400000" flipH="1" flipV="1">
            <a:off x="617380" y="5308827"/>
            <a:ext cx="495366" cy="778058"/>
          </a:xfrm>
          <a:prstGeom prst="bentConnector2">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765479" y="5251350"/>
            <a:ext cx="503781" cy="455028"/>
          </a:xfrm>
          <a:prstGeom prst="rect">
            <a:avLst/>
          </a:prstGeom>
        </p:spPr>
      </p:pic>
      <p:pic>
        <p:nvPicPr>
          <p:cNvPr id="117" name="Picture 116">
            <a:extLst>
              <a:ext uri="{FF2B5EF4-FFF2-40B4-BE49-F238E27FC236}">
                <a16:creationId xmlns:a16="http://schemas.microsoft.com/office/drawing/2014/main" id="{5B0B2400-5C47-0549-ADDC-EEB2D6BCA3D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58824" y="5945539"/>
            <a:ext cx="634419" cy="613272"/>
          </a:xfrm>
          <a:prstGeom prst="rect">
            <a:avLst/>
          </a:prstGeom>
        </p:spPr>
      </p:pic>
      <p:cxnSp>
        <p:nvCxnSpPr>
          <p:cNvPr id="226" name="Straight Arrow Connector 225"/>
          <p:cNvCxnSpPr>
            <a:stCxn id="188" idx="3"/>
          </p:cNvCxnSpPr>
          <p:nvPr/>
        </p:nvCxnSpPr>
        <p:spPr>
          <a:xfrm>
            <a:off x="5970449" y="5468751"/>
            <a:ext cx="2805910" cy="0"/>
          </a:xfrm>
          <a:prstGeom prst="straightConnector1">
            <a:avLst/>
          </a:prstGeom>
          <a:ln w="28575">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149" name="TextBox 148">
            <a:extLst>
              <a:ext uri="{FF2B5EF4-FFF2-40B4-BE49-F238E27FC236}">
                <a16:creationId xmlns:a16="http://schemas.microsoft.com/office/drawing/2014/main" id="{64C13120-1C04-684F-9D88-7186678FCDBA}"/>
              </a:ext>
            </a:extLst>
          </p:cNvPr>
          <p:cNvSpPr txBox="1"/>
          <p:nvPr/>
        </p:nvSpPr>
        <p:spPr>
          <a:xfrm>
            <a:off x="9544016" y="1734482"/>
            <a:ext cx="934560" cy="646331"/>
          </a:xfrm>
          <a:prstGeom prst="rect">
            <a:avLst/>
          </a:prstGeom>
          <a:no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Amazon EFS Mount Target</a:t>
            </a:r>
          </a:p>
        </p:txBody>
      </p:sp>
      <p:pic>
        <p:nvPicPr>
          <p:cNvPr id="150" name="Picture 149"/>
          <p:cNvPicPr>
            <a:picLocks noChangeAspect="1"/>
          </p:cNvPicPr>
          <p:nvPr/>
        </p:nvPicPr>
        <p:blipFill>
          <a:blip r:embed="rId12">
            <a:lum bright="70000" contrast="-70000"/>
            <a:extLst>
              <a:ext uri="{28A0092B-C50C-407E-A947-70E740481C1C}">
                <a14:useLocalDpi xmlns:a14="http://schemas.microsoft.com/office/drawing/2010/main" val="0"/>
              </a:ext>
            </a:extLst>
          </a:blip>
          <a:stretch>
            <a:fillRect/>
          </a:stretch>
        </p:blipFill>
        <p:spPr>
          <a:xfrm>
            <a:off x="9772858" y="2415674"/>
            <a:ext cx="503781" cy="455028"/>
          </a:xfrm>
          <a:prstGeom prst="rect">
            <a:avLst/>
          </a:prstGeom>
        </p:spPr>
      </p:pic>
      <p:sp>
        <p:nvSpPr>
          <p:cNvPr id="154" name="TextBox 153">
            <a:extLst>
              <a:ext uri="{FF2B5EF4-FFF2-40B4-BE49-F238E27FC236}">
                <a16:creationId xmlns:a16="http://schemas.microsoft.com/office/drawing/2014/main" id="{4EB8C904-9C4F-0348-B5C8-3C3688B65D5C}"/>
              </a:ext>
            </a:extLst>
          </p:cNvPr>
          <p:cNvSpPr txBox="1"/>
          <p:nvPr/>
        </p:nvSpPr>
        <p:spPr>
          <a:xfrm>
            <a:off x="9486268" y="5760921"/>
            <a:ext cx="1075473" cy="738664"/>
          </a:xfrm>
          <a:prstGeom prst="rect">
            <a:avLst/>
          </a:prstGeom>
          <a:noFill/>
        </p:spPr>
        <p:txBody>
          <a:bodyPr wrap="square" rtlCol="0">
            <a:sp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Amazon EFS Mount Target</a:t>
            </a:r>
          </a:p>
        </p:txBody>
      </p:sp>
      <p:cxnSp>
        <p:nvCxnSpPr>
          <p:cNvPr id="155" name="Elbow Connector 154">
            <a:extLst>
              <a:ext uri="{FF2B5EF4-FFF2-40B4-BE49-F238E27FC236}">
                <a16:creationId xmlns:a16="http://schemas.microsoft.com/office/drawing/2014/main" id="{51292986-E163-9A4E-833A-63E93CB74151}"/>
              </a:ext>
            </a:extLst>
          </p:cNvPr>
          <p:cNvCxnSpPr>
            <a:cxnSpLocks/>
            <a:stCxn id="158" idx="1"/>
          </p:cNvCxnSpPr>
          <p:nvPr/>
        </p:nvCxnSpPr>
        <p:spPr>
          <a:xfrm rot="10800000" flipV="1">
            <a:off x="10269260" y="3886334"/>
            <a:ext cx="919192" cy="1592529"/>
          </a:xfrm>
          <a:prstGeom prst="bentConnector3">
            <a:avLst>
              <a:gd name="adj1" fmla="val 48741"/>
            </a:avLst>
          </a:prstGeom>
          <a:ln w="254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7" name="Rounded Rectangle 156">
            <a:extLst>
              <a:ext uri="{FF2B5EF4-FFF2-40B4-BE49-F238E27FC236}">
                <a16:creationId xmlns:a16="http://schemas.microsoft.com/office/drawing/2014/main" id="{E42E2BDE-02EF-FE4B-AE3B-6EB88CA5A501}"/>
              </a:ext>
            </a:extLst>
          </p:cNvPr>
          <p:cNvSpPr/>
          <p:nvPr/>
        </p:nvSpPr>
        <p:spPr>
          <a:xfrm>
            <a:off x="2269677" y="1433585"/>
            <a:ext cx="9666460" cy="5281540"/>
          </a:xfrm>
          <a:prstGeom prst="roundRect">
            <a:avLst>
              <a:gd name="adj" fmla="val 9818"/>
            </a:avLst>
          </a:prstGeom>
          <a:noFill/>
          <a:ln w="6350">
            <a:solidFill>
              <a:srgbClr val="C9C9C9"/>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pic>
        <p:nvPicPr>
          <p:cNvPr id="158" name="Picture 157">
            <a:extLst>
              <a:ext uri="{FF2B5EF4-FFF2-40B4-BE49-F238E27FC236}">
                <a16:creationId xmlns:a16="http://schemas.microsoft.com/office/drawing/2014/main" id="{C2B8F773-09B7-4442-8A1A-A5A3246572D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188452" y="3560360"/>
            <a:ext cx="543292" cy="651950"/>
          </a:xfrm>
          <a:prstGeom prst="rect">
            <a:avLst/>
          </a:prstGeom>
        </p:spPr>
      </p:pic>
      <p:sp>
        <p:nvSpPr>
          <p:cNvPr id="159" name="TextBox 158">
            <a:extLst>
              <a:ext uri="{FF2B5EF4-FFF2-40B4-BE49-F238E27FC236}">
                <a16:creationId xmlns:a16="http://schemas.microsoft.com/office/drawing/2014/main" id="{4A896416-5751-1A48-B2EB-3FA32BBE76B4}"/>
              </a:ext>
            </a:extLst>
          </p:cNvPr>
          <p:cNvSpPr txBox="1"/>
          <p:nvPr/>
        </p:nvSpPr>
        <p:spPr>
          <a:xfrm>
            <a:off x="11005365" y="4275978"/>
            <a:ext cx="911533" cy="523220"/>
          </a:xfrm>
          <a:prstGeom prst="rect">
            <a:avLst/>
          </a:prstGeom>
          <a:noFill/>
        </p:spPr>
        <p:txBody>
          <a:bodyPr wrap="square" rtlCol="0">
            <a:sp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Amazon</a:t>
            </a:r>
            <a:r>
              <a:rPr lang="en-US" sz="1400" dirty="0">
                <a:solidFill>
                  <a:srgbClr val="C5C5C5"/>
                </a:solidFill>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panose="020B0603020204020204" pitchFamily="34" charset="0"/>
                <a:ea typeface="Amazon Ember" panose="020B0603020204020204" pitchFamily="34" charset="0"/>
                <a:cs typeface="Amazon Ember" panose="020B0603020204020204" pitchFamily="34" charset="0"/>
              </a:rPr>
              <a:t>EFS</a:t>
            </a:r>
          </a:p>
        </p:txBody>
      </p:sp>
      <p:pic>
        <p:nvPicPr>
          <p:cNvPr id="160" name="Picture 159">
            <a:extLst>
              <a:ext uri="{FF2B5EF4-FFF2-40B4-BE49-F238E27FC236}">
                <a16:creationId xmlns:a16="http://schemas.microsoft.com/office/drawing/2014/main" id="{3BCFF205-F556-794B-BD2F-46D720B6BBA5}"/>
              </a:ext>
            </a:extLst>
          </p:cNvPr>
          <p:cNvPicPr>
            <a:picLocks noChangeAspect="1"/>
          </p:cNvPicPr>
          <p:nvPr/>
        </p:nvPicPr>
        <p:blipFill>
          <a:blip r:embed="rId15">
            <a:lum bright="70000" contrast="-70000"/>
            <a:extLst>
              <a:ext uri="{28A0092B-C50C-407E-A947-70E740481C1C}">
                <a14:useLocalDpi xmlns:a14="http://schemas.microsoft.com/office/drawing/2010/main" val="0"/>
              </a:ext>
            </a:extLst>
          </a:blip>
          <a:stretch>
            <a:fillRect/>
          </a:stretch>
        </p:blipFill>
        <p:spPr>
          <a:xfrm>
            <a:off x="2032463" y="3811331"/>
            <a:ext cx="538196" cy="564237"/>
          </a:xfrm>
          <a:prstGeom prst="rect">
            <a:avLst/>
          </a:prstGeom>
        </p:spPr>
      </p:pic>
      <p:pic>
        <p:nvPicPr>
          <p:cNvPr id="161" name="Picture 160">
            <a:extLst>
              <a:ext uri="{FF2B5EF4-FFF2-40B4-BE49-F238E27FC236}">
                <a16:creationId xmlns:a16="http://schemas.microsoft.com/office/drawing/2014/main" id="{88ACCD8C-34D6-7A48-BA70-1E4768667959}"/>
              </a:ext>
            </a:extLst>
          </p:cNvPr>
          <p:cNvPicPr>
            <a:picLocks noChangeAspect="1"/>
          </p:cNvPicPr>
          <p:nvPr/>
        </p:nvPicPr>
        <p:blipFill>
          <a:blip r:embed="rId16">
            <a:lum bright="70000" contrast="-70000"/>
            <a:extLst>
              <a:ext uri="{28A0092B-C50C-407E-A947-70E740481C1C}">
                <a14:useLocalDpi xmlns:a14="http://schemas.microsoft.com/office/drawing/2010/main" val="0"/>
              </a:ext>
            </a:extLst>
          </a:blip>
          <a:stretch>
            <a:fillRect/>
          </a:stretch>
        </p:blipFill>
        <p:spPr>
          <a:xfrm>
            <a:off x="2301561" y="1244469"/>
            <a:ext cx="599170" cy="391125"/>
          </a:xfrm>
          <a:prstGeom prst="rect">
            <a:avLst/>
          </a:prstGeom>
        </p:spPr>
      </p:pic>
      <p:cxnSp>
        <p:nvCxnSpPr>
          <p:cNvPr id="118" name="Elbow Connector 117">
            <a:extLst>
              <a:ext uri="{FF2B5EF4-FFF2-40B4-BE49-F238E27FC236}">
                <a16:creationId xmlns:a16="http://schemas.microsoft.com/office/drawing/2014/main" id="{3A641206-9121-E540-A024-FED7F767BF1F}"/>
              </a:ext>
            </a:extLst>
          </p:cNvPr>
          <p:cNvCxnSpPr>
            <a:stCxn id="188" idx="0"/>
            <a:endCxn id="117" idx="0"/>
          </p:cNvCxnSpPr>
          <p:nvPr/>
        </p:nvCxnSpPr>
        <p:spPr>
          <a:xfrm rot="16200000" flipH="1" flipV="1">
            <a:off x="2707413" y="2954892"/>
            <a:ext cx="759268" cy="5222025"/>
          </a:xfrm>
          <a:prstGeom prst="bentConnector3">
            <a:avLst>
              <a:gd name="adj1" fmla="val -141728"/>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4C44697B-A627-D84E-A05F-5E63130A576B}"/>
              </a:ext>
            </a:extLst>
          </p:cNvPr>
          <p:cNvSpPr txBox="1"/>
          <p:nvPr/>
        </p:nvSpPr>
        <p:spPr>
          <a:xfrm>
            <a:off x="1820925" y="3224972"/>
            <a:ext cx="886849" cy="461665"/>
          </a:xfrm>
          <a:prstGeom prst="rect">
            <a:avLst/>
          </a:prstGeom>
          <a:solidFill>
            <a:schemeClr val="bg1"/>
          </a:solidFill>
        </p:spPr>
        <p:txBody>
          <a:bodyPr wrap="square" rtlCol="0">
            <a:spAutoFit/>
          </a:bodyPr>
          <a:lstStyle/>
          <a:p>
            <a:pPr algn="ctr"/>
            <a:r>
              <a:rPr lang="en-US" sz="1200" dirty="0">
                <a:solidFill>
                  <a:schemeClr val="bg2">
                    <a:lumMod val="9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Internet Gateway</a:t>
            </a:r>
          </a:p>
        </p:txBody>
      </p:sp>
      <p:pic>
        <p:nvPicPr>
          <p:cNvPr id="234" name="Picture 233">
            <a:extLst>
              <a:ext uri="{FF2B5EF4-FFF2-40B4-BE49-F238E27FC236}">
                <a16:creationId xmlns:a16="http://schemas.microsoft.com/office/drawing/2014/main" id="{9A91D431-1A5E-574C-A3D3-62AA0FE60E7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2612" y="1233880"/>
            <a:ext cx="399410" cy="399410"/>
          </a:xfrm>
          <a:prstGeom prst="rect">
            <a:avLst/>
          </a:prstGeom>
        </p:spPr>
      </p:pic>
      <p:sp>
        <p:nvSpPr>
          <p:cNvPr id="74" name="TextBox 73">
            <a:extLst>
              <a:ext uri="{FF2B5EF4-FFF2-40B4-BE49-F238E27FC236}">
                <a16:creationId xmlns:a16="http://schemas.microsoft.com/office/drawing/2014/main" id="{65F86807-C350-1340-A041-C071F56E1EE7}"/>
              </a:ext>
            </a:extLst>
          </p:cNvPr>
          <p:cNvSpPr txBox="1"/>
          <p:nvPr/>
        </p:nvSpPr>
        <p:spPr>
          <a:xfrm>
            <a:off x="1385107" y="1252483"/>
            <a:ext cx="849602" cy="338554"/>
          </a:xfrm>
          <a:prstGeom prst="rect">
            <a:avLst/>
          </a:prstGeom>
          <a:solidFill>
            <a:schemeClr val="bg1"/>
          </a:solid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Region</a:t>
            </a:r>
          </a:p>
        </p:txBody>
      </p:sp>
      <p:sp>
        <p:nvSpPr>
          <p:cNvPr id="70" name="TextBox 69">
            <a:extLst>
              <a:ext uri="{FF2B5EF4-FFF2-40B4-BE49-F238E27FC236}">
                <a16:creationId xmlns:a16="http://schemas.microsoft.com/office/drawing/2014/main" id="{DCFAB2B6-8432-0F49-992D-3EE74F8E993F}"/>
              </a:ext>
            </a:extLst>
          </p:cNvPr>
          <p:cNvSpPr txBox="1"/>
          <p:nvPr/>
        </p:nvSpPr>
        <p:spPr>
          <a:xfrm>
            <a:off x="8357937" y="5870732"/>
            <a:ext cx="1192568" cy="523220"/>
          </a:xfrm>
          <a:prstGeom prst="rect">
            <a:avLst/>
          </a:prstGeom>
          <a:noFill/>
        </p:spPr>
        <p:txBody>
          <a:bodyPr wrap="square" rtlCol="0">
            <a:spAutoFit/>
          </a:bodyPr>
          <a:lstStyle>
            <a:defPPr>
              <a:defRPr lang="en-US"/>
            </a:defPPr>
            <a:lvl1pPr algn="ctr">
              <a:defRPr sz="140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Amazon </a:t>
            </a:r>
            <a:br>
              <a:rPr lang="en-US" dirty="0"/>
            </a:br>
            <a:r>
              <a:rPr lang="en-US" dirty="0"/>
              <a:t>RDS Primary</a:t>
            </a:r>
          </a:p>
        </p:txBody>
      </p:sp>
      <p:sp>
        <p:nvSpPr>
          <p:cNvPr id="75" name="TextBox 74">
            <a:extLst>
              <a:ext uri="{FF2B5EF4-FFF2-40B4-BE49-F238E27FC236}">
                <a16:creationId xmlns:a16="http://schemas.microsoft.com/office/drawing/2014/main" id="{495F980D-B9DC-3940-9521-35612544E286}"/>
              </a:ext>
            </a:extLst>
          </p:cNvPr>
          <p:cNvSpPr txBox="1"/>
          <p:nvPr/>
        </p:nvSpPr>
        <p:spPr>
          <a:xfrm>
            <a:off x="8354338" y="1758997"/>
            <a:ext cx="1239990" cy="646331"/>
          </a:xfrm>
          <a:prstGeom prst="rect">
            <a:avLst/>
          </a:prstGeom>
          <a:noFill/>
        </p:spPr>
        <p:txBody>
          <a:bodyPr wrap="square" rtlCol="0">
            <a:spAutoFit/>
          </a:bodyPr>
          <a:lstStyle/>
          <a:p>
            <a:pPr algn="ctr"/>
            <a:r>
              <a:rPr lang="en-US" sz="1200" dirty="0">
                <a:solidFill>
                  <a:srgbClr val="C5C5C5"/>
                </a:solidFill>
                <a:latin typeface="Amazon Ember Light" panose="020B0403020204020204" pitchFamily="34" charset="0"/>
                <a:ea typeface="Amazon Ember Light" panose="020B0403020204020204" pitchFamily="34" charset="0"/>
                <a:cs typeface="Amazon Ember Light" panose="020B0403020204020204" pitchFamily="34" charset="0"/>
              </a:rPr>
              <a:t>Amazon RDS Standby Replica</a:t>
            </a:r>
          </a:p>
        </p:txBody>
      </p:sp>
      <p:pic>
        <p:nvPicPr>
          <p:cNvPr id="76" name="Picture 75"/>
          <p:cNvPicPr>
            <a:picLocks noChangeAspect="1"/>
          </p:cNvPicPr>
          <p:nvPr/>
        </p:nvPicPr>
        <p:blipFill>
          <a:blip r:embed="rId18">
            <a:lum bright="70000" contrast="-70000"/>
            <a:extLst>
              <a:ext uri="{28A0092B-C50C-407E-A947-70E740481C1C}">
                <a14:useLocalDpi xmlns:a14="http://schemas.microsoft.com/office/drawing/2010/main" val="0"/>
              </a:ext>
            </a:extLst>
          </a:blip>
          <a:stretch>
            <a:fillRect/>
          </a:stretch>
        </p:blipFill>
        <p:spPr>
          <a:xfrm>
            <a:off x="8778240" y="2386584"/>
            <a:ext cx="457200" cy="602672"/>
          </a:xfrm>
          <a:prstGeom prst="rect">
            <a:avLst/>
          </a:prstGeom>
        </p:spPr>
      </p:pic>
      <p:pic>
        <p:nvPicPr>
          <p:cNvPr id="77" name="Picture 76"/>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778240" y="5166360"/>
            <a:ext cx="457200" cy="602672"/>
          </a:xfrm>
          <a:prstGeom prst="rect">
            <a:avLst/>
          </a:prstGeom>
        </p:spPr>
      </p:pic>
    </p:spTree>
    <p:extLst>
      <p:ext uri="{BB962C8B-B14F-4D97-AF65-F5344CB8AC3E}">
        <p14:creationId xmlns:p14="http://schemas.microsoft.com/office/powerpoint/2010/main" val="3312818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Module 4</a:t>
            </a:r>
          </a:p>
        </p:txBody>
      </p:sp>
      <p:sp>
        <p:nvSpPr>
          <p:cNvPr id="3" name="Content Placeholder 2">
            <a:extLst>
              <a:ext uri="{FF2B5EF4-FFF2-40B4-BE49-F238E27FC236}">
                <a16:creationId xmlns:a16="http://schemas.microsoft.com/office/drawing/2014/main" id="{4125A2CB-555F-8149-A98E-EC7B83CC0412}"/>
              </a:ext>
            </a:extLst>
          </p:cNvPr>
          <p:cNvSpPr>
            <a:spLocks noGrp="1" noChangeAspect="1"/>
          </p:cNvSpPr>
          <p:nvPr>
            <p:ph idx="1"/>
          </p:nvPr>
        </p:nvSpPr>
        <p:spPr>
          <a:xfrm>
            <a:off x="637279" y="2322397"/>
            <a:ext cx="10975840" cy="1125416"/>
          </a:xfrm>
        </p:spPr>
        <p:txBody>
          <a:bodyPr anchor="ctr" anchorCtr="0">
            <a:normAutofit/>
          </a:bodyPr>
          <a:lstStyle/>
          <a:p>
            <a:pPr marL="0" indent="0">
              <a:buNone/>
            </a:pPr>
            <a:r>
              <a:rPr lang="en-US" sz="2400" dirty="0"/>
              <a:t>You need a database that is highly available and easy to scale that is separate from your </a:t>
            </a:r>
            <a:r>
              <a:rPr lang="en-US" sz="2400"/>
              <a:t>application servers.</a:t>
            </a:r>
            <a:endParaRPr lang="en-US" sz="2400" dirty="0"/>
          </a:p>
        </p:txBody>
      </p:sp>
      <p:sp>
        <p:nvSpPr>
          <p:cNvPr id="5" name="Rectangle 4">
            <a:extLst>
              <a:ext uri="{FF2B5EF4-FFF2-40B4-BE49-F238E27FC236}">
                <a16:creationId xmlns:a16="http://schemas.microsoft.com/office/drawing/2014/main" id="{81DEC70D-8A08-3640-BE12-11E9E6A5CB07}"/>
              </a:ext>
            </a:extLst>
          </p:cNvPr>
          <p:cNvSpPr/>
          <p:nvPr/>
        </p:nvSpPr>
        <p:spPr>
          <a:xfrm>
            <a:off x="418991" y="2322397"/>
            <a:ext cx="11412416" cy="1125415"/>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45952D5-B215-5243-9570-2C52E40FF5F2}"/>
              </a:ext>
            </a:extLst>
          </p:cNvPr>
          <p:cNvSpPr/>
          <p:nvPr/>
        </p:nvSpPr>
        <p:spPr>
          <a:xfrm>
            <a:off x="637279" y="4727215"/>
            <a:ext cx="8767834" cy="1631216"/>
          </a:xfrm>
          <a:prstGeom prst="rect">
            <a:avLst/>
          </a:prstGeom>
        </p:spPr>
        <p:txBody>
          <a:bodyPr wrap="square">
            <a:spAutoFit/>
          </a:bodyPr>
          <a:lstStyle/>
          <a:p>
            <a:pPr marL="799596" lvl="1" indent="-342900">
              <a:buFont typeface="Arial" panose="020B0604020202020204" pitchFamily="34" charset="0"/>
              <a:buChar char="•"/>
            </a:pPr>
            <a:r>
              <a:rPr lang="en-US" sz="2000"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Comparing database types</a:t>
            </a:r>
          </a:p>
          <a:p>
            <a:pPr marL="799596" lvl="1" indent="-342900">
              <a:buFont typeface="Arial" panose="020B0604020202020204" pitchFamily="34" charset="0"/>
              <a:buChar char="•"/>
            </a:pPr>
            <a:r>
              <a:rPr lang="en-US" sz="2000"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Managed vs. unmanaged services</a:t>
            </a:r>
          </a:p>
          <a:p>
            <a:pPr marL="799596" lvl="1" indent="-342900">
              <a:buFont typeface="Arial" panose="020B0604020202020204" pitchFamily="34" charset="0"/>
              <a:buChar char="•"/>
            </a:pPr>
            <a:r>
              <a:rPr lang="en-US" sz="2000"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Amazon Relational Database Service (Amazon RDS) and Amazon DynamoDB</a:t>
            </a:r>
          </a:p>
          <a:p>
            <a:pPr marL="799596" lvl="1" indent="-342900">
              <a:buFont typeface="Arial" panose="020B0604020202020204" pitchFamily="34" charset="0"/>
              <a:buChar char="•"/>
            </a:pPr>
            <a:endParaRPr lang="en-US" sz="2000"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TextBox 8">
            <a:extLst>
              <a:ext uri="{FF2B5EF4-FFF2-40B4-BE49-F238E27FC236}">
                <a16:creationId xmlns:a16="http://schemas.microsoft.com/office/drawing/2014/main" id="{293FCA96-1F65-7E46-83B0-70D1DE35E58F}"/>
              </a:ext>
            </a:extLst>
          </p:cNvPr>
          <p:cNvSpPr txBox="1"/>
          <p:nvPr/>
        </p:nvSpPr>
        <p:spPr>
          <a:xfrm>
            <a:off x="637279" y="1703601"/>
            <a:ext cx="6301371" cy="461665"/>
          </a:xfrm>
          <a:prstGeom prst="rect">
            <a:avLst/>
          </a:prstGeom>
          <a:noFill/>
        </p:spPr>
        <p:txBody>
          <a:bodyPr wrap="square" rtlCol="0">
            <a:spAutoFit/>
          </a:bodyPr>
          <a:lstStyle/>
          <a:p>
            <a:r>
              <a:rPr lang="en-US" sz="24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The architectural need</a:t>
            </a:r>
          </a:p>
        </p:txBody>
      </p:sp>
      <p:sp>
        <p:nvSpPr>
          <p:cNvPr id="10" name="Rectangle 9">
            <a:extLst>
              <a:ext uri="{FF2B5EF4-FFF2-40B4-BE49-F238E27FC236}">
                <a16:creationId xmlns:a16="http://schemas.microsoft.com/office/drawing/2014/main" id="{0E3335A6-F866-B44A-A394-404C1DDE13E6}"/>
              </a:ext>
            </a:extLst>
          </p:cNvPr>
          <p:cNvSpPr/>
          <p:nvPr/>
        </p:nvSpPr>
        <p:spPr>
          <a:xfrm>
            <a:off x="637279" y="4100592"/>
            <a:ext cx="2299027" cy="400110"/>
          </a:xfrm>
          <a:prstGeom prst="rect">
            <a:avLst/>
          </a:prstGeom>
        </p:spPr>
        <p:txBody>
          <a:bodyPr wrap="none">
            <a:spAutoFit/>
          </a:bodyPr>
          <a:lstStyle/>
          <a:p>
            <a:r>
              <a:rPr lang="en-US" sz="2000" b="1"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Module Overview</a:t>
            </a:r>
          </a:p>
        </p:txBody>
      </p:sp>
    </p:spTree>
    <p:extLst>
      <p:ext uri="{BB962C8B-B14F-4D97-AF65-F5344CB8AC3E}">
        <p14:creationId xmlns:p14="http://schemas.microsoft.com/office/powerpoint/2010/main" val="3207005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1352854" cy="779057"/>
          </a:xfrm>
        </p:spPr>
        <p:txBody>
          <a:bodyPr>
            <a:noAutofit/>
          </a:bodyPr>
          <a:lstStyle/>
          <a:p>
            <a:r>
              <a:rPr lang="en-US" dirty="0"/>
              <a:t>Database Layer Considerations</a:t>
            </a:r>
          </a:p>
        </p:txBody>
      </p:sp>
    </p:spTree>
    <p:extLst>
      <p:ext uri="{BB962C8B-B14F-4D97-AF65-F5344CB8AC3E}">
        <p14:creationId xmlns:p14="http://schemas.microsoft.com/office/powerpoint/2010/main" val="190812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nip Single Corner Rectangle 16">
            <a:extLst>
              <a:ext uri="{FF2B5EF4-FFF2-40B4-BE49-F238E27FC236}">
                <a16:creationId xmlns:a16="http://schemas.microsoft.com/office/drawing/2014/main" id="{29236087-8773-0E42-9A22-11F809FFCF3C}"/>
              </a:ext>
            </a:extLst>
          </p:cNvPr>
          <p:cNvSpPr/>
          <p:nvPr/>
        </p:nvSpPr>
        <p:spPr>
          <a:xfrm>
            <a:off x="418990" y="1650012"/>
            <a:ext cx="903373" cy="4352604"/>
          </a:xfrm>
          <a:prstGeom prst="snip1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What Should You Consider?</a:t>
            </a:r>
          </a:p>
        </p:txBody>
      </p:sp>
      <p:sp>
        <p:nvSpPr>
          <p:cNvPr id="6" name="TextBox 5">
            <a:extLst>
              <a:ext uri="{FF2B5EF4-FFF2-40B4-BE49-F238E27FC236}">
                <a16:creationId xmlns:a16="http://schemas.microsoft.com/office/drawing/2014/main" id="{CF07EF61-1E6F-504D-8540-D0EEE3C63B33}"/>
              </a:ext>
            </a:extLst>
          </p:cNvPr>
          <p:cNvSpPr txBox="1"/>
          <p:nvPr/>
        </p:nvSpPr>
        <p:spPr>
          <a:xfrm>
            <a:off x="1655574" y="1968865"/>
            <a:ext cx="5777781" cy="430887"/>
          </a:xfrm>
          <a:prstGeom prst="rect">
            <a:avLst/>
          </a:prstGeom>
          <a:noFill/>
        </p:spPr>
        <p:txBody>
          <a:bodyPr wrap="square" rtlCol="0">
            <a:spAutoFit/>
          </a:bodyPr>
          <a:lstStyle/>
          <a:p>
            <a:pPr>
              <a:buClr>
                <a:schemeClr val="accent2"/>
              </a:buClr>
            </a:pPr>
            <a:r>
              <a:rPr lang="en-US" sz="22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Scalability</a:t>
            </a:r>
          </a:p>
        </p:txBody>
      </p:sp>
      <p:sp>
        <p:nvSpPr>
          <p:cNvPr id="5" name="TextBox 4">
            <a:extLst>
              <a:ext uri="{FF2B5EF4-FFF2-40B4-BE49-F238E27FC236}">
                <a16:creationId xmlns:a16="http://schemas.microsoft.com/office/drawing/2014/main" id="{2854E6ED-C6AE-0144-ADD7-994303C41D0C}"/>
              </a:ext>
            </a:extLst>
          </p:cNvPr>
          <p:cNvSpPr txBox="1"/>
          <p:nvPr/>
        </p:nvSpPr>
        <p:spPr>
          <a:xfrm>
            <a:off x="1655573" y="3016099"/>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Total storage requirements</a:t>
            </a:r>
          </a:p>
        </p:txBody>
      </p:sp>
      <p:sp>
        <p:nvSpPr>
          <p:cNvPr id="7" name="TextBox 6">
            <a:extLst>
              <a:ext uri="{FF2B5EF4-FFF2-40B4-BE49-F238E27FC236}">
                <a16:creationId xmlns:a16="http://schemas.microsoft.com/office/drawing/2014/main" id="{19726269-AEC0-0843-A262-19E84F8CE084}"/>
              </a:ext>
            </a:extLst>
          </p:cNvPr>
          <p:cNvSpPr txBox="1"/>
          <p:nvPr/>
        </p:nvSpPr>
        <p:spPr>
          <a:xfrm>
            <a:off x="1655571" y="4116253"/>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Object size and type</a:t>
            </a:r>
          </a:p>
        </p:txBody>
      </p:sp>
      <p:sp>
        <p:nvSpPr>
          <p:cNvPr id="8" name="TextBox 7">
            <a:extLst>
              <a:ext uri="{FF2B5EF4-FFF2-40B4-BE49-F238E27FC236}">
                <a16:creationId xmlns:a16="http://schemas.microsoft.com/office/drawing/2014/main" id="{5FE1C488-CEC6-214A-B8EA-8C9BF8DA359A}"/>
              </a:ext>
            </a:extLst>
          </p:cNvPr>
          <p:cNvSpPr txBox="1"/>
          <p:nvPr/>
        </p:nvSpPr>
        <p:spPr>
          <a:xfrm>
            <a:off x="1655572" y="5216408"/>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Durability</a:t>
            </a:r>
          </a:p>
        </p:txBody>
      </p:sp>
      <p:pic>
        <p:nvPicPr>
          <p:cNvPr id="10" name="Picture 9">
            <a:extLst>
              <a:ext uri="{FF2B5EF4-FFF2-40B4-BE49-F238E27FC236}">
                <a16:creationId xmlns:a16="http://schemas.microsoft.com/office/drawing/2014/main" id="{1B675270-3C16-394A-80A6-28BF6D39854B}"/>
              </a:ext>
            </a:extLst>
          </p:cNvPr>
          <p:cNvPicPr>
            <a:picLocks noChangeAspect="1"/>
          </p:cNvPicPr>
          <p:nvPr/>
        </p:nvPicPr>
        <p:blipFill>
          <a:blip r:embed="rId3"/>
          <a:stretch>
            <a:fillRect/>
          </a:stretch>
        </p:blipFill>
        <p:spPr>
          <a:xfrm>
            <a:off x="674621" y="1896045"/>
            <a:ext cx="401100" cy="486588"/>
          </a:xfrm>
          <a:prstGeom prst="rect">
            <a:avLst/>
          </a:prstGeom>
        </p:spPr>
      </p:pic>
      <p:pic>
        <p:nvPicPr>
          <p:cNvPr id="14" name="Picture 13">
            <a:extLst>
              <a:ext uri="{FF2B5EF4-FFF2-40B4-BE49-F238E27FC236}">
                <a16:creationId xmlns:a16="http://schemas.microsoft.com/office/drawing/2014/main" id="{F005330F-AE71-B54F-95F7-08648DBDAFE0}"/>
              </a:ext>
            </a:extLst>
          </p:cNvPr>
          <p:cNvPicPr>
            <a:picLocks noChangeAspect="1"/>
          </p:cNvPicPr>
          <p:nvPr/>
        </p:nvPicPr>
        <p:blipFill>
          <a:blip r:embed="rId4"/>
          <a:stretch>
            <a:fillRect/>
          </a:stretch>
        </p:blipFill>
        <p:spPr>
          <a:xfrm>
            <a:off x="626764" y="4080453"/>
            <a:ext cx="508817" cy="508817"/>
          </a:xfrm>
          <a:prstGeom prst="rect">
            <a:avLst/>
          </a:prstGeom>
        </p:spPr>
      </p:pic>
      <p:pic>
        <p:nvPicPr>
          <p:cNvPr id="21" name="Picture 20">
            <a:extLst>
              <a:ext uri="{FF2B5EF4-FFF2-40B4-BE49-F238E27FC236}">
                <a16:creationId xmlns:a16="http://schemas.microsoft.com/office/drawing/2014/main" id="{5D4A83FF-2206-8043-AB2F-011B7F84D36E}"/>
              </a:ext>
            </a:extLst>
          </p:cNvPr>
          <p:cNvPicPr>
            <a:picLocks noChangeAspect="1"/>
          </p:cNvPicPr>
          <p:nvPr/>
        </p:nvPicPr>
        <p:blipFill>
          <a:blip r:embed="rId5"/>
          <a:stretch>
            <a:fillRect/>
          </a:stretch>
        </p:blipFill>
        <p:spPr>
          <a:xfrm>
            <a:off x="602866" y="2928065"/>
            <a:ext cx="606956" cy="606956"/>
          </a:xfrm>
          <a:prstGeom prst="rect">
            <a:avLst/>
          </a:prstGeom>
        </p:spPr>
      </p:pic>
      <p:pic>
        <p:nvPicPr>
          <p:cNvPr id="23" name="Picture 22">
            <a:extLst>
              <a:ext uri="{FF2B5EF4-FFF2-40B4-BE49-F238E27FC236}">
                <a16:creationId xmlns:a16="http://schemas.microsoft.com/office/drawing/2014/main" id="{C020175F-60C7-154B-903B-310BA9069054}"/>
              </a:ext>
            </a:extLst>
          </p:cNvPr>
          <p:cNvPicPr>
            <a:picLocks noChangeAspect="1"/>
          </p:cNvPicPr>
          <p:nvPr/>
        </p:nvPicPr>
        <p:blipFill>
          <a:blip r:embed="rId6"/>
          <a:stretch>
            <a:fillRect/>
          </a:stretch>
        </p:blipFill>
        <p:spPr>
          <a:xfrm>
            <a:off x="585266" y="5134702"/>
            <a:ext cx="591815" cy="591815"/>
          </a:xfrm>
          <a:prstGeom prst="rect">
            <a:avLst/>
          </a:prstGeom>
        </p:spPr>
      </p:pic>
      <p:sp>
        <p:nvSpPr>
          <p:cNvPr id="29" name="TextBox 28">
            <a:extLst>
              <a:ext uri="{FF2B5EF4-FFF2-40B4-BE49-F238E27FC236}">
                <a16:creationId xmlns:a16="http://schemas.microsoft.com/office/drawing/2014/main" id="{C23C1159-5616-0D4E-8E62-4916E806DDB7}"/>
              </a:ext>
            </a:extLst>
          </p:cNvPr>
          <p:cNvSpPr txBox="1"/>
          <p:nvPr/>
        </p:nvSpPr>
        <p:spPr>
          <a:xfrm>
            <a:off x="6434206" y="2195263"/>
            <a:ext cx="5141626" cy="922368"/>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How much throughput do we need? </a:t>
            </a:r>
          </a:p>
          <a:p>
            <a:pPr algn="ctr"/>
            <a:r>
              <a:rPr lang="en-US" dirty="0">
                <a:latin typeface="Amazon Ember" panose="020B0603020204020204" pitchFamily="34" charset="0"/>
                <a:ea typeface="Amazon Ember" panose="020B0603020204020204" pitchFamily="34" charset="0"/>
                <a:cs typeface="Amazon Ember" panose="020B0603020204020204" pitchFamily="34" charset="0"/>
              </a:rPr>
              <a:t>Will the solution we choose be able to scale up later if needed?</a:t>
            </a:r>
          </a:p>
        </p:txBody>
      </p:sp>
      <p:pic>
        <p:nvPicPr>
          <p:cNvPr id="30" name="Picture 29">
            <a:extLst>
              <a:ext uri="{FF2B5EF4-FFF2-40B4-BE49-F238E27FC236}">
                <a16:creationId xmlns:a16="http://schemas.microsoft.com/office/drawing/2014/main" id="{9B34555E-47B6-FE43-B6DE-8C6C598E8458}"/>
              </a:ext>
            </a:extLst>
          </p:cNvPr>
          <p:cNvPicPr>
            <a:picLocks noChangeAspect="1"/>
          </p:cNvPicPr>
          <p:nvPr/>
        </p:nvPicPr>
        <p:blipFill>
          <a:blip r:embed="rId3"/>
          <a:stretch>
            <a:fillRect/>
          </a:stretch>
        </p:blipFill>
        <p:spPr>
          <a:xfrm>
            <a:off x="8179987" y="3546266"/>
            <a:ext cx="1650064" cy="2001748"/>
          </a:xfrm>
          <a:prstGeom prst="rect">
            <a:avLst/>
          </a:prstGeom>
        </p:spPr>
      </p:pic>
    </p:spTree>
    <p:extLst>
      <p:ext uri="{BB962C8B-B14F-4D97-AF65-F5344CB8AC3E}">
        <p14:creationId xmlns:p14="http://schemas.microsoft.com/office/powerpoint/2010/main" val="3221023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nip Single Corner Rectangle 16">
            <a:extLst>
              <a:ext uri="{FF2B5EF4-FFF2-40B4-BE49-F238E27FC236}">
                <a16:creationId xmlns:a16="http://schemas.microsoft.com/office/drawing/2014/main" id="{29236087-8773-0E42-9A22-11F809FFCF3C}"/>
              </a:ext>
            </a:extLst>
          </p:cNvPr>
          <p:cNvSpPr/>
          <p:nvPr/>
        </p:nvSpPr>
        <p:spPr>
          <a:xfrm>
            <a:off x="418990" y="1650012"/>
            <a:ext cx="903373" cy="4352604"/>
          </a:xfrm>
          <a:prstGeom prst="snip1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What Should You Consider?</a:t>
            </a:r>
          </a:p>
        </p:txBody>
      </p:sp>
      <p:sp>
        <p:nvSpPr>
          <p:cNvPr id="6" name="TextBox 5">
            <a:extLst>
              <a:ext uri="{FF2B5EF4-FFF2-40B4-BE49-F238E27FC236}">
                <a16:creationId xmlns:a16="http://schemas.microsoft.com/office/drawing/2014/main" id="{CF07EF61-1E6F-504D-8540-D0EEE3C63B33}"/>
              </a:ext>
            </a:extLst>
          </p:cNvPr>
          <p:cNvSpPr txBox="1"/>
          <p:nvPr/>
        </p:nvSpPr>
        <p:spPr>
          <a:xfrm>
            <a:off x="1655574" y="1968865"/>
            <a:ext cx="5777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Scalability</a:t>
            </a:r>
          </a:p>
        </p:txBody>
      </p:sp>
      <p:sp>
        <p:nvSpPr>
          <p:cNvPr id="5" name="TextBox 4">
            <a:extLst>
              <a:ext uri="{FF2B5EF4-FFF2-40B4-BE49-F238E27FC236}">
                <a16:creationId xmlns:a16="http://schemas.microsoft.com/office/drawing/2014/main" id="{2854E6ED-C6AE-0144-ADD7-994303C41D0C}"/>
              </a:ext>
            </a:extLst>
          </p:cNvPr>
          <p:cNvSpPr txBox="1"/>
          <p:nvPr/>
        </p:nvSpPr>
        <p:spPr>
          <a:xfrm>
            <a:off x="1655573" y="3016099"/>
            <a:ext cx="4253781" cy="430887"/>
          </a:xfrm>
          <a:prstGeom prst="rect">
            <a:avLst/>
          </a:prstGeom>
          <a:noFill/>
        </p:spPr>
        <p:txBody>
          <a:bodyPr wrap="square" rtlCol="0">
            <a:spAutoFit/>
          </a:bodyPr>
          <a:lstStyle/>
          <a:p>
            <a:pPr>
              <a:buClr>
                <a:schemeClr val="accent2"/>
              </a:buClr>
            </a:pPr>
            <a:r>
              <a:rPr lang="en-US" sz="22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Total storage requirements</a:t>
            </a:r>
          </a:p>
        </p:txBody>
      </p:sp>
      <p:sp>
        <p:nvSpPr>
          <p:cNvPr id="7" name="TextBox 6">
            <a:extLst>
              <a:ext uri="{FF2B5EF4-FFF2-40B4-BE49-F238E27FC236}">
                <a16:creationId xmlns:a16="http://schemas.microsoft.com/office/drawing/2014/main" id="{19726269-AEC0-0843-A262-19E84F8CE084}"/>
              </a:ext>
            </a:extLst>
          </p:cNvPr>
          <p:cNvSpPr txBox="1"/>
          <p:nvPr/>
        </p:nvSpPr>
        <p:spPr>
          <a:xfrm>
            <a:off x="1655571" y="4116253"/>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Object size and type</a:t>
            </a:r>
          </a:p>
        </p:txBody>
      </p:sp>
      <p:sp>
        <p:nvSpPr>
          <p:cNvPr id="8" name="TextBox 7">
            <a:extLst>
              <a:ext uri="{FF2B5EF4-FFF2-40B4-BE49-F238E27FC236}">
                <a16:creationId xmlns:a16="http://schemas.microsoft.com/office/drawing/2014/main" id="{5FE1C488-CEC6-214A-B8EA-8C9BF8DA359A}"/>
              </a:ext>
            </a:extLst>
          </p:cNvPr>
          <p:cNvSpPr txBox="1"/>
          <p:nvPr/>
        </p:nvSpPr>
        <p:spPr>
          <a:xfrm>
            <a:off x="1655572" y="5216408"/>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Durability</a:t>
            </a:r>
          </a:p>
        </p:txBody>
      </p:sp>
      <p:pic>
        <p:nvPicPr>
          <p:cNvPr id="10" name="Picture 9">
            <a:extLst>
              <a:ext uri="{FF2B5EF4-FFF2-40B4-BE49-F238E27FC236}">
                <a16:creationId xmlns:a16="http://schemas.microsoft.com/office/drawing/2014/main" id="{1B675270-3C16-394A-80A6-28BF6D39854B}"/>
              </a:ext>
            </a:extLst>
          </p:cNvPr>
          <p:cNvPicPr>
            <a:picLocks noChangeAspect="1"/>
          </p:cNvPicPr>
          <p:nvPr/>
        </p:nvPicPr>
        <p:blipFill>
          <a:blip r:embed="rId3"/>
          <a:stretch>
            <a:fillRect/>
          </a:stretch>
        </p:blipFill>
        <p:spPr>
          <a:xfrm>
            <a:off x="674621" y="1896045"/>
            <a:ext cx="401100" cy="486588"/>
          </a:xfrm>
          <a:prstGeom prst="rect">
            <a:avLst/>
          </a:prstGeom>
        </p:spPr>
      </p:pic>
      <p:pic>
        <p:nvPicPr>
          <p:cNvPr id="14" name="Picture 13">
            <a:extLst>
              <a:ext uri="{FF2B5EF4-FFF2-40B4-BE49-F238E27FC236}">
                <a16:creationId xmlns:a16="http://schemas.microsoft.com/office/drawing/2014/main" id="{F005330F-AE71-B54F-95F7-08648DBDAFE0}"/>
              </a:ext>
            </a:extLst>
          </p:cNvPr>
          <p:cNvPicPr>
            <a:picLocks noChangeAspect="1"/>
          </p:cNvPicPr>
          <p:nvPr/>
        </p:nvPicPr>
        <p:blipFill>
          <a:blip r:embed="rId4"/>
          <a:stretch>
            <a:fillRect/>
          </a:stretch>
        </p:blipFill>
        <p:spPr>
          <a:xfrm>
            <a:off x="626764" y="4080453"/>
            <a:ext cx="508817" cy="508817"/>
          </a:xfrm>
          <a:prstGeom prst="rect">
            <a:avLst/>
          </a:prstGeom>
        </p:spPr>
      </p:pic>
      <p:pic>
        <p:nvPicPr>
          <p:cNvPr id="21" name="Picture 20">
            <a:extLst>
              <a:ext uri="{FF2B5EF4-FFF2-40B4-BE49-F238E27FC236}">
                <a16:creationId xmlns:a16="http://schemas.microsoft.com/office/drawing/2014/main" id="{5D4A83FF-2206-8043-AB2F-011B7F84D36E}"/>
              </a:ext>
            </a:extLst>
          </p:cNvPr>
          <p:cNvPicPr>
            <a:picLocks noChangeAspect="1"/>
          </p:cNvPicPr>
          <p:nvPr/>
        </p:nvPicPr>
        <p:blipFill>
          <a:blip r:embed="rId5"/>
          <a:stretch>
            <a:fillRect/>
          </a:stretch>
        </p:blipFill>
        <p:spPr>
          <a:xfrm>
            <a:off x="602866" y="2928065"/>
            <a:ext cx="606956" cy="606956"/>
          </a:xfrm>
          <a:prstGeom prst="rect">
            <a:avLst/>
          </a:prstGeom>
        </p:spPr>
      </p:pic>
      <p:pic>
        <p:nvPicPr>
          <p:cNvPr id="23" name="Picture 22">
            <a:extLst>
              <a:ext uri="{FF2B5EF4-FFF2-40B4-BE49-F238E27FC236}">
                <a16:creationId xmlns:a16="http://schemas.microsoft.com/office/drawing/2014/main" id="{C020175F-60C7-154B-903B-310BA9069054}"/>
              </a:ext>
            </a:extLst>
          </p:cNvPr>
          <p:cNvPicPr>
            <a:picLocks noChangeAspect="1"/>
          </p:cNvPicPr>
          <p:nvPr/>
        </p:nvPicPr>
        <p:blipFill>
          <a:blip r:embed="rId6"/>
          <a:stretch>
            <a:fillRect/>
          </a:stretch>
        </p:blipFill>
        <p:spPr>
          <a:xfrm>
            <a:off x="585266" y="5134702"/>
            <a:ext cx="591815" cy="591815"/>
          </a:xfrm>
          <a:prstGeom prst="rect">
            <a:avLst/>
          </a:prstGeom>
        </p:spPr>
      </p:pic>
      <p:sp>
        <p:nvSpPr>
          <p:cNvPr id="15" name="TextBox 14">
            <a:extLst>
              <a:ext uri="{FF2B5EF4-FFF2-40B4-BE49-F238E27FC236}">
                <a16:creationId xmlns:a16="http://schemas.microsoft.com/office/drawing/2014/main" id="{53C024EE-D599-8E4D-9DC7-5DA7B08BA32C}"/>
              </a:ext>
            </a:extLst>
          </p:cNvPr>
          <p:cNvSpPr txBox="1"/>
          <p:nvPr/>
        </p:nvSpPr>
        <p:spPr>
          <a:xfrm>
            <a:off x="6434206" y="2195263"/>
            <a:ext cx="5141626" cy="645690"/>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How large does our database need to be? </a:t>
            </a:r>
          </a:p>
          <a:p>
            <a:pPr algn="ctr"/>
            <a:r>
              <a:rPr lang="en-US" dirty="0">
                <a:latin typeface="Amazon Ember" panose="020B0603020204020204" pitchFamily="34" charset="0"/>
                <a:ea typeface="Amazon Ember" panose="020B0603020204020204" pitchFamily="34" charset="0"/>
                <a:cs typeface="Amazon Ember" panose="020B0603020204020204" pitchFamily="34" charset="0"/>
              </a:rPr>
              <a:t>Will we have GB, TB, or PB of data?</a:t>
            </a:r>
          </a:p>
        </p:txBody>
      </p:sp>
      <p:pic>
        <p:nvPicPr>
          <p:cNvPr id="16" name="Picture 15">
            <a:extLst>
              <a:ext uri="{FF2B5EF4-FFF2-40B4-BE49-F238E27FC236}">
                <a16:creationId xmlns:a16="http://schemas.microsoft.com/office/drawing/2014/main" id="{04DD9082-27DB-BA49-88F3-A6C8B28B5D47}"/>
              </a:ext>
            </a:extLst>
          </p:cNvPr>
          <p:cNvPicPr>
            <a:picLocks noChangeAspect="1"/>
          </p:cNvPicPr>
          <p:nvPr/>
        </p:nvPicPr>
        <p:blipFill>
          <a:blip r:embed="rId5"/>
          <a:stretch>
            <a:fillRect/>
          </a:stretch>
        </p:blipFill>
        <p:spPr>
          <a:xfrm>
            <a:off x="7921111" y="3440944"/>
            <a:ext cx="2167816" cy="2167816"/>
          </a:xfrm>
          <a:prstGeom prst="rect">
            <a:avLst/>
          </a:prstGeom>
        </p:spPr>
      </p:pic>
    </p:spTree>
    <p:extLst>
      <p:ext uri="{BB962C8B-B14F-4D97-AF65-F5344CB8AC3E}">
        <p14:creationId xmlns:p14="http://schemas.microsoft.com/office/powerpoint/2010/main" val="2146123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nip Single Corner Rectangle 16">
            <a:extLst>
              <a:ext uri="{FF2B5EF4-FFF2-40B4-BE49-F238E27FC236}">
                <a16:creationId xmlns:a16="http://schemas.microsoft.com/office/drawing/2014/main" id="{29236087-8773-0E42-9A22-11F809FFCF3C}"/>
              </a:ext>
            </a:extLst>
          </p:cNvPr>
          <p:cNvSpPr/>
          <p:nvPr/>
        </p:nvSpPr>
        <p:spPr>
          <a:xfrm>
            <a:off x="418990" y="1650012"/>
            <a:ext cx="903373" cy="4352604"/>
          </a:xfrm>
          <a:prstGeom prst="snip1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What Should You Consider?</a:t>
            </a:r>
          </a:p>
        </p:txBody>
      </p:sp>
      <p:sp>
        <p:nvSpPr>
          <p:cNvPr id="6" name="TextBox 5">
            <a:extLst>
              <a:ext uri="{FF2B5EF4-FFF2-40B4-BE49-F238E27FC236}">
                <a16:creationId xmlns:a16="http://schemas.microsoft.com/office/drawing/2014/main" id="{CF07EF61-1E6F-504D-8540-D0EEE3C63B33}"/>
              </a:ext>
            </a:extLst>
          </p:cNvPr>
          <p:cNvSpPr txBox="1"/>
          <p:nvPr/>
        </p:nvSpPr>
        <p:spPr>
          <a:xfrm>
            <a:off x="1655574" y="1968865"/>
            <a:ext cx="5777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Scalability</a:t>
            </a:r>
          </a:p>
        </p:txBody>
      </p:sp>
      <p:sp>
        <p:nvSpPr>
          <p:cNvPr id="5" name="TextBox 4">
            <a:extLst>
              <a:ext uri="{FF2B5EF4-FFF2-40B4-BE49-F238E27FC236}">
                <a16:creationId xmlns:a16="http://schemas.microsoft.com/office/drawing/2014/main" id="{2854E6ED-C6AE-0144-ADD7-994303C41D0C}"/>
              </a:ext>
            </a:extLst>
          </p:cNvPr>
          <p:cNvSpPr txBox="1"/>
          <p:nvPr/>
        </p:nvSpPr>
        <p:spPr>
          <a:xfrm>
            <a:off x="1655573" y="3016099"/>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Total storage requirements</a:t>
            </a:r>
          </a:p>
        </p:txBody>
      </p:sp>
      <p:sp>
        <p:nvSpPr>
          <p:cNvPr id="7" name="TextBox 6">
            <a:extLst>
              <a:ext uri="{FF2B5EF4-FFF2-40B4-BE49-F238E27FC236}">
                <a16:creationId xmlns:a16="http://schemas.microsoft.com/office/drawing/2014/main" id="{19726269-AEC0-0843-A262-19E84F8CE084}"/>
              </a:ext>
            </a:extLst>
          </p:cNvPr>
          <p:cNvSpPr txBox="1"/>
          <p:nvPr/>
        </p:nvSpPr>
        <p:spPr>
          <a:xfrm>
            <a:off x="1655571" y="4116253"/>
            <a:ext cx="4253781" cy="430887"/>
          </a:xfrm>
          <a:prstGeom prst="rect">
            <a:avLst/>
          </a:prstGeom>
          <a:noFill/>
        </p:spPr>
        <p:txBody>
          <a:bodyPr wrap="square" rtlCol="0">
            <a:spAutoFit/>
          </a:bodyPr>
          <a:lstStyle/>
          <a:p>
            <a:pPr>
              <a:buClr>
                <a:schemeClr val="accent2"/>
              </a:buClr>
            </a:pPr>
            <a:r>
              <a:rPr lang="en-US" sz="22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Object size and type</a:t>
            </a:r>
          </a:p>
        </p:txBody>
      </p:sp>
      <p:sp>
        <p:nvSpPr>
          <p:cNvPr id="8" name="TextBox 7">
            <a:extLst>
              <a:ext uri="{FF2B5EF4-FFF2-40B4-BE49-F238E27FC236}">
                <a16:creationId xmlns:a16="http://schemas.microsoft.com/office/drawing/2014/main" id="{5FE1C488-CEC6-214A-B8EA-8C9BF8DA359A}"/>
              </a:ext>
            </a:extLst>
          </p:cNvPr>
          <p:cNvSpPr txBox="1"/>
          <p:nvPr/>
        </p:nvSpPr>
        <p:spPr>
          <a:xfrm>
            <a:off x="1655572" y="5216408"/>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Durability</a:t>
            </a:r>
          </a:p>
        </p:txBody>
      </p:sp>
      <p:pic>
        <p:nvPicPr>
          <p:cNvPr id="10" name="Picture 9">
            <a:extLst>
              <a:ext uri="{FF2B5EF4-FFF2-40B4-BE49-F238E27FC236}">
                <a16:creationId xmlns:a16="http://schemas.microsoft.com/office/drawing/2014/main" id="{1B675270-3C16-394A-80A6-28BF6D39854B}"/>
              </a:ext>
            </a:extLst>
          </p:cNvPr>
          <p:cNvPicPr>
            <a:picLocks noChangeAspect="1"/>
          </p:cNvPicPr>
          <p:nvPr/>
        </p:nvPicPr>
        <p:blipFill>
          <a:blip r:embed="rId3"/>
          <a:stretch>
            <a:fillRect/>
          </a:stretch>
        </p:blipFill>
        <p:spPr>
          <a:xfrm>
            <a:off x="674621" y="1896045"/>
            <a:ext cx="401100" cy="486588"/>
          </a:xfrm>
          <a:prstGeom prst="rect">
            <a:avLst/>
          </a:prstGeom>
        </p:spPr>
      </p:pic>
      <p:pic>
        <p:nvPicPr>
          <p:cNvPr id="14" name="Picture 13">
            <a:extLst>
              <a:ext uri="{FF2B5EF4-FFF2-40B4-BE49-F238E27FC236}">
                <a16:creationId xmlns:a16="http://schemas.microsoft.com/office/drawing/2014/main" id="{F005330F-AE71-B54F-95F7-08648DBDAFE0}"/>
              </a:ext>
            </a:extLst>
          </p:cNvPr>
          <p:cNvPicPr>
            <a:picLocks noChangeAspect="1"/>
          </p:cNvPicPr>
          <p:nvPr/>
        </p:nvPicPr>
        <p:blipFill>
          <a:blip r:embed="rId4"/>
          <a:stretch>
            <a:fillRect/>
          </a:stretch>
        </p:blipFill>
        <p:spPr>
          <a:xfrm>
            <a:off x="626764" y="4080453"/>
            <a:ext cx="508817" cy="508817"/>
          </a:xfrm>
          <a:prstGeom prst="rect">
            <a:avLst/>
          </a:prstGeom>
        </p:spPr>
      </p:pic>
      <p:pic>
        <p:nvPicPr>
          <p:cNvPr id="21" name="Picture 20">
            <a:extLst>
              <a:ext uri="{FF2B5EF4-FFF2-40B4-BE49-F238E27FC236}">
                <a16:creationId xmlns:a16="http://schemas.microsoft.com/office/drawing/2014/main" id="{5D4A83FF-2206-8043-AB2F-011B7F84D36E}"/>
              </a:ext>
            </a:extLst>
          </p:cNvPr>
          <p:cNvPicPr>
            <a:picLocks noChangeAspect="1"/>
          </p:cNvPicPr>
          <p:nvPr/>
        </p:nvPicPr>
        <p:blipFill>
          <a:blip r:embed="rId5"/>
          <a:stretch>
            <a:fillRect/>
          </a:stretch>
        </p:blipFill>
        <p:spPr>
          <a:xfrm>
            <a:off x="602866" y="2928065"/>
            <a:ext cx="606956" cy="606956"/>
          </a:xfrm>
          <a:prstGeom prst="rect">
            <a:avLst/>
          </a:prstGeom>
        </p:spPr>
      </p:pic>
      <p:pic>
        <p:nvPicPr>
          <p:cNvPr id="23" name="Picture 22">
            <a:extLst>
              <a:ext uri="{FF2B5EF4-FFF2-40B4-BE49-F238E27FC236}">
                <a16:creationId xmlns:a16="http://schemas.microsoft.com/office/drawing/2014/main" id="{C020175F-60C7-154B-903B-310BA9069054}"/>
              </a:ext>
            </a:extLst>
          </p:cNvPr>
          <p:cNvPicPr>
            <a:picLocks noChangeAspect="1"/>
          </p:cNvPicPr>
          <p:nvPr/>
        </p:nvPicPr>
        <p:blipFill>
          <a:blip r:embed="rId6"/>
          <a:stretch>
            <a:fillRect/>
          </a:stretch>
        </p:blipFill>
        <p:spPr>
          <a:xfrm>
            <a:off x="585266" y="5134702"/>
            <a:ext cx="591815" cy="591815"/>
          </a:xfrm>
          <a:prstGeom prst="rect">
            <a:avLst/>
          </a:prstGeom>
        </p:spPr>
      </p:pic>
      <p:sp>
        <p:nvSpPr>
          <p:cNvPr id="13" name="TextBox 12">
            <a:extLst>
              <a:ext uri="{FF2B5EF4-FFF2-40B4-BE49-F238E27FC236}">
                <a16:creationId xmlns:a16="http://schemas.microsoft.com/office/drawing/2014/main" id="{899E1F2E-5433-9643-8ED9-37E99DE04858}"/>
              </a:ext>
            </a:extLst>
          </p:cNvPr>
          <p:cNvSpPr txBox="1"/>
          <p:nvPr/>
        </p:nvSpPr>
        <p:spPr>
          <a:xfrm>
            <a:off x="6434206" y="2195263"/>
            <a:ext cx="5141626" cy="645690"/>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Do we need to store simple data structures, large data objects, or both?</a:t>
            </a:r>
          </a:p>
        </p:txBody>
      </p:sp>
      <p:pic>
        <p:nvPicPr>
          <p:cNvPr id="15" name="Picture 14">
            <a:extLst>
              <a:ext uri="{FF2B5EF4-FFF2-40B4-BE49-F238E27FC236}">
                <a16:creationId xmlns:a16="http://schemas.microsoft.com/office/drawing/2014/main" id="{71905920-15D9-944A-82A6-5959115DFDE8}"/>
              </a:ext>
            </a:extLst>
          </p:cNvPr>
          <p:cNvPicPr>
            <a:picLocks noChangeAspect="1"/>
          </p:cNvPicPr>
          <p:nvPr/>
        </p:nvPicPr>
        <p:blipFill>
          <a:blip r:embed="rId4"/>
          <a:stretch>
            <a:fillRect/>
          </a:stretch>
        </p:blipFill>
        <p:spPr>
          <a:xfrm>
            <a:off x="8062390" y="3249445"/>
            <a:ext cx="1885257" cy="1885257"/>
          </a:xfrm>
          <a:prstGeom prst="rect">
            <a:avLst/>
          </a:prstGeom>
        </p:spPr>
      </p:pic>
    </p:spTree>
    <p:extLst>
      <p:ext uri="{BB962C8B-B14F-4D97-AF65-F5344CB8AC3E}">
        <p14:creationId xmlns:p14="http://schemas.microsoft.com/office/powerpoint/2010/main" val="2962576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nip Single Corner Rectangle 16">
            <a:extLst>
              <a:ext uri="{FF2B5EF4-FFF2-40B4-BE49-F238E27FC236}">
                <a16:creationId xmlns:a16="http://schemas.microsoft.com/office/drawing/2014/main" id="{29236087-8773-0E42-9A22-11F809FFCF3C}"/>
              </a:ext>
            </a:extLst>
          </p:cNvPr>
          <p:cNvSpPr/>
          <p:nvPr/>
        </p:nvSpPr>
        <p:spPr>
          <a:xfrm>
            <a:off x="418990" y="1650012"/>
            <a:ext cx="903373" cy="4352604"/>
          </a:xfrm>
          <a:prstGeom prst="snip1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What Should You Consider?</a:t>
            </a:r>
          </a:p>
        </p:txBody>
      </p:sp>
      <p:sp>
        <p:nvSpPr>
          <p:cNvPr id="6" name="TextBox 5">
            <a:extLst>
              <a:ext uri="{FF2B5EF4-FFF2-40B4-BE49-F238E27FC236}">
                <a16:creationId xmlns:a16="http://schemas.microsoft.com/office/drawing/2014/main" id="{CF07EF61-1E6F-504D-8540-D0EEE3C63B33}"/>
              </a:ext>
            </a:extLst>
          </p:cNvPr>
          <p:cNvSpPr txBox="1"/>
          <p:nvPr/>
        </p:nvSpPr>
        <p:spPr>
          <a:xfrm>
            <a:off x="1655574" y="1968865"/>
            <a:ext cx="5777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Scalability</a:t>
            </a:r>
          </a:p>
        </p:txBody>
      </p:sp>
      <p:sp>
        <p:nvSpPr>
          <p:cNvPr id="5" name="TextBox 4">
            <a:extLst>
              <a:ext uri="{FF2B5EF4-FFF2-40B4-BE49-F238E27FC236}">
                <a16:creationId xmlns:a16="http://schemas.microsoft.com/office/drawing/2014/main" id="{2854E6ED-C6AE-0144-ADD7-994303C41D0C}"/>
              </a:ext>
            </a:extLst>
          </p:cNvPr>
          <p:cNvSpPr txBox="1"/>
          <p:nvPr/>
        </p:nvSpPr>
        <p:spPr>
          <a:xfrm>
            <a:off x="1655573" y="3016099"/>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Total storage requirements</a:t>
            </a:r>
          </a:p>
        </p:txBody>
      </p:sp>
      <p:sp>
        <p:nvSpPr>
          <p:cNvPr id="7" name="TextBox 6">
            <a:extLst>
              <a:ext uri="{FF2B5EF4-FFF2-40B4-BE49-F238E27FC236}">
                <a16:creationId xmlns:a16="http://schemas.microsoft.com/office/drawing/2014/main" id="{19726269-AEC0-0843-A262-19E84F8CE084}"/>
              </a:ext>
            </a:extLst>
          </p:cNvPr>
          <p:cNvSpPr txBox="1"/>
          <p:nvPr/>
        </p:nvSpPr>
        <p:spPr>
          <a:xfrm>
            <a:off x="1655571" y="4116253"/>
            <a:ext cx="4253781" cy="430887"/>
          </a:xfrm>
          <a:prstGeom prst="rect">
            <a:avLst/>
          </a:prstGeom>
          <a:noFill/>
        </p:spPr>
        <p:txBody>
          <a:bodyPr wrap="square" rtlCol="0">
            <a:spAutoFit/>
          </a:bodyPr>
          <a:lstStyle/>
          <a:p>
            <a:pPr>
              <a:buClr>
                <a:schemeClr val="accent2"/>
              </a:buClr>
            </a:pPr>
            <a:r>
              <a:rPr lang="en-US" sz="2200" dirty="0">
                <a:latin typeface="Amazon Ember" panose="020B0603020204020204" pitchFamily="34" charset="0"/>
                <a:ea typeface="Amazon Ember" panose="020B0603020204020204" pitchFamily="34" charset="0"/>
                <a:cs typeface="Amazon Ember" panose="020B0603020204020204" pitchFamily="34" charset="0"/>
              </a:rPr>
              <a:t>Object size and type</a:t>
            </a:r>
          </a:p>
        </p:txBody>
      </p:sp>
      <p:sp>
        <p:nvSpPr>
          <p:cNvPr id="8" name="TextBox 7">
            <a:extLst>
              <a:ext uri="{FF2B5EF4-FFF2-40B4-BE49-F238E27FC236}">
                <a16:creationId xmlns:a16="http://schemas.microsoft.com/office/drawing/2014/main" id="{5FE1C488-CEC6-214A-B8EA-8C9BF8DA359A}"/>
              </a:ext>
            </a:extLst>
          </p:cNvPr>
          <p:cNvSpPr txBox="1"/>
          <p:nvPr/>
        </p:nvSpPr>
        <p:spPr>
          <a:xfrm>
            <a:off x="1655572" y="5216408"/>
            <a:ext cx="4253781" cy="430887"/>
          </a:xfrm>
          <a:prstGeom prst="rect">
            <a:avLst/>
          </a:prstGeom>
          <a:noFill/>
        </p:spPr>
        <p:txBody>
          <a:bodyPr wrap="square" rtlCol="0">
            <a:spAutoFit/>
          </a:bodyPr>
          <a:lstStyle/>
          <a:p>
            <a:pPr>
              <a:buClr>
                <a:schemeClr val="accent2"/>
              </a:buClr>
            </a:pPr>
            <a:r>
              <a:rPr lang="en-US" sz="22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Durability</a:t>
            </a:r>
          </a:p>
        </p:txBody>
      </p:sp>
      <p:pic>
        <p:nvPicPr>
          <p:cNvPr id="10" name="Picture 9">
            <a:extLst>
              <a:ext uri="{FF2B5EF4-FFF2-40B4-BE49-F238E27FC236}">
                <a16:creationId xmlns:a16="http://schemas.microsoft.com/office/drawing/2014/main" id="{1B675270-3C16-394A-80A6-28BF6D39854B}"/>
              </a:ext>
            </a:extLst>
          </p:cNvPr>
          <p:cNvPicPr>
            <a:picLocks noChangeAspect="1"/>
          </p:cNvPicPr>
          <p:nvPr/>
        </p:nvPicPr>
        <p:blipFill>
          <a:blip r:embed="rId3"/>
          <a:stretch>
            <a:fillRect/>
          </a:stretch>
        </p:blipFill>
        <p:spPr>
          <a:xfrm>
            <a:off x="674621" y="1896045"/>
            <a:ext cx="401100" cy="486588"/>
          </a:xfrm>
          <a:prstGeom prst="rect">
            <a:avLst/>
          </a:prstGeom>
        </p:spPr>
      </p:pic>
      <p:pic>
        <p:nvPicPr>
          <p:cNvPr id="14" name="Picture 13">
            <a:extLst>
              <a:ext uri="{FF2B5EF4-FFF2-40B4-BE49-F238E27FC236}">
                <a16:creationId xmlns:a16="http://schemas.microsoft.com/office/drawing/2014/main" id="{F005330F-AE71-B54F-95F7-08648DBDAFE0}"/>
              </a:ext>
            </a:extLst>
          </p:cNvPr>
          <p:cNvPicPr>
            <a:picLocks noChangeAspect="1"/>
          </p:cNvPicPr>
          <p:nvPr/>
        </p:nvPicPr>
        <p:blipFill>
          <a:blip r:embed="rId4"/>
          <a:stretch>
            <a:fillRect/>
          </a:stretch>
        </p:blipFill>
        <p:spPr>
          <a:xfrm>
            <a:off x="626764" y="4080453"/>
            <a:ext cx="508817" cy="508817"/>
          </a:xfrm>
          <a:prstGeom prst="rect">
            <a:avLst/>
          </a:prstGeom>
        </p:spPr>
      </p:pic>
      <p:pic>
        <p:nvPicPr>
          <p:cNvPr id="21" name="Picture 20">
            <a:extLst>
              <a:ext uri="{FF2B5EF4-FFF2-40B4-BE49-F238E27FC236}">
                <a16:creationId xmlns:a16="http://schemas.microsoft.com/office/drawing/2014/main" id="{5D4A83FF-2206-8043-AB2F-011B7F84D36E}"/>
              </a:ext>
            </a:extLst>
          </p:cNvPr>
          <p:cNvPicPr>
            <a:picLocks noChangeAspect="1"/>
          </p:cNvPicPr>
          <p:nvPr/>
        </p:nvPicPr>
        <p:blipFill>
          <a:blip r:embed="rId5"/>
          <a:stretch>
            <a:fillRect/>
          </a:stretch>
        </p:blipFill>
        <p:spPr>
          <a:xfrm>
            <a:off x="602866" y="2928065"/>
            <a:ext cx="606956" cy="606956"/>
          </a:xfrm>
          <a:prstGeom prst="rect">
            <a:avLst/>
          </a:prstGeom>
        </p:spPr>
      </p:pic>
      <p:pic>
        <p:nvPicPr>
          <p:cNvPr id="23" name="Picture 22">
            <a:extLst>
              <a:ext uri="{FF2B5EF4-FFF2-40B4-BE49-F238E27FC236}">
                <a16:creationId xmlns:a16="http://schemas.microsoft.com/office/drawing/2014/main" id="{C020175F-60C7-154B-903B-310BA9069054}"/>
              </a:ext>
            </a:extLst>
          </p:cNvPr>
          <p:cNvPicPr>
            <a:picLocks noChangeAspect="1"/>
          </p:cNvPicPr>
          <p:nvPr/>
        </p:nvPicPr>
        <p:blipFill>
          <a:blip r:embed="rId6"/>
          <a:stretch>
            <a:fillRect/>
          </a:stretch>
        </p:blipFill>
        <p:spPr>
          <a:xfrm>
            <a:off x="585266" y="5134702"/>
            <a:ext cx="591815" cy="591815"/>
          </a:xfrm>
          <a:prstGeom prst="rect">
            <a:avLst/>
          </a:prstGeom>
        </p:spPr>
      </p:pic>
      <p:sp>
        <p:nvSpPr>
          <p:cNvPr id="13" name="TextBox 12">
            <a:extLst>
              <a:ext uri="{FF2B5EF4-FFF2-40B4-BE49-F238E27FC236}">
                <a16:creationId xmlns:a16="http://schemas.microsoft.com/office/drawing/2014/main" id="{ED9C71D1-AE38-DF44-804E-4DA29BD3D104}"/>
              </a:ext>
            </a:extLst>
          </p:cNvPr>
          <p:cNvSpPr txBox="1"/>
          <p:nvPr/>
        </p:nvSpPr>
        <p:spPr>
          <a:xfrm>
            <a:off x="6434206" y="2195263"/>
            <a:ext cx="5141626" cy="922368"/>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What level of data durability, data availability, and recoverability do you require? </a:t>
            </a:r>
          </a:p>
          <a:p>
            <a:pPr algn="ctr"/>
            <a:r>
              <a:rPr lang="en-US" dirty="0">
                <a:latin typeface="Amazon Ember" panose="020B0603020204020204" pitchFamily="34" charset="0"/>
                <a:ea typeface="Amazon Ember" panose="020B0603020204020204" pitchFamily="34" charset="0"/>
                <a:cs typeface="Amazon Ember" panose="020B0603020204020204" pitchFamily="34" charset="0"/>
              </a:rPr>
              <a:t>Do you have a related regulatory obligation?</a:t>
            </a:r>
          </a:p>
        </p:txBody>
      </p:sp>
      <p:pic>
        <p:nvPicPr>
          <p:cNvPr id="15" name="Picture 14">
            <a:extLst>
              <a:ext uri="{FF2B5EF4-FFF2-40B4-BE49-F238E27FC236}">
                <a16:creationId xmlns:a16="http://schemas.microsoft.com/office/drawing/2014/main" id="{4A09698C-4A72-A344-941D-F506FDE6631B}"/>
              </a:ext>
            </a:extLst>
          </p:cNvPr>
          <p:cNvPicPr>
            <a:picLocks noChangeAspect="1"/>
          </p:cNvPicPr>
          <p:nvPr/>
        </p:nvPicPr>
        <p:blipFill>
          <a:blip r:embed="rId6"/>
          <a:stretch>
            <a:fillRect/>
          </a:stretch>
        </p:blipFill>
        <p:spPr>
          <a:xfrm>
            <a:off x="8144945" y="3535021"/>
            <a:ext cx="1720147" cy="1720147"/>
          </a:xfrm>
          <a:prstGeom prst="rect">
            <a:avLst/>
          </a:prstGeom>
        </p:spPr>
      </p:pic>
    </p:spTree>
    <p:extLst>
      <p:ext uri="{BB962C8B-B14F-4D97-AF65-F5344CB8AC3E}">
        <p14:creationId xmlns:p14="http://schemas.microsoft.com/office/powerpoint/2010/main" val="257295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5B13AF6A-1210-B340-A35B-984325B31B8B}"/>
              </a:ext>
            </a:extLst>
          </p:cNvPr>
          <p:cNvCxnSpPr>
            <a:cxnSpLocks/>
          </p:cNvCxnSpPr>
          <p:nvPr/>
        </p:nvCxnSpPr>
        <p:spPr>
          <a:xfrm flipH="1" flipV="1">
            <a:off x="7821827" y="2602247"/>
            <a:ext cx="1612968" cy="160999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E8886F-49BB-9249-A367-0A8E8C2A98B9}"/>
              </a:ext>
            </a:extLst>
          </p:cNvPr>
          <p:cNvCxnSpPr>
            <a:cxnSpLocks/>
          </p:cNvCxnSpPr>
          <p:nvPr/>
        </p:nvCxnSpPr>
        <p:spPr>
          <a:xfrm flipV="1">
            <a:off x="2753444" y="2602247"/>
            <a:ext cx="1435497" cy="1391513"/>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1AEBD36-A3D0-E04C-865F-9A3468675FD9}"/>
              </a:ext>
            </a:extLst>
          </p:cNvPr>
          <p:cNvSpPr/>
          <p:nvPr/>
        </p:nvSpPr>
        <p:spPr>
          <a:xfrm>
            <a:off x="7253726" y="3548609"/>
            <a:ext cx="4362138" cy="2639572"/>
          </a:xfrm>
          <a:prstGeom prst="rect">
            <a:avLst/>
          </a:prstGeom>
          <a:solidFill>
            <a:schemeClr val="bg1"/>
          </a:solidFill>
          <a:ln w="254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accent1">
                    <a:lumMod val="75000"/>
                  </a:schemeClr>
                </a:solidFill>
                <a:latin typeface="Amazon Ember" panose="020B0603020204020204" pitchFamily="34" charset="0"/>
                <a:ea typeface="Amazon Ember" panose="020B0603020204020204" pitchFamily="34" charset="0"/>
                <a:cs typeface="Amazon Ember" panose="020B0603020204020204" pitchFamily="34" charset="0"/>
              </a:rPr>
              <a:t>Traditional examples:</a:t>
            </a:r>
          </a:p>
          <a:p>
            <a:pPr algn="ctr"/>
            <a:endParaRPr lang="en-US" sz="2000" dirty="0">
              <a:solidFill>
                <a:schemeClr val="accent1">
                  <a:lumMod val="75000"/>
                </a:schemeClr>
              </a:solidFill>
              <a:latin typeface="Amazon Ember" panose="020B0603020204020204" pitchFamily="34" charset="0"/>
              <a:ea typeface="Amazon Ember" panose="020B0603020204020204" pitchFamily="34" charset="0"/>
              <a:cs typeface="Amazon Ember" panose="020B0603020204020204" pitchFamily="34" charset="0"/>
            </a:endParaRPr>
          </a:p>
          <a:p>
            <a:pPr algn="ct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2" name="Rectangle 21">
            <a:extLst>
              <a:ext uri="{FF2B5EF4-FFF2-40B4-BE49-F238E27FC236}">
                <a16:creationId xmlns:a16="http://schemas.microsoft.com/office/drawing/2014/main" id="{9B4EA818-495C-4E4A-9357-A3074A89A620}"/>
              </a:ext>
            </a:extLst>
          </p:cNvPr>
          <p:cNvSpPr/>
          <p:nvPr/>
        </p:nvSpPr>
        <p:spPr>
          <a:xfrm>
            <a:off x="557968" y="3548609"/>
            <a:ext cx="4362138" cy="2639572"/>
          </a:xfrm>
          <a:prstGeom prst="rect">
            <a:avLst/>
          </a:prstGeom>
          <a:solidFill>
            <a:schemeClr val="bg1"/>
          </a:solidFill>
          <a:ln w="254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Database Types </a:t>
            </a:r>
          </a:p>
        </p:txBody>
      </p:sp>
      <p:sp>
        <p:nvSpPr>
          <p:cNvPr id="3" name="TextBox 2">
            <a:extLst>
              <a:ext uri="{FF2B5EF4-FFF2-40B4-BE49-F238E27FC236}">
                <a16:creationId xmlns:a16="http://schemas.microsoft.com/office/drawing/2014/main" id="{E5F4F91C-9E4C-8D40-A066-6F96E5CA7764}"/>
              </a:ext>
            </a:extLst>
          </p:cNvPr>
          <p:cNvSpPr txBox="1"/>
          <p:nvPr/>
        </p:nvSpPr>
        <p:spPr>
          <a:xfrm>
            <a:off x="2376851" y="1771250"/>
            <a:ext cx="7435122" cy="830997"/>
          </a:xfrm>
          <a:prstGeom prst="rect">
            <a:avLst/>
          </a:prstGeom>
          <a:noFill/>
        </p:spPr>
        <p:txBody>
          <a:bodyPr wrap="square" rtlCol="0">
            <a:spAutoFit/>
          </a:bodyPr>
          <a:lstStyle/>
          <a:p>
            <a:pPr algn="ctr"/>
            <a:r>
              <a:rPr lang="en-US" sz="24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Two types of database options are available for your architectures.</a:t>
            </a:r>
          </a:p>
        </p:txBody>
      </p:sp>
      <p:grpSp>
        <p:nvGrpSpPr>
          <p:cNvPr id="7" name="Group 6">
            <a:extLst>
              <a:ext uri="{FF2B5EF4-FFF2-40B4-BE49-F238E27FC236}">
                <a16:creationId xmlns:a16="http://schemas.microsoft.com/office/drawing/2014/main" id="{85292638-1114-B04C-93CD-D91C391025F0}"/>
              </a:ext>
            </a:extLst>
          </p:cNvPr>
          <p:cNvGrpSpPr/>
          <p:nvPr/>
        </p:nvGrpSpPr>
        <p:grpSpPr>
          <a:xfrm>
            <a:off x="1450660" y="3774437"/>
            <a:ext cx="9287505" cy="430887"/>
            <a:chOff x="1005892" y="3457943"/>
            <a:chExt cx="9287505" cy="430887"/>
          </a:xfrm>
        </p:grpSpPr>
        <p:sp>
          <p:nvSpPr>
            <p:cNvPr id="5" name="TextBox 4">
              <a:extLst>
                <a:ext uri="{FF2B5EF4-FFF2-40B4-BE49-F238E27FC236}">
                  <a16:creationId xmlns:a16="http://schemas.microsoft.com/office/drawing/2014/main" id="{177092C1-CAAF-2C4C-A0E7-E71F3755CD73}"/>
                </a:ext>
              </a:extLst>
            </p:cNvPr>
            <p:cNvSpPr txBox="1"/>
            <p:nvPr/>
          </p:nvSpPr>
          <p:spPr>
            <a:xfrm>
              <a:off x="1005892" y="3457943"/>
              <a:ext cx="2576757" cy="430887"/>
            </a:xfrm>
            <a:prstGeom prst="rect">
              <a:avLst/>
            </a:prstGeom>
            <a:noFill/>
          </p:spPr>
          <p:txBody>
            <a:bodyPr wrap="square" rtlCol="0">
              <a:spAutoFit/>
            </a:bodyPr>
            <a:lstStyle/>
            <a:p>
              <a:pPr algn="ctr"/>
              <a:r>
                <a:rPr lang="en-US" sz="2200" dirty="0">
                  <a:solidFill>
                    <a:schemeClr val="bg2">
                      <a:lumMod val="25000"/>
                    </a:schemeClr>
                  </a:solidFill>
                  <a:latin typeface="Amazon Ember" panose="020B0603020204020204" pitchFamily="34" charset="0"/>
                  <a:ea typeface="Amazon Ember" panose="020B0603020204020204" pitchFamily="34" charset="0"/>
                  <a:cs typeface="Amazon Ember" panose="020B0603020204020204" pitchFamily="34" charset="0"/>
                </a:rPr>
                <a:t>Relational</a:t>
              </a:r>
            </a:p>
          </p:txBody>
        </p:sp>
        <p:sp>
          <p:nvSpPr>
            <p:cNvPr id="6" name="TextBox 5">
              <a:extLst>
                <a:ext uri="{FF2B5EF4-FFF2-40B4-BE49-F238E27FC236}">
                  <a16:creationId xmlns:a16="http://schemas.microsoft.com/office/drawing/2014/main" id="{EE89A3E8-8556-6945-AE9B-35A40FB9B0C3}"/>
                </a:ext>
              </a:extLst>
            </p:cNvPr>
            <p:cNvSpPr txBox="1"/>
            <p:nvPr/>
          </p:nvSpPr>
          <p:spPr>
            <a:xfrm>
              <a:off x="7716640" y="3457943"/>
              <a:ext cx="2576757" cy="430887"/>
            </a:xfrm>
            <a:prstGeom prst="rect">
              <a:avLst/>
            </a:prstGeom>
            <a:solidFill>
              <a:schemeClr val="bg1"/>
            </a:solidFill>
          </p:spPr>
          <p:txBody>
            <a:bodyPr wrap="square" rtlCol="0">
              <a:spAutoFit/>
            </a:bodyPr>
            <a:lstStyle/>
            <a:p>
              <a:pPr algn="ctr"/>
              <a:r>
                <a:rPr lang="en-US" sz="2200" dirty="0">
                  <a:solidFill>
                    <a:schemeClr val="bg2">
                      <a:lumMod val="25000"/>
                    </a:schemeClr>
                  </a:solidFill>
                  <a:latin typeface="Amazon Ember" panose="020B0603020204020204" pitchFamily="34" charset="0"/>
                  <a:ea typeface="Amazon Ember" panose="020B0603020204020204" pitchFamily="34" charset="0"/>
                  <a:cs typeface="Amazon Ember" panose="020B0603020204020204" pitchFamily="34" charset="0"/>
                </a:rPr>
                <a:t>Nonrelational</a:t>
              </a:r>
            </a:p>
          </p:txBody>
        </p:sp>
      </p:grpSp>
      <p:sp>
        <p:nvSpPr>
          <p:cNvPr id="8" name="TextBox 7">
            <a:extLst>
              <a:ext uri="{FF2B5EF4-FFF2-40B4-BE49-F238E27FC236}">
                <a16:creationId xmlns:a16="http://schemas.microsoft.com/office/drawing/2014/main" id="{1A7A4785-8829-534F-AECF-C90B8B7A1992}"/>
              </a:ext>
            </a:extLst>
          </p:cNvPr>
          <p:cNvSpPr txBox="1"/>
          <p:nvPr/>
        </p:nvSpPr>
        <p:spPr>
          <a:xfrm>
            <a:off x="797809" y="4355339"/>
            <a:ext cx="3882453" cy="1631216"/>
          </a:xfrm>
          <a:prstGeom prst="rect">
            <a:avLst/>
          </a:prstGeom>
          <a:noFill/>
        </p:spPr>
        <p:txBody>
          <a:bodyPr wrap="square" rtlCol="0">
            <a:spAutoFit/>
          </a:bodyPr>
          <a:lstStyle/>
          <a:p>
            <a:pPr algn="ctr"/>
            <a:r>
              <a:rPr lang="en-US" sz="2000" dirty="0">
                <a:solidFill>
                  <a:schemeClr val="accent1">
                    <a:lumMod val="75000"/>
                  </a:schemeClr>
                </a:solidFill>
                <a:latin typeface="Amazon Ember" panose="020B0603020204020204" pitchFamily="34" charset="0"/>
                <a:ea typeface="Amazon Ember" panose="020B0603020204020204" pitchFamily="34" charset="0"/>
                <a:cs typeface="Amazon Ember" panose="020B0603020204020204" pitchFamily="34" charset="0"/>
              </a:rPr>
              <a:t>Traditional examples:</a:t>
            </a:r>
          </a:p>
          <a:p>
            <a:pPr algn="ctr"/>
            <a:endParaRPr lang="en-US" sz="2000" dirty="0">
              <a:solidFill>
                <a:schemeClr val="accent1">
                  <a:lumMod val="75000"/>
                </a:schemeClr>
              </a:solidFill>
              <a:latin typeface="Amazon Ember" panose="020B0603020204020204" pitchFamily="34" charset="0"/>
              <a:ea typeface="Amazon Ember" panose="020B0603020204020204" pitchFamily="34" charset="0"/>
              <a:cs typeface="Amazon Ember" panose="020B0603020204020204" pitchFamily="34" charset="0"/>
            </a:endParaRPr>
          </a:p>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Microsoft SQL Server</a:t>
            </a:r>
          </a:p>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Oracle Database,</a:t>
            </a:r>
          </a:p>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MySQL</a:t>
            </a:r>
          </a:p>
        </p:txBody>
      </p:sp>
      <p:sp>
        <p:nvSpPr>
          <p:cNvPr id="11" name="TextBox 10">
            <a:extLst>
              <a:ext uri="{FF2B5EF4-FFF2-40B4-BE49-F238E27FC236}">
                <a16:creationId xmlns:a16="http://schemas.microsoft.com/office/drawing/2014/main" id="{52AEB85E-DCAA-D244-8870-81F50BEF3D41}"/>
              </a:ext>
            </a:extLst>
          </p:cNvPr>
          <p:cNvSpPr txBox="1"/>
          <p:nvPr/>
        </p:nvSpPr>
        <p:spPr>
          <a:xfrm>
            <a:off x="7522965" y="4893948"/>
            <a:ext cx="3882453" cy="1015663"/>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MongoDB</a:t>
            </a:r>
          </a:p>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Cassandra</a:t>
            </a:r>
          </a:p>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Redis</a:t>
            </a:r>
          </a:p>
        </p:txBody>
      </p:sp>
    </p:spTree>
    <p:extLst>
      <p:ext uri="{BB962C8B-B14F-4D97-AF65-F5344CB8AC3E}">
        <p14:creationId xmlns:p14="http://schemas.microsoft.com/office/powerpoint/2010/main" val="160610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Database Type: Relational</a:t>
            </a:r>
          </a:p>
        </p:txBody>
      </p:sp>
      <p:graphicFrame>
        <p:nvGraphicFramePr>
          <p:cNvPr id="5" name="Table 4">
            <a:extLst>
              <a:ext uri="{FF2B5EF4-FFF2-40B4-BE49-F238E27FC236}">
                <a16:creationId xmlns:a16="http://schemas.microsoft.com/office/drawing/2014/main" id="{D48F037E-4E80-2A42-A9B2-8C7284B747D6}"/>
              </a:ext>
            </a:extLst>
          </p:cNvPr>
          <p:cNvGraphicFramePr>
            <a:graphicFrameLocks noGrp="1"/>
          </p:cNvGraphicFramePr>
          <p:nvPr>
            <p:extLst>
              <p:ext uri="{D42A27DB-BD31-4B8C-83A1-F6EECF244321}">
                <p14:modId xmlns:p14="http://schemas.microsoft.com/office/powerpoint/2010/main" val="2194564771"/>
              </p:ext>
            </p:extLst>
          </p:nvPr>
        </p:nvGraphicFramePr>
        <p:xfrm>
          <a:off x="1282131" y="1764690"/>
          <a:ext cx="7381421" cy="1309652"/>
        </p:xfrm>
        <a:graphic>
          <a:graphicData uri="http://schemas.openxmlformats.org/drawingml/2006/table">
            <a:tbl>
              <a:tblPr firstRow="1" bandRow="1">
                <a:tableStyleId>{21E4AEA4-8DFA-4A89-87EB-49C32662AFE0}</a:tableStyleId>
              </a:tblPr>
              <a:tblGrid>
                <a:gridCol w="2296692">
                  <a:extLst>
                    <a:ext uri="{9D8B030D-6E8A-4147-A177-3AD203B41FA5}">
                      <a16:colId xmlns:a16="http://schemas.microsoft.com/office/drawing/2014/main" val="20000"/>
                    </a:ext>
                  </a:extLst>
                </a:gridCol>
                <a:gridCol w="2304842">
                  <a:extLst>
                    <a:ext uri="{9D8B030D-6E8A-4147-A177-3AD203B41FA5}">
                      <a16:colId xmlns:a16="http://schemas.microsoft.com/office/drawing/2014/main" val="20001"/>
                    </a:ext>
                  </a:extLst>
                </a:gridCol>
                <a:gridCol w="1266786">
                  <a:extLst>
                    <a:ext uri="{9D8B030D-6E8A-4147-A177-3AD203B41FA5}">
                      <a16:colId xmlns:a16="http://schemas.microsoft.com/office/drawing/2014/main" val="20002"/>
                    </a:ext>
                  </a:extLst>
                </a:gridCol>
                <a:gridCol w="1513101">
                  <a:extLst>
                    <a:ext uri="{9D8B030D-6E8A-4147-A177-3AD203B41FA5}">
                      <a16:colId xmlns:a16="http://schemas.microsoft.com/office/drawing/2014/main" val="20003"/>
                    </a:ext>
                  </a:extLst>
                </a:gridCol>
              </a:tblGrid>
              <a:tr h="539484">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ISBN</a:t>
                      </a:r>
                    </a:p>
                  </a:txBody>
                  <a:tcPr marL="121920" marR="121920" marT="60960" marB="60960" anchor="ctr">
                    <a:solidFill>
                      <a:srgbClr val="4F81BD"/>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Title</a:t>
                      </a:r>
                    </a:p>
                  </a:txBody>
                  <a:tcPr marL="121920" marR="121920" marT="60960" marB="60960" anchor="ctr">
                    <a:solidFill>
                      <a:srgbClr val="4F81BD"/>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Author</a:t>
                      </a:r>
                    </a:p>
                  </a:txBody>
                  <a:tcPr marL="121920" marR="121920" marT="60960" marB="60960" anchor="ctr">
                    <a:solidFill>
                      <a:srgbClr val="4F81BD"/>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Format</a:t>
                      </a:r>
                    </a:p>
                  </a:txBody>
                  <a:tcPr marL="121920" marR="121920" marT="60960" marB="60960" anchor="ctr">
                    <a:solidFill>
                      <a:srgbClr val="4F81BD"/>
                    </a:solidFill>
                  </a:tcPr>
                </a:tc>
                <a:extLst>
                  <a:ext uri="{0D108BD9-81ED-4DB2-BD59-A6C34878D82A}">
                    <a16:rowId xmlns:a16="http://schemas.microsoft.com/office/drawing/2014/main" val="10000"/>
                  </a:ext>
                </a:extLst>
              </a:tr>
              <a:tr h="770168">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9182932465265</a:t>
                      </a:r>
                    </a:p>
                  </a:txBody>
                  <a:tcPr marL="121920" marR="121920" marT="60960" marB="60960" anchor="ctr">
                    <a:solidFill>
                      <a:schemeClr val="tx2">
                        <a:lumMod val="20000"/>
                        <a:lumOff val="80000"/>
                      </a:schemeClr>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Cloud Computing</a:t>
                      </a:r>
                      <a:r>
                        <a:rPr lang="en-US" sz="2000" baseline="0" dirty="0">
                          <a:latin typeface="Amazon Ember" panose="020B0603020204020204" pitchFamily="34" charset="0"/>
                          <a:ea typeface="Amazon Ember" panose="020B0603020204020204" pitchFamily="34" charset="0"/>
                          <a:cs typeface="Amazon Ember" panose="020B0603020204020204" pitchFamily="34" charset="0"/>
                        </a:rPr>
                        <a:t> Concepts</a:t>
                      </a: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a:txBody>
                  <a:tcPr marL="121920" marR="121920" marT="60960" marB="60960" anchor="ctr">
                    <a:solidFill>
                      <a:schemeClr val="tx2">
                        <a:lumMod val="20000"/>
                        <a:lumOff val="80000"/>
                      </a:schemeClr>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Wilson, Joe</a:t>
                      </a:r>
                    </a:p>
                  </a:txBody>
                  <a:tcPr marL="121920" marR="121920" marT="60960" marB="60960" anchor="ctr">
                    <a:solidFill>
                      <a:schemeClr val="tx2">
                        <a:lumMod val="20000"/>
                        <a:lumOff val="80000"/>
                      </a:schemeClr>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Paperback</a:t>
                      </a:r>
                    </a:p>
                  </a:txBody>
                  <a:tcPr marL="121920" marR="121920" marT="60960" marB="60960" anchor="ctr">
                    <a:solidFill>
                      <a:schemeClr val="tx2">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19C8176E-272C-B244-9BFC-2BF0A522E0BD}"/>
              </a:ext>
            </a:extLst>
          </p:cNvPr>
          <p:cNvGraphicFramePr>
            <a:graphicFrameLocks noGrp="1"/>
          </p:cNvGraphicFramePr>
          <p:nvPr>
            <p:extLst>
              <p:ext uri="{D42A27DB-BD31-4B8C-83A1-F6EECF244321}">
                <p14:modId xmlns:p14="http://schemas.microsoft.com/office/powerpoint/2010/main" val="2398781890"/>
              </p:ext>
            </p:extLst>
          </p:nvPr>
        </p:nvGraphicFramePr>
        <p:xfrm>
          <a:off x="460015" y="4408370"/>
          <a:ext cx="5506834" cy="1309652"/>
        </p:xfrm>
        <a:graphic>
          <a:graphicData uri="http://schemas.openxmlformats.org/drawingml/2006/table">
            <a:tbl>
              <a:tblPr firstRow="1" bandRow="1">
                <a:tableStyleId>{21E4AEA4-8DFA-4A89-87EB-49C32662AFE0}</a:tableStyleId>
              </a:tblPr>
              <a:tblGrid>
                <a:gridCol w="2155216">
                  <a:extLst>
                    <a:ext uri="{9D8B030D-6E8A-4147-A177-3AD203B41FA5}">
                      <a16:colId xmlns:a16="http://schemas.microsoft.com/office/drawing/2014/main" val="20000"/>
                    </a:ext>
                  </a:extLst>
                </a:gridCol>
                <a:gridCol w="2162865">
                  <a:extLst>
                    <a:ext uri="{9D8B030D-6E8A-4147-A177-3AD203B41FA5}">
                      <a16:colId xmlns:a16="http://schemas.microsoft.com/office/drawing/2014/main" val="20001"/>
                    </a:ext>
                  </a:extLst>
                </a:gridCol>
                <a:gridCol w="1188753">
                  <a:extLst>
                    <a:ext uri="{9D8B030D-6E8A-4147-A177-3AD203B41FA5}">
                      <a16:colId xmlns:a16="http://schemas.microsoft.com/office/drawing/2014/main" val="20002"/>
                    </a:ext>
                  </a:extLst>
                </a:gridCol>
              </a:tblGrid>
              <a:tr h="539484">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Sales</a:t>
                      </a:r>
                    </a:p>
                  </a:txBody>
                  <a:tcPr marL="121920" marR="121920" marT="60960" marB="60960" anchor="ctr">
                    <a:solidFill>
                      <a:srgbClr val="4F81BD"/>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Revenue</a:t>
                      </a:r>
                    </a:p>
                  </a:txBody>
                  <a:tcPr marL="121920" marR="121920" marT="60960" marB="60960" anchor="ctr">
                    <a:solidFill>
                      <a:srgbClr val="4F81BD"/>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Author</a:t>
                      </a:r>
                    </a:p>
                  </a:txBody>
                  <a:tcPr marL="121920" marR="121920" marT="60960" marB="60960" anchor="ctr">
                    <a:solidFill>
                      <a:srgbClr val="4F81BD"/>
                    </a:solidFill>
                  </a:tcPr>
                </a:tc>
                <a:extLst>
                  <a:ext uri="{0D108BD9-81ED-4DB2-BD59-A6C34878D82A}">
                    <a16:rowId xmlns:a16="http://schemas.microsoft.com/office/drawing/2014/main" val="10000"/>
                  </a:ext>
                </a:extLst>
              </a:tr>
              <a:tr h="770168">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1143</a:t>
                      </a:r>
                    </a:p>
                  </a:txBody>
                  <a:tcPr marL="121920" marR="121920" marT="60960" marB="60960" anchor="ctr">
                    <a:solidFill>
                      <a:schemeClr val="tx2">
                        <a:lumMod val="20000"/>
                        <a:lumOff val="80000"/>
                      </a:schemeClr>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10503</a:t>
                      </a:r>
                    </a:p>
                  </a:txBody>
                  <a:tcPr marL="121920" marR="121920" marT="60960" marB="60960" anchor="ctr">
                    <a:solidFill>
                      <a:schemeClr val="tx2">
                        <a:lumMod val="20000"/>
                        <a:lumOff val="80000"/>
                      </a:schemeClr>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Wilson, Joe</a:t>
                      </a:r>
                    </a:p>
                  </a:txBody>
                  <a:tcPr marL="121920" marR="121920" marT="60960" marB="60960" anchor="ctr">
                    <a:solidFill>
                      <a:schemeClr val="tx2">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1" name="Table 10">
            <a:extLst>
              <a:ext uri="{FF2B5EF4-FFF2-40B4-BE49-F238E27FC236}">
                <a16:creationId xmlns:a16="http://schemas.microsoft.com/office/drawing/2014/main" id="{DF3CB397-DD32-3A44-B669-75956BF84579}"/>
              </a:ext>
            </a:extLst>
          </p:cNvPr>
          <p:cNvGraphicFramePr>
            <a:graphicFrameLocks noGrp="1"/>
          </p:cNvGraphicFramePr>
          <p:nvPr>
            <p:extLst>
              <p:ext uri="{D42A27DB-BD31-4B8C-83A1-F6EECF244321}">
                <p14:modId xmlns:p14="http://schemas.microsoft.com/office/powerpoint/2010/main" val="2507775397"/>
              </p:ext>
            </p:extLst>
          </p:nvPr>
        </p:nvGraphicFramePr>
        <p:xfrm>
          <a:off x="7470182" y="4381697"/>
          <a:ext cx="4525295" cy="1309652"/>
        </p:xfrm>
        <a:graphic>
          <a:graphicData uri="http://schemas.openxmlformats.org/drawingml/2006/table">
            <a:tbl>
              <a:tblPr firstRow="1" bandRow="1">
                <a:tableStyleId>{21E4AEA4-8DFA-4A89-87EB-49C32662AFE0}</a:tableStyleId>
              </a:tblPr>
              <a:tblGrid>
                <a:gridCol w="2228967">
                  <a:extLst>
                    <a:ext uri="{9D8B030D-6E8A-4147-A177-3AD203B41FA5}">
                      <a16:colId xmlns:a16="http://schemas.microsoft.com/office/drawing/2014/main" val="20000"/>
                    </a:ext>
                  </a:extLst>
                </a:gridCol>
                <a:gridCol w="2296328">
                  <a:extLst>
                    <a:ext uri="{9D8B030D-6E8A-4147-A177-3AD203B41FA5}">
                      <a16:colId xmlns:a16="http://schemas.microsoft.com/office/drawing/2014/main" val="20001"/>
                    </a:ext>
                  </a:extLst>
                </a:gridCol>
              </a:tblGrid>
              <a:tr h="637973">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Author</a:t>
                      </a:r>
                    </a:p>
                  </a:txBody>
                  <a:tcPr marL="121920" marR="121920" marT="60960" marB="60960" anchor="ctr">
                    <a:solidFill>
                      <a:srgbClr val="4F81BD"/>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AccountNumber</a:t>
                      </a:r>
                    </a:p>
                  </a:txBody>
                  <a:tcPr marL="121920" marR="121920" marT="60960" marB="60960" anchor="ctr">
                    <a:solidFill>
                      <a:srgbClr val="4F81BD"/>
                    </a:solidFill>
                  </a:tcPr>
                </a:tc>
                <a:extLst>
                  <a:ext uri="{0D108BD9-81ED-4DB2-BD59-A6C34878D82A}">
                    <a16:rowId xmlns:a16="http://schemas.microsoft.com/office/drawing/2014/main" val="10000"/>
                  </a:ext>
                </a:extLst>
              </a:tr>
              <a:tr h="671679">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Wilson, Joe</a:t>
                      </a:r>
                    </a:p>
                  </a:txBody>
                  <a:tcPr marL="121920" marR="121920" marT="60960" marB="60960" anchor="ctr">
                    <a:solidFill>
                      <a:schemeClr val="tx2">
                        <a:lumMod val="20000"/>
                        <a:lumOff val="80000"/>
                      </a:schemeClr>
                    </a:solidFill>
                  </a:tcPr>
                </a:tc>
                <a:tc>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8017330011</a:t>
                      </a:r>
                    </a:p>
                  </a:txBody>
                  <a:tcPr marL="121920" marR="121920" marT="60960" marB="60960" anchor="ctr">
                    <a:solidFill>
                      <a:schemeClr val="tx2">
                        <a:lumMod val="20000"/>
                        <a:lumOff val="80000"/>
                      </a:schemeClr>
                    </a:solidFill>
                  </a:tcPr>
                </a:tc>
                <a:extLst>
                  <a:ext uri="{0D108BD9-81ED-4DB2-BD59-A6C34878D82A}">
                    <a16:rowId xmlns:a16="http://schemas.microsoft.com/office/drawing/2014/main" val="10001"/>
                  </a:ext>
                </a:extLst>
              </a:tr>
            </a:tbl>
          </a:graphicData>
        </a:graphic>
      </p:graphicFrame>
      <p:cxnSp>
        <p:nvCxnSpPr>
          <p:cNvPr id="18" name="Straight Arrow Connector 17">
            <a:extLst>
              <a:ext uri="{FF2B5EF4-FFF2-40B4-BE49-F238E27FC236}">
                <a16:creationId xmlns:a16="http://schemas.microsoft.com/office/drawing/2014/main" id="{8C7020B3-42C3-2A4B-9087-FC70120D7B6E}"/>
              </a:ext>
            </a:extLst>
          </p:cNvPr>
          <p:cNvCxnSpPr/>
          <p:nvPr/>
        </p:nvCxnSpPr>
        <p:spPr>
          <a:xfrm>
            <a:off x="5966848" y="4695986"/>
            <a:ext cx="150333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F8C3A7-1B02-7948-A171-57CABA0BB728}"/>
              </a:ext>
            </a:extLst>
          </p:cNvPr>
          <p:cNvCxnSpPr/>
          <p:nvPr/>
        </p:nvCxnSpPr>
        <p:spPr>
          <a:xfrm flipH="1" flipV="1">
            <a:off x="6718515" y="3074342"/>
            <a:ext cx="1433593" cy="13073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383FB56-7D7C-8F42-BE94-46C13F6BED68}"/>
              </a:ext>
            </a:extLst>
          </p:cNvPr>
          <p:cNvCxnSpPr/>
          <p:nvPr/>
        </p:nvCxnSpPr>
        <p:spPr>
          <a:xfrm flipH="1">
            <a:off x="5439905" y="3074342"/>
            <a:ext cx="1100380" cy="13073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0126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Database Type: Relational</a:t>
            </a:r>
          </a:p>
        </p:txBody>
      </p:sp>
      <p:sp>
        <p:nvSpPr>
          <p:cNvPr id="3" name="TextBox 2">
            <a:extLst>
              <a:ext uri="{FF2B5EF4-FFF2-40B4-BE49-F238E27FC236}">
                <a16:creationId xmlns:a16="http://schemas.microsoft.com/office/drawing/2014/main" id="{9F40FE5F-612D-9C4C-8DA9-8E4C00EDB543}"/>
              </a:ext>
            </a:extLst>
          </p:cNvPr>
          <p:cNvSpPr txBox="1"/>
          <p:nvPr/>
        </p:nvSpPr>
        <p:spPr>
          <a:xfrm>
            <a:off x="759416" y="1969151"/>
            <a:ext cx="10534660" cy="3693319"/>
          </a:xfrm>
          <a:prstGeom prst="rect">
            <a:avLst/>
          </a:prstGeom>
          <a:noFill/>
        </p:spPr>
        <p:txBody>
          <a:bodyPr wrap="square" rtlCol="0">
            <a:spAutoFit/>
          </a:bodyPr>
          <a:lstStyle/>
          <a:p>
            <a:r>
              <a:rPr lang="en-US" sz="2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When to choose a relational database:</a:t>
            </a:r>
          </a:p>
          <a:p>
            <a:endParaRPr lang="en-US" sz="2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799596" lvl="1" indent="-342900">
              <a:buClr>
                <a:schemeClr val="tx1">
                  <a:lumMod val="85000"/>
                  <a:lumOff val="15000"/>
                </a:schemeClr>
              </a:buClr>
              <a:buFont typeface="Arial" panose="020B0604020202020204" pitchFamily="34" charset="0"/>
              <a:buChar char="•"/>
            </a:pPr>
            <a:r>
              <a:rPr lang="en-US" sz="26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You require strict schema rules and data quality enforcement</a:t>
            </a:r>
          </a:p>
          <a:p>
            <a:pPr>
              <a:buClr>
                <a:schemeClr val="tx1">
                  <a:lumMod val="85000"/>
                  <a:lumOff val="15000"/>
                </a:schemeClr>
              </a:buClr>
            </a:pPr>
            <a:endParaRPr lang="en-US" sz="26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Clr>
                <a:schemeClr val="tx1">
                  <a:lumMod val="85000"/>
                  <a:lumOff val="15000"/>
                </a:schemeClr>
              </a:buClr>
              <a:buFont typeface="Arial" panose="020B0604020202020204" pitchFamily="34" charset="0"/>
              <a:buChar char="•"/>
            </a:pPr>
            <a:r>
              <a:rPr lang="en-US" sz="26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Your database doesn’t need extreme read/write capacity</a:t>
            </a:r>
          </a:p>
          <a:p>
            <a:pPr marL="799596" lvl="1" indent="-342900">
              <a:buClr>
                <a:schemeClr val="tx1">
                  <a:lumMod val="85000"/>
                  <a:lumOff val="15000"/>
                </a:schemeClr>
              </a:buClr>
              <a:buFont typeface="Arial" panose="020B0604020202020204" pitchFamily="34" charset="0"/>
              <a:buChar char="•"/>
            </a:pPr>
            <a:endParaRPr lang="en-US" sz="26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Clr>
                <a:schemeClr val="tx1">
                  <a:lumMod val="85000"/>
                  <a:lumOff val="15000"/>
                </a:schemeClr>
              </a:buClr>
              <a:buFont typeface="Arial" panose="020B0604020202020204" pitchFamily="34" charset="0"/>
              <a:buChar char="•"/>
            </a:pPr>
            <a:r>
              <a:rPr lang="en-US" sz="26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If you have a relational dataset that does not require extreme performance, an RDBMS can be the best, lowest effort solution.</a:t>
            </a:r>
          </a:p>
          <a:p>
            <a:pPr>
              <a:buClr>
                <a:schemeClr val="accent2"/>
              </a:buClr>
            </a:pPr>
            <a:r>
              <a:rPr lang="en-US" sz="26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	</a:t>
            </a:r>
          </a:p>
        </p:txBody>
      </p:sp>
    </p:spTree>
    <p:extLst>
      <p:ext uri="{BB962C8B-B14F-4D97-AF65-F5344CB8AC3E}">
        <p14:creationId xmlns:p14="http://schemas.microsoft.com/office/powerpoint/2010/main" val="194251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Database Type: Non-Relational</a:t>
            </a:r>
          </a:p>
        </p:txBody>
      </p:sp>
      <p:sp>
        <p:nvSpPr>
          <p:cNvPr id="6" name="TextBox 5">
            <a:extLst>
              <a:ext uri="{FF2B5EF4-FFF2-40B4-BE49-F238E27FC236}">
                <a16:creationId xmlns:a16="http://schemas.microsoft.com/office/drawing/2014/main" id="{CB6B61BA-9362-C647-AA7E-F2499D4647D8}"/>
              </a:ext>
            </a:extLst>
          </p:cNvPr>
          <p:cNvSpPr txBox="1"/>
          <p:nvPr/>
        </p:nvSpPr>
        <p:spPr>
          <a:xfrm>
            <a:off x="6378766" y="3213514"/>
            <a:ext cx="4959457" cy="1661993"/>
          </a:xfrm>
          <a:prstGeom prst="rect">
            <a:avLst/>
          </a:prstGeom>
          <a:solidFill>
            <a:srgbClr val="FBEEE8"/>
          </a:solidFill>
          <a:ln w="19050">
            <a:solidFill>
              <a:schemeClr val="accent2">
                <a:lumMod val="75000"/>
              </a:schemeClr>
            </a:solidFill>
          </a:ln>
        </p:spPr>
        <p:txBody>
          <a:bodyPr wrap="square" rtlCol="0">
            <a:spAutoFit/>
          </a:bodyPr>
          <a:lstStyle/>
          <a:p>
            <a:r>
              <a:rPr lang="en-US" sz="1700" dirty="0">
                <a:latin typeface="Amazon Ember" panose="020B0603020204020204" pitchFamily="34" charset="0"/>
                <a:ea typeface="Amazon Ember" panose="020B0603020204020204" pitchFamily="34" charset="0"/>
                <a:cs typeface="Amazon Ember" panose="020B0603020204020204" pitchFamily="34" charset="0"/>
              </a:rPr>
              <a:t>{</a:t>
            </a:r>
          </a:p>
          <a:p>
            <a:r>
              <a:rPr lang="en-US" sz="1700" dirty="0">
                <a:latin typeface="Amazon Ember" panose="020B0603020204020204" pitchFamily="34" charset="0"/>
                <a:ea typeface="Amazon Ember" panose="020B0603020204020204" pitchFamily="34" charset="0"/>
                <a:cs typeface="Amazon Ember" panose="020B0603020204020204" pitchFamily="34" charset="0"/>
              </a:rPr>
              <a:t>	ISBN: 9182932465265,</a:t>
            </a:r>
          </a:p>
          <a:p>
            <a:r>
              <a:rPr lang="en-US" sz="1700" dirty="0">
                <a:latin typeface="Amazon Ember" panose="020B0603020204020204" pitchFamily="34" charset="0"/>
                <a:ea typeface="Amazon Ember" panose="020B0603020204020204" pitchFamily="34" charset="0"/>
                <a:cs typeface="Amazon Ember" panose="020B0603020204020204" pitchFamily="34" charset="0"/>
              </a:rPr>
              <a:t>	Title: “Cloud Computing Concepts”,</a:t>
            </a:r>
          </a:p>
          <a:p>
            <a:r>
              <a:rPr lang="en-US" sz="1700" dirty="0">
                <a:latin typeface="Amazon Ember" panose="020B0603020204020204" pitchFamily="34" charset="0"/>
                <a:ea typeface="Amazon Ember" panose="020B0603020204020204" pitchFamily="34" charset="0"/>
                <a:cs typeface="Amazon Ember" panose="020B0603020204020204" pitchFamily="34" charset="0"/>
              </a:rPr>
              <a:t>	Author: “Wilson, Joe”,</a:t>
            </a:r>
          </a:p>
          <a:p>
            <a:r>
              <a:rPr lang="en-US" sz="1700" dirty="0">
                <a:latin typeface="Amazon Ember" panose="020B0603020204020204" pitchFamily="34" charset="0"/>
                <a:ea typeface="Amazon Ember" panose="020B0603020204020204" pitchFamily="34" charset="0"/>
                <a:cs typeface="Amazon Ember" panose="020B0603020204020204" pitchFamily="34" charset="0"/>
              </a:rPr>
              <a:t>	Format: “Paperback”</a:t>
            </a:r>
          </a:p>
          <a:p>
            <a:r>
              <a:rPr lang="en-US" sz="1700" dirty="0">
                <a:latin typeface="Amazon Ember" panose="020B0603020204020204" pitchFamily="34" charset="0"/>
                <a:ea typeface="Amazon Ember" panose="020B0603020204020204" pitchFamily="34" charset="0"/>
                <a:cs typeface="Amazon Ember" panose="020B0603020204020204" pitchFamily="34" charset="0"/>
              </a:rPr>
              <a:t>}</a:t>
            </a:r>
          </a:p>
        </p:txBody>
      </p:sp>
      <p:grpSp>
        <p:nvGrpSpPr>
          <p:cNvPr id="20" name="Group 19">
            <a:extLst>
              <a:ext uri="{FF2B5EF4-FFF2-40B4-BE49-F238E27FC236}">
                <a16:creationId xmlns:a16="http://schemas.microsoft.com/office/drawing/2014/main" id="{E5DCBAF2-C3C7-ED47-8A8F-487053F69F16}"/>
              </a:ext>
            </a:extLst>
          </p:cNvPr>
          <p:cNvGrpSpPr/>
          <p:nvPr/>
        </p:nvGrpSpPr>
        <p:grpSpPr>
          <a:xfrm>
            <a:off x="1137320" y="2054269"/>
            <a:ext cx="9914185" cy="492443"/>
            <a:chOff x="1616554" y="1982849"/>
            <a:chExt cx="9914185" cy="492443"/>
          </a:xfrm>
        </p:grpSpPr>
        <p:sp>
          <p:nvSpPr>
            <p:cNvPr id="8" name="TextBox 7">
              <a:extLst>
                <a:ext uri="{FF2B5EF4-FFF2-40B4-BE49-F238E27FC236}">
                  <a16:creationId xmlns:a16="http://schemas.microsoft.com/office/drawing/2014/main" id="{919CE53F-7B89-1B44-81E2-05E7E6765CB8}"/>
                </a:ext>
              </a:extLst>
            </p:cNvPr>
            <p:cNvSpPr txBox="1"/>
            <p:nvPr/>
          </p:nvSpPr>
          <p:spPr>
            <a:xfrm>
              <a:off x="7144719" y="1982849"/>
              <a:ext cx="4386020" cy="492443"/>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Document</a:t>
              </a:r>
            </a:p>
          </p:txBody>
        </p:sp>
        <p:sp>
          <p:nvSpPr>
            <p:cNvPr id="9" name="TextBox 8">
              <a:extLst>
                <a:ext uri="{FF2B5EF4-FFF2-40B4-BE49-F238E27FC236}">
                  <a16:creationId xmlns:a16="http://schemas.microsoft.com/office/drawing/2014/main" id="{46EE72F6-9A69-1D44-AC14-BF4791892454}"/>
                </a:ext>
              </a:extLst>
            </p:cNvPr>
            <p:cNvSpPr txBox="1"/>
            <p:nvPr/>
          </p:nvSpPr>
          <p:spPr>
            <a:xfrm>
              <a:off x="1616554" y="1982849"/>
              <a:ext cx="4386020" cy="492443"/>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Key-Value</a:t>
              </a:r>
            </a:p>
          </p:txBody>
        </p:sp>
      </p:grpSp>
      <p:grpSp>
        <p:nvGrpSpPr>
          <p:cNvPr id="19" name="Group 18">
            <a:extLst>
              <a:ext uri="{FF2B5EF4-FFF2-40B4-BE49-F238E27FC236}">
                <a16:creationId xmlns:a16="http://schemas.microsoft.com/office/drawing/2014/main" id="{B5A39D8F-39D7-0C40-987B-4886E1661CC8}"/>
              </a:ext>
            </a:extLst>
          </p:cNvPr>
          <p:cNvGrpSpPr/>
          <p:nvPr/>
        </p:nvGrpSpPr>
        <p:grpSpPr>
          <a:xfrm>
            <a:off x="1927732" y="3315904"/>
            <a:ext cx="2805195" cy="1435680"/>
            <a:chOff x="650927" y="3314637"/>
            <a:chExt cx="2572721" cy="1316702"/>
          </a:xfrm>
        </p:grpSpPr>
        <p:sp>
          <p:nvSpPr>
            <p:cNvPr id="10" name="Rectangle 9">
              <a:extLst>
                <a:ext uri="{FF2B5EF4-FFF2-40B4-BE49-F238E27FC236}">
                  <a16:creationId xmlns:a16="http://schemas.microsoft.com/office/drawing/2014/main" id="{6FE08320-145E-624A-A35A-F6458A819FE4}"/>
                </a:ext>
              </a:extLst>
            </p:cNvPr>
            <p:cNvSpPr/>
            <p:nvPr/>
          </p:nvSpPr>
          <p:spPr>
            <a:xfrm>
              <a:off x="650929" y="3314637"/>
              <a:ext cx="681925" cy="342963"/>
            </a:xfrm>
            <a:prstGeom prst="rect">
              <a:avLst/>
            </a:prstGeom>
            <a:solidFill>
              <a:schemeClr val="accent2">
                <a:lumMod val="60000"/>
                <a:lumOff val="4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DB19C6EA-D128-D148-AD3B-61348518B209}"/>
                </a:ext>
              </a:extLst>
            </p:cNvPr>
            <p:cNvSpPr/>
            <p:nvPr/>
          </p:nvSpPr>
          <p:spPr>
            <a:xfrm>
              <a:off x="650928" y="3802670"/>
              <a:ext cx="681925" cy="342963"/>
            </a:xfrm>
            <a:prstGeom prst="rect">
              <a:avLst/>
            </a:prstGeom>
            <a:solidFill>
              <a:schemeClr val="accent2">
                <a:lumMod val="60000"/>
                <a:lumOff val="4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76E3E76-78F5-CF46-A266-F216A7F9363D}"/>
                </a:ext>
              </a:extLst>
            </p:cNvPr>
            <p:cNvSpPr/>
            <p:nvPr/>
          </p:nvSpPr>
          <p:spPr>
            <a:xfrm>
              <a:off x="650927" y="4288375"/>
              <a:ext cx="681925" cy="342963"/>
            </a:xfrm>
            <a:prstGeom prst="rect">
              <a:avLst/>
            </a:prstGeom>
            <a:solidFill>
              <a:schemeClr val="accent2">
                <a:lumMod val="60000"/>
                <a:lumOff val="4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ight Arrow 12">
              <a:extLst>
                <a:ext uri="{FF2B5EF4-FFF2-40B4-BE49-F238E27FC236}">
                  <a16:creationId xmlns:a16="http://schemas.microsoft.com/office/drawing/2014/main" id="{6A5D9A74-AB5A-054A-8DF0-02DDED4D3E85}"/>
                </a:ext>
              </a:extLst>
            </p:cNvPr>
            <p:cNvSpPr/>
            <p:nvPr/>
          </p:nvSpPr>
          <p:spPr>
            <a:xfrm>
              <a:off x="1534333" y="3370967"/>
              <a:ext cx="464949" cy="230302"/>
            </a:xfrm>
            <a:prstGeom prst="rightArrow">
              <a:avLst/>
            </a:prstGeom>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Arrow 13">
              <a:extLst>
                <a:ext uri="{FF2B5EF4-FFF2-40B4-BE49-F238E27FC236}">
                  <a16:creationId xmlns:a16="http://schemas.microsoft.com/office/drawing/2014/main" id="{7B341F89-820C-F149-AECC-D797A5EAB8C7}"/>
                </a:ext>
              </a:extLst>
            </p:cNvPr>
            <p:cNvSpPr/>
            <p:nvPr/>
          </p:nvSpPr>
          <p:spPr>
            <a:xfrm>
              <a:off x="1534333" y="3859000"/>
              <a:ext cx="464949" cy="230302"/>
            </a:xfrm>
            <a:prstGeom prst="rightArrow">
              <a:avLst/>
            </a:prstGeom>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Arrow 14">
              <a:extLst>
                <a:ext uri="{FF2B5EF4-FFF2-40B4-BE49-F238E27FC236}">
                  <a16:creationId xmlns:a16="http://schemas.microsoft.com/office/drawing/2014/main" id="{0E3478D8-BC63-1549-A42E-844B4AD6E34A}"/>
                </a:ext>
              </a:extLst>
            </p:cNvPr>
            <p:cNvSpPr/>
            <p:nvPr/>
          </p:nvSpPr>
          <p:spPr>
            <a:xfrm>
              <a:off x="1534333" y="4344705"/>
              <a:ext cx="464949" cy="230302"/>
            </a:xfrm>
            <a:prstGeom prst="rightArrow">
              <a:avLst/>
            </a:prstGeom>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9016EDD1-15B6-2F40-8A43-FA5CA6AEC3F4}"/>
                </a:ext>
              </a:extLst>
            </p:cNvPr>
            <p:cNvSpPr/>
            <p:nvPr/>
          </p:nvSpPr>
          <p:spPr>
            <a:xfrm>
              <a:off x="2200762" y="3332059"/>
              <a:ext cx="1022886" cy="325542"/>
            </a:xfrm>
            <a:prstGeom prst="rect">
              <a:avLst/>
            </a:prstGeom>
            <a:solidFill>
              <a:schemeClr val="accent6">
                <a:lumMod val="60000"/>
                <a:lumOff val="4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D06B961-019C-AB49-9704-91850919A4B1}"/>
                </a:ext>
              </a:extLst>
            </p:cNvPr>
            <p:cNvSpPr/>
            <p:nvPr/>
          </p:nvSpPr>
          <p:spPr>
            <a:xfrm>
              <a:off x="2200761" y="3820092"/>
              <a:ext cx="1022886" cy="325542"/>
            </a:xfrm>
            <a:prstGeom prst="rect">
              <a:avLst/>
            </a:prstGeom>
            <a:solidFill>
              <a:schemeClr val="accent6">
                <a:lumMod val="60000"/>
                <a:lumOff val="4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F59805C-CC83-E142-BD31-11BB9641AEB7}"/>
                </a:ext>
              </a:extLst>
            </p:cNvPr>
            <p:cNvSpPr/>
            <p:nvPr/>
          </p:nvSpPr>
          <p:spPr>
            <a:xfrm>
              <a:off x="2200760" y="4305797"/>
              <a:ext cx="1022886" cy="325542"/>
            </a:xfrm>
            <a:prstGeom prst="rect">
              <a:avLst/>
            </a:prstGeom>
            <a:solidFill>
              <a:schemeClr val="accent6">
                <a:lumMod val="60000"/>
                <a:lumOff val="4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32463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Database Type: Non-Relational</a:t>
            </a:r>
          </a:p>
        </p:txBody>
      </p:sp>
      <p:sp>
        <p:nvSpPr>
          <p:cNvPr id="3" name="TextBox 2">
            <a:extLst>
              <a:ext uri="{FF2B5EF4-FFF2-40B4-BE49-F238E27FC236}">
                <a16:creationId xmlns:a16="http://schemas.microsoft.com/office/drawing/2014/main" id="{9F40FE5F-612D-9C4C-8DA9-8E4C00EDB543}"/>
              </a:ext>
            </a:extLst>
          </p:cNvPr>
          <p:cNvSpPr txBox="1"/>
          <p:nvPr/>
        </p:nvSpPr>
        <p:spPr>
          <a:xfrm>
            <a:off x="759416" y="1968284"/>
            <a:ext cx="9810427" cy="4093428"/>
          </a:xfrm>
          <a:prstGeom prst="rect">
            <a:avLst/>
          </a:prstGeom>
          <a:noFill/>
        </p:spPr>
        <p:txBody>
          <a:bodyPr wrap="square" rtlCol="0">
            <a:spAutoFit/>
          </a:bodyPr>
          <a:lstStyle/>
          <a:p>
            <a:r>
              <a:rPr lang="en-US" sz="2600" dirty="0">
                <a:latin typeface="Amazon Ember" panose="020B0603020204020204" pitchFamily="34" charset="0"/>
                <a:ea typeface="Amazon Ember" panose="020B0603020204020204" pitchFamily="34" charset="0"/>
                <a:cs typeface="Amazon Ember" panose="020B0603020204020204" pitchFamily="34" charset="0"/>
              </a:rPr>
              <a:t>When to choose a non-relational database:</a:t>
            </a:r>
          </a:p>
          <a:p>
            <a:endParaRPr lang="en-US" sz="2600" dirty="0">
              <a:latin typeface="Amazon Ember" panose="020B0603020204020204" pitchFamily="34" charset="0"/>
              <a:ea typeface="Amazon Ember" panose="020B0603020204020204" pitchFamily="34" charset="0"/>
              <a:cs typeface="Amazon Ember" panose="020B0603020204020204" pitchFamily="34" charset="0"/>
            </a:endParaRPr>
          </a:p>
          <a:p>
            <a:pPr marL="799596" lvl="1" indent="-342900">
              <a:buClr>
                <a:schemeClr val="tx1">
                  <a:lumMod val="85000"/>
                  <a:lumOff val="15000"/>
                </a:schemeClr>
              </a:buClr>
              <a:buFont typeface="Arial" panose="020B0604020202020204" pitchFamily="34" charset="0"/>
              <a:buChar char="•"/>
            </a:pP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You need your database to scale horizontally</a:t>
            </a:r>
          </a:p>
          <a:p>
            <a:pPr marL="342900" indent="-342900">
              <a:buClr>
                <a:schemeClr val="tx1">
                  <a:lumMod val="85000"/>
                  <a:lumOff val="15000"/>
                </a:schemeClr>
              </a:buClr>
              <a:buFont typeface="Arial" panose="020B0604020202020204" pitchFamily="34" charset="0"/>
              <a:buChar char="•"/>
            </a:pPr>
            <a:endParaRPr lang="en-US" sz="26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Clr>
                <a:schemeClr val="tx1">
                  <a:lumMod val="85000"/>
                  <a:lumOff val="15000"/>
                </a:schemeClr>
              </a:buClr>
              <a:buFont typeface="Arial" panose="020B0604020202020204" pitchFamily="34" charset="0"/>
              <a:buChar char="•"/>
            </a:pP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Your data does not lend itself well to traditional schemas</a:t>
            </a:r>
          </a:p>
          <a:p>
            <a:pPr marL="799596" lvl="1" indent="-342900">
              <a:buClr>
                <a:schemeClr val="tx1">
                  <a:lumMod val="85000"/>
                  <a:lumOff val="15000"/>
                </a:schemeClr>
              </a:buClr>
              <a:buFont typeface="Arial" panose="020B0604020202020204" pitchFamily="34" charset="0"/>
              <a:buChar char="•"/>
            </a:pPr>
            <a:endParaRPr lang="en-US" sz="26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Clr>
                <a:schemeClr val="tx1">
                  <a:lumMod val="85000"/>
                  <a:lumOff val="15000"/>
                </a:schemeClr>
              </a:buClr>
              <a:buFont typeface="Arial" panose="020B0604020202020204" pitchFamily="34" charset="0"/>
              <a:buChar char="•"/>
            </a:pP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Your read/write rates exceed those that can be economically supported through traditional SQL DB</a:t>
            </a:r>
          </a:p>
          <a:p>
            <a:pPr marL="342900" indent="-342900">
              <a:buClr>
                <a:schemeClr val="accent2"/>
              </a:buClr>
              <a:buFont typeface="Arial" panose="020B0604020202020204" pitchFamily="34" charset="0"/>
              <a:buChar char="•"/>
            </a:pPr>
            <a:endParaRPr lang="en-US" sz="2600" dirty="0">
              <a:latin typeface="Amazon Ember Light" panose="020B0403020204020204" pitchFamily="34" charset="0"/>
              <a:ea typeface="Amazon Ember Light" panose="020B0403020204020204" pitchFamily="34" charset="0"/>
              <a:cs typeface="Amazon Ember Light" panose="020B0403020204020204" pitchFamily="34" charset="0"/>
            </a:endParaRPr>
          </a:p>
          <a:p>
            <a:pPr>
              <a:buClr>
                <a:schemeClr val="accent2"/>
              </a:buClr>
            </a:pP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	</a:t>
            </a:r>
          </a:p>
        </p:txBody>
      </p:sp>
    </p:spTree>
    <p:extLst>
      <p:ext uri="{BB962C8B-B14F-4D97-AF65-F5344CB8AC3E}">
        <p14:creationId xmlns:p14="http://schemas.microsoft.com/office/powerpoint/2010/main" val="1482771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a:xfrm>
            <a:off x="418991" y="263531"/>
            <a:ext cx="6845409" cy="779463"/>
          </a:xfrm>
        </p:spPr>
        <p:txBody>
          <a:bodyPr>
            <a:normAutofit fontScale="90000"/>
          </a:bodyPr>
          <a:lstStyle/>
          <a:p>
            <a:r>
              <a:rPr lang="en-US" dirty="0"/>
              <a:t>Compare and Contrast Structured Data Storage</a:t>
            </a:r>
          </a:p>
        </p:txBody>
      </p:sp>
      <p:graphicFrame>
        <p:nvGraphicFramePr>
          <p:cNvPr id="5" name="Content Placeholder 3">
            <a:extLst>
              <a:ext uri="{FF2B5EF4-FFF2-40B4-BE49-F238E27FC236}">
                <a16:creationId xmlns:a16="http://schemas.microsoft.com/office/drawing/2014/main" id="{3979B97D-FDAC-A047-A63A-0152502DF3C8}"/>
              </a:ext>
            </a:extLst>
          </p:cNvPr>
          <p:cNvGraphicFramePr>
            <a:graphicFrameLocks noGrp="1"/>
          </p:cNvGraphicFramePr>
          <p:nvPr>
            <p:ph idx="1"/>
            <p:extLst>
              <p:ext uri="{D42A27DB-BD31-4B8C-83A1-F6EECF244321}">
                <p14:modId xmlns:p14="http://schemas.microsoft.com/office/powerpoint/2010/main" val="3970730285"/>
              </p:ext>
            </p:extLst>
          </p:nvPr>
        </p:nvGraphicFramePr>
        <p:xfrm>
          <a:off x="135303" y="2152931"/>
          <a:ext cx="11012595" cy="3618280"/>
        </p:xfrm>
        <a:graphic>
          <a:graphicData uri="http://schemas.openxmlformats.org/drawingml/2006/table">
            <a:tbl>
              <a:tblPr firstRow="1" bandRow="1">
                <a:tableStyleId>{5C22544A-7EE6-4342-B048-85BDC9FD1C3A}</a:tableStyleId>
              </a:tblPr>
              <a:tblGrid>
                <a:gridCol w="2591666">
                  <a:extLst>
                    <a:ext uri="{9D8B030D-6E8A-4147-A177-3AD203B41FA5}">
                      <a16:colId xmlns:a16="http://schemas.microsoft.com/office/drawing/2014/main" val="20000"/>
                    </a:ext>
                  </a:extLst>
                </a:gridCol>
                <a:gridCol w="3620634">
                  <a:extLst>
                    <a:ext uri="{9D8B030D-6E8A-4147-A177-3AD203B41FA5}">
                      <a16:colId xmlns:a16="http://schemas.microsoft.com/office/drawing/2014/main" val="20001"/>
                    </a:ext>
                  </a:extLst>
                </a:gridCol>
                <a:gridCol w="4800295">
                  <a:extLst>
                    <a:ext uri="{9D8B030D-6E8A-4147-A177-3AD203B41FA5}">
                      <a16:colId xmlns:a16="http://schemas.microsoft.com/office/drawing/2014/main" val="20002"/>
                    </a:ext>
                  </a:extLst>
                </a:gridCol>
              </a:tblGrid>
              <a:tr h="723656">
                <a:tc>
                  <a:txBody>
                    <a:bodyPr/>
                    <a:lstStyle/>
                    <a:p>
                      <a:pPr algn="ctr"/>
                      <a:endParaRPr lang="en-US" sz="2000" b="0" i="0" dirty="0">
                        <a:latin typeface="Amazon Ember" panose="020B0603020204020204" pitchFamily="34" charset="0"/>
                        <a:ea typeface="Amazon Ember" panose="020B0603020204020204" pitchFamily="34" charset="0"/>
                        <a:cs typeface="Amazon Ember" panose="020B0603020204020204" pitchFamily="34" charset="0"/>
                      </a:endParaRPr>
                    </a:p>
                  </a:txBody>
                  <a:tcPr marL="109342" marR="109342" marT="60960" marB="6096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000" b="0" i="0" dirty="0">
                          <a:latin typeface="Amazon Ember" panose="020B0603020204020204" pitchFamily="34" charset="0"/>
                          <a:ea typeface="Amazon Ember" panose="020B0603020204020204" pitchFamily="34" charset="0"/>
                          <a:cs typeface="Amazon Ember" panose="020B0603020204020204" pitchFamily="34" charset="0"/>
                        </a:rPr>
                        <a:t>Relational</a:t>
                      </a:r>
                    </a:p>
                  </a:txBody>
                  <a:tcPr marL="109342" marR="109342" marT="60960" marB="60960" anchor="ctr">
                    <a:lnL w="12700" cmpd="sng">
                      <a:noFill/>
                    </a:lnL>
                    <a:solidFill>
                      <a:srgbClr val="4F81BD"/>
                    </a:solidFill>
                  </a:tcPr>
                </a:tc>
                <a:tc>
                  <a:txBody>
                    <a:bodyPr/>
                    <a:lstStyle/>
                    <a:p>
                      <a:pPr algn="ctr"/>
                      <a:r>
                        <a:rPr lang="en-US" sz="2000" b="0" i="0" dirty="0">
                          <a:latin typeface="Amazon Ember" panose="020B0603020204020204" pitchFamily="34" charset="0"/>
                          <a:ea typeface="Amazon Ember" panose="020B0603020204020204" pitchFamily="34" charset="0"/>
                          <a:cs typeface="Amazon Ember" panose="020B0603020204020204" pitchFamily="34" charset="0"/>
                        </a:rPr>
                        <a:t>Nonrelational</a:t>
                      </a:r>
                    </a:p>
                  </a:txBody>
                  <a:tcPr marL="109342" marR="109342" marT="60960" marB="60960" anchor="ctr">
                    <a:solidFill>
                      <a:srgbClr val="FF9900"/>
                    </a:solidFill>
                  </a:tcPr>
                </a:tc>
                <a:extLst>
                  <a:ext uri="{0D108BD9-81ED-4DB2-BD59-A6C34878D82A}">
                    <a16:rowId xmlns:a16="http://schemas.microsoft.com/office/drawing/2014/main" val="10000"/>
                  </a:ext>
                </a:extLst>
              </a:tr>
              <a:tr h="723656">
                <a:tc>
                  <a:txBody>
                    <a:bodyPr/>
                    <a:lstStyle/>
                    <a:p>
                      <a:pPr marL="0" algn="r" defTabSz="457200" rtl="0" eaLnBrk="1" latinLnBrk="0" hangingPunct="1"/>
                      <a:r>
                        <a:rPr lang="en-US" sz="2000" b="0" i="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Data Storage</a:t>
                      </a:r>
                    </a:p>
                  </a:txBody>
                  <a:tcPr marL="109342" marR="109342" marT="60960" marB="6096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Rows</a:t>
                      </a:r>
                      <a:r>
                        <a:rPr lang="en-US" sz="2000" b="0" i="0" baseline="0" dirty="0">
                          <a:latin typeface="Amazon Ember Light" panose="020B0403020204020204" pitchFamily="34" charset="0"/>
                          <a:ea typeface="Amazon Ember Light" panose="020B0403020204020204" pitchFamily="34" charset="0"/>
                          <a:cs typeface="Amazon Ember Light" panose="020B0403020204020204" pitchFamily="34" charset="0"/>
                        </a:rPr>
                        <a:t> and columns</a:t>
                      </a:r>
                      <a:endPar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09342" marR="109342" marT="60960" marB="60960" anchor="ctr">
                    <a:lnL w="12700" cmpd="sng">
                      <a:noFill/>
                    </a:lnL>
                    <a:solidFill>
                      <a:srgbClr val="CCD0DB"/>
                    </a:solidFill>
                  </a:tcPr>
                </a:tc>
                <a:tc>
                  <a:txBody>
                    <a:bodyPr/>
                    <a:lstStyle/>
                    <a:p>
                      <a:pPr algn="ct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Key</a:t>
                      </a:r>
                      <a:r>
                        <a:rPr lang="en-US" sz="2000" b="0" i="0" baseline="0" dirty="0">
                          <a:latin typeface="Amazon Ember Light" panose="020B0403020204020204" pitchFamily="34" charset="0"/>
                          <a:ea typeface="Amazon Ember Light" panose="020B0403020204020204" pitchFamily="34" charset="0"/>
                          <a:cs typeface="Amazon Ember Light" panose="020B0403020204020204" pitchFamily="34" charset="0"/>
                        </a:rPr>
                        <a:t> v</a:t>
                      </a: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alue, documents, and graphs</a:t>
                      </a:r>
                    </a:p>
                  </a:txBody>
                  <a:tcPr marL="109342" marR="109342" marT="60960" marB="60960" anchor="ctr">
                    <a:solidFill>
                      <a:schemeClr val="accent4">
                        <a:lumMod val="40000"/>
                        <a:lumOff val="60000"/>
                      </a:schemeClr>
                    </a:solidFill>
                  </a:tcPr>
                </a:tc>
                <a:extLst>
                  <a:ext uri="{0D108BD9-81ED-4DB2-BD59-A6C34878D82A}">
                    <a16:rowId xmlns:a16="http://schemas.microsoft.com/office/drawing/2014/main" val="10001"/>
                  </a:ext>
                </a:extLst>
              </a:tr>
              <a:tr h="723656">
                <a:tc>
                  <a:txBody>
                    <a:bodyPr/>
                    <a:lstStyle/>
                    <a:p>
                      <a:pPr marL="0" algn="r" defTabSz="457200" rtl="0" eaLnBrk="1" latinLnBrk="0" hangingPunct="1"/>
                      <a:r>
                        <a:rPr lang="en-US" sz="2000" b="0" i="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Schemas</a:t>
                      </a:r>
                    </a:p>
                  </a:txBody>
                  <a:tcPr marL="109342" marR="109342" marT="60960" marB="6096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Fixed </a:t>
                      </a:r>
                    </a:p>
                  </a:txBody>
                  <a:tcPr marL="109342" marR="109342" marT="60960" marB="60960" anchor="ctr">
                    <a:lnL w="12700" cmpd="sng">
                      <a:noFill/>
                    </a:lnL>
                    <a:solidFill>
                      <a:srgbClr val="E7E9EE"/>
                    </a:solidFill>
                  </a:tcPr>
                </a:tc>
                <a:tc>
                  <a:txBody>
                    <a:bodyPr/>
                    <a:lstStyle/>
                    <a:p>
                      <a:pPr algn="ct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Dynamic</a:t>
                      </a:r>
                    </a:p>
                  </a:txBody>
                  <a:tcPr marL="109342" marR="109342" marT="60960" marB="60960" anchor="ctr">
                    <a:solidFill>
                      <a:schemeClr val="accent4">
                        <a:lumMod val="20000"/>
                        <a:lumOff val="80000"/>
                      </a:schemeClr>
                    </a:solidFill>
                  </a:tcPr>
                </a:tc>
                <a:extLst>
                  <a:ext uri="{0D108BD9-81ED-4DB2-BD59-A6C34878D82A}">
                    <a16:rowId xmlns:a16="http://schemas.microsoft.com/office/drawing/2014/main" val="10002"/>
                  </a:ext>
                </a:extLst>
              </a:tr>
              <a:tr h="723656">
                <a:tc>
                  <a:txBody>
                    <a:bodyPr/>
                    <a:lstStyle/>
                    <a:p>
                      <a:pPr marL="0" algn="r" defTabSz="457200" rtl="0" eaLnBrk="1" latinLnBrk="0" hangingPunct="1"/>
                      <a:r>
                        <a:rPr lang="en-US" sz="2000" b="0" i="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Querying</a:t>
                      </a:r>
                    </a:p>
                  </a:txBody>
                  <a:tcPr marL="109342" marR="109342" marT="60960" marB="6096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SQL-based querying</a:t>
                      </a:r>
                    </a:p>
                  </a:txBody>
                  <a:tcPr marL="109342" marR="109342" marT="60960" marB="60960" anchor="ctr">
                    <a:lnL w="12700" cmpd="sng">
                      <a:noFill/>
                    </a:lnL>
                    <a:solidFill>
                      <a:srgbClr val="CCD0DB"/>
                    </a:solidFill>
                  </a:tcPr>
                </a:tc>
                <a:tc>
                  <a:txBody>
                    <a:bodyPr/>
                    <a:lstStyle/>
                    <a:p>
                      <a:pPr algn="ct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Focused on collection of documents</a:t>
                      </a:r>
                    </a:p>
                  </a:txBody>
                  <a:tcPr marL="109342" marR="109342" marT="60960" marB="60960" anchor="ctr">
                    <a:solidFill>
                      <a:schemeClr val="accent4">
                        <a:lumMod val="40000"/>
                        <a:lumOff val="60000"/>
                      </a:schemeClr>
                    </a:solidFill>
                  </a:tcPr>
                </a:tc>
                <a:extLst>
                  <a:ext uri="{0D108BD9-81ED-4DB2-BD59-A6C34878D82A}">
                    <a16:rowId xmlns:a16="http://schemas.microsoft.com/office/drawing/2014/main" val="10003"/>
                  </a:ext>
                </a:extLst>
              </a:tr>
              <a:tr h="723656">
                <a:tc>
                  <a:txBody>
                    <a:bodyPr/>
                    <a:lstStyle/>
                    <a:p>
                      <a:pPr marL="0" algn="r" defTabSz="457200" rtl="0" eaLnBrk="1" latinLnBrk="0" hangingPunct="1"/>
                      <a:r>
                        <a:rPr lang="en-US" sz="2000" b="0" i="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Scalability</a:t>
                      </a:r>
                    </a:p>
                  </a:txBody>
                  <a:tcPr marL="109342" marR="109342" marT="60960" marB="6096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Vertical</a:t>
                      </a:r>
                    </a:p>
                  </a:txBody>
                  <a:tcPr marL="109342" marR="109342" marT="60960" marB="60960" anchor="ctr">
                    <a:lnL w="12700" cmpd="sng">
                      <a:noFill/>
                    </a:lnL>
                    <a:solidFill>
                      <a:srgbClr val="E7E9EE"/>
                    </a:solidFill>
                  </a:tcPr>
                </a:tc>
                <a:tc>
                  <a:txBody>
                    <a:bodyPr/>
                    <a:lstStyle/>
                    <a:p>
                      <a:pPr algn="ctr"/>
                      <a:r>
                        <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rPr>
                        <a:t>Horizontal</a:t>
                      </a:r>
                    </a:p>
                  </a:txBody>
                  <a:tcPr marL="109342" marR="109342" marT="60960" marB="60960" anchor="c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1198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Unmanaged Databases</a:t>
            </a:r>
          </a:p>
        </p:txBody>
      </p:sp>
      <p:sp>
        <p:nvSpPr>
          <p:cNvPr id="5" name="Rounded Rectangle 4">
            <a:extLst>
              <a:ext uri="{FF2B5EF4-FFF2-40B4-BE49-F238E27FC236}">
                <a16:creationId xmlns:a16="http://schemas.microsoft.com/office/drawing/2014/main" id="{61355E13-650A-EE40-A835-B1E66C53E819}"/>
              </a:ext>
            </a:extLst>
          </p:cNvPr>
          <p:cNvSpPr/>
          <p:nvPr/>
        </p:nvSpPr>
        <p:spPr>
          <a:xfrm>
            <a:off x="1847607" y="5226936"/>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Power, HVAC, net</a:t>
            </a:r>
          </a:p>
        </p:txBody>
      </p:sp>
      <p:sp>
        <p:nvSpPr>
          <p:cNvPr id="6" name="Rounded Rectangle 5">
            <a:extLst>
              <a:ext uri="{FF2B5EF4-FFF2-40B4-BE49-F238E27FC236}">
                <a16:creationId xmlns:a16="http://schemas.microsoft.com/office/drawing/2014/main" id="{5A75B329-B11E-984D-8CD9-DD8AD4702010}"/>
              </a:ext>
            </a:extLst>
          </p:cNvPr>
          <p:cNvSpPr/>
          <p:nvPr/>
        </p:nvSpPr>
        <p:spPr>
          <a:xfrm>
            <a:off x="1847607" y="4861099"/>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Rack and stack</a:t>
            </a:r>
          </a:p>
        </p:txBody>
      </p:sp>
      <p:sp>
        <p:nvSpPr>
          <p:cNvPr id="7" name="Rounded Rectangle 6">
            <a:extLst>
              <a:ext uri="{FF2B5EF4-FFF2-40B4-BE49-F238E27FC236}">
                <a16:creationId xmlns:a16="http://schemas.microsoft.com/office/drawing/2014/main" id="{1B4FD63F-7BA4-D549-BF22-4F6FC560165D}"/>
              </a:ext>
            </a:extLst>
          </p:cNvPr>
          <p:cNvSpPr/>
          <p:nvPr/>
        </p:nvSpPr>
        <p:spPr>
          <a:xfrm>
            <a:off x="1847607" y="4467502"/>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Server maintenance</a:t>
            </a:r>
          </a:p>
        </p:txBody>
      </p:sp>
      <p:sp>
        <p:nvSpPr>
          <p:cNvPr id="8" name="Rounded Rectangle 7">
            <a:extLst>
              <a:ext uri="{FF2B5EF4-FFF2-40B4-BE49-F238E27FC236}">
                <a16:creationId xmlns:a16="http://schemas.microsoft.com/office/drawing/2014/main" id="{5B4440CF-7955-544F-8F80-ABC20469B3FF}"/>
              </a:ext>
            </a:extLst>
          </p:cNvPr>
          <p:cNvSpPr/>
          <p:nvPr/>
        </p:nvSpPr>
        <p:spPr>
          <a:xfrm>
            <a:off x="1847607" y="3713051"/>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OS patches</a:t>
            </a:r>
          </a:p>
        </p:txBody>
      </p:sp>
      <p:sp>
        <p:nvSpPr>
          <p:cNvPr id="9" name="Rounded Rectangle 8">
            <a:extLst>
              <a:ext uri="{FF2B5EF4-FFF2-40B4-BE49-F238E27FC236}">
                <a16:creationId xmlns:a16="http://schemas.microsoft.com/office/drawing/2014/main" id="{30F11C1E-4B3C-3A43-A8C9-B79A34AAF52B}"/>
              </a:ext>
            </a:extLst>
          </p:cNvPr>
          <p:cNvSpPr/>
          <p:nvPr/>
        </p:nvSpPr>
        <p:spPr>
          <a:xfrm>
            <a:off x="1847607" y="3000231"/>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DB s/w patches</a:t>
            </a:r>
          </a:p>
        </p:txBody>
      </p:sp>
      <p:sp>
        <p:nvSpPr>
          <p:cNvPr id="10" name="Rounded Rectangle 9">
            <a:extLst>
              <a:ext uri="{FF2B5EF4-FFF2-40B4-BE49-F238E27FC236}">
                <a16:creationId xmlns:a16="http://schemas.microsoft.com/office/drawing/2014/main" id="{478A7154-1603-5343-8B62-67A59B526AEF}"/>
              </a:ext>
            </a:extLst>
          </p:cNvPr>
          <p:cNvSpPr/>
          <p:nvPr/>
        </p:nvSpPr>
        <p:spPr>
          <a:xfrm>
            <a:off x="1847607" y="2648267"/>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Database backups</a:t>
            </a:r>
          </a:p>
        </p:txBody>
      </p:sp>
      <p:sp>
        <p:nvSpPr>
          <p:cNvPr id="11" name="Rounded Rectangle 10">
            <a:extLst>
              <a:ext uri="{FF2B5EF4-FFF2-40B4-BE49-F238E27FC236}">
                <a16:creationId xmlns:a16="http://schemas.microsoft.com/office/drawing/2014/main" id="{9B0F1CCF-7DCA-7042-B128-CF8BA8891234}"/>
              </a:ext>
            </a:extLst>
          </p:cNvPr>
          <p:cNvSpPr/>
          <p:nvPr/>
        </p:nvSpPr>
        <p:spPr>
          <a:xfrm>
            <a:off x="1847607" y="1949327"/>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Scaling</a:t>
            </a:r>
          </a:p>
        </p:txBody>
      </p:sp>
      <p:sp>
        <p:nvSpPr>
          <p:cNvPr id="12" name="Rounded Rectangle 11">
            <a:extLst>
              <a:ext uri="{FF2B5EF4-FFF2-40B4-BE49-F238E27FC236}">
                <a16:creationId xmlns:a16="http://schemas.microsoft.com/office/drawing/2014/main" id="{632F792B-0278-494A-86F8-01285ED78362}"/>
              </a:ext>
            </a:extLst>
          </p:cNvPr>
          <p:cNvSpPr/>
          <p:nvPr/>
        </p:nvSpPr>
        <p:spPr>
          <a:xfrm>
            <a:off x="1847607" y="2296306"/>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High availability</a:t>
            </a:r>
          </a:p>
        </p:txBody>
      </p:sp>
      <p:sp>
        <p:nvSpPr>
          <p:cNvPr id="13" name="Rounded Rectangle 12">
            <a:extLst>
              <a:ext uri="{FF2B5EF4-FFF2-40B4-BE49-F238E27FC236}">
                <a16:creationId xmlns:a16="http://schemas.microsoft.com/office/drawing/2014/main" id="{A8A66C68-59F1-3440-A0B7-5E0B5EFD2F8A}"/>
              </a:ext>
            </a:extLst>
          </p:cNvPr>
          <p:cNvSpPr/>
          <p:nvPr/>
        </p:nvSpPr>
        <p:spPr>
          <a:xfrm>
            <a:off x="1847607" y="3356100"/>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DB s/w installs</a:t>
            </a:r>
          </a:p>
        </p:txBody>
      </p:sp>
      <p:sp>
        <p:nvSpPr>
          <p:cNvPr id="14" name="Rounded Rectangle 13">
            <a:extLst>
              <a:ext uri="{FF2B5EF4-FFF2-40B4-BE49-F238E27FC236}">
                <a16:creationId xmlns:a16="http://schemas.microsoft.com/office/drawing/2014/main" id="{AE37428F-A141-7C49-86B0-CDBC59A41971}"/>
              </a:ext>
            </a:extLst>
          </p:cNvPr>
          <p:cNvSpPr/>
          <p:nvPr/>
        </p:nvSpPr>
        <p:spPr>
          <a:xfrm>
            <a:off x="1847607" y="4082799"/>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OS installation</a:t>
            </a:r>
          </a:p>
        </p:txBody>
      </p:sp>
      <p:sp>
        <p:nvSpPr>
          <p:cNvPr id="15" name="Rounded Rectangle 14">
            <a:extLst>
              <a:ext uri="{FF2B5EF4-FFF2-40B4-BE49-F238E27FC236}">
                <a16:creationId xmlns:a16="http://schemas.microsoft.com/office/drawing/2014/main" id="{B9C3F82A-AFCD-C64A-A94E-4B6EA39549D8}"/>
              </a:ext>
            </a:extLst>
          </p:cNvPr>
          <p:cNvSpPr/>
          <p:nvPr/>
        </p:nvSpPr>
        <p:spPr>
          <a:xfrm>
            <a:off x="1847607" y="1597363"/>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App optimization</a:t>
            </a:r>
          </a:p>
        </p:txBody>
      </p:sp>
      <p:sp>
        <p:nvSpPr>
          <p:cNvPr id="16" name="TextBox 15">
            <a:extLst>
              <a:ext uri="{FF2B5EF4-FFF2-40B4-BE49-F238E27FC236}">
                <a16:creationId xmlns:a16="http://schemas.microsoft.com/office/drawing/2014/main" id="{5AAA5DD6-545D-7747-BD91-293A1470F8F9}"/>
              </a:ext>
            </a:extLst>
          </p:cNvPr>
          <p:cNvSpPr txBox="1"/>
          <p:nvPr/>
        </p:nvSpPr>
        <p:spPr>
          <a:xfrm>
            <a:off x="1423231" y="5747367"/>
            <a:ext cx="3381419" cy="666977"/>
          </a:xfrm>
          <a:prstGeom prst="rect">
            <a:avLst/>
          </a:prstGeom>
          <a:noFill/>
        </p:spPr>
        <p:txBody>
          <a:bodyPr wrap="square" rtlCol="0">
            <a:spAutoFit/>
          </a:bodyPr>
          <a:lstStyle/>
          <a:p>
            <a:pPr algn="ctr"/>
            <a:r>
              <a:rPr lang="en-US" sz="1867" dirty="0">
                <a:latin typeface="Amazon Ember" panose="020B0603020204020204" pitchFamily="34" charset="0"/>
                <a:ea typeface="Amazon Ember" panose="020B0603020204020204" pitchFamily="34" charset="0"/>
                <a:cs typeface="Amazon Ember" panose="020B0603020204020204" pitchFamily="34" charset="0"/>
              </a:rPr>
              <a:t>If you host your databases </a:t>
            </a:r>
            <a:r>
              <a:rPr lang="en-US" sz="1867" b="1" dirty="0">
                <a:latin typeface="Amazon Ember" panose="020B0603020204020204" pitchFamily="34" charset="0"/>
                <a:ea typeface="Amazon Ember" panose="020B0603020204020204" pitchFamily="34" charset="0"/>
                <a:cs typeface="Amazon Ember" panose="020B0603020204020204" pitchFamily="34" charset="0"/>
              </a:rPr>
              <a:t>on-premises</a:t>
            </a:r>
          </a:p>
        </p:txBody>
      </p:sp>
      <p:sp>
        <p:nvSpPr>
          <p:cNvPr id="22" name="Left Brace 21">
            <a:extLst>
              <a:ext uri="{FF2B5EF4-FFF2-40B4-BE49-F238E27FC236}">
                <a16:creationId xmlns:a16="http://schemas.microsoft.com/office/drawing/2014/main" id="{6F7D4E4C-813C-3E49-B478-45809D9D68FE}"/>
              </a:ext>
            </a:extLst>
          </p:cNvPr>
          <p:cNvSpPr/>
          <p:nvPr/>
        </p:nvSpPr>
        <p:spPr>
          <a:xfrm>
            <a:off x="1467508" y="1506109"/>
            <a:ext cx="259404" cy="41374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TextBox 22">
            <a:extLst>
              <a:ext uri="{FF2B5EF4-FFF2-40B4-BE49-F238E27FC236}">
                <a16:creationId xmlns:a16="http://schemas.microsoft.com/office/drawing/2014/main" id="{E9630C0F-5723-9E4E-94F9-E5883FF4C864}"/>
              </a:ext>
            </a:extLst>
          </p:cNvPr>
          <p:cNvSpPr txBox="1"/>
          <p:nvPr/>
        </p:nvSpPr>
        <p:spPr>
          <a:xfrm>
            <a:off x="728205" y="3322542"/>
            <a:ext cx="739303" cy="461665"/>
          </a:xfrm>
          <a:prstGeom prst="rect">
            <a:avLst/>
          </a:prstGeom>
          <a:noFill/>
        </p:spPr>
        <p:txBody>
          <a:bodyPr wrap="square" rtlCol="0">
            <a:spAutoFit/>
          </a:bodyPr>
          <a:lstStyle/>
          <a:p>
            <a:pPr algn="r"/>
            <a:r>
              <a:rPr lang="en-US" sz="2400" b="1" i="1" dirty="0">
                <a:solidFill>
                  <a:srgbClr val="0000FF"/>
                </a:solidFill>
                <a:latin typeface="Amazon Ember" panose="020B0603020204020204" pitchFamily="34" charset="0"/>
                <a:ea typeface="Amazon Ember" panose="020B0603020204020204" pitchFamily="34" charset="0"/>
                <a:cs typeface="Amazon Ember" panose="020B0603020204020204" pitchFamily="34" charset="0"/>
              </a:rPr>
              <a:t>You</a:t>
            </a:r>
          </a:p>
        </p:txBody>
      </p:sp>
    </p:spTree>
    <p:extLst>
      <p:ext uri="{BB962C8B-B14F-4D97-AF65-F5344CB8AC3E}">
        <p14:creationId xmlns:p14="http://schemas.microsoft.com/office/powerpoint/2010/main" val="1733501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Unmanaged Databases</a:t>
            </a:r>
          </a:p>
        </p:txBody>
      </p:sp>
      <p:sp>
        <p:nvSpPr>
          <p:cNvPr id="5" name="Rounded Rectangle 4">
            <a:extLst>
              <a:ext uri="{FF2B5EF4-FFF2-40B4-BE49-F238E27FC236}">
                <a16:creationId xmlns:a16="http://schemas.microsoft.com/office/drawing/2014/main" id="{61355E13-650A-EE40-A835-B1E66C53E819}"/>
              </a:ext>
            </a:extLst>
          </p:cNvPr>
          <p:cNvSpPr/>
          <p:nvPr/>
        </p:nvSpPr>
        <p:spPr>
          <a:xfrm>
            <a:off x="1847607" y="5226936"/>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Power, HVAC, net</a:t>
            </a:r>
          </a:p>
        </p:txBody>
      </p:sp>
      <p:sp>
        <p:nvSpPr>
          <p:cNvPr id="6" name="Rounded Rectangle 5">
            <a:extLst>
              <a:ext uri="{FF2B5EF4-FFF2-40B4-BE49-F238E27FC236}">
                <a16:creationId xmlns:a16="http://schemas.microsoft.com/office/drawing/2014/main" id="{5A75B329-B11E-984D-8CD9-DD8AD4702010}"/>
              </a:ext>
            </a:extLst>
          </p:cNvPr>
          <p:cNvSpPr/>
          <p:nvPr/>
        </p:nvSpPr>
        <p:spPr>
          <a:xfrm>
            <a:off x="1847607" y="4861099"/>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Rack and stack</a:t>
            </a:r>
          </a:p>
        </p:txBody>
      </p:sp>
      <p:sp>
        <p:nvSpPr>
          <p:cNvPr id="7" name="Rounded Rectangle 6">
            <a:extLst>
              <a:ext uri="{FF2B5EF4-FFF2-40B4-BE49-F238E27FC236}">
                <a16:creationId xmlns:a16="http://schemas.microsoft.com/office/drawing/2014/main" id="{1B4FD63F-7BA4-D549-BF22-4F6FC560165D}"/>
              </a:ext>
            </a:extLst>
          </p:cNvPr>
          <p:cNvSpPr/>
          <p:nvPr/>
        </p:nvSpPr>
        <p:spPr>
          <a:xfrm>
            <a:off x="1847607" y="4467502"/>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Server maintenance</a:t>
            </a:r>
          </a:p>
        </p:txBody>
      </p:sp>
      <p:sp>
        <p:nvSpPr>
          <p:cNvPr id="8" name="Rounded Rectangle 7">
            <a:extLst>
              <a:ext uri="{FF2B5EF4-FFF2-40B4-BE49-F238E27FC236}">
                <a16:creationId xmlns:a16="http://schemas.microsoft.com/office/drawing/2014/main" id="{5B4440CF-7955-544F-8F80-ABC20469B3FF}"/>
              </a:ext>
            </a:extLst>
          </p:cNvPr>
          <p:cNvSpPr/>
          <p:nvPr/>
        </p:nvSpPr>
        <p:spPr>
          <a:xfrm>
            <a:off x="1847607" y="3713051"/>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OS patches</a:t>
            </a:r>
          </a:p>
        </p:txBody>
      </p:sp>
      <p:sp>
        <p:nvSpPr>
          <p:cNvPr id="9" name="Rounded Rectangle 8">
            <a:extLst>
              <a:ext uri="{FF2B5EF4-FFF2-40B4-BE49-F238E27FC236}">
                <a16:creationId xmlns:a16="http://schemas.microsoft.com/office/drawing/2014/main" id="{30F11C1E-4B3C-3A43-A8C9-B79A34AAF52B}"/>
              </a:ext>
            </a:extLst>
          </p:cNvPr>
          <p:cNvSpPr/>
          <p:nvPr/>
        </p:nvSpPr>
        <p:spPr>
          <a:xfrm>
            <a:off x="1847607" y="3000231"/>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DB s/w patches</a:t>
            </a:r>
          </a:p>
        </p:txBody>
      </p:sp>
      <p:sp>
        <p:nvSpPr>
          <p:cNvPr id="10" name="Rounded Rectangle 9">
            <a:extLst>
              <a:ext uri="{FF2B5EF4-FFF2-40B4-BE49-F238E27FC236}">
                <a16:creationId xmlns:a16="http://schemas.microsoft.com/office/drawing/2014/main" id="{478A7154-1603-5343-8B62-67A59B526AEF}"/>
              </a:ext>
            </a:extLst>
          </p:cNvPr>
          <p:cNvSpPr/>
          <p:nvPr/>
        </p:nvSpPr>
        <p:spPr>
          <a:xfrm>
            <a:off x="1847607" y="2648267"/>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Database backups</a:t>
            </a:r>
          </a:p>
        </p:txBody>
      </p:sp>
      <p:sp>
        <p:nvSpPr>
          <p:cNvPr id="11" name="Rounded Rectangle 10">
            <a:extLst>
              <a:ext uri="{FF2B5EF4-FFF2-40B4-BE49-F238E27FC236}">
                <a16:creationId xmlns:a16="http://schemas.microsoft.com/office/drawing/2014/main" id="{9B0F1CCF-7DCA-7042-B128-CF8BA8891234}"/>
              </a:ext>
            </a:extLst>
          </p:cNvPr>
          <p:cNvSpPr/>
          <p:nvPr/>
        </p:nvSpPr>
        <p:spPr>
          <a:xfrm>
            <a:off x="1847607" y="1949327"/>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Scaling</a:t>
            </a:r>
          </a:p>
        </p:txBody>
      </p:sp>
      <p:sp>
        <p:nvSpPr>
          <p:cNvPr id="12" name="Rounded Rectangle 11">
            <a:extLst>
              <a:ext uri="{FF2B5EF4-FFF2-40B4-BE49-F238E27FC236}">
                <a16:creationId xmlns:a16="http://schemas.microsoft.com/office/drawing/2014/main" id="{632F792B-0278-494A-86F8-01285ED78362}"/>
              </a:ext>
            </a:extLst>
          </p:cNvPr>
          <p:cNvSpPr/>
          <p:nvPr/>
        </p:nvSpPr>
        <p:spPr>
          <a:xfrm>
            <a:off x="1847607" y="2296306"/>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High availability</a:t>
            </a:r>
          </a:p>
        </p:txBody>
      </p:sp>
      <p:sp>
        <p:nvSpPr>
          <p:cNvPr id="13" name="Rounded Rectangle 12">
            <a:extLst>
              <a:ext uri="{FF2B5EF4-FFF2-40B4-BE49-F238E27FC236}">
                <a16:creationId xmlns:a16="http://schemas.microsoft.com/office/drawing/2014/main" id="{A8A66C68-59F1-3440-A0B7-5E0B5EFD2F8A}"/>
              </a:ext>
            </a:extLst>
          </p:cNvPr>
          <p:cNvSpPr/>
          <p:nvPr/>
        </p:nvSpPr>
        <p:spPr>
          <a:xfrm>
            <a:off x="1847607" y="3356100"/>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DB s/w installs</a:t>
            </a:r>
          </a:p>
        </p:txBody>
      </p:sp>
      <p:sp>
        <p:nvSpPr>
          <p:cNvPr id="14" name="Rounded Rectangle 13">
            <a:extLst>
              <a:ext uri="{FF2B5EF4-FFF2-40B4-BE49-F238E27FC236}">
                <a16:creationId xmlns:a16="http://schemas.microsoft.com/office/drawing/2014/main" id="{AE37428F-A141-7C49-86B0-CDBC59A41971}"/>
              </a:ext>
            </a:extLst>
          </p:cNvPr>
          <p:cNvSpPr/>
          <p:nvPr/>
        </p:nvSpPr>
        <p:spPr>
          <a:xfrm>
            <a:off x="1847607" y="4082799"/>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OS installation</a:t>
            </a:r>
          </a:p>
        </p:txBody>
      </p:sp>
      <p:sp>
        <p:nvSpPr>
          <p:cNvPr id="15" name="Rounded Rectangle 14">
            <a:extLst>
              <a:ext uri="{FF2B5EF4-FFF2-40B4-BE49-F238E27FC236}">
                <a16:creationId xmlns:a16="http://schemas.microsoft.com/office/drawing/2014/main" id="{B9C3F82A-AFCD-C64A-A94E-4B6EA39549D8}"/>
              </a:ext>
            </a:extLst>
          </p:cNvPr>
          <p:cNvSpPr/>
          <p:nvPr/>
        </p:nvSpPr>
        <p:spPr>
          <a:xfrm>
            <a:off x="1847607" y="1597363"/>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App optimization</a:t>
            </a:r>
          </a:p>
        </p:txBody>
      </p:sp>
      <p:sp>
        <p:nvSpPr>
          <p:cNvPr id="16" name="TextBox 15">
            <a:extLst>
              <a:ext uri="{FF2B5EF4-FFF2-40B4-BE49-F238E27FC236}">
                <a16:creationId xmlns:a16="http://schemas.microsoft.com/office/drawing/2014/main" id="{5AAA5DD6-545D-7747-BD91-293A1470F8F9}"/>
              </a:ext>
            </a:extLst>
          </p:cNvPr>
          <p:cNvSpPr txBox="1"/>
          <p:nvPr/>
        </p:nvSpPr>
        <p:spPr>
          <a:xfrm>
            <a:off x="1423231" y="5747367"/>
            <a:ext cx="3381419" cy="666977"/>
          </a:xfrm>
          <a:prstGeom prst="rect">
            <a:avLst/>
          </a:prstGeom>
          <a:noFill/>
        </p:spPr>
        <p:txBody>
          <a:bodyPr wrap="square" rtlCol="0">
            <a:spAutoFit/>
          </a:bodyPr>
          <a:lstStyle/>
          <a:p>
            <a:pPr algn="ctr"/>
            <a:r>
              <a:rPr lang="en-US" sz="1867" dirty="0">
                <a:latin typeface="Amazon Ember" panose="020B0603020204020204" pitchFamily="34" charset="0"/>
                <a:ea typeface="Amazon Ember" panose="020B0603020204020204" pitchFamily="34" charset="0"/>
                <a:cs typeface="Amazon Ember" panose="020B0603020204020204" pitchFamily="34" charset="0"/>
              </a:rPr>
              <a:t>If you host your databases </a:t>
            </a:r>
            <a:r>
              <a:rPr lang="en-US" sz="1867" b="1" dirty="0">
                <a:latin typeface="Amazon Ember" panose="020B0603020204020204" pitchFamily="34" charset="0"/>
                <a:ea typeface="Amazon Ember" panose="020B0603020204020204" pitchFamily="34" charset="0"/>
                <a:cs typeface="Amazon Ember" panose="020B0603020204020204" pitchFamily="34" charset="0"/>
              </a:rPr>
              <a:t>on-premises</a:t>
            </a:r>
          </a:p>
        </p:txBody>
      </p:sp>
      <p:grpSp>
        <p:nvGrpSpPr>
          <p:cNvPr id="17" name="Group 16">
            <a:extLst>
              <a:ext uri="{FF2B5EF4-FFF2-40B4-BE49-F238E27FC236}">
                <a16:creationId xmlns:a16="http://schemas.microsoft.com/office/drawing/2014/main" id="{43875E16-9433-AA47-9836-481BD9E288B3}"/>
              </a:ext>
            </a:extLst>
          </p:cNvPr>
          <p:cNvGrpSpPr/>
          <p:nvPr/>
        </p:nvGrpSpPr>
        <p:grpSpPr>
          <a:xfrm>
            <a:off x="7077101" y="4257301"/>
            <a:ext cx="2438400" cy="1455640"/>
            <a:chOff x="7028550" y="2817735"/>
            <a:chExt cx="1828800" cy="1091730"/>
          </a:xfrm>
        </p:grpSpPr>
        <p:sp>
          <p:nvSpPr>
            <p:cNvPr id="18" name="Rounded Rectangle 17">
              <a:extLst>
                <a:ext uri="{FF2B5EF4-FFF2-40B4-BE49-F238E27FC236}">
                  <a16:creationId xmlns:a16="http://schemas.microsoft.com/office/drawing/2014/main" id="{CECD2752-95BC-B94F-B8D7-78CADD557483}"/>
                </a:ext>
              </a:extLst>
            </p:cNvPr>
            <p:cNvSpPr/>
            <p:nvPr/>
          </p:nvSpPr>
          <p:spPr>
            <a:xfrm>
              <a:off x="7028550" y="3680865"/>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Power, HVAC, net</a:t>
              </a:r>
            </a:p>
          </p:txBody>
        </p:sp>
        <p:sp>
          <p:nvSpPr>
            <p:cNvPr id="19" name="Rounded Rectangle 18">
              <a:extLst>
                <a:ext uri="{FF2B5EF4-FFF2-40B4-BE49-F238E27FC236}">
                  <a16:creationId xmlns:a16="http://schemas.microsoft.com/office/drawing/2014/main" id="{D07B5C8A-4404-AF45-92A1-A78C58240193}"/>
                </a:ext>
              </a:extLst>
            </p:cNvPr>
            <p:cNvSpPr/>
            <p:nvPr/>
          </p:nvSpPr>
          <p:spPr>
            <a:xfrm>
              <a:off x="7028550" y="3401460"/>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Rack and stack</a:t>
              </a:r>
            </a:p>
          </p:txBody>
        </p:sp>
        <p:sp>
          <p:nvSpPr>
            <p:cNvPr id="20" name="Rounded Rectangle 19">
              <a:extLst>
                <a:ext uri="{FF2B5EF4-FFF2-40B4-BE49-F238E27FC236}">
                  <a16:creationId xmlns:a16="http://schemas.microsoft.com/office/drawing/2014/main" id="{974F3EDF-DD6D-BD4C-B2E7-6E86D6F74B29}"/>
                </a:ext>
              </a:extLst>
            </p:cNvPr>
            <p:cNvSpPr/>
            <p:nvPr/>
          </p:nvSpPr>
          <p:spPr>
            <a:xfrm>
              <a:off x="7028550" y="3106262"/>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Server maintenance</a:t>
              </a:r>
            </a:p>
          </p:txBody>
        </p:sp>
        <p:sp>
          <p:nvSpPr>
            <p:cNvPr id="21" name="Rounded Rectangle 20">
              <a:extLst>
                <a:ext uri="{FF2B5EF4-FFF2-40B4-BE49-F238E27FC236}">
                  <a16:creationId xmlns:a16="http://schemas.microsoft.com/office/drawing/2014/main" id="{2D7D5613-34DD-1246-8117-CE02A58DAD86}"/>
                </a:ext>
              </a:extLst>
            </p:cNvPr>
            <p:cNvSpPr/>
            <p:nvPr/>
          </p:nvSpPr>
          <p:spPr>
            <a:xfrm>
              <a:off x="7028550" y="2817735"/>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OS installation</a:t>
              </a:r>
            </a:p>
          </p:txBody>
        </p:sp>
      </p:grpSp>
      <p:sp>
        <p:nvSpPr>
          <p:cNvPr id="22" name="Left Brace 21">
            <a:extLst>
              <a:ext uri="{FF2B5EF4-FFF2-40B4-BE49-F238E27FC236}">
                <a16:creationId xmlns:a16="http://schemas.microsoft.com/office/drawing/2014/main" id="{6F7D4E4C-813C-3E49-B478-45809D9D68FE}"/>
              </a:ext>
            </a:extLst>
          </p:cNvPr>
          <p:cNvSpPr/>
          <p:nvPr/>
        </p:nvSpPr>
        <p:spPr>
          <a:xfrm>
            <a:off x="1467508" y="1506109"/>
            <a:ext cx="259404" cy="41374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TextBox 22">
            <a:extLst>
              <a:ext uri="{FF2B5EF4-FFF2-40B4-BE49-F238E27FC236}">
                <a16:creationId xmlns:a16="http://schemas.microsoft.com/office/drawing/2014/main" id="{E9630C0F-5723-9E4E-94F9-E5883FF4C864}"/>
              </a:ext>
            </a:extLst>
          </p:cNvPr>
          <p:cNvSpPr txBox="1"/>
          <p:nvPr/>
        </p:nvSpPr>
        <p:spPr>
          <a:xfrm>
            <a:off x="728205" y="3322542"/>
            <a:ext cx="739303" cy="461665"/>
          </a:xfrm>
          <a:prstGeom prst="rect">
            <a:avLst/>
          </a:prstGeom>
          <a:noFill/>
        </p:spPr>
        <p:txBody>
          <a:bodyPr wrap="square" rtlCol="0">
            <a:spAutoFit/>
          </a:bodyPr>
          <a:lstStyle/>
          <a:p>
            <a:pPr algn="r"/>
            <a:r>
              <a:rPr lang="en-US" sz="2400" b="1" i="1" dirty="0">
                <a:solidFill>
                  <a:srgbClr val="0000FF"/>
                </a:solidFill>
                <a:latin typeface="Amazon Ember" panose="020B0603020204020204" pitchFamily="34" charset="0"/>
                <a:ea typeface="Amazon Ember" panose="020B0603020204020204" pitchFamily="34" charset="0"/>
                <a:cs typeface="Amazon Ember" panose="020B0603020204020204" pitchFamily="34" charset="0"/>
              </a:rPr>
              <a:t>You</a:t>
            </a:r>
          </a:p>
        </p:txBody>
      </p:sp>
      <p:sp>
        <p:nvSpPr>
          <p:cNvPr id="24" name="TextBox 23">
            <a:extLst>
              <a:ext uri="{FF2B5EF4-FFF2-40B4-BE49-F238E27FC236}">
                <a16:creationId xmlns:a16="http://schemas.microsoft.com/office/drawing/2014/main" id="{2ACB9CE3-AF82-B446-996C-EE480F4C6A42}"/>
              </a:ext>
            </a:extLst>
          </p:cNvPr>
          <p:cNvSpPr txBox="1"/>
          <p:nvPr/>
        </p:nvSpPr>
        <p:spPr>
          <a:xfrm>
            <a:off x="6896645" y="6396335"/>
            <a:ext cx="184731" cy="461665"/>
          </a:xfrm>
          <a:prstGeom prst="rect">
            <a:avLst/>
          </a:prstGeom>
          <a:noFill/>
        </p:spPr>
        <p:txBody>
          <a:bodyPr wrap="none" rtlCol="0">
            <a:spAutoFit/>
          </a:bodyPr>
          <a:lstStyle/>
          <a:p>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6" name="TextBox 25">
            <a:extLst>
              <a:ext uri="{FF2B5EF4-FFF2-40B4-BE49-F238E27FC236}">
                <a16:creationId xmlns:a16="http://schemas.microsoft.com/office/drawing/2014/main" id="{9ED65529-E940-9943-B274-D866DFE7EC5E}"/>
              </a:ext>
            </a:extLst>
          </p:cNvPr>
          <p:cNvSpPr txBox="1"/>
          <p:nvPr/>
        </p:nvSpPr>
        <p:spPr>
          <a:xfrm>
            <a:off x="6643113" y="5762033"/>
            <a:ext cx="3185272" cy="666977"/>
          </a:xfrm>
          <a:prstGeom prst="rect">
            <a:avLst/>
          </a:prstGeom>
          <a:noFill/>
        </p:spPr>
        <p:txBody>
          <a:bodyPr wrap="square" rtlCol="0">
            <a:spAutoFit/>
          </a:bodyPr>
          <a:lstStyle/>
          <a:p>
            <a:pPr algn="ctr"/>
            <a:r>
              <a:rPr lang="en-US" sz="1867" dirty="0">
                <a:latin typeface="Amazon Ember" panose="020B0603020204020204" pitchFamily="34" charset="0"/>
                <a:ea typeface="Amazon Ember" panose="020B0603020204020204" pitchFamily="34" charset="0"/>
                <a:cs typeface="Amazon Ember" panose="020B0603020204020204" pitchFamily="34" charset="0"/>
              </a:rPr>
              <a:t>If you host your databases in </a:t>
            </a:r>
            <a:r>
              <a:rPr lang="en-US" sz="1867"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Amazon EC2</a:t>
            </a:r>
          </a:p>
        </p:txBody>
      </p:sp>
      <p:pic>
        <p:nvPicPr>
          <p:cNvPr id="43" name="Picture 42">
            <a:extLst>
              <a:ext uri="{FF2B5EF4-FFF2-40B4-BE49-F238E27FC236}">
                <a16:creationId xmlns:a16="http://schemas.microsoft.com/office/drawing/2014/main" id="{099E24D1-314A-1D4F-820B-E4AF9E9244EA}"/>
              </a:ext>
            </a:extLst>
          </p:cNvPr>
          <p:cNvPicPr>
            <a:picLocks noChangeAspect="1"/>
          </p:cNvPicPr>
          <p:nvPr/>
        </p:nvPicPr>
        <p:blipFill rotWithShape="1">
          <a:blip r:embed="rId3">
            <a:extLst>
              <a:ext uri="{28A0092B-C50C-407E-A947-70E740481C1C}">
                <a14:useLocalDpi xmlns:a14="http://schemas.microsoft.com/office/drawing/2010/main" val="0"/>
              </a:ext>
            </a:extLst>
          </a:blip>
          <a:srcRect r="57761"/>
          <a:stretch/>
        </p:blipFill>
        <p:spPr>
          <a:xfrm>
            <a:off x="10025876" y="4737219"/>
            <a:ext cx="1153373" cy="682653"/>
          </a:xfrm>
          <a:prstGeom prst="rect">
            <a:avLst/>
          </a:prstGeom>
        </p:spPr>
      </p:pic>
      <p:sp>
        <p:nvSpPr>
          <p:cNvPr id="44" name="Left Brace 43">
            <a:extLst>
              <a:ext uri="{FF2B5EF4-FFF2-40B4-BE49-F238E27FC236}">
                <a16:creationId xmlns:a16="http://schemas.microsoft.com/office/drawing/2014/main" id="{0ACF328A-0FDC-8F48-B946-7FE0EFB8D40B}"/>
              </a:ext>
            </a:extLst>
          </p:cNvPr>
          <p:cNvSpPr/>
          <p:nvPr/>
        </p:nvSpPr>
        <p:spPr>
          <a:xfrm flipH="1">
            <a:off x="9555922" y="4228805"/>
            <a:ext cx="352219" cy="156475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453793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Unmanaged Databases</a:t>
            </a:r>
          </a:p>
        </p:txBody>
      </p:sp>
      <p:sp>
        <p:nvSpPr>
          <p:cNvPr id="5" name="Rounded Rectangle 4">
            <a:extLst>
              <a:ext uri="{FF2B5EF4-FFF2-40B4-BE49-F238E27FC236}">
                <a16:creationId xmlns:a16="http://schemas.microsoft.com/office/drawing/2014/main" id="{61355E13-650A-EE40-A835-B1E66C53E819}"/>
              </a:ext>
            </a:extLst>
          </p:cNvPr>
          <p:cNvSpPr/>
          <p:nvPr/>
        </p:nvSpPr>
        <p:spPr>
          <a:xfrm>
            <a:off x="1847607" y="5226936"/>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Power, HVAC, net</a:t>
            </a:r>
          </a:p>
        </p:txBody>
      </p:sp>
      <p:sp>
        <p:nvSpPr>
          <p:cNvPr id="6" name="Rounded Rectangle 5">
            <a:extLst>
              <a:ext uri="{FF2B5EF4-FFF2-40B4-BE49-F238E27FC236}">
                <a16:creationId xmlns:a16="http://schemas.microsoft.com/office/drawing/2014/main" id="{5A75B329-B11E-984D-8CD9-DD8AD4702010}"/>
              </a:ext>
            </a:extLst>
          </p:cNvPr>
          <p:cNvSpPr/>
          <p:nvPr/>
        </p:nvSpPr>
        <p:spPr>
          <a:xfrm>
            <a:off x="1847607" y="4861099"/>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Rack and stack</a:t>
            </a:r>
          </a:p>
        </p:txBody>
      </p:sp>
      <p:sp>
        <p:nvSpPr>
          <p:cNvPr id="7" name="Rounded Rectangle 6">
            <a:extLst>
              <a:ext uri="{FF2B5EF4-FFF2-40B4-BE49-F238E27FC236}">
                <a16:creationId xmlns:a16="http://schemas.microsoft.com/office/drawing/2014/main" id="{1B4FD63F-7BA4-D549-BF22-4F6FC560165D}"/>
              </a:ext>
            </a:extLst>
          </p:cNvPr>
          <p:cNvSpPr/>
          <p:nvPr/>
        </p:nvSpPr>
        <p:spPr>
          <a:xfrm>
            <a:off x="1847607" y="4467502"/>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Server maintenance</a:t>
            </a:r>
          </a:p>
        </p:txBody>
      </p:sp>
      <p:sp>
        <p:nvSpPr>
          <p:cNvPr id="8" name="Rounded Rectangle 7">
            <a:extLst>
              <a:ext uri="{FF2B5EF4-FFF2-40B4-BE49-F238E27FC236}">
                <a16:creationId xmlns:a16="http://schemas.microsoft.com/office/drawing/2014/main" id="{5B4440CF-7955-544F-8F80-ABC20469B3FF}"/>
              </a:ext>
            </a:extLst>
          </p:cNvPr>
          <p:cNvSpPr/>
          <p:nvPr/>
        </p:nvSpPr>
        <p:spPr>
          <a:xfrm>
            <a:off x="1847607" y="3713051"/>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OS patches</a:t>
            </a:r>
          </a:p>
        </p:txBody>
      </p:sp>
      <p:sp>
        <p:nvSpPr>
          <p:cNvPr id="9" name="Rounded Rectangle 8">
            <a:extLst>
              <a:ext uri="{FF2B5EF4-FFF2-40B4-BE49-F238E27FC236}">
                <a16:creationId xmlns:a16="http://schemas.microsoft.com/office/drawing/2014/main" id="{30F11C1E-4B3C-3A43-A8C9-B79A34AAF52B}"/>
              </a:ext>
            </a:extLst>
          </p:cNvPr>
          <p:cNvSpPr/>
          <p:nvPr/>
        </p:nvSpPr>
        <p:spPr>
          <a:xfrm>
            <a:off x="1847607" y="3000231"/>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DB s/w patches</a:t>
            </a:r>
          </a:p>
        </p:txBody>
      </p:sp>
      <p:sp>
        <p:nvSpPr>
          <p:cNvPr id="10" name="Rounded Rectangle 9">
            <a:extLst>
              <a:ext uri="{FF2B5EF4-FFF2-40B4-BE49-F238E27FC236}">
                <a16:creationId xmlns:a16="http://schemas.microsoft.com/office/drawing/2014/main" id="{478A7154-1603-5343-8B62-67A59B526AEF}"/>
              </a:ext>
            </a:extLst>
          </p:cNvPr>
          <p:cNvSpPr/>
          <p:nvPr/>
        </p:nvSpPr>
        <p:spPr>
          <a:xfrm>
            <a:off x="1847607" y="2648267"/>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Database backups</a:t>
            </a:r>
          </a:p>
        </p:txBody>
      </p:sp>
      <p:sp>
        <p:nvSpPr>
          <p:cNvPr id="11" name="Rounded Rectangle 10">
            <a:extLst>
              <a:ext uri="{FF2B5EF4-FFF2-40B4-BE49-F238E27FC236}">
                <a16:creationId xmlns:a16="http://schemas.microsoft.com/office/drawing/2014/main" id="{9B0F1CCF-7DCA-7042-B128-CF8BA8891234}"/>
              </a:ext>
            </a:extLst>
          </p:cNvPr>
          <p:cNvSpPr/>
          <p:nvPr/>
        </p:nvSpPr>
        <p:spPr>
          <a:xfrm>
            <a:off x="1847607" y="1949327"/>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Scaling</a:t>
            </a:r>
          </a:p>
        </p:txBody>
      </p:sp>
      <p:sp>
        <p:nvSpPr>
          <p:cNvPr id="12" name="Rounded Rectangle 11">
            <a:extLst>
              <a:ext uri="{FF2B5EF4-FFF2-40B4-BE49-F238E27FC236}">
                <a16:creationId xmlns:a16="http://schemas.microsoft.com/office/drawing/2014/main" id="{632F792B-0278-494A-86F8-01285ED78362}"/>
              </a:ext>
            </a:extLst>
          </p:cNvPr>
          <p:cNvSpPr/>
          <p:nvPr/>
        </p:nvSpPr>
        <p:spPr>
          <a:xfrm>
            <a:off x="1847607" y="2296306"/>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High availability</a:t>
            </a:r>
          </a:p>
        </p:txBody>
      </p:sp>
      <p:sp>
        <p:nvSpPr>
          <p:cNvPr id="13" name="Rounded Rectangle 12">
            <a:extLst>
              <a:ext uri="{FF2B5EF4-FFF2-40B4-BE49-F238E27FC236}">
                <a16:creationId xmlns:a16="http://schemas.microsoft.com/office/drawing/2014/main" id="{A8A66C68-59F1-3440-A0B7-5E0B5EFD2F8A}"/>
              </a:ext>
            </a:extLst>
          </p:cNvPr>
          <p:cNvSpPr/>
          <p:nvPr/>
        </p:nvSpPr>
        <p:spPr>
          <a:xfrm>
            <a:off x="1847607" y="3356100"/>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DB s/w installs</a:t>
            </a:r>
          </a:p>
        </p:txBody>
      </p:sp>
      <p:sp>
        <p:nvSpPr>
          <p:cNvPr id="14" name="Rounded Rectangle 13">
            <a:extLst>
              <a:ext uri="{FF2B5EF4-FFF2-40B4-BE49-F238E27FC236}">
                <a16:creationId xmlns:a16="http://schemas.microsoft.com/office/drawing/2014/main" id="{AE37428F-A141-7C49-86B0-CDBC59A41971}"/>
              </a:ext>
            </a:extLst>
          </p:cNvPr>
          <p:cNvSpPr/>
          <p:nvPr/>
        </p:nvSpPr>
        <p:spPr>
          <a:xfrm>
            <a:off x="1847607" y="4082799"/>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OS installation</a:t>
            </a:r>
          </a:p>
        </p:txBody>
      </p:sp>
      <p:sp>
        <p:nvSpPr>
          <p:cNvPr id="15" name="Rounded Rectangle 14">
            <a:extLst>
              <a:ext uri="{FF2B5EF4-FFF2-40B4-BE49-F238E27FC236}">
                <a16:creationId xmlns:a16="http://schemas.microsoft.com/office/drawing/2014/main" id="{B9C3F82A-AFCD-C64A-A94E-4B6EA39549D8}"/>
              </a:ext>
            </a:extLst>
          </p:cNvPr>
          <p:cNvSpPr/>
          <p:nvPr/>
        </p:nvSpPr>
        <p:spPr>
          <a:xfrm>
            <a:off x="1847607" y="1597363"/>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App optimization</a:t>
            </a:r>
          </a:p>
        </p:txBody>
      </p:sp>
      <p:sp>
        <p:nvSpPr>
          <p:cNvPr id="16" name="TextBox 15">
            <a:extLst>
              <a:ext uri="{FF2B5EF4-FFF2-40B4-BE49-F238E27FC236}">
                <a16:creationId xmlns:a16="http://schemas.microsoft.com/office/drawing/2014/main" id="{5AAA5DD6-545D-7747-BD91-293A1470F8F9}"/>
              </a:ext>
            </a:extLst>
          </p:cNvPr>
          <p:cNvSpPr txBox="1"/>
          <p:nvPr/>
        </p:nvSpPr>
        <p:spPr>
          <a:xfrm>
            <a:off x="1423231" y="5747367"/>
            <a:ext cx="3381419" cy="666977"/>
          </a:xfrm>
          <a:prstGeom prst="rect">
            <a:avLst/>
          </a:prstGeom>
          <a:noFill/>
        </p:spPr>
        <p:txBody>
          <a:bodyPr wrap="square" rtlCol="0">
            <a:spAutoFit/>
          </a:bodyPr>
          <a:lstStyle/>
          <a:p>
            <a:pPr algn="ctr"/>
            <a:r>
              <a:rPr lang="en-US" sz="1867" dirty="0">
                <a:latin typeface="Amazon Ember" panose="020B0603020204020204" pitchFamily="34" charset="0"/>
                <a:ea typeface="Amazon Ember" panose="020B0603020204020204" pitchFamily="34" charset="0"/>
                <a:cs typeface="Amazon Ember" panose="020B0603020204020204" pitchFamily="34" charset="0"/>
              </a:rPr>
              <a:t>If you host your databases </a:t>
            </a:r>
            <a:r>
              <a:rPr lang="en-US" sz="1867" b="1" dirty="0">
                <a:latin typeface="Amazon Ember" panose="020B0603020204020204" pitchFamily="34" charset="0"/>
                <a:ea typeface="Amazon Ember" panose="020B0603020204020204" pitchFamily="34" charset="0"/>
                <a:cs typeface="Amazon Ember" panose="020B0603020204020204" pitchFamily="34" charset="0"/>
              </a:rPr>
              <a:t>on-premises</a:t>
            </a:r>
          </a:p>
        </p:txBody>
      </p:sp>
      <p:grpSp>
        <p:nvGrpSpPr>
          <p:cNvPr id="17" name="Group 16">
            <a:extLst>
              <a:ext uri="{FF2B5EF4-FFF2-40B4-BE49-F238E27FC236}">
                <a16:creationId xmlns:a16="http://schemas.microsoft.com/office/drawing/2014/main" id="{43875E16-9433-AA47-9836-481BD9E288B3}"/>
              </a:ext>
            </a:extLst>
          </p:cNvPr>
          <p:cNvGrpSpPr/>
          <p:nvPr/>
        </p:nvGrpSpPr>
        <p:grpSpPr>
          <a:xfrm>
            <a:off x="7077101" y="4257301"/>
            <a:ext cx="2438400" cy="1455640"/>
            <a:chOff x="7028550" y="2817735"/>
            <a:chExt cx="1828800" cy="1091730"/>
          </a:xfrm>
        </p:grpSpPr>
        <p:sp>
          <p:nvSpPr>
            <p:cNvPr id="18" name="Rounded Rectangle 17">
              <a:extLst>
                <a:ext uri="{FF2B5EF4-FFF2-40B4-BE49-F238E27FC236}">
                  <a16:creationId xmlns:a16="http://schemas.microsoft.com/office/drawing/2014/main" id="{CECD2752-95BC-B94F-B8D7-78CADD557483}"/>
                </a:ext>
              </a:extLst>
            </p:cNvPr>
            <p:cNvSpPr/>
            <p:nvPr/>
          </p:nvSpPr>
          <p:spPr>
            <a:xfrm>
              <a:off x="7028550" y="3680865"/>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Power, HVAC, net</a:t>
              </a:r>
            </a:p>
          </p:txBody>
        </p:sp>
        <p:sp>
          <p:nvSpPr>
            <p:cNvPr id="19" name="Rounded Rectangle 18">
              <a:extLst>
                <a:ext uri="{FF2B5EF4-FFF2-40B4-BE49-F238E27FC236}">
                  <a16:creationId xmlns:a16="http://schemas.microsoft.com/office/drawing/2014/main" id="{D07B5C8A-4404-AF45-92A1-A78C58240193}"/>
                </a:ext>
              </a:extLst>
            </p:cNvPr>
            <p:cNvSpPr/>
            <p:nvPr/>
          </p:nvSpPr>
          <p:spPr>
            <a:xfrm>
              <a:off x="7028550" y="3401460"/>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Rack and stack</a:t>
              </a:r>
            </a:p>
          </p:txBody>
        </p:sp>
        <p:sp>
          <p:nvSpPr>
            <p:cNvPr id="20" name="Rounded Rectangle 19">
              <a:extLst>
                <a:ext uri="{FF2B5EF4-FFF2-40B4-BE49-F238E27FC236}">
                  <a16:creationId xmlns:a16="http://schemas.microsoft.com/office/drawing/2014/main" id="{974F3EDF-DD6D-BD4C-B2E7-6E86D6F74B29}"/>
                </a:ext>
              </a:extLst>
            </p:cNvPr>
            <p:cNvSpPr/>
            <p:nvPr/>
          </p:nvSpPr>
          <p:spPr>
            <a:xfrm>
              <a:off x="7028550" y="3106262"/>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Server maintenance</a:t>
              </a:r>
            </a:p>
          </p:txBody>
        </p:sp>
        <p:sp>
          <p:nvSpPr>
            <p:cNvPr id="21" name="Rounded Rectangle 20">
              <a:extLst>
                <a:ext uri="{FF2B5EF4-FFF2-40B4-BE49-F238E27FC236}">
                  <a16:creationId xmlns:a16="http://schemas.microsoft.com/office/drawing/2014/main" id="{2D7D5613-34DD-1246-8117-CE02A58DAD86}"/>
                </a:ext>
              </a:extLst>
            </p:cNvPr>
            <p:cNvSpPr/>
            <p:nvPr/>
          </p:nvSpPr>
          <p:spPr>
            <a:xfrm>
              <a:off x="7028550" y="2817735"/>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OS installation</a:t>
              </a:r>
            </a:p>
          </p:txBody>
        </p:sp>
      </p:grpSp>
      <p:sp>
        <p:nvSpPr>
          <p:cNvPr id="22" name="Left Brace 21">
            <a:extLst>
              <a:ext uri="{FF2B5EF4-FFF2-40B4-BE49-F238E27FC236}">
                <a16:creationId xmlns:a16="http://schemas.microsoft.com/office/drawing/2014/main" id="{6F7D4E4C-813C-3E49-B478-45809D9D68FE}"/>
              </a:ext>
            </a:extLst>
          </p:cNvPr>
          <p:cNvSpPr/>
          <p:nvPr/>
        </p:nvSpPr>
        <p:spPr>
          <a:xfrm>
            <a:off x="1467508" y="1506109"/>
            <a:ext cx="259404" cy="41374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TextBox 22">
            <a:extLst>
              <a:ext uri="{FF2B5EF4-FFF2-40B4-BE49-F238E27FC236}">
                <a16:creationId xmlns:a16="http://schemas.microsoft.com/office/drawing/2014/main" id="{E9630C0F-5723-9E4E-94F9-E5883FF4C864}"/>
              </a:ext>
            </a:extLst>
          </p:cNvPr>
          <p:cNvSpPr txBox="1"/>
          <p:nvPr/>
        </p:nvSpPr>
        <p:spPr>
          <a:xfrm>
            <a:off x="728205" y="3322542"/>
            <a:ext cx="739303" cy="461665"/>
          </a:xfrm>
          <a:prstGeom prst="rect">
            <a:avLst/>
          </a:prstGeom>
          <a:noFill/>
        </p:spPr>
        <p:txBody>
          <a:bodyPr wrap="square" rtlCol="0">
            <a:spAutoFit/>
          </a:bodyPr>
          <a:lstStyle/>
          <a:p>
            <a:pPr algn="r"/>
            <a:r>
              <a:rPr lang="en-US" sz="2400" b="1" i="1" dirty="0">
                <a:solidFill>
                  <a:srgbClr val="0000FF"/>
                </a:solidFill>
                <a:latin typeface="Amazon Ember" panose="020B0603020204020204" pitchFamily="34" charset="0"/>
                <a:ea typeface="Amazon Ember" panose="020B0603020204020204" pitchFamily="34" charset="0"/>
                <a:cs typeface="Amazon Ember" panose="020B0603020204020204" pitchFamily="34" charset="0"/>
              </a:rPr>
              <a:t>You</a:t>
            </a:r>
          </a:p>
        </p:txBody>
      </p:sp>
      <p:sp>
        <p:nvSpPr>
          <p:cNvPr id="24" name="TextBox 23">
            <a:extLst>
              <a:ext uri="{FF2B5EF4-FFF2-40B4-BE49-F238E27FC236}">
                <a16:creationId xmlns:a16="http://schemas.microsoft.com/office/drawing/2014/main" id="{2ACB9CE3-AF82-B446-996C-EE480F4C6A42}"/>
              </a:ext>
            </a:extLst>
          </p:cNvPr>
          <p:cNvSpPr txBox="1"/>
          <p:nvPr/>
        </p:nvSpPr>
        <p:spPr>
          <a:xfrm>
            <a:off x="6896645" y="6396335"/>
            <a:ext cx="184731" cy="461665"/>
          </a:xfrm>
          <a:prstGeom prst="rect">
            <a:avLst/>
          </a:prstGeom>
          <a:noFill/>
        </p:spPr>
        <p:txBody>
          <a:bodyPr wrap="none" rtlCol="0">
            <a:spAutoFit/>
          </a:bodyPr>
          <a:lstStyle/>
          <a:p>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6" name="TextBox 25">
            <a:extLst>
              <a:ext uri="{FF2B5EF4-FFF2-40B4-BE49-F238E27FC236}">
                <a16:creationId xmlns:a16="http://schemas.microsoft.com/office/drawing/2014/main" id="{9ED65529-E940-9943-B274-D866DFE7EC5E}"/>
              </a:ext>
            </a:extLst>
          </p:cNvPr>
          <p:cNvSpPr txBox="1"/>
          <p:nvPr/>
        </p:nvSpPr>
        <p:spPr>
          <a:xfrm>
            <a:off x="6643113" y="5762033"/>
            <a:ext cx="3185272" cy="666977"/>
          </a:xfrm>
          <a:prstGeom prst="rect">
            <a:avLst/>
          </a:prstGeom>
          <a:noFill/>
        </p:spPr>
        <p:txBody>
          <a:bodyPr wrap="square" rtlCol="0">
            <a:spAutoFit/>
          </a:bodyPr>
          <a:lstStyle/>
          <a:p>
            <a:pPr algn="ctr"/>
            <a:r>
              <a:rPr lang="en-US" sz="1867" dirty="0">
                <a:latin typeface="Amazon Ember" panose="020B0603020204020204" pitchFamily="34" charset="0"/>
                <a:ea typeface="Amazon Ember" panose="020B0603020204020204" pitchFamily="34" charset="0"/>
                <a:cs typeface="Amazon Ember" panose="020B0603020204020204" pitchFamily="34" charset="0"/>
              </a:rPr>
              <a:t>If you host your databases in </a:t>
            </a:r>
            <a:r>
              <a:rPr lang="en-US" sz="1867"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Amazon EC2</a:t>
            </a:r>
          </a:p>
        </p:txBody>
      </p:sp>
      <p:grpSp>
        <p:nvGrpSpPr>
          <p:cNvPr id="27" name="Group 26">
            <a:extLst>
              <a:ext uri="{FF2B5EF4-FFF2-40B4-BE49-F238E27FC236}">
                <a16:creationId xmlns:a16="http://schemas.microsoft.com/office/drawing/2014/main" id="{2A8898B7-892D-1D48-B6EA-9C77FB9F6E18}"/>
              </a:ext>
            </a:extLst>
          </p:cNvPr>
          <p:cNvGrpSpPr/>
          <p:nvPr/>
        </p:nvGrpSpPr>
        <p:grpSpPr>
          <a:xfrm>
            <a:off x="7072098" y="1577159"/>
            <a:ext cx="2443403" cy="2434367"/>
            <a:chOff x="4941391" y="953658"/>
            <a:chExt cx="1832552" cy="1825775"/>
          </a:xfrm>
        </p:grpSpPr>
        <p:sp>
          <p:nvSpPr>
            <p:cNvPr id="28" name="Rounded Rectangle 27">
              <a:extLst>
                <a:ext uri="{FF2B5EF4-FFF2-40B4-BE49-F238E27FC236}">
                  <a16:creationId xmlns:a16="http://schemas.microsoft.com/office/drawing/2014/main" id="{4A024313-183A-3641-8226-CA983F943209}"/>
                </a:ext>
              </a:extLst>
            </p:cNvPr>
            <p:cNvSpPr/>
            <p:nvPr/>
          </p:nvSpPr>
          <p:spPr>
            <a:xfrm>
              <a:off x="4945143" y="2550833"/>
              <a:ext cx="1828800" cy="2286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OS patches</a:t>
              </a:r>
            </a:p>
          </p:txBody>
        </p:sp>
        <p:sp>
          <p:nvSpPr>
            <p:cNvPr id="29" name="Rounded Rectangle 28">
              <a:extLst>
                <a:ext uri="{FF2B5EF4-FFF2-40B4-BE49-F238E27FC236}">
                  <a16:creationId xmlns:a16="http://schemas.microsoft.com/office/drawing/2014/main" id="{4CFF63EF-9C49-564D-8079-21383789724F}"/>
                </a:ext>
              </a:extLst>
            </p:cNvPr>
            <p:cNvSpPr/>
            <p:nvPr/>
          </p:nvSpPr>
          <p:spPr>
            <a:xfrm>
              <a:off x="4945143" y="2016218"/>
              <a:ext cx="1828800" cy="2286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DB s/w patches</a:t>
              </a:r>
            </a:p>
          </p:txBody>
        </p:sp>
        <p:sp>
          <p:nvSpPr>
            <p:cNvPr id="30" name="Rounded Rectangle 29">
              <a:extLst>
                <a:ext uri="{FF2B5EF4-FFF2-40B4-BE49-F238E27FC236}">
                  <a16:creationId xmlns:a16="http://schemas.microsoft.com/office/drawing/2014/main" id="{DCC09FAD-9550-5840-A8D2-6CE1778F955C}"/>
                </a:ext>
              </a:extLst>
            </p:cNvPr>
            <p:cNvSpPr/>
            <p:nvPr/>
          </p:nvSpPr>
          <p:spPr>
            <a:xfrm>
              <a:off x="4945143" y="1752245"/>
              <a:ext cx="1828800" cy="2286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Database backups</a:t>
              </a:r>
            </a:p>
          </p:txBody>
        </p:sp>
        <p:sp>
          <p:nvSpPr>
            <p:cNvPr id="31" name="Rounded Rectangle 30">
              <a:extLst>
                <a:ext uri="{FF2B5EF4-FFF2-40B4-BE49-F238E27FC236}">
                  <a16:creationId xmlns:a16="http://schemas.microsoft.com/office/drawing/2014/main" id="{5E6849CD-BE88-4B41-8EF0-51CCFB70DDB7}"/>
                </a:ext>
              </a:extLst>
            </p:cNvPr>
            <p:cNvSpPr/>
            <p:nvPr/>
          </p:nvSpPr>
          <p:spPr>
            <a:xfrm>
              <a:off x="4945143" y="1228040"/>
              <a:ext cx="1828800" cy="2286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Scaling</a:t>
              </a:r>
            </a:p>
          </p:txBody>
        </p:sp>
        <p:sp>
          <p:nvSpPr>
            <p:cNvPr id="32" name="Rounded Rectangle 31">
              <a:extLst>
                <a:ext uri="{FF2B5EF4-FFF2-40B4-BE49-F238E27FC236}">
                  <a16:creationId xmlns:a16="http://schemas.microsoft.com/office/drawing/2014/main" id="{66A2C8ED-3096-1341-8786-3B43B162BA0D}"/>
                </a:ext>
              </a:extLst>
            </p:cNvPr>
            <p:cNvSpPr/>
            <p:nvPr/>
          </p:nvSpPr>
          <p:spPr>
            <a:xfrm>
              <a:off x="4945143" y="1488274"/>
              <a:ext cx="1828800" cy="2286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High availability</a:t>
              </a:r>
            </a:p>
          </p:txBody>
        </p:sp>
        <p:sp>
          <p:nvSpPr>
            <p:cNvPr id="33" name="Rounded Rectangle 32">
              <a:extLst>
                <a:ext uri="{FF2B5EF4-FFF2-40B4-BE49-F238E27FC236}">
                  <a16:creationId xmlns:a16="http://schemas.microsoft.com/office/drawing/2014/main" id="{51F0DD92-D188-1346-9879-70F935D7A723}"/>
                </a:ext>
              </a:extLst>
            </p:cNvPr>
            <p:cNvSpPr/>
            <p:nvPr/>
          </p:nvSpPr>
          <p:spPr>
            <a:xfrm>
              <a:off x="4945143" y="2283120"/>
              <a:ext cx="1828800" cy="2286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DB s/w installs</a:t>
              </a:r>
            </a:p>
          </p:txBody>
        </p:sp>
        <p:sp>
          <p:nvSpPr>
            <p:cNvPr id="34" name="Rounded Rectangle 33">
              <a:extLst>
                <a:ext uri="{FF2B5EF4-FFF2-40B4-BE49-F238E27FC236}">
                  <a16:creationId xmlns:a16="http://schemas.microsoft.com/office/drawing/2014/main" id="{75C3A5A1-B8C0-2346-8883-C86EFFBB6208}"/>
                </a:ext>
              </a:extLst>
            </p:cNvPr>
            <p:cNvSpPr/>
            <p:nvPr/>
          </p:nvSpPr>
          <p:spPr>
            <a:xfrm>
              <a:off x="4941391" y="953658"/>
              <a:ext cx="1828800" cy="2286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App optimization</a:t>
              </a:r>
            </a:p>
          </p:txBody>
        </p:sp>
      </p:grpSp>
      <p:grpSp>
        <p:nvGrpSpPr>
          <p:cNvPr id="40" name="Group 39">
            <a:extLst>
              <a:ext uri="{FF2B5EF4-FFF2-40B4-BE49-F238E27FC236}">
                <a16:creationId xmlns:a16="http://schemas.microsoft.com/office/drawing/2014/main" id="{F6C1100C-C49D-3948-8CD4-C46AE804770A}"/>
              </a:ext>
            </a:extLst>
          </p:cNvPr>
          <p:cNvGrpSpPr/>
          <p:nvPr/>
        </p:nvGrpSpPr>
        <p:grpSpPr>
          <a:xfrm>
            <a:off x="5903811" y="1485903"/>
            <a:ext cx="1118777" cy="2547251"/>
            <a:chOff x="4065175" y="885217"/>
            <a:chExt cx="839083" cy="1910438"/>
          </a:xfrm>
        </p:grpSpPr>
        <p:sp>
          <p:nvSpPr>
            <p:cNvPr id="41" name="TextBox 40">
              <a:extLst>
                <a:ext uri="{FF2B5EF4-FFF2-40B4-BE49-F238E27FC236}">
                  <a16:creationId xmlns:a16="http://schemas.microsoft.com/office/drawing/2014/main" id="{4EBCF664-6C29-BB4A-9F14-02E4E5297F81}"/>
                </a:ext>
              </a:extLst>
            </p:cNvPr>
            <p:cNvSpPr txBox="1"/>
            <p:nvPr/>
          </p:nvSpPr>
          <p:spPr>
            <a:xfrm>
              <a:off x="4065175" y="1666635"/>
              <a:ext cx="554477" cy="346249"/>
            </a:xfrm>
            <a:prstGeom prst="rect">
              <a:avLst/>
            </a:prstGeom>
            <a:noFill/>
          </p:spPr>
          <p:txBody>
            <a:bodyPr wrap="square" rtlCol="0">
              <a:spAutoFit/>
            </a:bodyPr>
            <a:lstStyle/>
            <a:p>
              <a:pPr algn="r"/>
              <a:r>
                <a:rPr lang="en-US" sz="2400" b="1" i="1" dirty="0">
                  <a:solidFill>
                    <a:srgbClr val="0000FF"/>
                  </a:solidFill>
                  <a:latin typeface="Amazon Ember" panose="020B0603020204020204" pitchFamily="34" charset="0"/>
                  <a:ea typeface="Amazon Ember" panose="020B0603020204020204" pitchFamily="34" charset="0"/>
                  <a:cs typeface="Amazon Ember" panose="020B0603020204020204" pitchFamily="34" charset="0"/>
                </a:rPr>
                <a:t>You</a:t>
              </a:r>
            </a:p>
          </p:txBody>
        </p:sp>
        <p:sp>
          <p:nvSpPr>
            <p:cNvPr id="42" name="Left Brace 41">
              <a:extLst>
                <a:ext uri="{FF2B5EF4-FFF2-40B4-BE49-F238E27FC236}">
                  <a16:creationId xmlns:a16="http://schemas.microsoft.com/office/drawing/2014/main" id="{0ACF328A-0FDC-8F48-B946-7FE0EFB8D40B}"/>
                </a:ext>
              </a:extLst>
            </p:cNvPr>
            <p:cNvSpPr/>
            <p:nvPr/>
          </p:nvSpPr>
          <p:spPr>
            <a:xfrm>
              <a:off x="4640094" y="885217"/>
              <a:ext cx="264164" cy="191043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grpSp>
      <p:pic>
        <p:nvPicPr>
          <p:cNvPr id="43" name="Picture 42">
            <a:extLst>
              <a:ext uri="{FF2B5EF4-FFF2-40B4-BE49-F238E27FC236}">
                <a16:creationId xmlns:a16="http://schemas.microsoft.com/office/drawing/2014/main" id="{099E24D1-314A-1D4F-820B-E4AF9E9244EA}"/>
              </a:ext>
            </a:extLst>
          </p:cNvPr>
          <p:cNvPicPr>
            <a:picLocks noChangeAspect="1"/>
          </p:cNvPicPr>
          <p:nvPr/>
        </p:nvPicPr>
        <p:blipFill rotWithShape="1">
          <a:blip r:embed="rId3">
            <a:extLst>
              <a:ext uri="{28A0092B-C50C-407E-A947-70E740481C1C}">
                <a14:useLocalDpi xmlns:a14="http://schemas.microsoft.com/office/drawing/2010/main" val="0"/>
              </a:ext>
            </a:extLst>
          </a:blip>
          <a:srcRect r="57761"/>
          <a:stretch/>
        </p:blipFill>
        <p:spPr>
          <a:xfrm>
            <a:off x="10025876" y="4737219"/>
            <a:ext cx="1153373" cy="682653"/>
          </a:xfrm>
          <a:prstGeom prst="rect">
            <a:avLst/>
          </a:prstGeom>
        </p:spPr>
      </p:pic>
      <p:sp>
        <p:nvSpPr>
          <p:cNvPr id="44" name="Left Brace 43">
            <a:extLst>
              <a:ext uri="{FF2B5EF4-FFF2-40B4-BE49-F238E27FC236}">
                <a16:creationId xmlns:a16="http://schemas.microsoft.com/office/drawing/2014/main" id="{0ACF328A-0FDC-8F48-B946-7FE0EFB8D40B}"/>
              </a:ext>
            </a:extLst>
          </p:cNvPr>
          <p:cNvSpPr/>
          <p:nvPr/>
        </p:nvSpPr>
        <p:spPr>
          <a:xfrm flipH="1">
            <a:off x="9555922" y="4228805"/>
            <a:ext cx="352219" cy="156475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379572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Managed Databases</a:t>
            </a:r>
          </a:p>
        </p:txBody>
      </p:sp>
      <p:grpSp>
        <p:nvGrpSpPr>
          <p:cNvPr id="5" name="Group 4">
            <a:extLst>
              <a:ext uri="{FF2B5EF4-FFF2-40B4-BE49-F238E27FC236}">
                <a16:creationId xmlns:a16="http://schemas.microsoft.com/office/drawing/2014/main" id="{1070A27E-F32D-6143-A153-F802401EBCE8}"/>
              </a:ext>
            </a:extLst>
          </p:cNvPr>
          <p:cNvGrpSpPr/>
          <p:nvPr/>
        </p:nvGrpSpPr>
        <p:grpSpPr>
          <a:xfrm>
            <a:off x="4359043" y="2112162"/>
            <a:ext cx="2438400" cy="3584425"/>
            <a:chOff x="4741139" y="933021"/>
            <a:chExt cx="1828800" cy="2688319"/>
          </a:xfrm>
        </p:grpSpPr>
        <p:sp>
          <p:nvSpPr>
            <p:cNvPr id="6" name="Rounded Rectangle 5">
              <a:extLst>
                <a:ext uri="{FF2B5EF4-FFF2-40B4-BE49-F238E27FC236}">
                  <a16:creationId xmlns:a16="http://schemas.microsoft.com/office/drawing/2014/main" id="{B2392167-C248-8E4E-AA4E-03D5DCE95F2B}"/>
                </a:ext>
              </a:extLst>
            </p:cNvPr>
            <p:cNvSpPr/>
            <p:nvPr/>
          </p:nvSpPr>
          <p:spPr>
            <a:xfrm>
              <a:off x="4741139" y="3392740"/>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Power, HVAC, net</a:t>
              </a:r>
            </a:p>
          </p:txBody>
        </p:sp>
        <p:sp>
          <p:nvSpPr>
            <p:cNvPr id="7" name="Rounded Rectangle 6">
              <a:extLst>
                <a:ext uri="{FF2B5EF4-FFF2-40B4-BE49-F238E27FC236}">
                  <a16:creationId xmlns:a16="http://schemas.microsoft.com/office/drawing/2014/main" id="{A1A9EE7C-41C8-6A4D-B1F9-C3323E1148B8}"/>
                </a:ext>
              </a:extLst>
            </p:cNvPr>
            <p:cNvSpPr/>
            <p:nvPr/>
          </p:nvSpPr>
          <p:spPr>
            <a:xfrm>
              <a:off x="4741139" y="3119437"/>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Rack and stack</a:t>
              </a:r>
            </a:p>
          </p:txBody>
        </p:sp>
        <p:sp>
          <p:nvSpPr>
            <p:cNvPr id="8" name="Rounded Rectangle 7">
              <a:extLst>
                <a:ext uri="{FF2B5EF4-FFF2-40B4-BE49-F238E27FC236}">
                  <a16:creationId xmlns:a16="http://schemas.microsoft.com/office/drawing/2014/main" id="{A51C1F85-3578-B143-9DFB-345CCF9D5E98}"/>
                </a:ext>
              </a:extLst>
            </p:cNvPr>
            <p:cNvSpPr/>
            <p:nvPr/>
          </p:nvSpPr>
          <p:spPr>
            <a:xfrm>
              <a:off x="4741139" y="2846135"/>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Server maintenance</a:t>
              </a:r>
            </a:p>
          </p:txBody>
        </p:sp>
        <p:sp>
          <p:nvSpPr>
            <p:cNvPr id="9" name="Rounded Rectangle 8">
              <a:extLst>
                <a:ext uri="{FF2B5EF4-FFF2-40B4-BE49-F238E27FC236}">
                  <a16:creationId xmlns:a16="http://schemas.microsoft.com/office/drawing/2014/main" id="{53969C5D-9D2A-2944-9187-63FD978D0ECE}"/>
                </a:ext>
              </a:extLst>
            </p:cNvPr>
            <p:cNvSpPr/>
            <p:nvPr/>
          </p:nvSpPr>
          <p:spPr>
            <a:xfrm>
              <a:off x="4741139" y="2299531"/>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OS patches</a:t>
              </a:r>
            </a:p>
          </p:txBody>
        </p:sp>
        <p:sp>
          <p:nvSpPr>
            <p:cNvPr id="10" name="Rounded Rectangle 9">
              <a:extLst>
                <a:ext uri="{FF2B5EF4-FFF2-40B4-BE49-F238E27FC236}">
                  <a16:creationId xmlns:a16="http://schemas.microsoft.com/office/drawing/2014/main" id="{34E8051E-D4DF-0A41-8D0E-79D66FE46CB2}"/>
                </a:ext>
              </a:extLst>
            </p:cNvPr>
            <p:cNvSpPr/>
            <p:nvPr/>
          </p:nvSpPr>
          <p:spPr>
            <a:xfrm>
              <a:off x="4741139" y="1752927"/>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DB s/w patches</a:t>
              </a:r>
            </a:p>
          </p:txBody>
        </p:sp>
        <p:sp>
          <p:nvSpPr>
            <p:cNvPr id="11" name="Rounded Rectangle 10">
              <a:extLst>
                <a:ext uri="{FF2B5EF4-FFF2-40B4-BE49-F238E27FC236}">
                  <a16:creationId xmlns:a16="http://schemas.microsoft.com/office/drawing/2014/main" id="{8C1F8113-9AB4-FE47-A1F0-3284F4E0C676}"/>
                </a:ext>
              </a:extLst>
            </p:cNvPr>
            <p:cNvSpPr/>
            <p:nvPr/>
          </p:nvSpPr>
          <p:spPr>
            <a:xfrm>
              <a:off x="4741139" y="1479625"/>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 backups</a:t>
              </a:r>
            </a:p>
          </p:txBody>
        </p:sp>
        <p:sp>
          <p:nvSpPr>
            <p:cNvPr id="12" name="Rounded Rectangle 11">
              <a:extLst>
                <a:ext uri="{FF2B5EF4-FFF2-40B4-BE49-F238E27FC236}">
                  <a16:creationId xmlns:a16="http://schemas.microsoft.com/office/drawing/2014/main" id="{8E593BBC-D32B-3648-85A7-1E9AEC9027E7}"/>
                </a:ext>
              </a:extLst>
            </p:cNvPr>
            <p:cNvSpPr/>
            <p:nvPr/>
          </p:nvSpPr>
          <p:spPr>
            <a:xfrm>
              <a:off x="4741139" y="1206323"/>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High availability</a:t>
              </a:r>
            </a:p>
          </p:txBody>
        </p:sp>
        <p:sp>
          <p:nvSpPr>
            <p:cNvPr id="13" name="Rounded Rectangle 12">
              <a:extLst>
                <a:ext uri="{FF2B5EF4-FFF2-40B4-BE49-F238E27FC236}">
                  <a16:creationId xmlns:a16="http://schemas.microsoft.com/office/drawing/2014/main" id="{7B00D37B-9BF9-B64C-91FB-7083C823AD31}"/>
                </a:ext>
              </a:extLst>
            </p:cNvPr>
            <p:cNvSpPr/>
            <p:nvPr/>
          </p:nvSpPr>
          <p:spPr>
            <a:xfrm>
              <a:off x="4741139" y="2026229"/>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DB s/w installs</a:t>
              </a:r>
            </a:p>
          </p:txBody>
        </p:sp>
        <p:sp>
          <p:nvSpPr>
            <p:cNvPr id="14" name="Rounded Rectangle 13">
              <a:extLst>
                <a:ext uri="{FF2B5EF4-FFF2-40B4-BE49-F238E27FC236}">
                  <a16:creationId xmlns:a16="http://schemas.microsoft.com/office/drawing/2014/main" id="{1E6CA003-AAE6-4440-8A3A-0CA716D80445}"/>
                </a:ext>
              </a:extLst>
            </p:cNvPr>
            <p:cNvSpPr/>
            <p:nvPr/>
          </p:nvSpPr>
          <p:spPr>
            <a:xfrm>
              <a:off x="4741139" y="2572833"/>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OS installation</a:t>
              </a:r>
            </a:p>
          </p:txBody>
        </p:sp>
        <p:sp>
          <p:nvSpPr>
            <p:cNvPr id="15" name="Rounded Rectangle 14">
              <a:extLst>
                <a:ext uri="{FF2B5EF4-FFF2-40B4-BE49-F238E27FC236}">
                  <a16:creationId xmlns:a16="http://schemas.microsoft.com/office/drawing/2014/main" id="{2210986C-A47B-BA43-9522-E71BBCDE6529}"/>
                </a:ext>
              </a:extLst>
            </p:cNvPr>
            <p:cNvSpPr/>
            <p:nvPr/>
          </p:nvSpPr>
          <p:spPr>
            <a:xfrm>
              <a:off x="4741139" y="933021"/>
              <a:ext cx="1828800" cy="2286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67"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Scaling</a:t>
              </a:r>
            </a:p>
          </p:txBody>
        </p:sp>
      </p:grpSp>
      <p:sp>
        <p:nvSpPr>
          <p:cNvPr id="16" name="Rounded Rectangle 15">
            <a:extLst>
              <a:ext uri="{FF2B5EF4-FFF2-40B4-BE49-F238E27FC236}">
                <a16:creationId xmlns:a16="http://schemas.microsoft.com/office/drawing/2014/main" id="{3A89DE94-0ECD-DC42-95DE-A8E55FF90F7F}"/>
              </a:ext>
            </a:extLst>
          </p:cNvPr>
          <p:cNvSpPr/>
          <p:nvPr/>
        </p:nvSpPr>
        <p:spPr>
          <a:xfrm>
            <a:off x="4359043" y="1468111"/>
            <a:ext cx="2438400" cy="3048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67"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App optimization</a:t>
            </a:r>
          </a:p>
        </p:txBody>
      </p:sp>
      <p:sp>
        <p:nvSpPr>
          <p:cNvPr id="17" name="TextBox 16">
            <a:extLst>
              <a:ext uri="{FF2B5EF4-FFF2-40B4-BE49-F238E27FC236}">
                <a16:creationId xmlns:a16="http://schemas.microsoft.com/office/drawing/2014/main" id="{EA4D7C8A-E301-8D40-BF42-C55D02623841}"/>
              </a:ext>
            </a:extLst>
          </p:cNvPr>
          <p:cNvSpPr txBox="1"/>
          <p:nvPr/>
        </p:nvSpPr>
        <p:spPr>
          <a:xfrm>
            <a:off x="3148818" y="1389678"/>
            <a:ext cx="884253" cy="461665"/>
          </a:xfrm>
          <a:prstGeom prst="rect">
            <a:avLst/>
          </a:prstGeom>
          <a:noFill/>
        </p:spPr>
        <p:txBody>
          <a:bodyPr wrap="square" rtlCol="0">
            <a:spAutoFit/>
          </a:bodyPr>
          <a:lstStyle/>
          <a:p>
            <a:pPr algn="r"/>
            <a:r>
              <a:rPr lang="en-US" sz="2400" b="1" i="1" dirty="0">
                <a:solidFill>
                  <a:srgbClr val="0000FF"/>
                </a:solidFill>
                <a:latin typeface="Amazon Ember" panose="020B0603020204020204" pitchFamily="34" charset="0"/>
                <a:ea typeface="Amazon Ember" panose="020B0603020204020204" pitchFamily="34" charset="0"/>
                <a:cs typeface="Amazon Ember" panose="020B0603020204020204" pitchFamily="34" charset="0"/>
              </a:rPr>
              <a:t>You</a:t>
            </a:r>
          </a:p>
        </p:txBody>
      </p:sp>
      <p:cxnSp>
        <p:nvCxnSpPr>
          <p:cNvPr id="30" name="Straight Arrow Connector 29">
            <a:extLst>
              <a:ext uri="{FF2B5EF4-FFF2-40B4-BE49-F238E27FC236}">
                <a16:creationId xmlns:a16="http://schemas.microsoft.com/office/drawing/2014/main" id="{758A0FD6-6432-5A45-B713-E97251BE7695}"/>
              </a:ext>
            </a:extLst>
          </p:cNvPr>
          <p:cNvCxnSpPr>
            <a:stCxn id="17" idx="3"/>
            <a:endCxn id="16" idx="1"/>
          </p:cNvCxnSpPr>
          <p:nvPr/>
        </p:nvCxnSpPr>
        <p:spPr>
          <a:xfrm>
            <a:off x="4033071" y="1620511"/>
            <a:ext cx="32597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Left Brace 31">
            <a:extLst>
              <a:ext uri="{FF2B5EF4-FFF2-40B4-BE49-F238E27FC236}">
                <a16:creationId xmlns:a16="http://schemas.microsoft.com/office/drawing/2014/main" id="{0ACF328A-0FDC-8F48-B946-7FE0EFB8D40B}"/>
              </a:ext>
            </a:extLst>
          </p:cNvPr>
          <p:cNvSpPr/>
          <p:nvPr/>
        </p:nvSpPr>
        <p:spPr>
          <a:xfrm flipH="1">
            <a:off x="6903332" y="2005018"/>
            <a:ext cx="352219" cy="382383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TextBox 34">
            <a:extLst>
              <a:ext uri="{FF2B5EF4-FFF2-40B4-BE49-F238E27FC236}">
                <a16:creationId xmlns:a16="http://schemas.microsoft.com/office/drawing/2014/main" id="{9ED65529-E940-9943-B274-D866DFE7EC5E}"/>
              </a:ext>
            </a:extLst>
          </p:cNvPr>
          <p:cNvSpPr txBox="1"/>
          <p:nvPr/>
        </p:nvSpPr>
        <p:spPr>
          <a:xfrm>
            <a:off x="3399898" y="5780002"/>
            <a:ext cx="4566265" cy="666977"/>
          </a:xfrm>
          <a:prstGeom prst="rect">
            <a:avLst/>
          </a:prstGeom>
          <a:noFill/>
        </p:spPr>
        <p:txBody>
          <a:bodyPr wrap="square" rtlCol="0">
            <a:spAutoFit/>
          </a:bodyPr>
          <a:lstStyle/>
          <a:p>
            <a:pPr algn="ctr"/>
            <a:r>
              <a:rPr lang="en-US" sz="1867" dirty="0">
                <a:latin typeface="Amazon Ember" panose="020B0603020204020204" pitchFamily="34" charset="0"/>
                <a:ea typeface="Amazon Ember" panose="020B0603020204020204" pitchFamily="34" charset="0"/>
                <a:cs typeface="Amazon Ember" panose="020B0603020204020204" pitchFamily="34" charset="0"/>
              </a:rPr>
              <a:t>If you host your databases in </a:t>
            </a:r>
            <a:br>
              <a:rPr lang="en-US" sz="1867" dirty="0">
                <a:latin typeface="Amazon Ember" panose="020B0603020204020204" pitchFamily="34" charset="0"/>
                <a:ea typeface="Amazon Ember" panose="020B0603020204020204" pitchFamily="34" charset="0"/>
                <a:cs typeface="Amazon Ember" panose="020B0603020204020204" pitchFamily="34" charset="0"/>
              </a:rPr>
            </a:br>
            <a:r>
              <a:rPr lang="en-US" sz="1867"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a managed AWS database service</a:t>
            </a:r>
          </a:p>
        </p:txBody>
      </p:sp>
      <p:pic>
        <p:nvPicPr>
          <p:cNvPr id="20" name="Picture 19">
            <a:extLst>
              <a:ext uri="{FF2B5EF4-FFF2-40B4-BE49-F238E27FC236}">
                <a16:creationId xmlns:a16="http://schemas.microsoft.com/office/drawing/2014/main" id="{7214F70E-AA84-584A-B038-C4EABF220240}"/>
              </a:ext>
            </a:extLst>
          </p:cNvPr>
          <p:cNvPicPr>
            <a:picLocks noChangeAspect="1"/>
          </p:cNvPicPr>
          <p:nvPr/>
        </p:nvPicPr>
        <p:blipFill rotWithShape="1">
          <a:blip r:embed="rId3">
            <a:extLst>
              <a:ext uri="{28A0092B-C50C-407E-A947-70E740481C1C}">
                <a14:useLocalDpi xmlns:a14="http://schemas.microsoft.com/office/drawing/2010/main" val="0"/>
              </a:ext>
            </a:extLst>
          </a:blip>
          <a:srcRect r="57761"/>
          <a:stretch/>
        </p:blipFill>
        <p:spPr>
          <a:xfrm>
            <a:off x="7389476" y="3677229"/>
            <a:ext cx="1153373" cy="682653"/>
          </a:xfrm>
          <a:prstGeom prst="rect">
            <a:avLst/>
          </a:prstGeom>
        </p:spPr>
      </p:pic>
    </p:spTree>
    <p:extLst>
      <p:ext uri="{BB962C8B-B14F-4D97-AF65-F5344CB8AC3E}">
        <p14:creationId xmlns:p14="http://schemas.microsoft.com/office/powerpoint/2010/main" val="2665865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1352854" cy="779057"/>
          </a:xfrm>
        </p:spPr>
        <p:txBody>
          <a:bodyPr>
            <a:noAutofit/>
          </a:bodyPr>
          <a:lstStyle/>
          <a:p>
            <a:r>
              <a:rPr lang="en-US" dirty="0"/>
              <a:t>Amazon RDS and Amazon DynamoDB</a:t>
            </a:r>
          </a:p>
        </p:txBody>
      </p:sp>
    </p:spTree>
    <p:extLst>
      <p:ext uri="{BB962C8B-B14F-4D97-AF65-F5344CB8AC3E}">
        <p14:creationId xmlns:p14="http://schemas.microsoft.com/office/powerpoint/2010/main" val="1138074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Amazon Database Options</a:t>
            </a:r>
          </a:p>
        </p:txBody>
      </p:sp>
      <p:grpSp>
        <p:nvGrpSpPr>
          <p:cNvPr id="17" name="Group 16"/>
          <p:cNvGrpSpPr/>
          <p:nvPr/>
        </p:nvGrpSpPr>
        <p:grpSpPr>
          <a:xfrm>
            <a:off x="617083" y="2238840"/>
            <a:ext cx="10155043" cy="2902542"/>
            <a:chOff x="725376" y="2238530"/>
            <a:chExt cx="10157688" cy="2903298"/>
          </a:xfrm>
        </p:grpSpPr>
        <p:grpSp>
          <p:nvGrpSpPr>
            <p:cNvPr id="15" name="Group 14"/>
            <p:cNvGrpSpPr/>
            <p:nvPr/>
          </p:nvGrpSpPr>
          <p:grpSpPr>
            <a:xfrm>
              <a:off x="5756306" y="2280189"/>
              <a:ext cx="5126758" cy="2861639"/>
              <a:chOff x="6245756" y="2273309"/>
              <a:chExt cx="5126758" cy="2861639"/>
            </a:xfrm>
          </p:grpSpPr>
          <p:sp>
            <p:nvSpPr>
              <p:cNvPr id="16" name="TextBox 15">
                <a:extLst>
                  <a:ext uri="{FF2B5EF4-FFF2-40B4-BE49-F238E27FC236}">
                    <a16:creationId xmlns:a16="http://schemas.microsoft.com/office/drawing/2014/main" id="{DFE66C86-9CEC-524B-9FBE-AC3640F929C7}"/>
                  </a:ext>
                </a:extLst>
              </p:cNvPr>
              <p:cNvSpPr txBox="1"/>
              <p:nvPr/>
            </p:nvSpPr>
            <p:spPr>
              <a:xfrm>
                <a:off x="7027936" y="2273309"/>
                <a:ext cx="4344578" cy="523220"/>
              </a:xfrm>
              <a:prstGeom prst="rect">
                <a:avLst/>
              </a:prstGeom>
              <a:noFill/>
            </p:spPr>
            <p:txBody>
              <a:bodyPr wrap="square" rtlCol="0">
                <a:spAutoFit/>
              </a:bodyPr>
              <a:lstStyle/>
              <a:p>
                <a:pPr algn="ctr"/>
                <a:r>
                  <a:rPr lang="en-US" sz="2799" dirty="0">
                    <a:solidFill>
                      <a:srgbClr val="4AC1FF"/>
                    </a:solidFill>
                    <a:latin typeface="Amazon Ember Light" panose="020B0403020204020204" pitchFamily="34" charset="0"/>
                    <a:ea typeface="Amazon Ember Light" panose="020B0403020204020204" pitchFamily="34" charset="0"/>
                    <a:cs typeface="Amazon Ember Light" panose="020B0403020204020204" pitchFamily="34" charset="0"/>
                  </a:rPr>
                  <a:t>Non-Relational Databases</a:t>
                </a:r>
              </a:p>
            </p:txBody>
          </p:sp>
          <p:grpSp>
            <p:nvGrpSpPr>
              <p:cNvPr id="14" name="Group 13"/>
              <p:cNvGrpSpPr/>
              <p:nvPr/>
            </p:nvGrpSpPr>
            <p:grpSpPr>
              <a:xfrm>
                <a:off x="6245756" y="3164951"/>
                <a:ext cx="4684953" cy="1969997"/>
                <a:chOff x="6240762" y="3164951"/>
                <a:chExt cx="4684953" cy="1969997"/>
              </a:xfrm>
            </p:grpSpPr>
            <p:grpSp>
              <p:nvGrpSpPr>
                <p:cNvPr id="11" name="Group 10"/>
                <p:cNvGrpSpPr/>
                <p:nvPr/>
              </p:nvGrpSpPr>
              <p:grpSpPr>
                <a:xfrm>
                  <a:off x="9195231" y="3164951"/>
                  <a:ext cx="1730484" cy="1969997"/>
                  <a:chOff x="9195231" y="3164951"/>
                  <a:chExt cx="1730484" cy="1969997"/>
                </a:xfrm>
              </p:grpSpPr>
              <p:sp>
                <p:nvSpPr>
                  <p:cNvPr id="24" name="TextBox 23">
                    <a:extLst>
                      <a:ext uri="{FF2B5EF4-FFF2-40B4-BE49-F238E27FC236}">
                        <a16:creationId xmlns:a16="http://schemas.microsoft.com/office/drawing/2014/main" id="{06E764F6-5817-A244-8E93-4EE847E2D28C}"/>
                      </a:ext>
                    </a:extLst>
                  </p:cNvPr>
                  <p:cNvSpPr txBox="1"/>
                  <p:nvPr/>
                </p:nvSpPr>
                <p:spPr>
                  <a:xfrm>
                    <a:off x="9195231" y="4427062"/>
                    <a:ext cx="1730484" cy="707886"/>
                  </a:xfrm>
                  <a:prstGeom prst="rect">
                    <a:avLst/>
                  </a:prstGeom>
                  <a:noFill/>
                </p:spPr>
                <p:txBody>
                  <a:bodyPr wrap="square" rtlCol="0">
                    <a:spAutoFit/>
                  </a:bodyPr>
                  <a:lstStyle/>
                  <a:p>
                    <a:pPr algn="ctr"/>
                    <a:r>
                      <a:rPr lang="en-US" sz="1999" dirty="0">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Amazon Neptune</a:t>
                    </a:r>
                  </a:p>
                </p:txBody>
              </p:sp>
              <p:pic>
                <p:nvPicPr>
                  <p:cNvPr id="29" name="Graphic 12">
                    <a:extLst>
                      <a:ext uri="{FF2B5EF4-FFF2-40B4-BE49-F238E27FC236}">
                        <a16:creationId xmlns:a16="http://schemas.microsoft.com/office/drawing/2014/main" id="{1C6B83D2-6654-284D-8391-ACAF1DACF2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0862" y="3164951"/>
                    <a:ext cx="1099223" cy="1099223"/>
                  </a:xfrm>
                  <a:prstGeom prst="rect">
                    <a:avLst/>
                  </a:prstGeom>
                </p:spPr>
              </p:pic>
            </p:grpSp>
            <p:grpSp>
              <p:nvGrpSpPr>
                <p:cNvPr id="9" name="Group 8"/>
                <p:cNvGrpSpPr/>
                <p:nvPr/>
              </p:nvGrpSpPr>
              <p:grpSpPr>
                <a:xfrm>
                  <a:off x="6240762" y="3164951"/>
                  <a:ext cx="1780490" cy="1969997"/>
                  <a:chOff x="6240762" y="3164951"/>
                  <a:chExt cx="1780490" cy="1969997"/>
                </a:xfrm>
              </p:grpSpPr>
              <p:sp>
                <p:nvSpPr>
                  <p:cNvPr id="22" name="TextBox 21">
                    <a:extLst>
                      <a:ext uri="{FF2B5EF4-FFF2-40B4-BE49-F238E27FC236}">
                        <a16:creationId xmlns:a16="http://schemas.microsoft.com/office/drawing/2014/main" id="{8AEAD83B-A02A-AC4D-AB53-FE4C152535AE}"/>
                      </a:ext>
                    </a:extLst>
                  </p:cNvPr>
                  <p:cNvSpPr txBox="1"/>
                  <p:nvPr/>
                </p:nvSpPr>
                <p:spPr>
                  <a:xfrm>
                    <a:off x="6240762" y="4427062"/>
                    <a:ext cx="1780490" cy="707886"/>
                  </a:xfrm>
                  <a:prstGeom prst="rect">
                    <a:avLst/>
                  </a:prstGeom>
                  <a:noFill/>
                </p:spPr>
                <p:txBody>
                  <a:bodyPr wrap="square" rtlCol="0">
                    <a:spAutoFit/>
                  </a:bodyPr>
                  <a:lstStyle/>
                  <a:p>
                    <a:pPr algn="ctr"/>
                    <a:r>
                      <a:rPr lang="en-US" sz="1999" dirty="0">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Amazon DynamoDB</a:t>
                    </a:r>
                  </a:p>
                </p:txBody>
              </p:sp>
              <p:pic>
                <p:nvPicPr>
                  <p:cNvPr id="31" name="Graphic 47">
                    <a:extLst>
                      <a:ext uri="{FF2B5EF4-FFF2-40B4-BE49-F238E27FC236}">
                        <a16:creationId xmlns:a16="http://schemas.microsoft.com/office/drawing/2014/main" id="{64ACDB4E-B998-9447-845B-246D5827B9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81396" y="3164951"/>
                    <a:ext cx="1099223" cy="1099223"/>
                  </a:xfrm>
                  <a:prstGeom prst="rect">
                    <a:avLst/>
                  </a:prstGeom>
                </p:spPr>
              </p:pic>
            </p:grpSp>
            <p:grpSp>
              <p:nvGrpSpPr>
                <p:cNvPr id="10" name="Group 9"/>
                <p:cNvGrpSpPr/>
                <p:nvPr/>
              </p:nvGrpSpPr>
              <p:grpSpPr>
                <a:xfrm>
                  <a:off x="7606207" y="3164951"/>
                  <a:ext cx="1979065" cy="1969997"/>
                  <a:chOff x="7606207" y="3164951"/>
                  <a:chExt cx="1979065" cy="1969997"/>
                </a:xfrm>
              </p:grpSpPr>
              <p:sp>
                <p:nvSpPr>
                  <p:cNvPr id="23" name="TextBox 22">
                    <a:extLst>
                      <a:ext uri="{FF2B5EF4-FFF2-40B4-BE49-F238E27FC236}">
                        <a16:creationId xmlns:a16="http://schemas.microsoft.com/office/drawing/2014/main" id="{D650B931-6827-6547-83E4-A4840C08D830}"/>
                      </a:ext>
                    </a:extLst>
                  </p:cNvPr>
                  <p:cNvSpPr txBox="1"/>
                  <p:nvPr/>
                </p:nvSpPr>
                <p:spPr>
                  <a:xfrm>
                    <a:off x="7606207" y="4427062"/>
                    <a:ext cx="1979065" cy="707886"/>
                  </a:xfrm>
                  <a:prstGeom prst="rect">
                    <a:avLst/>
                  </a:prstGeom>
                  <a:noFill/>
                </p:spPr>
                <p:txBody>
                  <a:bodyPr wrap="square" rtlCol="0">
                    <a:spAutoFit/>
                  </a:bodyPr>
                  <a:lstStyle/>
                  <a:p>
                    <a:pPr algn="ctr"/>
                    <a:r>
                      <a:rPr lang="en-US" sz="1999" dirty="0">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Amazon ElastiCache</a:t>
                    </a:r>
                  </a:p>
                </p:txBody>
              </p:sp>
              <p:pic>
                <p:nvPicPr>
                  <p:cNvPr id="32" name="Graphic 57">
                    <a:extLst>
                      <a:ext uri="{FF2B5EF4-FFF2-40B4-BE49-F238E27FC236}">
                        <a16:creationId xmlns:a16="http://schemas.microsoft.com/office/drawing/2014/main" id="{3060BB77-83D3-884D-AD1A-9A300D680F1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46129" y="3164951"/>
                    <a:ext cx="1099223" cy="1099223"/>
                  </a:xfrm>
                  <a:prstGeom prst="rect">
                    <a:avLst/>
                  </a:prstGeom>
                </p:spPr>
              </p:pic>
            </p:grpSp>
          </p:grpSp>
        </p:grpSp>
        <p:grpSp>
          <p:nvGrpSpPr>
            <p:cNvPr id="13" name="Group 12"/>
            <p:cNvGrpSpPr/>
            <p:nvPr/>
          </p:nvGrpSpPr>
          <p:grpSpPr>
            <a:xfrm>
              <a:off x="725376" y="2238530"/>
              <a:ext cx="4323783" cy="2896418"/>
              <a:chOff x="725376" y="2238530"/>
              <a:chExt cx="4323783" cy="2896418"/>
            </a:xfrm>
          </p:grpSpPr>
          <p:sp>
            <p:nvSpPr>
              <p:cNvPr id="3" name="TextBox 2">
                <a:extLst>
                  <a:ext uri="{FF2B5EF4-FFF2-40B4-BE49-F238E27FC236}">
                    <a16:creationId xmlns:a16="http://schemas.microsoft.com/office/drawing/2014/main" id="{6653AD5C-08FD-DA43-B7F2-6B7D0001A827}"/>
                  </a:ext>
                </a:extLst>
              </p:cNvPr>
              <p:cNvSpPr txBox="1"/>
              <p:nvPr/>
            </p:nvSpPr>
            <p:spPr>
              <a:xfrm>
                <a:off x="782683" y="2238530"/>
                <a:ext cx="4209168" cy="523220"/>
              </a:xfrm>
              <a:prstGeom prst="rect">
                <a:avLst/>
              </a:prstGeom>
              <a:noFill/>
            </p:spPr>
            <p:txBody>
              <a:bodyPr wrap="square" rtlCol="0">
                <a:spAutoFit/>
              </a:bodyPr>
              <a:lstStyle/>
              <a:p>
                <a:pPr algn="ctr"/>
                <a:r>
                  <a:rPr lang="en-US" sz="2799"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Relational Databases</a:t>
                </a:r>
              </a:p>
            </p:txBody>
          </p:sp>
          <p:grpSp>
            <p:nvGrpSpPr>
              <p:cNvPr id="12" name="Group 11"/>
              <p:cNvGrpSpPr/>
              <p:nvPr/>
            </p:nvGrpSpPr>
            <p:grpSpPr>
              <a:xfrm>
                <a:off x="725376" y="3164951"/>
                <a:ext cx="4323783" cy="1969997"/>
                <a:chOff x="708910" y="3164951"/>
                <a:chExt cx="4323783" cy="1969997"/>
              </a:xfrm>
            </p:grpSpPr>
            <p:grpSp>
              <p:nvGrpSpPr>
                <p:cNvPr id="7" name="Group 6"/>
                <p:cNvGrpSpPr/>
                <p:nvPr/>
              </p:nvGrpSpPr>
              <p:grpSpPr>
                <a:xfrm>
                  <a:off x="2110013" y="3170990"/>
                  <a:ext cx="1521578" cy="1963958"/>
                  <a:chOff x="2110013" y="3170990"/>
                  <a:chExt cx="1521578" cy="1963958"/>
                </a:xfrm>
              </p:grpSpPr>
              <p:sp>
                <p:nvSpPr>
                  <p:cNvPr id="21" name="TextBox 20">
                    <a:extLst>
                      <a:ext uri="{FF2B5EF4-FFF2-40B4-BE49-F238E27FC236}">
                        <a16:creationId xmlns:a16="http://schemas.microsoft.com/office/drawing/2014/main" id="{6936F649-7931-D148-B0C2-873B316064BB}"/>
                      </a:ext>
                    </a:extLst>
                  </p:cNvPr>
                  <p:cNvSpPr txBox="1"/>
                  <p:nvPr/>
                </p:nvSpPr>
                <p:spPr>
                  <a:xfrm>
                    <a:off x="2110013" y="4427062"/>
                    <a:ext cx="1521578" cy="707886"/>
                  </a:xfrm>
                  <a:prstGeom prst="rect">
                    <a:avLst/>
                  </a:prstGeom>
                  <a:noFill/>
                </p:spPr>
                <p:txBody>
                  <a:bodyPr wrap="square" rtlCol="0">
                    <a:spAutoFit/>
                  </a:bodyPr>
                  <a:lstStyle/>
                  <a:p>
                    <a:pPr algn="ctr"/>
                    <a:r>
                      <a:rPr lang="en-US" sz="1999" dirty="0">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Amazon Redshift</a:t>
                    </a:r>
                  </a:p>
                </p:txBody>
              </p:sp>
              <p:pic>
                <p:nvPicPr>
                  <p:cNvPr id="30" name="Graphic 33">
                    <a:extLst>
                      <a:ext uri="{FF2B5EF4-FFF2-40B4-BE49-F238E27FC236}">
                        <a16:creationId xmlns:a16="http://schemas.microsoft.com/office/drawing/2014/main" id="{8BE31354-0FB2-1D49-82D7-D84A84D065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18171" y="3170990"/>
                    <a:ext cx="1099223" cy="1099223"/>
                  </a:xfrm>
                  <a:prstGeom prst="rect">
                    <a:avLst/>
                  </a:prstGeom>
                </p:spPr>
              </p:pic>
            </p:grpSp>
            <p:grpSp>
              <p:nvGrpSpPr>
                <p:cNvPr id="6" name="Group 5"/>
                <p:cNvGrpSpPr/>
                <p:nvPr/>
              </p:nvGrpSpPr>
              <p:grpSpPr>
                <a:xfrm>
                  <a:off x="708910" y="3170990"/>
                  <a:ext cx="1394316" cy="1963958"/>
                  <a:chOff x="708910" y="3170990"/>
                  <a:chExt cx="1394316" cy="1963958"/>
                </a:xfrm>
              </p:grpSpPr>
              <p:sp>
                <p:nvSpPr>
                  <p:cNvPr id="20" name="TextBox 19">
                    <a:extLst>
                      <a:ext uri="{FF2B5EF4-FFF2-40B4-BE49-F238E27FC236}">
                        <a16:creationId xmlns:a16="http://schemas.microsoft.com/office/drawing/2014/main" id="{E8FBC3F4-5F07-A843-B54A-B8853D7558CD}"/>
                      </a:ext>
                    </a:extLst>
                  </p:cNvPr>
                  <p:cNvSpPr txBox="1"/>
                  <p:nvPr/>
                </p:nvSpPr>
                <p:spPr>
                  <a:xfrm>
                    <a:off x="708910" y="4427062"/>
                    <a:ext cx="1394316" cy="707886"/>
                  </a:xfrm>
                  <a:prstGeom prst="rect">
                    <a:avLst/>
                  </a:prstGeom>
                  <a:noFill/>
                </p:spPr>
                <p:txBody>
                  <a:bodyPr wrap="square" rtlCol="0">
                    <a:spAutoFit/>
                  </a:bodyPr>
                  <a:lstStyle/>
                  <a:p>
                    <a:pPr algn="ctr"/>
                    <a:r>
                      <a:rPr lang="en-US" sz="1999" dirty="0">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Amazon RDS</a:t>
                    </a:r>
                  </a:p>
                </p:txBody>
              </p:sp>
              <p:pic>
                <p:nvPicPr>
                  <p:cNvPr id="34" name="Graphic 15">
                    <a:extLst>
                      <a:ext uri="{FF2B5EF4-FFF2-40B4-BE49-F238E27FC236}">
                        <a16:creationId xmlns:a16="http://schemas.microsoft.com/office/drawing/2014/main" id="{C74B9571-CBCE-0B41-BB93-C639C1D06DC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56457" y="3170990"/>
                    <a:ext cx="1099223" cy="1099223"/>
                  </a:xfrm>
                  <a:prstGeom prst="rect">
                    <a:avLst/>
                  </a:prstGeom>
                </p:spPr>
              </p:pic>
            </p:grpSp>
            <p:grpSp>
              <p:nvGrpSpPr>
                <p:cNvPr id="8" name="Group 7"/>
                <p:cNvGrpSpPr/>
                <p:nvPr/>
              </p:nvGrpSpPr>
              <p:grpSpPr>
                <a:xfrm>
                  <a:off x="3638377" y="3164951"/>
                  <a:ext cx="1394316" cy="1969997"/>
                  <a:chOff x="3638377" y="3164951"/>
                  <a:chExt cx="1394316" cy="1969997"/>
                </a:xfrm>
              </p:grpSpPr>
              <p:sp>
                <p:nvSpPr>
                  <p:cNvPr id="37" name="TextBox 36">
                    <a:extLst>
                      <a:ext uri="{FF2B5EF4-FFF2-40B4-BE49-F238E27FC236}">
                        <a16:creationId xmlns:a16="http://schemas.microsoft.com/office/drawing/2014/main" id="{E8FBC3F4-5F07-A843-B54A-B8853D7558CD}"/>
                      </a:ext>
                    </a:extLst>
                  </p:cNvPr>
                  <p:cNvSpPr txBox="1"/>
                  <p:nvPr/>
                </p:nvSpPr>
                <p:spPr>
                  <a:xfrm>
                    <a:off x="3638377" y="4427062"/>
                    <a:ext cx="1394316" cy="707886"/>
                  </a:xfrm>
                  <a:prstGeom prst="rect">
                    <a:avLst/>
                  </a:prstGeom>
                  <a:noFill/>
                </p:spPr>
                <p:txBody>
                  <a:bodyPr wrap="square" rtlCol="0">
                    <a:spAutoFit/>
                  </a:bodyPr>
                  <a:lstStyle/>
                  <a:p>
                    <a:pPr algn="ctr"/>
                    <a:r>
                      <a:rPr lang="en-US" sz="1999" dirty="0">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Amazon Aurora</a:t>
                    </a:r>
                  </a:p>
                </p:txBody>
              </p:sp>
              <p:pic>
                <p:nvPicPr>
                  <p:cNvPr id="39" name="Graphic 27">
                    <a:extLst>
                      <a:ext uri="{FF2B5EF4-FFF2-40B4-BE49-F238E27FC236}">
                        <a16:creationId xmlns:a16="http://schemas.microsoft.com/office/drawing/2014/main" id="{BE111FD0-BA65-1E49-9BA2-83EC0AED97E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779885" y="3164951"/>
                    <a:ext cx="1111301" cy="1111301"/>
                  </a:xfrm>
                  <a:prstGeom prst="rect">
                    <a:avLst/>
                  </a:prstGeom>
                </p:spPr>
              </p:pic>
            </p:grpSp>
          </p:grpSp>
        </p:grpSp>
      </p:grpSp>
      <p:sp>
        <p:nvSpPr>
          <p:cNvPr id="4" name="TextBox 3"/>
          <p:cNvSpPr txBox="1"/>
          <p:nvPr/>
        </p:nvSpPr>
        <p:spPr>
          <a:xfrm>
            <a:off x="2170635" y="5825410"/>
            <a:ext cx="7847554" cy="368916"/>
          </a:xfrm>
          <a:prstGeom prst="rect">
            <a:avLst/>
          </a:prstGeom>
          <a:noFill/>
        </p:spPr>
        <p:txBody>
          <a:bodyPr wrap="square" rtlCol="0">
            <a:spAutoFit/>
          </a:bodyPr>
          <a:lstStyle/>
          <a:p>
            <a:pPr algn="ctr"/>
            <a:r>
              <a:rPr lang="en-US" sz="1797" dirty="0">
                <a:solidFill>
                  <a:schemeClr val="tx1">
                    <a:lumMod val="75000"/>
                    <a:lumOff val="25000"/>
                  </a:schemeClr>
                </a:solidFill>
                <a:latin typeface="Amazon Ember" panose="02000000000000000000" pitchFamily="2" charset="0"/>
                <a:ea typeface="Amazon Ember" panose="02000000000000000000" pitchFamily="2" charset="0"/>
              </a:rPr>
              <a:t>There are more databases – these are just common examples</a:t>
            </a:r>
          </a:p>
        </p:txBody>
      </p:sp>
      <p:sp>
        <p:nvSpPr>
          <p:cNvPr id="33" name="TextBox 32">
            <a:extLst>
              <a:ext uri="{FF2B5EF4-FFF2-40B4-BE49-F238E27FC236}">
                <a16:creationId xmlns:a16="http://schemas.microsoft.com/office/drawing/2014/main" id="{178A3618-54C9-2444-95E6-18ABA1F6DDA2}"/>
              </a:ext>
            </a:extLst>
          </p:cNvPr>
          <p:cNvSpPr txBox="1"/>
          <p:nvPr/>
        </p:nvSpPr>
        <p:spPr>
          <a:xfrm>
            <a:off x="9866227" y="4440881"/>
            <a:ext cx="1978550" cy="1322926"/>
          </a:xfrm>
          <a:prstGeom prst="rect">
            <a:avLst/>
          </a:prstGeom>
          <a:noFill/>
        </p:spPr>
        <p:txBody>
          <a:bodyPr wrap="square" rtlCol="0">
            <a:spAutoFit/>
          </a:bodyPr>
          <a:lstStyle/>
          <a:p>
            <a:pPr algn="ctr"/>
            <a:r>
              <a:rPr lang="en-US" sz="1999" dirty="0">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Amazon </a:t>
            </a:r>
            <a:r>
              <a:rPr lang="en-US" sz="1999" dirty="0" err="1">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DocumentDB</a:t>
            </a:r>
            <a:r>
              <a:rPr lang="en-US" sz="1999" dirty="0">
                <a:solidFill>
                  <a:schemeClr val="tx1">
                    <a:lumMod val="75000"/>
                    <a:lumOff val="25000"/>
                  </a:schemeClr>
                </a:solidFill>
                <a:latin typeface="Amazon Ember Cd RC" panose="020B0606020204020204" pitchFamily="34" charset="0"/>
                <a:ea typeface="Amazon Ember Cd RC" panose="020B0606020204020204" pitchFamily="34" charset="0"/>
                <a:cs typeface="Amazon Ember Cd RC" panose="020B0606020204020204" pitchFamily="34" charset="0"/>
              </a:rPr>
              <a:t> (with MongoDB compatibility)</a:t>
            </a:r>
          </a:p>
        </p:txBody>
      </p:sp>
      <p:pic>
        <p:nvPicPr>
          <p:cNvPr id="35" name="Graphic 34">
            <a:extLst>
              <a:ext uri="{FF2B5EF4-FFF2-40B4-BE49-F238E27FC236}">
                <a16:creationId xmlns:a16="http://schemas.microsoft.com/office/drawing/2014/main" id="{0941FF16-9028-D84F-93CA-6E7F263E766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306034" y="3171897"/>
            <a:ext cx="1098937" cy="1098937"/>
          </a:xfrm>
          <a:prstGeom prst="rect">
            <a:avLst/>
          </a:prstGeom>
        </p:spPr>
      </p:pic>
    </p:spTree>
    <p:extLst>
      <p:ext uri="{BB962C8B-B14F-4D97-AF65-F5344CB8AC3E}">
        <p14:creationId xmlns:p14="http://schemas.microsoft.com/office/powerpoint/2010/main" val="2101390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Our Focus</a:t>
            </a:r>
          </a:p>
        </p:txBody>
      </p:sp>
      <p:grpSp>
        <p:nvGrpSpPr>
          <p:cNvPr id="3" name="Group 2">
            <a:extLst>
              <a:ext uri="{FF2B5EF4-FFF2-40B4-BE49-F238E27FC236}">
                <a16:creationId xmlns:a16="http://schemas.microsoft.com/office/drawing/2014/main" id="{08878D3C-2925-4E45-A049-3D0A62E4C194}"/>
              </a:ext>
            </a:extLst>
          </p:cNvPr>
          <p:cNvGrpSpPr/>
          <p:nvPr/>
        </p:nvGrpSpPr>
        <p:grpSpPr>
          <a:xfrm>
            <a:off x="2737637" y="1848844"/>
            <a:ext cx="6713551" cy="4045058"/>
            <a:chOff x="2423888" y="1848844"/>
            <a:chExt cx="6713551" cy="4045058"/>
          </a:xfrm>
        </p:grpSpPr>
        <p:sp>
          <p:nvSpPr>
            <p:cNvPr id="22" name="TextBox 21">
              <a:extLst>
                <a:ext uri="{FF2B5EF4-FFF2-40B4-BE49-F238E27FC236}">
                  <a16:creationId xmlns:a16="http://schemas.microsoft.com/office/drawing/2014/main" id="{8AEAD83B-A02A-AC4D-AB53-FE4C152535AE}"/>
                </a:ext>
              </a:extLst>
            </p:cNvPr>
            <p:cNvSpPr txBox="1"/>
            <p:nvPr/>
          </p:nvSpPr>
          <p:spPr>
            <a:xfrm>
              <a:off x="6511089" y="4507305"/>
              <a:ext cx="2366952"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DynamoDB</a:t>
              </a:r>
            </a:p>
          </p:txBody>
        </p:sp>
        <p:pic>
          <p:nvPicPr>
            <p:cNvPr id="25" name="Picture 24">
              <a:extLst>
                <a:ext uri="{FF2B5EF4-FFF2-40B4-BE49-F238E27FC236}">
                  <a16:creationId xmlns:a16="http://schemas.microsoft.com/office/drawing/2014/main" id="{29F90DDB-DA7D-5541-81D1-307139E14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5026" y="2896185"/>
              <a:ext cx="1143474" cy="1322141"/>
            </a:xfrm>
            <a:prstGeom prst="rect">
              <a:avLst/>
            </a:prstGeom>
          </p:spPr>
        </p:pic>
        <p:pic>
          <p:nvPicPr>
            <p:cNvPr id="28" name="Picture 27">
              <a:extLst>
                <a:ext uri="{FF2B5EF4-FFF2-40B4-BE49-F238E27FC236}">
                  <a16:creationId xmlns:a16="http://schemas.microsoft.com/office/drawing/2014/main" id="{8EFEE92C-3BD5-9649-AAAC-EC0FFAC9F2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3963" y="2903049"/>
              <a:ext cx="1181204" cy="1308412"/>
            </a:xfrm>
            <a:prstGeom prst="rect">
              <a:avLst/>
            </a:prstGeom>
          </p:spPr>
        </p:pic>
        <p:sp>
          <p:nvSpPr>
            <p:cNvPr id="16" name="TextBox 15">
              <a:extLst>
                <a:ext uri="{FF2B5EF4-FFF2-40B4-BE49-F238E27FC236}">
                  <a16:creationId xmlns:a16="http://schemas.microsoft.com/office/drawing/2014/main" id="{B442D2FF-FB4A-7C4D-973D-43C38A905AB1}"/>
                </a:ext>
              </a:extLst>
            </p:cNvPr>
            <p:cNvSpPr txBox="1"/>
            <p:nvPr/>
          </p:nvSpPr>
          <p:spPr>
            <a:xfrm>
              <a:off x="2960048" y="4507305"/>
              <a:ext cx="1813430"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RDS</a:t>
              </a:r>
            </a:p>
          </p:txBody>
        </p:sp>
        <p:sp>
          <p:nvSpPr>
            <p:cNvPr id="10" name="TextBox 9">
              <a:extLst>
                <a:ext uri="{FF2B5EF4-FFF2-40B4-BE49-F238E27FC236}">
                  <a16:creationId xmlns:a16="http://schemas.microsoft.com/office/drawing/2014/main" id="{9BF6E215-0831-1C45-91CA-AF1DD82BF087}"/>
                </a:ext>
              </a:extLst>
            </p:cNvPr>
            <p:cNvSpPr txBox="1"/>
            <p:nvPr/>
          </p:nvSpPr>
          <p:spPr>
            <a:xfrm>
              <a:off x="2840446" y="2254004"/>
              <a:ext cx="2052634"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Relational</a:t>
              </a:r>
            </a:p>
          </p:txBody>
        </p:sp>
        <p:sp>
          <p:nvSpPr>
            <p:cNvPr id="11" name="TextBox 10">
              <a:extLst>
                <a:ext uri="{FF2B5EF4-FFF2-40B4-BE49-F238E27FC236}">
                  <a16:creationId xmlns:a16="http://schemas.microsoft.com/office/drawing/2014/main" id="{33C1C7B7-1595-F649-B12F-426BBCB3756E}"/>
                </a:ext>
              </a:extLst>
            </p:cNvPr>
            <p:cNvSpPr txBox="1"/>
            <p:nvPr/>
          </p:nvSpPr>
          <p:spPr>
            <a:xfrm>
              <a:off x="6668248" y="2247992"/>
              <a:ext cx="2052634"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Non-Relational</a:t>
              </a:r>
            </a:p>
          </p:txBody>
        </p:sp>
        <p:sp>
          <p:nvSpPr>
            <p:cNvPr id="12" name="Rectangle 11">
              <a:extLst>
                <a:ext uri="{FF2B5EF4-FFF2-40B4-BE49-F238E27FC236}">
                  <a16:creationId xmlns:a16="http://schemas.microsoft.com/office/drawing/2014/main" id="{D9B6C954-5802-6B44-B8EE-19DDFB775D28}"/>
                </a:ext>
              </a:extLst>
            </p:cNvPr>
            <p:cNvSpPr/>
            <p:nvPr/>
          </p:nvSpPr>
          <p:spPr>
            <a:xfrm>
              <a:off x="6251690" y="1848844"/>
              <a:ext cx="2885749" cy="4045058"/>
            </a:xfrm>
            <a:prstGeom prst="rect">
              <a:avLst/>
            </a:prstGeom>
            <a:noFill/>
            <a:ln w="508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3" name="Rectangle 12">
              <a:extLst>
                <a:ext uri="{FF2B5EF4-FFF2-40B4-BE49-F238E27FC236}">
                  <a16:creationId xmlns:a16="http://schemas.microsoft.com/office/drawing/2014/main" id="{D9B6C954-5802-6B44-B8EE-19DDFB775D28}"/>
                </a:ext>
              </a:extLst>
            </p:cNvPr>
            <p:cNvSpPr/>
            <p:nvPr/>
          </p:nvSpPr>
          <p:spPr>
            <a:xfrm>
              <a:off x="2423888" y="1848844"/>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grpSp>
    </p:spTree>
    <p:extLst>
      <p:ext uri="{BB962C8B-B14F-4D97-AF65-F5344CB8AC3E}">
        <p14:creationId xmlns:p14="http://schemas.microsoft.com/office/powerpoint/2010/main" val="3689850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Amazon RDS</a:t>
            </a:r>
          </a:p>
        </p:txBody>
      </p:sp>
      <p:grpSp>
        <p:nvGrpSpPr>
          <p:cNvPr id="16" name="Group 15">
            <a:extLst>
              <a:ext uri="{FF2B5EF4-FFF2-40B4-BE49-F238E27FC236}">
                <a16:creationId xmlns:a16="http://schemas.microsoft.com/office/drawing/2014/main" id="{DB4FE5F3-4B57-8247-8CFB-39DFD9F1CDB1}"/>
              </a:ext>
            </a:extLst>
          </p:cNvPr>
          <p:cNvGrpSpPr/>
          <p:nvPr/>
        </p:nvGrpSpPr>
        <p:grpSpPr>
          <a:xfrm>
            <a:off x="4587501" y="1839756"/>
            <a:ext cx="6462790" cy="4036182"/>
            <a:chOff x="2371243" y="1882506"/>
            <a:chExt cx="6462790" cy="4036182"/>
          </a:xfrm>
        </p:grpSpPr>
        <p:pic>
          <p:nvPicPr>
            <p:cNvPr id="7" name="Picture 6">
              <a:extLst>
                <a:ext uri="{FF2B5EF4-FFF2-40B4-BE49-F238E27FC236}">
                  <a16:creationId xmlns:a16="http://schemas.microsoft.com/office/drawing/2014/main" id="{DCFDB4A3-73B4-D941-8D91-C1CEE19C8C37}"/>
                </a:ext>
              </a:extLst>
            </p:cNvPr>
            <p:cNvPicPr>
              <a:picLocks noChangeAspect="1"/>
            </p:cNvPicPr>
            <p:nvPr/>
          </p:nvPicPr>
          <p:blipFill>
            <a:blip r:embed="rId3"/>
            <a:stretch>
              <a:fillRect/>
            </a:stretch>
          </p:blipFill>
          <p:spPr>
            <a:xfrm>
              <a:off x="2394788" y="1882506"/>
              <a:ext cx="1076835" cy="1076835"/>
            </a:xfrm>
            <a:prstGeom prst="rect">
              <a:avLst/>
            </a:prstGeom>
          </p:spPr>
        </p:pic>
        <p:sp>
          <p:nvSpPr>
            <p:cNvPr id="8" name="TextBox 7">
              <a:extLst>
                <a:ext uri="{FF2B5EF4-FFF2-40B4-BE49-F238E27FC236}">
                  <a16:creationId xmlns:a16="http://schemas.microsoft.com/office/drawing/2014/main" id="{9604E038-8A3A-FD4B-B88E-A4C4F8ABBA2D}"/>
                </a:ext>
              </a:extLst>
            </p:cNvPr>
            <p:cNvSpPr txBox="1"/>
            <p:nvPr/>
          </p:nvSpPr>
          <p:spPr>
            <a:xfrm>
              <a:off x="3556562" y="2236781"/>
              <a:ext cx="5277471" cy="400110"/>
            </a:xfrm>
            <a:prstGeom prst="rect">
              <a:avLst/>
            </a:prstGeom>
            <a:noFill/>
          </p:spPr>
          <p:txBody>
            <a:bodyPr wrap="squar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Fully managed relational database service</a:t>
              </a:r>
            </a:p>
          </p:txBody>
        </p:sp>
        <p:pic>
          <p:nvPicPr>
            <p:cNvPr id="10" name="Picture 9">
              <a:extLst>
                <a:ext uri="{FF2B5EF4-FFF2-40B4-BE49-F238E27FC236}">
                  <a16:creationId xmlns:a16="http://schemas.microsoft.com/office/drawing/2014/main" id="{BCA99F12-2145-5349-8E14-9FBFD7CC8C9B}"/>
                </a:ext>
              </a:extLst>
            </p:cNvPr>
            <p:cNvPicPr>
              <a:picLocks noChangeAspect="1"/>
            </p:cNvPicPr>
            <p:nvPr/>
          </p:nvPicPr>
          <p:blipFill>
            <a:blip r:embed="rId4"/>
            <a:stretch>
              <a:fillRect/>
            </a:stretch>
          </p:blipFill>
          <p:spPr>
            <a:xfrm>
              <a:off x="2402537" y="3381183"/>
              <a:ext cx="1061337" cy="1061337"/>
            </a:xfrm>
            <a:prstGeom prst="rect">
              <a:avLst/>
            </a:prstGeom>
          </p:spPr>
        </p:pic>
        <p:sp>
          <p:nvSpPr>
            <p:cNvPr id="11" name="TextBox 10">
              <a:extLst>
                <a:ext uri="{FF2B5EF4-FFF2-40B4-BE49-F238E27FC236}">
                  <a16:creationId xmlns:a16="http://schemas.microsoft.com/office/drawing/2014/main" id="{F7E9E463-5BB0-F44D-B7AF-CA581EB0B641}"/>
                </a:ext>
              </a:extLst>
            </p:cNvPr>
            <p:cNvSpPr txBox="1"/>
            <p:nvPr/>
          </p:nvSpPr>
          <p:spPr>
            <a:xfrm>
              <a:off x="3556562" y="3646477"/>
              <a:ext cx="5277471" cy="400110"/>
            </a:xfrm>
            <a:prstGeom prst="rect">
              <a:avLst/>
            </a:prstGeom>
            <a:noFill/>
          </p:spPr>
          <p:txBody>
            <a:bodyPr wrap="squar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Provisions new instances in a few minutes</a:t>
              </a:r>
            </a:p>
          </p:txBody>
        </p:sp>
        <p:pic>
          <p:nvPicPr>
            <p:cNvPr id="13" name="Picture 12">
              <a:extLst>
                <a:ext uri="{FF2B5EF4-FFF2-40B4-BE49-F238E27FC236}">
                  <a16:creationId xmlns:a16="http://schemas.microsoft.com/office/drawing/2014/main" id="{60285894-63AF-A444-9026-73667E2BDBB5}"/>
                </a:ext>
              </a:extLst>
            </p:cNvPr>
            <p:cNvPicPr>
              <a:picLocks noChangeAspect="1"/>
            </p:cNvPicPr>
            <p:nvPr/>
          </p:nvPicPr>
          <p:blipFill>
            <a:blip r:embed="rId5"/>
            <a:stretch>
              <a:fillRect/>
            </a:stretch>
          </p:blipFill>
          <p:spPr>
            <a:xfrm>
              <a:off x="2371243" y="4794763"/>
              <a:ext cx="1123925" cy="1123925"/>
            </a:xfrm>
            <a:prstGeom prst="rect">
              <a:avLst/>
            </a:prstGeom>
          </p:spPr>
        </p:pic>
        <p:sp>
          <p:nvSpPr>
            <p:cNvPr id="14" name="TextBox 13">
              <a:extLst>
                <a:ext uri="{FF2B5EF4-FFF2-40B4-BE49-F238E27FC236}">
                  <a16:creationId xmlns:a16="http://schemas.microsoft.com/office/drawing/2014/main" id="{611729C9-7CEA-8449-8FCD-D4A050664D63}"/>
                </a:ext>
              </a:extLst>
            </p:cNvPr>
            <p:cNvSpPr txBox="1"/>
            <p:nvPr/>
          </p:nvSpPr>
          <p:spPr>
            <a:xfrm>
              <a:off x="3556562" y="5172922"/>
              <a:ext cx="5277471" cy="400110"/>
            </a:xfrm>
            <a:prstGeom prst="rect">
              <a:avLst/>
            </a:prstGeom>
            <a:noFill/>
          </p:spPr>
          <p:txBody>
            <a:bodyPr wrap="squar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Scaling vertically with a few mouse clicks</a:t>
              </a:r>
            </a:p>
          </p:txBody>
        </p:sp>
      </p:grpSp>
      <p:pic>
        <p:nvPicPr>
          <p:cNvPr id="20" name="Picture 19">
            <a:extLst>
              <a:ext uri="{FF2B5EF4-FFF2-40B4-BE49-F238E27FC236}">
                <a16:creationId xmlns:a16="http://schemas.microsoft.com/office/drawing/2014/main" id="{29F90DDB-DA7D-5541-81D1-307139E149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6972" y="2901259"/>
            <a:ext cx="1143474" cy="1322141"/>
          </a:xfrm>
          <a:prstGeom prst="rect">
            <a:avLst/>
          </a:prstGeom>
        </p:spPr>
      </p:pic>
      <p:sp>
        <p:nvSpPr>
          <p:cNvPr id="21" name="TextBox 20">
            <a:extLst>
              <a:ext uri="{FF2B5EF4-FFF2-40B4-BE49-F238E27FC236}">
                <a16:creationId xmlns:a16="http://schemas.microsoft.com/office/drawing/2014/main" id="{B442D2FF-FB4A-7C4D-973D-43C38A905AB1}"/>
              </a:ext>
            </a:extLst>
          </p:cNvPr>
          <p:cNvSpPr txBox="1"/>
          <p:nvPr/>
        </p:nvSpPr>
        <p:spPr>
          <a:xfrm>
            <a:off x="1361994" y="4512379"/>
            <a:ext cx="1813430"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RDS</a:t>
            </a:r>
          </a:p>
        </p:txBody>
      </p:sp>
      <p:sp>
        <p:nvSpPr>
          <p:cNvPr id="22" name="TextBox 21">
            <a:extLst>
              <a:ext uri="{FF2B5EF4-FFF2-40B4-BE49-F238E27FC236}">
                <a16:creationId xmlns:a16="http://schemas.microsoft.com/office/drawing/2014/main" id="{9BF6E215-0831-1C45-91CA-AF1DD82BF087}"/>
              </a:ext>
            </a:extLst>
          </p:cNvPr>
          <p:cNvSpPr txBox="1"/>
          <p:nvPr/>
        </p:nvSpPr>
        <p:spPr>
          <a:xfrm>
            <a:off x="1242392" y="2259078"/>
            <a:ext cx="2052634"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Relational</a:t>
            </a:r>
          </a:p>
        </p:txBody>
      </p:sp>
      <p:sp>
        <p:nvSpPr>
          <p:cNvPr id="23" name="Rectangle 22">
            <a:extLst>
              <a:ext uri="{FF2B5EF4-FFF2-40B4-BE49-F238E27FC236}">
                <a16:creationId xmlns:a16="http://schemas.microsoft.com/office/drawing/2014/main" id="{D9B6C954-5802-6B44-B8EE-19DDFB775D28}"/>
              </a:ext>
            </a:extLst>
          </p:cNvPr>
          <p:cNvSpPr/>
          <p:nvPr/>
        </p:nvSpPr>
        <p:spPr>
          <a:xfrm>
            <a:off x="825834" y="1839756"/>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Tree>
    <p:extLst>
      <p:ext uri="{BB962C8B-B14F-4D97-AF65-F5344CB8AC3E}">
        <p14:creationId xmlns:p14="http://schemas.microsoft.com/office/powerpoint/2010/main" val="3885867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Amazon RDS in General</a:t>
            </a:r>
          </a:p>
        </p:txBody>
      </p:sp>
      <p:sp>
        <p:nvSpPr>
          <p:cNvPr id="3" name="TextBox 2">
            <a:extLst>
              <a:ext uri="{FF2B5EF4-FFF2-40B4-BE49-F238E27FC236}">
                <a16:creationId xmlns:a16="http://schemas.microsoft.com/office/drawing/2014/main" id="{AA747AB6-9F68-6B4A-A5DF-AD1C25CE1B82}"/>
              </a:ext>
            </a:extLst>
          </p:cNvPr>
          <p:cNvSpPr txBox="1"/>
          <p:nvPr/>
        </p:nvSpPr>
        <p:spPr>
          <a:xfrm>
            <a:off x="4294106" y="2041075"/>
            <a:ext cx="5907294" cy="461665"/>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Works well for applications that:</a:t>
            </a:r>
          </a:p>
        </p:txBody>
      </p:sp>
      <p:grpSp>
        <p:nvGrpSpPr>
          <p:cNvPr id="20" name="Group 19">
            <a:extLst>
              <a:ext uri="{FF2B5EF4-FFF2-40B4-BE49-F238E27FC236}">
                <a16:creationId xmlns:a16="http://schemas.microsoft.com/office/drawing/2014/main" id="{87A64306-7216-FD40-9DD9-5E7996A773F3}"/>
              </a:ext>
            </a:extLst>
          </p:cNvPr>
          <p:cNvGrpSpPr/>
          <p:nvPr/>
        </p:nvGrpSpPr>
        <p:grpSpPr>
          <a:xfrm>
            <a:off x="4015189" y="3197255"/>
            <a:ext cx="7647996" cy="2369685"/>
            <a:chOff x="3915799" y="3197255"/>
            <a:chExt cx="7647996" cy="2369685"/>
          </a:xfrm>
        </p:grpSpPr>
        <p:pic>
          <p:nvPicPr>
            <p:cNvPr id="7" name="Picture 6">
              <a:extLst>
                <a:ext uri="{FF2B5EF4-FFF2-40B4-BE49-F238E27FC236}">
                  <a16:creationId xmlns:a16="http://schemas.microsoft.com/office/drawing/2014/main" id="{E53906F0-566D-9646-B4B0-E484E98C2B2F}"/>
                </a:ext>
              </a:extLst>
            </p:cNvPr>
            <p:cNvPicPr>
              <a:picLocks noChangeAspect="1"/>
            </p:cNvPicPr>
            <p:nvPr/>
          </p:nvPicPr>
          <p:blipFill>
            <a:blip r:embed="rId3"/>
            <a:stretch>
              <a:fillRect/>
            </a:stretch>
          </p:blipFill>
          <p:spPr>
            <a:xfrm>
              <a:off x="4194716" y="3286681"/>
              <a:ext cx="1170775" cy="1170775"/>
            </a:xfrm>
            <a:prstGeom prst="rect">
              <a:avLst/>
            </a:prstGeom>
          </p:spPr>
        </p:pic>
        <p:pic>
          <p:nvPicPr>
            <p:cNvPr id="11" name="Picture 10">
              <a:extLst>
                <a:ext uri="{FF2B5EF4-FFF2-40B4-BE49-F238E27FC236}">
                  <a16:creationId xmlns:a16="http://schemas.microsoft.com/office/drawing/2014/main" id="{32690629-4C63-B548-85B7-FEAAB778846F}"/>
                </a:ext>
              </a:extLst>
            </p:cNvPr>
            <p:cNvPicPr>
              <a:picLocks noChangeAspect="1"/>
            </p:cNvPicPr>
            <p:nvPr/>
          </p:nvPicPr>
          <p:blipFill>
            <a:blip r:embed="rId4"/>
            <a:stretch>
              <a:fillRect/>
            </a:stretch>
          </p:blipFill>
          <p:spPr>
            <a:xfrm>
              <a:off x="9892841" y="3249060"/>
              <a:ext cx="1379922" cy="1379922"/>
            </a:xfrm>
            <a:prstGeom prst="rect">
              <a:avLst/>
            </a:prstGeom>
          </p:spPr>
        </p:pic>
        <p:pic>
          <p:nvPicPr>
            <p:cNvPr id="13" name="Picture 12">
              <a:extLst>
                <a:ext uri="{FF2B5EF4-FFF2-40B4-BE49-F238E27FC236}">
                  <a16:creationId xmlns:a16="http://schemas.microsoft.com/office/drawing/2014/main" id="{AC17E9CC-1D32-4D42-A300-6145298BE2FC}"/>
                </a:ext>
              </a:extLst>
            </p:cNvPr>
            <p:cNvPicPr>
              <a:picLocks noChangeAspect="1"/>
            </p:cNvPicPr>
            <p:nvPr/>
          </p:nvPicPr>
          <p:blipFill>
            <a:blip r:embed="rId5"/>
            <a:stretch>
              <a:fillRect/>
            </a:stretch>
          </p:blipFill>
          <p:spPr>
            <a:xfrm>
              <a:off x="7005073" y="3197255"/>
              <a:ext cx="1349627" cy="1349627"/>
            </a:xfrm>
            <a:prstGeom prst="rect">
              <a:avLst/>
            </a:prstGeom>
          </p:spPr>
        </p:pic>
        <p:sp>
          <p:nvSpPr>
            <p:cNvPr id="14" name="Rectangle 13">
              <a:extLst>
                <a:ext uri="{FF2B5EF4-FFF2-40B4-BE49-F238E27FC236}">
                  <a16:creationId xmlns:a16="http://schemas.microsoft.com/office/drawing/2014/main" id="{E973ECE1-93D6-E747-B990-EB834F228323}"/>
                </a:ext>
              </a:extLst>
            </p:cNvPr>
            <p:cNvSpPr/>
            <p:nvPr/>
          </p:nvSpPr>
          <p:spPr>
            <a:xfrm>
              <a:off x="3915799" y="4551277"/>
              <a:ext cx="1764993" cy="707886"/>
            </a:xfrm>
            <a:prstGeom prst="rect">
              <a:avLst/>
            </a:prstGeom>
          </p:spPr>
          <p:txBody>
            <a:bodyPr wrap="square">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Have more complex data</a:t>
              </a:r>
            </a:p>
          </p:txBody>
        </p:sp>
        <p:sp>
          <p:nvSpPr>
            <p:cNvPr id="16" name="Rectangle 15">
              <a:extLst>
                <a:ext uri="{FF2B5EF4-FFF2-40B4-BE49-F238E27FC236}">
                  <a16:creationId xmlns:a16="http://schemas.microsoft.com/office/drawing/2014/main" id="{FF10287D-FC23-0743-B1F7-40C33C598AB8}"/>
                </a:ext>
              </a:extLst>
            </p:cNvPr>
            <p:cNvSpPr/>
            <p:nvPr/>
          </p:nvSpPr>
          <p:spPr>
            <a:xfrm>
              <a:off x="6424878" y="4551277"/>
              <a:ext cx="2373212" cy="707886"/>
            </a:xfrm>
            <a:prstGeom prst="rect">
              <a:avLst/>
            </a:prstGeom>
          </p:spPr>
          <p:txBody>
            <a:bodyPr wrap="square">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Need to combine and join data sets</a:t>
              </a:r>
            </a:p>
          </p:txBody>
        </p:sp>
        <p:sp>
          <p:nvSpPr>
            <p:cNvPr id="17" name="Rectangle 16">
              <a:extLst>
                <a:ext uri="{FF2B5EF4-FFF2-40B4-BE49-F238E27FC236}">
                  <a16:creationId xmlns:a16="http://schemas.microsoft.com/office/drawing/2014/main" id="{CEDB23DC-8F23-4A40-BE11-CFDEFDD08B7E}"/>
                </a:ext>
              </a:extLst>
            </p:cNvPr>
            <p:cNvSpPr/>
            <p:nvPr/>
          </p:nvSpPr>
          <p:spPr>
            <a:xfrm>
              <a:off x="9601810" y="4551277"/>
              <a:ext cx="1961985" cy="1015663"/>
            </a:xfrm>
            <a:prstGeom prst="rect">
              <a:avLst/>
            </a:prstGeom>
          </p:spPr>
          <p:txBody>
            <a:bodyPr wrap="square">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Require enforced syntax rules</a:t>
              </a:r>
            </a:p>
          </p:txBody>
        </p:sp>
      </p:grpSp>
      <p:pic>
        <p:nvPicPr>
          <p:cNvPr id="21" name="Picture 20">
            <a:extLst>
              <a:ext uri="{FF2B5EF4-FFF2-40B4-BE49-F238E27FC236}">
                <a16:creationId xmlns:a16="http://schemas.microsoft.com/office/drawing/2014/main" id="{29F90DDB-DA7D-5541-81D1-307139E149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6972" y="2901259"/>
            <a:ext cx="1143474" cy="1322141"/>
          </a:xfrm>
          <a:prstGeom prst="rect">
            <a:avLst/>
          </a:prstGeom>
        </p:spPr>
      </p:pic>
      <p:sp>
        <p:nvSpPr>
          <p:cNvPr id="22" name="TextBox 21">
            <a:extLst>
              <a:ext uri="{FF2B5EF4-FFF2-40B4-BE49-F238E27FC236}">
                <a16:creationId xmlns:a16="http://schemas.microsoft.com/office/drawing/2014/main" id="{B442D2FF-FB4A-7C4D-973D-43C38A905AB1}"/>
              </a:ext>
            </a:extLst>
          </p:cNvPr>
          <p:cNvSpPr txBox="1"/>
          <p:nvPr/>
        </p:nvSpPr>
        <p:spPr>
          <a:xfrm>
            <a:off x="1361994" y="4512379"/>
            <a:ext cx="1813430"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RDS</a:t>
            </a:r>
          </a:p>
        </p:txBody>
      </p:sp>
      <p:sp>
        <p:nvSpPr>
          <p:cNvPr id="23" name="TextBox 22">
            <a:extLst>
              <a:ext uri="{FF2B5EF4-FFF2-40B4-BE49-F238E27FC236}">
                <a16:creationId xmlns:a16="http://schemas.microsoft.com/office/drawing/2014/main" id="{9BF6E215-0831-1C45-91CA-AF1DD82BF087}"/>
              </a:ext>
            </a:extLst>
          </p:cNvPr>
          <p:cNvSpPr txBox="1"/>
          <p:nvPr/>
        </p:nvSpPr>
        <p:spPr>
          <a:xfrm>
            <a:off x="1242392" y="2259078"/>
            <a:ext cx="2052634"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Relational</a:t>
            </a:r>
          </a:p>
        </p:txBody>
      </p:sp>
      <p:sp>
        <p:nvSpPr>
          <p:cNvPr id="24" name="Rectangle 23">
            <a:extLst>
              <a:ext uri="{FF2B5EF4-FFF2-40B4-BE49-F238E27FC236}">
                <a16:creationId xmlns:a16="http://schemas.microsoft.com/office/drawing/2014/main" id="{D9B6C954-5802-6B44-B8EE-19DDFB775D28}"/>
              </a:ext>
            </a:extLst>
          </p:cNvPr>
          <p:cNvSpPr/>
          <p:nvPr/>
        </p:nvSpPr>
        <p:spPr>
          <a:xfrm>
            <a:off x="825834" y="1839756"/>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Tree>
    <p:extLst>
      <p:ext uri="{BB962C8B-B14F-4D97-AF65-F5344CB8AC3E}">
        <p14:creationId xmlns:p14="http://schemas.microsoft.com/office/powerpoint/2010/main" val="2589218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fontScale="90000"/>
          </a:bodyPr>
          <a:lstStyle/>
          <a:p>
            <a:r>
              <a:rPr lang="en-US" dirty="0"/>
              <a:t>Amazon RDS Storage is Fully Managed</a:t>
            </a:r>
          </a:p>
        </p:txBody>
      </p:sp>
      <p:sp>
        <p:nvSpPr>
          <p:cNvPr id="6" name="TextBox 5">
            <a:extLst>
              <a:ext uri="{FF2B5EF4-FFF2-40B4-BE49-F238E27FC236}">
                <a16:creationId xmlns:a16="http://schemas.microsoft.com/office/drawing/2014/main" id="{A887C007-4DF8-0B48-88B5-91E5B6F0DB91}"/>
              </a:ext>
            </a:extLst>
          </p:cNvPr>
          <p:cNvSpPr txBox="1"/>
          <p:nvPr/>
        </p:nvSpPr>
        <p:spPr>
          <a:xfrm>
            <a:off x="4525505" y="2390340"/>
            <a:ext cx="7888638" cy="2308324"/>
          </a:xfrm>
          <a:prstGeom prst="rect">
            <a:avLst/>
          </a:prstGeom>
          <a:noFill/>
        </p:spPr>
        <p:txBody>
          <a:bodyPr wrap="square" rtlCol="0">
            <a:spAutoFit/>
          </a:bodyPr>
          <a:lstStyle/>
          <a:p>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MySQL, MariaDB, PostgreSQL, Oracle – </a:t>
            </a:r>
            <a:r>
              <a:rPr lang="en-US" sz="2400"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rPr>
              <a:t>16TB max</a:t>
            </a:r>
          </a:p>
          <a:p>
            <a:endParaRPr lang="en-US" sz="2400"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400"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Aurora for MySQL and PostgreSQL  – </a:t>
            </a:r>
            <a:r>
              <a:rPr lang="en-US" sz="2400"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rPr>
              <a:t>64TB max</a:t>
            </a: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9" name="Picture 8">
            <a:extLst>
              <a:ext uri="{FF2B5EF4-FFF2-40B4-BE49-F238E27FC236}">
                <a16:creationId xmlns:a16="http://schemas.microsoft.com/office/drawing/2014/main" id="{29F90DDB-DA7D-5541-81D1-307139E14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6972" y="2901259"/>
            <a:ext cx="1143474" cy="1322141"/>
          </a:xfrm>
          <a:prstGeom prst="rect">
            <a:avLst/>
          </a:prstGeom>
        </p:spPr>
      </p:pic>
      <p:sp>
        <p:nvSpPr>
          <p:cNvPr id="10" name="TextBox 9">
            <a:extLst>
              <a:ext uri="{FF2B5EF4-FFF2-40B4-BE49-F238E27FC236}">
                <a16:creationId xmlns:a16="http://schemas.microsoft.com/office/drawing/2014/main" id="{B442D2FF-FB4A-7C4D-973D-43C38A905AB1}"/>
              </a:ext>
            </a:extLst>
          </p:cNvPr>
          <p:cNvSpPr txBox="1"/>
          <p:nvPr/>
        </p:nvSpPr>
        <p:spPr>
          <a:xfrm>
            <a:off x="1361994" y="4512379"/>
            <a:ext cx="1813430"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RDS</a:t>
            </a:r>
          </a:p>
        </p:txBody>
      </p:sp>
      <p:sp>
        <p:nvSpPr>
          <p:cNvPr id="11" name="TextBox 10">
            <a:extLst>
              <a:ext uri="{FF2B5EF4-FFF2-40B4-BE49-F238E27FC236}">
                <a16:creationId xmlns:a16="http://schemas.microsoft.com/office/drawing/2014/main" id="{9BF6E215-0831-1C45-91CA-AF1DD82BF087}"/>
              </a:ext>
            </a:extLst>
          </p:cNvPr>
          <p:cNvSpPr txBox="1"/>
          <p:nvPr/>
        </p:nvSpPr>
        <p:spPr>
          <a:xfrm>
            <a:off x="1242392" y="2259078"/>
            <a:ext cx="2052634"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Relational</a:t>
            </a:r>
          </a:p>
        </p:txBody>
      </p:sp>
      <p:sp>
        <p:nvSpPr>
          <p:cNvPr id="12" name="Rectangle 11">
            <a:extLst>
              <a:ext uri="{FF2B5EF4-FFF2-40B4-BE49-F238E27FC236}">
                <a16:creationId xmlns:a16="http://schemas.microsoft.com/office/drawing/2014/main" id="{D9B6C954-5802-6B44-B8EE-19DDFB775D28}"/>
              </a:ext>
            </a:extLst>
          </p:cNvPr>
          <p:cNvSpPr/>
          <p:nvPr/>
        </p:nvSpPr>
        <p:spPr>
          <a:xfrm>
            <a:off x="825834" y="1839756"/>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Tree>
    <p:extLst>
      <p:ext uri="{BB962C8B-B14F-4D97-AF65-F5344CB8AC3E}">
        <p14:creationId xmlns:p14="http://schemas.microsoft.com/office/powerpoint/2010/main" val="1138167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F41B4-9E65-1645-B5A1-F2FDFA05F328}"/>
              </a:ext>
            </a:extLst>
          </p:cNvPr>
          <p:cNvSpPr>
            <a:spLocks noGrp="1"/>
          </p:cNvSpPr>
          <p:nvPr>
            <p:ph type="title"/>
          </p:nvPr>
        </p:nvSpPr>
        <p:spPr/>
        <p:txBody>
          <a:bodyPr/>
          <a:lstStyle/>
          <a:p>
            <a:r>
              <a:rPr lang="en-US" dirty="0"/>
              <a:t>Amazon RDS and Amazon Aurora</a:t>
            </a:r>
          </a:p>
        </p:txBody>
      </p:sp>
      <p:sp>
        <p:nvSpPr>
          <p:cNvPr id="7" name="Rectangle 6">
            <a:extLst>
              <a:ext uri="{FF2B5EF4-FFF2-40B4-BE49-F238E27FC236}">
                <a16:creationId xmlns:a16="http://schemas.microsoft.com/office/drawing/2014/main" id="{E49D6D51-A8CE-0B4F-9E8E-8C4B19138732}"/>
              </a:ext>
            </a:extLst>
          </p:cNvPr>
          <p:cNvSpPr/>
          <p:nvPr/>
        </p:nvSpPr>
        <p:spPr>
          <a:xfrm>
            <a:off x="418991" y="1685142"/>
            <a:ext cx="11328514" cy="5170646"/>
          </a:xfrm>
          <a:prstGeom prst="rect">
            <a:avLst/>
          </a:prstGeom>
        </p:spPr>
        <p:txBody>
          <a:bodyPr wrap="square">
            <a:spAutoFit/>
          </a:bodyPr>
          <a:lstStyle/>
          <a:p>
            <a:r>
              <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Amazon Aurora is a fully managed, MySQL- and PostgreSQL-compatible, relational database engine.</a:t>
            </a:r>
          </a:p>
          <a:p>
            <a:endPar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799596" lvl="1" indent="-342900">
              <a:buFont typeface="Arial" panose="020B0604020202020204" pitchFamily="34" charset="0"/>
              <a:buChar char="•"/>
            </a:pPr>
            <a:r>
              <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Up to five times the throughput of MySQL</a:t>
            </a:r>
          </a:p>
          <a:p>
            <a:pPr marL="799596" lvl="1" indent="-342900">
              <a:buFont typeface="Arial" panose="020B0604020202020204" pitchFamily="34" charset="0"/>
              <a:buChar char="•"/>
            </a:pPr>
            <a:endPar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Font typeface="Arial" panose="020B0604020202020204" pitchFamily="34" charset="0"/>
              <a:buChar char="•"/>
            </a:pPr>
            <a:r>
              <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Up to three times the throughput of PostgreSQL</a:t>
            </a:r>
          </a:p>
          <a:p>
            <a:pPr lvl="1"/>
            <a:endPar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Font typeface="Arial" panose="020B0604020202020204" pitchFamily="34" charset="0"/>
              <a:buChar char="•"/>
            </a:pPr>
            <a:r>
              <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Replicates data six ways across three Availability Zones</a:t>
            </a:r>
          </a:p>
          <a:p>
            <a:pPr lvl="1"/>
            <a:endPar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Font typeface="Arial" panose="020B0604020202020204" pitchFamily="34" charset="0"/>
              <a:buChar char="•"/>
            </a:pPr>
            <a:r>
              <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Requires very little change to your existing application</a:t>
            </a:r>
          </a:p>
          <a:p>
            <a:pPr marL="799596" lvl="1" indent="-342900">
              <a:buFont typeface="Arial" panose="020B0604020202020204" pitchFamily="34" charset="0"/>
              <a:buChar char="•"/>
            </a:pPr>
            <a:endPar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Font typeface="Arial" panose="020B0604020202020204" pitchFamily="34" charset="0"/>
              <a:buChar char="•"/>
            </a:pPr>
            <a:r>
              <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Aurora global database support</a:t>
            </a:r>
          </a:p>
          <a:p>
            <a:pPr marL="799596" lvl="1" indent="-342900">
              <a:buFont typeface="Arial" panose="020B0604020202020204" pitchFamily="34" charset="0"/>
              <a:buChar char="•"/>
            </a:pPr>
            <a:endPar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Font typeface="Arial" panose="020B0604020202020204" pitchFamily="34" charset="0"/>
              <a:buChar char="•"/>
            </a:pPr>
            <a:endPar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342900" indent="-342900">
              <a:buFont typeface="Arial" panose="020B0604020202020204" pitchFamily="34" charset="0"/>
              <a:buChar char="•"/>
            </a:pPr>
            <a:endPar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813360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Amazon RDS Use Case</a:t>
            </a:r>
          </a:p>
        </p:txBody>
      </p:sp>
      <p:sp>
        <p:nvSpPr>
          <p:cNvPr id="13" name="TextBox 12">
            <a:extLst>
              <a:ext uri="{FF2B5EF4-FFF2-40B4-BE49-F238E27FC236}">
                <a16:creationId xmlns:a16="http://schemas.microsoft.com/office/drawing/2014/main" id="{6D1AEA3A-E8B9-994F-81D9-FD5B90F0DA79}"/>
              </a:ext>
            </a:extLst>
          </p:cNvPr>
          <p:cNvSpPr txBox="1"/>
          <p:nvPr/>
        </p:nvSpPr>
        <p:spPr>
          <a:xfrm>
            <a:off x="2869423" y="1510915"/>
            <a:ext cx="6449978" cy="461665"/>
          </a:xfrm>
          <a:prstGeom prst="rect">
            <a:avLst/>
          </a:prstGeom>
          <a:noFill/>
        </p:spPr>
        <p:txBody>
          <a:bodyPr wrap="square" rtlCol="0">
            <a:spAutoFit/>
          </a:bodyPr>
          <a:lstStyle/>
          <a:p>
            <a:pPr algn="ctr"/>
            <a:r>
              <a:rPr lang="en-US" sz="24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Analytics</a:t>
            </a:r>
          </a:p>
        </p:txBody>
      </p:sp>
      <p:grpSp>
        <p:nvGrpSpPr>
          <p:cNvPr id="91" name="Group 90">
            <a:extLst>
              <a:ext uri="{FF2B5EF4-FFF2-40B4-BE49-F238E27FC236}">
                <a16:creationId xmlns:a16="http://schemas.microsoft.com/office/drawing/2014/main" id="{2333E33B-9FCD-034B-BC0A-871E3265ABBC}"/>
              </a:ext>
            </a:extLst>
          </p:cNvPr>
          <p:cNvGrpSpPr/>
          <p:nvPr/>
        </p:nvGrpSpPr>
        <p:grpSpPr>
          <a:xfrm>
            <a:off x="2109249" y="2477457"/>
            <a:ext cx="7970327" cy="3640311"/>
            <a:chOff x="1998735" y="2921152"/>
            <a:chExt cx="7970327" cy="3640311"/>
          </a:xfrm>
        </p:grpSpPr>
        <p:pic>
          <p:nvPicPr>
            <p:cNvPr id="42" name="Picture 41">
              <a:extLst>
                <a:ext uri="{FF2B5EF4-FFF2-40B4-BE49-F238E27FC236}">
                  <a16:creationId xmlns:a16="http://schemas.microsoft.com/office/drawing/2014/main" id="{2509B1C3-F755-574F-947E-11C1D8F7DB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6620" y="4809325"/>
              <a:ext cx="595669" cy="617731"/>
            </a:xfrm>
            <a:prstGeom prst="rect">
              <a:avLst/>
            </a:prstGeom>
          </p:spPr>
        </p:pic>
        <p:pic>
          <p:nvPicPr>
            <p:cNvPr id="43" name="Picture 42">
              <a:extLst>
                <a:ext uri="{FF2B5EF4-FFF2-40B4-BE49-F238E27FC236}">
                  <a16:creationId xmlns:a16="http://schemas.microsoft.com/office/drawing/2014/main" id="{51BC6580-63A4-4547-8F66-E39EA8926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6619" y="4055559"/>
              <a:ext cx="595669" cy="617731"/>
            </a:xfrm>
            <a:prstGeom prst="rect">
              <a:avLst/>
            </a:prstGeom>
          </p:spPr>
        </p:pic>
        <p:pic>
          <p:nvPicPr>
            <p:cNvPr id="44" name="Picture 43">
              <a:extLst>
                <a:ext uri="{FF2B5EF4-FFF2-40B4-BE49-F238E27FC236}">
                  <a16:creationId xmlns:a16="http://schemas.microsoft.com/office/drawing/2014/main" id="{FB675C79-54B1-614F-A51F-60FAB546B7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6618" y="3311707"/>
              <a:ext cx="595669" cy="617731"/>
            </a:xfrm>
            <a:prstGeom prst="rect">
              <a:avLst/>
            </a:prstGeom>
          </p:spPr>
        </p:pic>
        <p:pic>
          <p:nvPicPr>
            <p:cNvPr id="46" name="Picture 45">
              <a:extLst>
                <a:ext uri="{FF2B5EF4-FFF2-40B4-BE49-F238E27FC236}">
                  <a16:creationId xmlns:a16="http://schemas.microsoft.com/office/drawing/2014/main" id="{51BE1710-C50F-624D-9C39-C234BF134C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1972" y="3895485"/>
              <a:ext cx="709985" cy="736280"/>
            </a:xfrm>
            <a:prstGeom prst="rect">
              <a:avLst/>
            </a:prstGeom>
          </p:spPr>
        </p:pic>
        <p:pic>
          <p:nvPicPr>
            <p:cNvPr id="53" name="Picture 52">
              <a:extLst>
                <a:ext uri="{FF2B5EF4-FFF2-40B4-BE49-F238E27FC236}">
                  <a16:creationId xmlns:a16="http://schemas.microsoft.com/office/drawing/2014/main" id="{F91BC980-F598-6E41-956C-E333D41E59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61624" y="3252432"/>
              <a:ext cx="709985" cy="736280"/>
            </a:xfrm>
            <a:prstGeom prst="rect">
              <a:avLst/>
            </a:prstGeom>
          </p:spPr>
        </p:pic>
        <p:pic>
          <p:nvPicPr>
            <p:cNvPr id="63" name="Picture 62">
              <a:extLst>
                <a:ext uri="{FF2B5EF4-FFF2-40B4-BE49-F238E27FC236}">
                  <a16:creationId xmlns:a16="http://schemas.microsoft.com/office/drawing/2014/main" id="{9B241367-3791-1B46-AE22-E30CBAE545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61624" y="4631765"/>
              <a:ext cx="743395" cy="859550"/>
            </a:xfrm>
            <a:prstGeom prst="rect">
              <a:avLst/>
            </a:prstGeom>
          </p:spPr>
        </p:pic>
        <p:sp>
          <p:nvSpPr>
            <p:cNvPr id="72" name="Rectangle 71">
              <a:extLst>
                <a:ext uri="{FF2B5EF4-FFF2-40B4-BE49-F238E27FC236}">
                  <a16:creationId xmlns:a16="http://schemas.microsoft.com/office/drawing/2014/main" id="{334392DB-2D40-5449-8584-D42BD2DDC6CB}"/>
                </a:ext>
              </a:extLst>
            </p:cNvPr>
            <p:cNvSpPr/>
            <p:nvPr/>
          </p:nvSpPr>
          <p:spPr>
            <a:xfrm>
              <a:off x="5461371" y="2921152"/>
              <a:ext cx="1172817" cy="2822713"/>
            </a:xfrm>
            <a:prstGeom prst="rect">
              <a:avLst/>
            </a:prstGeom>
            <a:noFill/>
            <a:ln w="381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74" name="Straight Arrow Connector 73">
              <a:extLst>
                <a:ext uri="{FF2B5EF4-FFF2-40B4-BE49-F238E27FC236}">
                  <a16:creationId xmlns:a16="http://schemas.microsoft.com/office/drawing/2014/main" id="{DA0B385E-D71C-584A-ADCB-82DBAA95B70E}"/>
                </a:ext>
              </a:extLst>
            </p:cNvPr>
            <p:cNvCxnSpPr>
              <a:cxnSpLocks/>
            </p:cNvCxnSpPr>
            <p:nvPr/>
          </p:nvCxnSpPr>
          <p:spPr>
            <a:xfrm>
              <a:off x="4471713" y="4263625"/>
              <a:ext cx="890266" cy="0"/>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5AA583F-91CE-BD48-8FB0-AE19194548E2}"/>
                </a:ext>
              </a:extLst>
            </p:cNvPr>
            <p:cNvCxnSpPr>
              <a:cxnSpLocks/>
            </p:cNvCxnSpPr>
            <p:nvPr/>
          </p:nvCxnSpPr>
          <p:spPr>
            <a:xfrm flipV="1">
              <a:off x="6974814" y="3793219"/>
              <a:ext cx="1114304" cy="411900"/>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AA7B180-AE0D-BD4B-B60A-2AC0102F85D3}"/>
                </a:ext>
              </a:extLst>
            </p:cNvPr>
            <p:cNvCxnSpPr>
              <a:cxnSpLocks/>
            </p:cNvCxnSpPr>
            <p:nvPr/>
          </p:nvCxnSpPr>
          <p:spPr>
            <a:xfrm>
              <a:off x="6973523" y="4411069"/>
              <a:ext cx="1115595" cy="650471"/>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80" name="Picture 79">
              <a:extLst>
                <a:ext uri="{FF2B5EF4-FFF2-40B4-BE49-F238E27FC236}">
                  <a16:creationId xmlns:a16="http://schemas.microsoft.com/office/drawing/2014/main" id="{02B09E45-F090-C041-AC78-ED4B6FFD49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38844" y="3076738"/>
              <a:ext cx="548640" cy="731520"/>
            </a:xfrm>
            <a:prstGeom prst="rect">
              <a:avLst/>
            </a:prstGeom>
          </p:spPr>
        </p:pic>
        <p:pic>
          <p:nvPicPr>
            <p:cNvPr id="81" name="Picture 80">
              <a:extLst>
                <a:ext uri="{FF2B5EF4-FFF2-40B4-BE49-F238E27FC236}">
                  <a16:creationId xmlns:a16="http://schemas.microsoft.com/office/drawing/2014/main" id="{3D27CD1D-75FC-F04A-A585-3A9FA8091E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38844" y="4525947"/>
              <a:ext cx="548640" cy="731520"/>
            </a:xfrm>
            <a:prstGeom prst="rect">
              <a:avLst/>
            </a:prstGeom>
          </p:spPr>
        </p:pic>
        <p:cxnSp>
          <p:nvCxnSpPr>
            <p:cNvPr id="82" name="Straight Arrow Connector 81">
              <a:extLst>
                <a:ext uri="{FF2B5EF4-FFF2-40B4-BE49-F238E27FC236}">
                  <a16:creationId xmlns:a16="http://schemas.microsoft.com/office/drawing/2014/main" id="{2239D1A0-FB4D-AB41-B7C3-7CE7C6C3E11A}"/>
                </a:ext>
              </a:extLst>
            </p:cNvPr>
            <p:cNvCxnSpPr>
              <a:cxnSpLocks/>
            </p:cNvCxnSpPr>
            <p:nvPr/>
          </p:nvCxnSpPr>
          <p:spPr>
            <a:xfrm>
              <a:off x="3137170" y="3774621"/>
              <a:ext cx="442178" cy="309634"/>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8E56B4E-B30F-0A4D-A693-19FAD80FA300}"/>
                </a:ext>
              </a:extLst>
            </p:cNvPr>
            <p:cNvCxnSpPr>
              <a:cxnSpLocks/>
            </p:cNvCxnSpPr>
            <p:nvPr/>
          </p:nvCxnSpPr>
          <p:spPr>
            <a:xfrm flipV="1">
              <a:off x="3077698" y="4538749"/>
              <a:ext cx="594578" cy="395110"/>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A1E5AF16-1CD6-A343-A79E-44538E98B2F9}"/>
                </a:ext>
              </a:extLst>
            </p:cNvPr>
            <p:cNvSpPr txBox="1"/>
            <p:nvPr/>
          </p:nvSpPr>
          <p:spPr>
            <a:xfrm>
              <a:off x="1998735" y="5527455"/>
              <a:ext cx="1228857"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Users</a:t>
              </a:r>
            </a:p>
          </p:txBody>
        </p:sp>
        <p:sp>
          <p:nvSpPr>
            <p:cNvPr id="87" name="TextBox 86">
              <a:extLst>
                <a:ext uri="{FF2B5EF4-FFF2-40B4-BE49-F238E27FC236}">
                  <a16:creationId xmlns:a16="http://schemas.microsoft.com/office/drawing/2014/main" id="{B629337B-09BF-D643-89D4-99D268470665}"/>
                </a:ext>
              </a:extLst>
            </p:cNvPr>
            <p:cNvSpPr txBox="1"/>
            <p:nvPr/>
          </p:nvSpPr>
          <p:spPr>
            <a:xfrm>
              <a:off x="3462535" y="4761368"/>
              <a:ext cx="1228857"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Data</a:t>
              </a:r>
            </a:p>
          </p:txBody>
        </p:sp>
        <p:sp>
          <p:nvSpPr>
            <p:cNvPr id="88" name="TextBox 87">
              <a:extLst>
                <a:ext uri="{FF2B5EF4-FFF2-40B4-BE49-F238E27FC236}">
                  <a16:creationId xmlns:a16="http://schemas.microsoft.com/office/drawing/2014/main" id="{53452645-6972-2D4C-875B-72830F85B3BF}"/>
                </a:ext>
              </a:extLst>
            </p:cNvPr>
            <p:cNvSpPr txBox="1"/>
            <p:nvPr/>
          </p:nvSpPr>
          <p:spPr>
            <a:xfrm>
              <a:off x="7297580" y="4020613"/>
              <a:ext cx="2671482"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New Data</a:t>
              </a:r>
            </a:p>
          </p:txBody>
        </p:sp>
        <p:sp>
          <p:nvSpPr>
            <p:cNvPr id="89" name="TextBox 88">
              <a:extLst>
                <a:ext uri="{FF2B5EF4-FFF2-40B4-BE49-F238E27FC236}">
                  <a16:creationId xmlns:a16="http://schemas.microsoft.com/office/drawing/2014/main" id="{AC752389-33BE-C042-915F-09027DF4135D}"/>
                </a:ext>
              </a:extLst>
            </p:cNvPr>
            <p:cNvSpPr txBox="1"/>
            <p:nvPr/>
          </p:nvSpPr>
          <p:spPr>
            <a:xfrm>
              <a:off x="4987961" y="5915773"/>
              <a:ext cx="2068692" cy="645690"/>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Data Transformation</a:t>
              </a:r>
            </a:p>
          </p:txBody>
        </p:sp>
        <p:sp>
          <p:nvSpPr>
            <p:cNvPr id="90" name="TextBox 89">
              <a:extLst>
                <a:ext uri="{FF2B5EF4-FFF2-40B4-BE49-F238E27FC236}">
                  <a16:creationId xmlns:a16="http://schemas.microsoft.com/office/drawing/2014/main" id="{BC68DB4C-20F6-3842-A5EF-52C9547EABB5}"/>
                </a:ext>
              </a:extLst>
            </p:cNvPr>
            <p:cNvSpPr txBox="1"/>
            <p:nvPr/>
          </p:nvSpPr>
          <p:spPr>
            <a:xfrm>
              <a:off x="7297580" y="5511193"/>
              <a:ext cx="2671482"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Data Analytics</a:t>
              </a:r>
            </a:p>
          </p:txBody>
        </p:sp>
      </p:grpSp>
    </p:spTree>
    <p:extLst>
      <p:ext uri="{BB962C8B-B14F-4D97-AF65-F5344CB8AC3E}">
        <p14:creationId xmlns:p14="http://schemas.microsoft.com/office/powerpoint/2010/main" val="2892617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Amazon DynamoDB</a:t>
            </a:r>
          </a:p>
        </p:txBody>
      </p:sp>
      <p:pic>
        <p:nvPicPr>
          <p:cNvPr id="7" name="Picture 6">
            <a:extLst>
              <a:ext uri="{FF2B5EF4-FFF2-40B4-BE49-F238E27FC236}">
                <a16:creationId xmlns:a16="http://schemas.microsoft.com/office/drawing/2014/main" id="{F1F4FAF8-DFF8-CF46-AFEE-4941E88DB07F}"/>
              </a:ext>
            </a:extLst>
          </p:cNvPr>
          <p:cNvPicPr>
            <a:picLocks noChangeAspect="1"/>
          </p:cNvPicPr>
          <p:nvPr/>
        </p:nvPicPr>
        <p:blipFill>
          <a:blip r:embed="rId3"/>
          <a:stretch>
            <a:fillRect/>
          </a:stretch>
        </p:blipFill>
        <p:spPr>
          <a:xfrm>
            <a:off x="4472137" y="1903375"/>
            <a:ext cx="1076835" cy="1076835"/>
          </a:xfrm>
          <a:prstGeom prst="rect">
            <a:avLst/>
          </a:prstGeom>
        </p:spPr>
      </p:pic>
      <p:sp>
        <p:nvSpPr>
          <p:cNvPr id="8" name="TextBox 7">
            <a:extLst>
              <a:ext uri="{FF2B5EF4-FFF2-40B4-BE49-F238E27FC236}">
                <a16:creationId xmlns:a16="http://schemas.microsoft.com/office/drawing/2014/main" id="{BA9B7BC9-ADED-AF4A-9EB1-8BEAE80CADC5}"/>
              </a:ext>
            </a:extLst>
          </p:cNvPr>
          <p:cNvSpPr txBox="1"/>
          <p:nvPr/>
        </p:nvSpPr>
        <p:spPr>
          <a:xfrm>
            <a:off x="5916818" y="2257650"/>
            <a:ext cx="5277471" cy="369012"/>
          </a:xfrm>
          <a:prstGeom prst="rect">
            <a:avLst/>
          </a:prstGeom>
          <a:noFill/>
        </p:spPr>
        <p:txBody>
          <a:bodyPr wrap="squar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Fully managed non-relational database service</a:t>
            </a:r>
          </a:p>
        </p:txBody>
      </p:sp>
      <p:pic>
        <p:nvPicPr>
          <p:cNvPr id="5" name="Picture 4">
            <a:extLst>
              <a:ext uri="{FF2B5EF4-FFF2-40B4-BE49-F238E27FC236}">
                <a16:creationId xmlns:a16="http://schemas.microsoft.com/office/drawing/2014/main" id="{F1F33E29-5D5B-7046-B38D-442A6ED0C3FF}"/>
              </a:ext>
            </a:extLst>
          </p:cNvPr>
          <p:cNvPicPr>
            <a:picLocks noChangeAspect="1"/>
          </p:cNvPicPr>
          <p:nvPr/>
        </p:nvPicPr>
        <p:blipFill>
          <a:blip r:embed="rId4"/>
          <a:stretch>
            <a:fillRect/>
          </a:stretch>
        </p:blipFill>
        <p:spPr>
          <a:xfrm>
            <a:off x="4556378" y="3504555"/>
            <a:ext cx="908353" cy="914170"/>
          </a:xfrm>
          <a:prstGeom prst="rect">
            <a:avLst/>
          </a:prstGeom>
        </p:spPr>
      </p:pic>
      <p:sp>
        <p:nvSpPr>
          <p:cNvPr id="11" name="TextBox 10">
            <a:extLst>
              <a:ext uri="{FF2B5EF4-FFF2-40B4-BE49-F238E27FC236}">
                <a16:creationId xmlns:a16="http://schemas.microsoft.com/office/drawing/2014/main" id="{54EFB869-BA09-7446-B76B-4ABB90712A03}"/>
              </a:ext>
            </a:extLst>
          </p:cNvPr>
          <p:cNvSpPr txBox="1"/>
          <p:nvPr/>
        </p:nvSpPr>
        <p:spPr>
          <a:xfrm>
            <a:off x="5916818" y="3777134"/>
            <a:ext cx="5671212" cy="369012"/>
          </a:xfrm>
          <a:prstGeom prst="rect">
            <a:avLst/>
          </a:prstGeom>
          <a:noFill/>
        </p:spPr>
        <p:txBody>
          <a:bodyPr wrap="squar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Event-driven programming (serverless computing)</a:t>
            </a:r>
          </a:p>
        </p:txBody>
      </p:sp>
      <p:sp>
        <p:nvSpPr>
          <p:cNvPr id="13" name="TextBox 12">
            <a:extLst>
              <a:ext uri="{FF2B5EF4-FFF2-40B4-BE49-F238E27FC236}">
                <a16:creationId xmlns:a16="http://schemas.microsoft.com/office/drawing/2014/main" id="{8DFD4388-1798-9148-8306-A8F60B3DF301}"/>
              </a:ext>
            </a:extLst>
          </p:cNvPr>
          <p:cNvSpPr txBox="1"/>
          <p:nvPr/>
        </p:nvSpPr>
        <p:spPr>
          <a:xfrm>
            <a:off x="5916818" y="5247369"/>
            <a:ext cx="5277471" cy="369012"/>
          </a:xfrm>
          <a:prstGeom prst="rect">
            <a:avLst/>
          </a:prstGeom>
          <a:noFill/>
        </p:spPr>
        <p:txBody>
          <a:bodyPr wrap="squar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Extreme horizontal scaling capability</a:t>
            </a:r>
          </a:p>
        </p:txBody>
      </p:sp>
      <p:pic>
        <p:nvPicPr>
          <p:cNvPr id="9" name="Picture 8">
            <a:extLst>
              <a:ext uri="{FF2B5EF4-FFF2-40B4-BE49-F238E27FC236}">
                <a16:creationId xmlns:a16="http://schemas.microsoft.com/office/drawing/2014/main" id="{163D4314-5D56-9846-AC2A-E6B49BD8E40E}"/>
              </a:ext>
            </a:extLst>
          </p:cNvPr>
          <p:cNvPicPr>
            <a:picLocks noChangeAspect="1"/>
          </p:cNvPicPr>
          <p:nvPr/>
        </p:nvPicPr>
        <p:blipFill>
          <a:blip r:embed="rId5"/>
          <a:stretch>
            <a:fillRect/>
          </a:stretch>
        </p:blipFill>
        <p:spPr>
          <a:xfrm>
            <a:off x="4578697" y="5181867"/>
            <a:ext cx="863714" cy="533756"/>
          </a:xfrm>
          <a:prstGeom prst="rect">
            <a:avLst/>
          </a:prstGeom>
        </p:spPr>
      </p:pic>
      <p:grpSp>
        <p:nvGrpSpPr>
          <p:cNvPr id="3" name="Group 2">
            <a:extLst>
              <a:ext uri="{FF2B5EF4-FFF2-40B4-BE49-F238E27FC236}">
                <a16:creationId xmlns:a16="http://schemas.microsoft.com/office/drawing/2014/main" id="{F1CD27F6-0AC7-4040-8D0E-FCEC9D49A0CF}"/>
              </a:ext>
            </a:extLst>
          </p:cNvPr>
          <p:cNvGrpSpPr/>
          <p:nvPr/>
        </p:nvGrpSpPr>
        <p:grpSpPr>
          <a:xfrm>
            <a:off x="833825" y="1838059"/>
            <a:ext cx="2885749" cy="4045058"/>
            <a:chOff x="784838" y="1903375"/>
            <a:chExt cx="2885749" cy="4045058"/>
          </a:xfrm>
        </p:grpSpPr>
        <p:sp>
          <p:nvSpPr>
            <p:cNvPr id="19" name="Rectangle 18">
              <a:extLst>
                <a:ext uri="{FF2B5EF4-FFF2-40B4-BE49-F238E27FC236}">
                  <a16:creationId xmlns:a16="http://schemas.microsoft.com/office/drawing/2014/main" id="{D9B6C954-5802-6B44-B8EE-19DDFB775D28}"/>
                </a:ext>
              </a:extLst>
            </p:cNvPr>
            <p:cNvSpPr/>
            <p:nvPr/>
          </p:nvSpPr>
          <p:spPr>
            <a:xfrm>
              <a:off x="784838" y="1903375"/>
              <a:ext cx="2885749" cy="4045058"/>
            </a:xfrm>
            <a:prstGeom prst="rect">
              <a:avLst/>
            </a:prstGeom>
            <a:noFill/>
            <a:ln w="508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0" name="TextBox 19">
              <a:extLst>
                <a:ext uri="{FF2B5EF4-FFF2-40B4-BE49-F238E27FC236}">
                  <a16:creationId xmlns:a16="http://schemas.microsoft.com/office/drawing/2014/main" id="{8AEAD83B-A02A-AC4D-AB53-FE4C152535AE}"/>
                </a:ext>
              </a:extLst>
            </p:cNvPr>
            <p:cNvSpPr txBox="1"/>
            <p:nvPr/>
          </p:nvSpPr>
          <p:spPr>
            <a:xfrm>
              <a:off x="1092948" y="4596831"/>
              <a:ext cx="2366952"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DynamoDB</a:t>
              </a:r>
            </a:p>
          </p:txBody>
        </p:sp>
        <p:pic>
          <p:nvPicPr>
            <p:cNvPr id="24" name="Picture 23">
              <a:extLst>
                <a:ext uri="{FF2B5EF4-FFF2-40B4-BE49-F238E27FC236}">
                  <a16:creationId xmlns:a16="http://schemas.microsoft.com/office/drawing/2014/main" id="{8EFEE92C-3BD5-9649-AAAC-EC0FFAC9F2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5822" y="2992575"/>
              <a:ext cx="1181204" cy="1308412"/>
            </a:xfrm>
            <a:prstGeom prst="rect">
              <a:avLst/>
            </a:prstGeom>
          </p:spPr>
        </p:pic>
        <p:sp>
          <p:nvSpPr>
            <p:cNvPr id="25" name="TextBox 24">
              <a:extLst>
                <a:ext uri="{FF2B5EF4-FFF2-40B4-BE49-F238E27FC236}">
                  <a16:creationId xmlns:a16="http://schemas.microsoft.com/office/drawing/2014/main" id="{33C1C7B7-1595-F649-B12F-426BBCB3756E}"/>
                </a:ext>
              </a:extLst>
            </p:cNvPr>
            <p:cNvSpPr txBox="1"/>
            <p:nvPr/>
          </p:nvSpPr>
          <p:spPr>
            <a:xfrm>
              <a:off x="1250107" y="2337518"/>
              <a:ext cx="2052634"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Non-Relational</a:t>
              </a:r>
            </a:p>
          </p:txBody>
        </p:sp>
      </p:grpSp>
    </p:spTree>
    <p:extLst>
      <p:ext uri="{BB962C8B-B14F-4D97-AF65-F5344CB8AC3E}">
        <p14:creationId xmlns:p14="http://schemas.microsoft.com/office/powerpoint/2010/main" val="3164566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Amazon DynamoDB</a:t>
            </a:r>
          </a:p>
        </p:txBody>
      </p:sp>
      <p:sp>
        <p:nvSpPr>
          <p:cNvPr id="5" name="TextBox 4">
            <a:extLst>
              <a:ext uri="{FF2B5EF4-FFF2-40B4-BE49-F238E27FC236}">
                <a16:creationId xmlns:a16="http://schemas.microsoft.com/office/drawing/2014/main" id="{5A759EA6-003B-354C-AAAB-ED763E47F529}"/>
              </a:ext>
            </a:extLst>
          </p:cNvPr>
          <p:cNvSpPr txBox="1"/>
          <p:nvPr/>
        </p:nvSpPr>
        <p:spPr>
          <a:xfrm>
            <a:off x="4080624" y="4697812"/>
            <a:ext cx="1987826"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Have simple high-volume data</a:t>
            </a:r>
          </a:p>
        </p:txBody>
      </p:sp>
      <p:sp>
        <p:nvSpPr>
          <p:cNvPr id="10" name="TextBox 9">
            <a:extLst>
              <a:ext uri="{FF2B5EF4-FFF2-40B4-BE49-F238E27FC236}">
                <a16:creationId xmlns:a16="http://schemas.microsoft.com/office/drawing/2014/main" id="{32223858-0A69-7F49-9BAD-172536359DC4}"/>
              </a:ext>
            </a:extLst>
          </p:cNvPr>
          <p:cNvSpPr txBox="1"/>
          <p:nvPr/>
        </p:nvSpPr>
        <p:spPr>
          <a:xfrm>
            <a:off x="4390289" y="2042468"/>
            <a:ext cx="5907294" cy="461665"/>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Works well for applications that:</a:t>
            </a:r>
          </a:p>
        </p:txBody>
      </p:sp>
      <p:sp>
        <p:nvSpPr>
          <p:cNvPr id="11" name="TextBox 10">
            <a:extLst>
              <a:ext uri="{FF2B5EF4-FFF2-40B4-BE49-F238E27FC236}">
                <a16:creationId xmlns:a16="http://schemas.microsoft.com/office/drawing/2014/main" id="{E51E73EC-BF9C-4643-812D-7FE4C356BA1E}"/>
              </a:ext>
            </a:extLst>
          </p:cNvPr>
          <p:cNvSpPr txBox="1"/>
          <p:nvPr/>
        </p:nvSpPr>
        <p:spPr>
          <a:xfrm>
            <a:off x="6818069" y="4697812"/>
            <a:ext cx="1987826"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Need to scale quickly and with ease</a:t>
            </a:r>
          </a:p>
        </p:txBody>
      </p:sp>
      <p:sp>
        <p:nvSpPr>
          <p:cNvPr id="12" name="TextBox 11">
            <a:extLst>
              <a:ext uri="{FF2B5EF4-FFF2-40B4-BE49-F238E27FC236}">
                <a16:creationId xmlns:a16="http://schemas.microsoft.com/office/drawing/2014/main" id="{46831237-8F4E-4A41-9215-A16E0D0BAE05}"/>
              </a:ext>
            </a:extLst>
          </p:cNvPr>
          <p:cNvSpPr txBox="1"/>
          <p:nvPr/>
        </p:nvSpPr>
        <p:spPr>
          <a:xfrm>
            <a:off x="9555515" y="4697812"/>
            <a:ext cx="1987826"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Don’t need complex joins</a:t>
            </a:r>
          </a:p>
        </p:txBody>
      </p:sp>
      <p:pic>
        <p:nvPicPr>
          <p:cNvPr id="7" name="Picture 6">
            <a:extLst>
              <a:ext uri="{FF2B5EF4-FFF2-40B4-BE49-F238E27FC236}">
                <a16:creationId xmlns:a16="http://schemas.microsoft.com/office/drawing/2014/main" id="{F36230DC-18BB-244F-8692-11E661DF6E1F}"/>
              </a:ext>
            </a:extLst>
          </p:cNvPr>
          <p:cNvPicPr>
            <a:picLocks noChangeAspect="1"/>
          </p:cNvPicPr>
          <p:nvPr/>
        </p:nvPicPr>
        <p:blipFill>
          <a:blip r:embed="rId3"/>
          <a:stretch>
            <a:fillRect/>
          </a:stretch>
        </p:blipFill>
        <p:spPr>
          <a:xfrm>
            <a:off x="9989741" y="3485143"/>
            <a:ext cx="1119374" cy="1119374"/>
          </a:xfrm>
          <a:prstGeom prst="rect">
            <a:avLst/>
          </a:prstGeom>
        </p:spPr>
      </p:pic>
      <p:pic>
        <p:nvPicPr>
          <p:cNvPr id="9" name="Picture 8">
            <a:extLst>
              <a:ext uri="{FF2B5EF4-FFF2-40B4-BE49-F238E27FC236}">
                <a16:creationId xmlns:a16="http://schemas.microsoft.com/office/drawing/2014/main" id="{3CF682FB-BAF4-ED43-83B9-0BD0A07070E4}"/>
              </a:ext>
            </a:extLst>
          </p:cNvPr>
          <p:cNvPicPr>
            <a:picLocks noChangeAspect="1"/>
          </p:cNvPicPr>
          <p:nvPr/>
        </p:nvPicPr>
        <p:blipFill>
          <a:blip r:embed="rId4"/>
          <a:stretch>
            <a:fillRect/>
          </a:stretch>
        </p:blipFill>
        <p:spPr>
          <a:xfrm>
            <a:off x="4390289" y="3211442"/>
            <a:ext cx="1398818" cy="1398818"/>
          </a:xfrm>
          <a:prstGeom prst="rect">
            <a:avLst/>
          </a:prstGeom>
        </p:spPr>
      </p:pic>
      <p:pic>
        <p:nvPicPr>
          <p:cNvPr id="14" name="Picture 13">
            <a:extLst>
              <a:ext uri="{FF2B5EF4-FFF2-40B4-BE49-F238E27FC236}">
                <a16:creationId xmlns:a16="http://schemas.microsoft.com/office/drawing/2014/main" id="{85E5C90D-FE5F-994B-B579-81B983C9F206}"/>
              </a:ext>
            </a:extLst>
          </p:cNvPr>
          <p:cNvPicPr>
            <a:picLocks noChangeAspect="1"/>
          </p:cNvPicPr>
          <p:nvPr/>
        </p:nvPicPr>
        <p:blipFill>
          <a:blip r:embed="rId5"/>
          <a:stretch>
            <a:fillRect/>
          </a:stretch>
        </p:blipFill>
        <p:spPr>
          <a:xfrm>
            <a:off x="7228346" y="3425138"/>
            <a:ext cx="1167271" cy="1167271"/>
          </a:xfrm>
          <a:prstGeom prst="rect">
            <a:avLst/>
          </a:prstGeom>
        </p:spPr>
      </p:pic>
      <p:grpSp>
        <p:nvGrpSpPr>
          <p:cNvPr id="16" name="Group 15">
            <a:extLst>
              <a:ext uri="{FF2B5EF4-FFF2-40B4-BE49-F238E27FC236}">
                <a16:creationId xmlns:a16="http://schemas.microsoft.com/office/drawing/2014/main" id="{B8D8E8F5-AAB3-2546-A8FC-CED508A493AE}"/>
              </a:ext>
            </a:extLst>
          </p:cNvPr>
          <p:cNvGrpSpPr/>
          <p:nvPr/>
        </p:nvGrpSpPr>
        <p:grpSpPr>
          <a:xfrm>
            <a:off x="833825" y="1838059"/>
            <a:ext cx="2885749" cy="4045058"/>
            <a:chOff x="784838" y="1903375"/>
            <a:chExt cx="2885749" cy="4045058"/>
          </a:xfrm>
        </p:grpSpPr>
        <p:sp>
          <p:nvSpPr>
            <p:cNvPr id="20" name="Rectangle 19">
              <a:extLst>
                <a:ext uri="{FF2B5EF4-FFF2-40B4-BE49-F238E27FC236}">
                  <a16:creationId xmlns:a16="http://schemas.microsoft.com/office/drawing/2014/main" id="{D9B81681-3502-E94F-A44E-75085067FB12}"/>
                </a:ext>
              </a:extLst>
            </p:cNvPr>
            <p:cNvSpPr/>
            <p:nvPr/>
          </p:nvSpPr>
          <p:spPr>
            <a:xfrm>
              <a:off x="784838" y="1903375"/>
              <a:ext cx="2885749" cy="4045058"/>
            </a:xfrm>
            <a:prstGeom prst="rect">
              <a:avLst/>
            </a:prstGeom>
            <a:noFill/>
            <a:ln w="508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1" name="TextBox 20">
              <a:extLst>
                <a:ext uri="{FF2B5EF4-FFF2-40B4-BE49-F238E27FC236}">
                  <a16:creationId xmlns:a16="http://schemas.microsoft.com/office/drawing/2014/main" id="{0EDF221D-64B0-E747-9698-A812B77A7B2C}"/>
                </a:ext>
              </a:extLst>
            </p:cNvPr>
            <p:cNvSpPr txBox="1"/>
            <p:nvPr/>
          </p:nvSpPr>
          <p:spPr>
            <a:xfrm>
              <a:off x="1092948" y="4596831"/>
              <a:ext cx="2366952"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DynamoDB</a:t>
              </a:r>
            </a:p>
          </p:txBody>
        </p:sp>
        <p:pic>
          <p:nvPicPr>
            <p:cNvPr id="22" name="Picture 21">
              <a:extLst>
                <a:ext uri="{FF2B5EF4-FFF2-40B4-BE49-F238E27FC236}">
                  <a16:creationId xmlns:a16="http://schemas.microsoft.com/office/drawing/2014/main" id="{F4AD83D5-2E04-2A46-AF46-A4376F5D7D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5822" y="2992575"/>
              <a:ext cx="1181204" cy="1308412"/>
            </a:xfrm>
            <a:prstGeom prst="rect">
              <a:avLst/>
            </a:prstGeom>
          </p:spPr>
        </p:pic>
        <p:sp>
          <p:nvSpPr>
            <p:cNvPr id="23" name="TextBox 22">
              <a:extLst>
                <a:ext uri="{FF2B5EF4-FFF2-40B4-BE49-F238E27FC236}">
                  <a16:creationId xmlns:a16="http://schemas.microsoft.com/office/drawing/2014/main" id="{822AE656-9F71-3A44-BBE9-47616CD26E6F}"/>
                </a:ext>
              </a:extLst>
            </p:cNvPr>
            <p:cNvSpPr txBox="1"/>
            <p:nvPr/>
          </p:nvSpPr>
          <p:spPr>
            <a:xfrm>
              <a:off x="1250107" y="2337518"/>
              <a:ext cx="2052634"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Non-Relational</a:t>
              </a:r>
            </a:p>
          </p:txBody>
        </p:sp>
      </p:grpSp>
    </p:spTree>
    <p:extLst>
      <p:ext uri="{BB962C8B-B14F-4D97-AF65-F5344CB8AC3E}">
        <p14:creationId xmlns:p14="http://schemas.microsoft.com/office/powerpoint/2010/main" val="2536707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1" name="Rounded Rectangle 150"/>
          <p:cNvSpPr/>
          <p:nvPr/>
        </p:nvSpPr>
        <p:spPr>
          <a:xfrm>
            <a:off x="3340358" y="4931843"/>
            <a:ext cx="4951303" cy="667369"/>
          </a:xfrm>
          <a:prstGeom prst="roundRect">
            <a:avLst/>
          </a:prstGeom>
          <a:solidFill>
            <a:srgbClr val="F4FAF5"/>
          </a:solidFill>
          <a:ln w="28575">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4" name="Rounded Rectangle 63"/>
          <p:cNvSpPr/>
          <p:nvPr/>
        </p:nvSpPr>
        <p:spPr>
          <a:xfrm>
            <a:off x="3340357" y="4193227"/>
            <a:ext cx="5762046" cy="670600"/>
          </a:xfrm>
          <a:prstGeom prst="roundRect">
            <a:avLst/>
          </a:prstGeom>
          <a:solidFill>
            <a:srgbClr val="F4FAF5"/>
          </a:solidFill>
          <a:ln w="28575">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50" name="Rounded Rectangle 149"/>
          <p:cNvSpPr/>
          <p:nvPr/>
        </p:nvSpPr>
        <p:spPr>
          <a:xfrm>
            <a:off x="3350429" y="3494840"/>
            <a:ext cx="3277447" cy="638954"/>
          </a:xfrm>
          <a:prstGeom prst="roundRect">
            <a:avLst/>
          </a:prstGeom>
          <a:solidFill>
            <a:srgbClr val="F4FAF5"/>
          </a:solidFill>
          <a:ln w="28575">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6" name="Rounded Rectangle 65"/>
          <p:cNvSpPr/>
          <p:nvPr/>
        </p:nvSpPr>
        <p:spPr>
          <a:xfrm>
            <a:off x="3340357" y="2771874"/>
            <a:ext cx="6529534" cy="674984"/>
          </a:xfrm>
          <a:prstGeom prst="roundRect">
            <a:avLst/>
          </a:prstGeom>
          <a:solidFill>
            <a:srgbClr val="F4FAF5"/>
          </a:solidFill>
          <a:ln w="28575">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 name="Title 1"/>
          <p:cNvSpPr>
            <a:spLocks noGrp="1"/>
          </p:cNvSpPr>
          <p:nvPr>
            <p:ph type="title"/>
          </p:nvPr>
        </p:nvSpPr>
        <p:spPr/>
        <p:txBody>
          <a:bodyPr/>
          <a:lstStyle/>
          <a:p>
            <a:r>
              <a:rPr lang="en-US" dirty="0"/>
              <a:t>Amazon DynamoDB Data Model</a:t>
            </a:r>
          </a:p>
        </p:txBody>
      </p:sp>
      <p:sp>
        <p:nvSpPr>
          <p:cNvPr id="59" name="Rectangle 58"/>
          <p:cNvSpPr/>
          <p:nvPr/>
        </p:nvSpPr>
        <p:spPr>
          <a:xfrm>
            <a:off x="3183447" y="2178071"/>
            <a:ext cx="6861484" cy="3515341"/>
          </a:xfrm>
          <a:prstGeom prst="rect">
            <a:avLst/>
          </a:prstGeom>
          <a:no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 name="Picture 4" descr="Table.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67055" y="1812611"/>
            <a:ext cx="705092" cy="705092"/>
          </a:xfrm>
          <a:prstGeom prst="rect">
            <a:avLst/>
          </a:prstGeom>
        </p:spPr>
      </p:pic>
      <p:cxnSp>
        <p:nvCxnSpPr>
          <p:cNvPr id="68" name="Straight Arrow Connector 67"/>
          <p:cNvCxnSpPr>
            <a:stCxn id="66" idx="1"/>
            <a:endCxn id="6" idx="3"/>
          </p:cNvCxnSpPr>
          <p:nvPr/>
        </p:nvCxnSpPr>
        <p:spPr>
          <a:xfrm flipH="1" flipV="1">
            <a:off x="1552234" y="3081105"/>
            <a:ext cx="1788123" cy="28262"/>
          </a:xfrm>
          <a:prstGeom prst="straightConnector1">
            <a:avLst/>
          </a:prstGeom>
          <a:ln w="19050">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a:stCxn id="64" idx="1"/>
            <a:endCxn id="156" idx="3"/>
          </p:cNvCxnSpPr>
          <p:nvPr/>
        </p:nvCxnSpPr>
        <p:spPr>
          <a:xfrm flipH="1" flipV="1">
            <a:off x="1552234" y="4346850"/>
            <a:ext cx="1788123" cy="181676"/>
          </a:xfrm>
          <a:prstGeom prst="straightConnector1">
            <a:avLst/>
          </a:prstGeom>
          <a:ln w="19050">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71" name="Group 170"/>
          <p:cNvGrpSpPr/>
          <p:nvPr/>
        </p:nvGrpSpPr>
        <p:grpSpPr>
          <a:xfrm>
            <a:off x="300666" y="2752405"/>
            <a:ext cx="1845736" cy="2910300"/>
            <a:chOff x="358481" y="1417721"/>
            <a:chExt cx="1384663" cy="2183294"/>
          </a:xfrm>
        </p:grpSpPr>
        <p:pic>
          <p:nvPicPr>
            <p:cNvPr id="6" name="Picture 5" descr="Attribute.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225" y="1417721"/>
              <a:ext cx="493177" cy="493177"/>
            </a:xfrm>
            <a:prstGeom prst="rect">
              <a:avLst/>
            </a:prstGeom>
          </p:spPr>
        </p:pic>
        <p:sp>
          <p:nvSpPr>
            <p:cNvPr id="10" name="TextBox 9"/>
            <p:cNvSpPr txBox="1"/>
            <p:nvPr/>
          </p:nvSpPr>
          <p:spPr>
            <a:xfrm>
              <a:off x="358481" y="3316273"/>
              <a:ext cx="1384663" cy="284742"/>
            </a:xfrm>
            <a:prstGeom prst="rect">
              <a:avLst/>
            </a:prstGeom>
            <a:noFill/>
          </p:spPr>
          <p:txBody>
            <a:bodyPr wrap="square" rtlCol="0">
              <a:spAutoFit/>
            </a:bodyPr>
            <a:lstStyle/>
            <a:p>
              <a:pPr algn="ctr"/>
              <a:r>
                <a:rPr lang="en-US" sz="1866" dirty="0">
                  <a:latin typeface="Amazon Ember" panose="020B0603020204020204" pitchFamily="34" charset="0"/>
                  <a:ea typeface="Amazon Ember" panose="020B0603020204020204" pitchFamily="34" charset="0"/>
                  <a:cs typeface="Amazon Ember" panose="020B0603020204020204" pitchFamily="34" charset="0"/>
                </a:rPr>
                <a:t>Partition1..N</a:t>
              </a:r>
            </a:p>
          </p:txBody>
        </p:sp>
        <p:pic>
          <p:nvPicPr>
            <p:cNvPr id="155" name="Picture 154" descr="Attribute.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225" y="1895917"/>
              <a:ext cx="493177" cy="493177"/>
            </a:xfrm>
            <a:prstGeom prst="rect">
              <a:avLst/>
            </a:prstGeom>
          </p:spPr>
        </p:pic>
        <p:pic>
          <p:nvPicPr>
            <p:cNvPr id="156" name="Picture 155" descr="Attribute.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225" y="2367278"/>
              <a:ext cx="493177" cy="493177"/>
            </a:xfrm>
            <a:prstGeom prst="rect">
              <a:avLst/>
            </a:prstGeom>
          </p:spPr>
        </p:pic>
        <p:pic>
          <p:nvPicPr>
            <p:cNvPr id="157" name="Picture 156" descr="Attribute.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225" y="2845474"/>
              <a:ext cx="493177" cy="493177"/>
            </a:xfrm>
            <a:prstGeom prst="rect">
              <a:avLst/>
            </a:prstGeom>
          </p:spPr>
        </p:pic>
      </p:grpSp>
      <p:cxnSp>
        <p:nvCxnSpPr>
          <p:cNvPr id="161" name="Straight Arrow Connector 160"/>
          <p:cNvCxnSpPr>
            <a:stCxn id="150" idx="1"/>
            <a:endCxn id="155" idx="3"/>
          </p:cNvCxnSpPr>
          <p:nvPr/>
        </p:nvCxnSpPr>
        <p:spPr>
          <a:xfrm flipH="1" flipV="1">
            <a:off x="1552233" y="3718534"/>
            <a:ext cx="1798196" cy="95784"/>
          </a:xfrm>
          <a:prstGeom prst="straightConnector1">
            <a:avLst/>
          </a:prstGeom>
          <a:ln w="19050">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3" name="Straight Arrow Connector 162"/>
          <p:cNvCxnSpPr>
            <a:stCxn id="151" idx="1"/>
            <a:endCxn id="157" idx="3"/>
          </p:cNvCxnSpPr>
          <p:nvPr/>
        </p:nvCxnSpPr>
        <p:spPr>
          <a:xfrm flipH="1" flipV="1">
            <a:off x="1552234" y="4984280"/>
            <a:ext cx="1788123" cy="281248"/>
          </a:xfrm>
          <a:prstGeom prst="straightConnector1">
            <a:avLst/>
          </a:prstGeom>
          <a:ln w="19050">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 name="Group 2"/>
          <p:cNvGrpSpPr/>
          <p:nvPr/>
        </p:nvGrpSpPr>
        <p:grpSpPr>
          <a:xfrm>
            <a:off x="6670456" y="3492640"/>
            <a:ext cx="5231133" cy="2179181"/>
            <a:chOff x="5077450" y="1992092"/>
            <a:chExt cx="3924372" cy="1634812"/>
          </a:xfrm>
        </p:grpSpPr>
        <p:grpSp>
          <p:nvGrpSpPr>
            <p:cNvPr id="73" name="Group 72"/>
            <p:cNvGrpSpPr/>
            <p:nvPr/>
          </p:nvGrpSpPr>
          <p:grpSpPr>
            <a:xfrm>
              <a:off x="6269237" y="1992092"/>
              <a:ext cx="2732585" cy="576173"/>
              <a:chOff x="6328856" y="1973042"/>
              <a:chExt cx="2732585" cy="576173"/>
            </a:xfrm>
          </p:grpSpPr>
          <p:sp>
            <p:nvSpPr>
              <p:cNvPr id="83" name="TextBox 82"/>
              <p:cNvSpPr txBox="1"/>
              <p:nvPr/>
            </p:nvSpPr>
            <p:spPr>
              <a:xfrm>
                <a:off x="7537269" y="2079952"/>
                <a:ext cx="1524172" cy="469263"/>
              </a:xfrm>
              <a:prstGeom prst="rect">
                <a:avLst/>
              </a:prstGeom>
              <a:solidFill>
                <a:schemeClr val="accent5">
                  <a:lumMod val="20000"/>
                  <a:lumOff val="80000"/>
                </a:schemeClr>
              </a:solidFill>
              <a:ln>
                <a:solidFill>
                  <a:schemeClr val="accent1"/>
                </a:solidFill>
              </a:ln>
            </p:spPr>
            <p:txBody>
              <a:bodyPr wrap="square" rtlCol="0">
                <a:spAutoFit/>
              </a:bodyPr>
              <a:lstStyle/>
              <a:p>
                <a:r>
                  <a:rPr lang="en-US" sz="1732" dirty="0">
                    <a:latin typeface="Amazon Ember" panose="020B0603020204020204" pitchFamily="34" charset="0"/>
                    <a:ea typeface="Amazon Ember" panose="020B0603020204020204" pitchFamily="34" charset="0"/>
                    <a:cs typeface="Amazon Ember" panose="020B0603020204020204" pitchFamily="34" charset="0"/>
                  </a:rPr>
                  <a:t>Item </a:t>
                </a:r>
                <a:r>
                  <a:rPr lang="en-US" sz="1732" dirty="0">
                    <a:latin typeface="Amazon Ember" panose="020B0603020204020204" pitchFamily="34" charset="0"/>
                    <a:ea typeface="Amazon Ember" panose="020B0603020204020204" pitchFamily="34" charset="0"/>
                    <a:cs typeface="Amazon Ember" panose="020B0603020204020204" pitchFamily="34" charset="0"/>
                    <a:sym typeface="Wingdings" panose="05000000000000000000" pitchFamily="2" charset="2"/>
                  </a:rPr>
                  <a:t>= a collection of attributes</a:t>
                </a:r>
              </a:p>
            </p:txBody>
          </p:sp>
          <p:cxnSp>
            <p:nvCxnSpPr>
              <p:cNvPr id="67" name="Straight Arrow Connector 66"/>
              <p:cNvCxnSpPr>
                <a:stCxn id="83" idx="1"/>
              </p:cNvCxnSpPr>
              <p:nvPr/>
            </p:nvCxnSpPr>
            <p:spPr>
              <a:xfrm flipH="1" flipV="1">
                <a:off x="6328856" y="1973042"/>
                <a:ext cx="1208414" cy="341542"/>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grpSp>
        <p:cxnSp>
          <p:nvCxnSpPr>
            <p:cNvPr id="84" name="Straight Arrow Connector 83"/>
            <p:cNvCxnSpPr>
              <a:stCxn id="83" idx="1"/>
              <a:endCxn id="64" idx="3"/>
            </p:cNvCxnSpPr>
            <p:nvPr/>
          </p:nvCxnSpPr>
          <p:spPr>
            <a:xfrm flipH="1">
              <a:off x="6933828" y="2333634"/>
              <a:ext cx="543821" cy="740376"/>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196" name="Straight Arrow Connector 195"/>
            <p:cNvCxnSpPr>
              <a:stCxn id="83" idx="1"/>
              <a:endCxn id="150" idx="3"/>
            </p:cNvCxnSpPr>
            <p:nvPr/>
          </p:nvCxnSpPr>
          <p:spPr>
            <a:xfrm flipH="1">
              <a:off x="5077450" y="2333634"/>
              <a:ext cx="2400200" cy="204579"/>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208" name="Curved Connector 207"/>
            <p:cNvCxnSpPr>
              <a:stCxn id="83" idx="1"/>
              <a:endCxn id="151" idx="3"/>
            </p:cNvCxnSpPr>
            <p:nvPr/>
          </p:nvCxnSpPr>
          <p:spPr>
            <a:xfrm rot="10800000" flipV="1">
              <a:off x="6325613" y="2333633"/>
              <a:ext cx="1152036" cy="1293271"/>
            </a:xfrm>
            <a:prstGeom prst="curvedConnector3">
              <a:avLst>
                <a:gd name="adj1" fmla="val 50000"/>
              </a:avLst>
            </a:prstGeom>
            <a:ln w="19050">
              <a:tailEnd type="triangle"/>
            </a:ln>
          </p:spPr>
          <p:style>
            <a:lnRef idx="2">
              <a:schemeClr val="accent1"/>
            </a:lnRef>
            <a:fillRef idx="0">
              <a:schemeClr val="accent1"/>
            </a:fillRef>
            <a:effectRef idx="1">
              <a:schemeClr val="accent1"/>
            </a:effectRef>
            <a:fontRef idx="minor">
              <a:schemeClr val="tx1"/>
            </a:fontRef>
          </p:style>
        </p:cxnSp>
      </p:grpSp>
      <p:sp>
        <p:nvSpPr>
          <p:cNvPr id="221" name="TextBox 220"/>
          <p:cNvSpPr txBox="1"/>
          <p:nvPr/>
        </p:nvSpPr>
        <p:spPr>
          <a:xfrm>
            <a:off x="238476" y="1848785"/>
            <a:ext cx="1970111" cy="892128"/>
          </a:xfrm>
          <a:prstGeom prst="rect">
            <a:avLst/>
          </a:prstGeom>
          <a:noFill/>
        </p:spPr>
        <p:txBody>
          <a:bodyPr wrap="square" rtlCol="0">
            <a:spAutoFit/>
          </a:bodyPr>
          <a:lstStyle/>
          <a:p>
            <a:pPr algn="ctr"/>
            <a:r>
              <a:rPr lang="en-US" sz="1732" dirty="0">
                <a:latin typeface="Amazon Ember" panose="020B0603020204020204" pitchFamily="34" charset="0"/>
                <a:ea typeface="Amazon Ember" panose="020B0603020204020204" pitchFamily="34" charset="0"/>
                <a:cs typeface="Amazon Ember" panose="020B0603020204020204" pitchFamily="34" charset="0"/>
              </a:rPr>
              <a:t>Data partitioned by the partition (hash) key</a:t>
            </a:r>
          </a:p>
        </p:txBody>
      </p:sp>
      <p:grpSp>
        <p:nvGrpSpPr>
          <p:cNvPr id="62" name="Group 61"/>
          <p:cNvGrpSpPr/>
          <p:nvPr/>
        </p:nvGrpSpPr>
        <p:grpSpPr>
          <a:xfrm>
            <a:off x="3448507" y="2847130"/>
            <a:ext cx="6270350" cy="2639599"/>
            <a:chOff x="2660358" y="1507833"/>
            <a:chExt cx="4703987" cy="1980215"/>
          </a:xfrm>
        </p:grpSpPr>
        <p:sp>
          <p:nvSpPr>
            <p:cNvPr id="30" name="Rounded Rectangle 29"/>
            <p:cNvSpPr/>
            <p:nvPr/>
          </p:nvSpPr>
          <p:spPr>
            <a:xfrm>
              <a:off x="3252605" y="1507833"/>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1" name="Rounded Rectangle 30"/>
            <p:cNvSpPr/>
            <p:nvPr/>
          </p:nvSpPr>
          <p:spPr>
            <a:xfrm>
              <a:off x="3254234" y="2038328"/>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2" name="Rounded Rectangle 31"/>
            <p:cNvSpPr/>
            <p:nvPr/>
          </p:nvSpPr>
          <p:spPr>
            <a:xfrm>
              <a:off x="3259087" y="2573292"/>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Rounded Rectangle 32"/>
            <p:cNvSpPr/>
            <p:nvPr/>
          </p:nvSpPr>
          <p:spPr>
            <a:xfrm>
              <a:off x="3257765" y="3135351"/>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8" name="Rounded Rectangle 37"/>
            <p:cNvSpPr/>
            <p:nvPr/>
          </p:nvSpPr>
          <p:spPr>
            <a:xfrm>
              <a:off x="3860818" y="1507833"/>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9" name="Rounded Rectangle 38"/>
            <p:cNvSpPr/>
            <p:nvPr/>
          </p:nvSpPr>
          <p:spPr>
            <a:xfrm>
              <a:off x="3864076" y="2038328"/>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0" name="Rounded Rectangle 39"/>
            <p:cNvSpPr/>
            <p:nvPr/>
          </p:nvSpPr>
          <p:spPr>
            <a:xfrm>
              <a:off x="3873782" y="2573292"/>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1" name="Rounded Rectangle 40"/>
            <p:cNvSpPr/>
            <p:nvPr/>
          </p:nvSpPr>
          <p:spPr>
            <a:xfrm>
              <a:off x="3871138" y="3135351"/>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2" name="Rounded Rectangle 41"/>
            <p:cNvSpPr/>
            <p:nvPr/>
          </p:nvSpPr>
          <p:spPr>
            <a:xfrm>
              <a:off x="4469031" y="1507833"/>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3" name="Rounded Rectangle 42"/>
            <p:cNvSpPr/>
            <p:nvPr/>
          </p:nvSpPr>
          <p:spPr>
            <a:xfrm>
              <a:off x="4473917" y="2038328"/>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Rounded Rectangle 43"/>
            <p:cNvSpPr/>
            <p:nvPr/>
          </p:nvSpPr>
          <p:spPr>
            <a:xfrm>
              <a:off x="4488477" y="2573292"/>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5" name="Rounded Rectangle 44"/>
            <p:cNvSpPr/>
            <p:nvPr/>
          </p:nvSpPr>
          <p:spPr>
            <a:xfrm>
              <a:off x="4484511" y="3135351"/>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6" name="Rounded Rectangle 45"/>
            <p:cNvSpPr/>
            <p:nvPr/>
          </p:nvSpPr>
          <p:spPr>
            <a:xfrm>
              <a:off x="5077244" y="1507833"/>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8" name="Rounded Rectangle 47"/>
            <p:cNvSpPr/>
            <p:nvPr/>
          </p:nvSpPr>
          <p:spPr>
            <a:xfrm>
              <a:off x="5103172" y="2573292"/>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Rounded Rectangle 48"/>
            <p:cNvSpPr/>
            <p:nvPr/>
          </p:nvSpPr>
          <p:spPr>
            <a:xfrm>
              <a:off x="5097884" y="3135351"/>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0" name="Rounded Rectangle 49"/>
            <p:cNvSpPr/>
            <p:nvPr/>
          </p:nvSpPr>
          <p:spPr>
            <a:xfrm>
              <a:off x="5685457" y="1507833"/>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2" name="Rounded Rectangle 51"/>
            <p:cNvSpPr/>
            <p:nvPr/>
          </p:nvSpPr>
          <p:spPr>
            <a:xfrm>
              <a:off x="5717867" y="2573292"/>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3" name="Rounded Rectangle 52"/>
            <p:cNvSpPr/>
            <p:nvPr/>
          </p:nvSpPr>
          <p:spPr>
            <a:xfrm>
              <a:off x="5711259" y="3135351"/>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4" name="Rounded Rectangle 53"/>
            <p:cNvSpPr/>
            <p:nvPr/>
          </p:nvSpPr>
          <p:spPr>
            <a:xfrm>
              <a:off x="6293670" y="1507833"/>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8" name="Rounded Rectangle 57"/>
            <p:cNvSpPr/>
            <p:nvPr/>
          </p:nvSpPr>
          <p:spPr>
            <a:xfrm>
              <a:off x="6901885" y="1507833"/>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6" name="Rounded Rectangle 55"/>
            <p:cNvSpPr/>
            <p:nvPr/>
          </p:nvSpPr>
          <p:spPr>
            <a:xfrm>
              <a:off x="6332564" y="2573292"/>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5" name="Rounded Rectangle 94"/>
            <p:cNvSpPr/>
            <p:nvPr/>
          </p:nvSpPr>
          <p:spPr>
            <a:xfrm>
              <a:off x="2660358" y="1507833"/>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8" name="Rounded Rectangle 97"/>
            <p:cNvSpPr/>
            <p:nvPr/>
          </p:nvSpPr>
          <p:spPr>
            <a:xfrm>
              <a:off x="2660358" y="2038328"/>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9" name="Rounded Rectangle 98"/>
            <p:cNvSpPr/>
            <p:nvPr/>
          </p:nvSpPr>
          <p:spPr>
            <a:xfrm>
              <a:off x="2660358" y="2573292"/>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00" name="Rounded Rectangle 99"/>
            <p:cNvSpPr/>
            <p:nvPr/>
          </p:nvSpPr>
          <p:spPr>
            <a:xfrm>
              <a:off x="2660358" y="3135351"/>
              <a:ext cx="462460" cy="352697"/>
            </a:xfrm>
            <a:prstGeom prst="roundRect">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10" name="TextBox 109"/>
          <p:cNvSpPr txBox="1"/>
          <p:nvPr/>
        </p:nvSpPr>
        <p:spPr>
          <a:xfrm>
            <a:off x="3229669" y="2147400"/>
            <a:ext cx="1044637" cy="666803"/>
          </a:xfrm>
          <a:prstGeom prst="rect">
            <a:avLst/>
          </a:prstGeom>
          <a:noFill/>
        </p:spPr>
        <p:txBody>
          <a:bodyPr wrap="square" rtlCol="0">
            <a:spAutoFit/>
          </a:bodyPr>
          <a:lstStyle/>
          <a:p>
            <a:pPr algn="ctr"/>
            <a:r>
              <a:rPr lang="en-US" sz="1866" b="1" u="sng" dirty="0">
                <a:latin typeface="Amazon Ember" panose="020B0603020204020204" pitchFamily="34" charset="0"/>
                <a:ea typeface="Amazon Ember" panose="020B0603020204020204" pitchFamily="34" charset="0"/>
                <a:cs typeface="Amazon Ember" panose="020B0603020204020204" pitchFamily="34" charset="0"/>
              </a:rPr>
              <a:t>User</a:t>
            </a:r>
          </a:p>
          <a:p>
            <a:pPr algn="ctr"/>
            <a:r>
              <a:rPr lang="en-US" sz="1866" b="1" u="sng" dirty="0">
                <a:latin typeface="Amazon Ember" panose="020B0603020204020204" pitchFamily="34" charset="0"/>
                <a:ea typeface="Amazon Ember" panose="020B0603020204020204" pitchFamily="34" charset="0"/>
                <a:cs typeface="Amazon Ember" panose="020B0603020204020204" pitchFamily="34" charset="0"/>
              </a:rPr>
              <a:t>ID</a:t>
            </a:r>
          </a:p>
        </p:txBody>
      </p:sp>
      <p:sp>
        <p:nvSpPr>
          <p:cNvPr id="111" name="TextBox 110"/>
          <p:cNvSpPr txBox="1"/>
          <p:nvPr/>
        </p:nvSpPr>
        <p:spPr>
          <a:xfrm>
            <a:off x="4018109" y="2150507"/>
            <a:ext cx="1175509" cy="666803"/>
          </a:xfrm>
          <a:prstGeom prst="rect">
            <a:avLst/>
          </a:prstGeom>
          <a:noFill/>
        </p:spPr>
        <p:txBody>
          <a:bodyPr wrap="square" rtlCol="0">
            <a:spAutoFit/>
          </a:bodyPr>
          <a:lstStyle/>
          <a:p>
            <a:pPr algn="ctr"/>
            <a:r>
              <a:rPr lang="en-US" sz="1866" b="1" u="sng" dirty="0">
                <a:latin typeface="Amazon Ember" panose="020B0603020204020204" pitchFamily="34" charset="0"/>
                <a:ea typeface="Amazon Ember" panose="020B0603020204020204" pitchFamily="34" charset="0"/>
                <a:cs typeface="Amazon Ember" panose="020B0603020204020204" pitchFamily="34" charset="0"/>
              </a:rPr>
              <a:t>Order</a:t>
            </a:r>
          </a:p>
          <a:p>
            <a:pPr algn="ctr"/>
            <a:r>
              <a:rPr lang="en-US" sz="1866" b="1" u="sng" dirty="0">
                <a:latin typeface="Amazon Ember" panose="020B0603020204020204" pitchFamily="34" charset="0"/>
                <a:ea typeface="Amazon Ember" panose="020B0603020204020204" pitchFamily="34" charset="0"/>
                <a:cs typeface="Amazon Ember" panose="020B0603020204020204" pitchFamily="34" charset="0"/>
              </a:rPr>
              <a:t>ID</a:t>
            </a:r>
          </a:p>
        </p:txBody>
      </p:sp>
      <p:sp>
        <p:nvSpPr>
          <p:cNvPr id="114" name="TextBox 113"/>
          <p:cNvSpPr txBox="1"/>
          <p:nvPr/>
        </p:nvSpPr>
        <p:spPr>
          <a:xfrm>
            <a:off x="10006229" y="1236360"/>
            <a:ext cx="1929316" cy="584623"/>
          </a:xfrm>
          <a:prstGeom prst="rect">
            <a:avLst/>
          </a:prstGeom>
          <a:solidFill>
            <a:schemeClr val="accent5">
              <a:lumMod val="20000"/>
              <a:lumOff val="80000"/>
            </a:schemeClr>
          </a:solidFill>
          <a:ln>
            <a:solidFill>
              <a:schemeClr val="accent1"/>
            </a:solidFill>
          </a:ln>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Table = collection of data elements</a:t>
            </a:r>
          </a:p>
        </p:txBody>
      </p:sp>
      <p:cxnSp>
        <p:nvCxnSpPr>
          <p:cNvPr id="115" name="Straight Arrow Connector 114"/>
          <p:cNvCxnSpPr>
            <a:stCxn id="114" idx="2"/>
          </p:cNvCxnSpPr>
          <p:nvPr/>
        </p:nvCxnSpPr>
        <p:spPr>
          <a:xfrm flipH="1">
            <a:off x="10044931" y="1820982"/>
            <a:ext cx="925956" cy="756371"/>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grpSp>
        <p:nvGrpSpPr>
          <p:cNvPr id="4" name="Group 3"/>
          <p:cNvGrpSpPr/>
          <p:nvPr/>
        </p:nvGrpSpPr>
        <p:grpSpPr>
          <a:xfrm>
            <a:off x="3435992" y="2834590"/>
            <a:ext cx="616452" cy="2639599"/>
            <a:chOff x="2650970" y="1623685"/>
            <a:chExt cx="462460" cy="1980215"/>
          </a:xfrm>
        </p:grpSpPr>
        <p:sp>
          <p:nvSpPr>
            <p:cNvPr id="75" name="Rounded Rectangle 74"/>
            <p:cNvSpPr/>
            <p:nvPr/>
          </p:nvSpPr>
          <p:spPr>
            <a:xfrm>
              <a:off x="2650970" y="1623685"/>
              <a:ext cx="462460" cy="352697"/>
            </a:xfrm>
            <a:prstGeom prst="roundRect">
              <a:avLst/>
            </a:prstGeom>
            <a:solidFill>
              <a:schemeClr val="accent1">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6" name="Rounded Rectangle 75"/>
            <p:cNvSpPr/>
            <p:nvPr/>
          </p:nvSpPr>
          <p:spPr>
            <a:xfrm>
              <a:off x="2650970" y="2154180"/>
              <a:ext cx="462460" cy="352697"/>
            </a:xfrm>
            <a:prstGeom prst="roundRect">
              <a:avLst/>
            </a:prstGeom>
            <a:solidFill>
              <a:schemeClr val="accent1">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7" name="Rounded Rectangle 76"/>
            <p:cNvSpPr/>
            <p:nvPr/>
          </p:nvSpPr>
          <p:spPr>
            <a:xfrm>
              <a:off x="2650970" y="2689144"/>
              <a:ext cx="462460" cy="352697"/>
            </a:xfrm>
            <a:prstGeom prst="roundRect">
              <a:avLst/>
            </a:prstGeom>
            <a:solidFill>
              <a:schemeClr val="accent1">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8" name="Rounded Rectangle 77"/>
            <p:cNvSpPr/>
            <p:nvPr/>
          </p:nvSpPr>
          <p:spPr>
            <a:xfrm>
              <a:off x="2650970" y="3251203"/>
              <a:ext cx="462460" cy="352697"/>
            </a:xfrm>
            <a:prstGeom prst="roundRect">
              <a:avLst/>
            </a:prstGeom>
            <a:solidFill>
              <a:schemeClr val="accent1">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7" name="Group 6"/>
          <p:cNvGrpSpPr/>
          <p:nvPr/>
        </p:nvGrpSpPr>
        <p:grpSpPr>
          <a:xfrm>
            <a:off x="4240134" y="2834590"/>
            <a:ext cx="625093" cy="2639599"/>
            <a:chOff x="3254234" y="1623685"/>
            <a:chExt cx="468942" cy="1980215"/>
          </a:xfrm>
        </p:grpSpPr>
        <p:sp>
          <p:nvSpPr>
            <p:cNvPr id="79" name="Rounded Rectangle 78"/>
            <p:cNvSpPr/>
            <p:nvPr/>
          </p:nvSpPr>
          <p:spPr>
            <a:xfrm>
              <a:off x="3254234" y="1623685"/>
              <a:ext cx="462460" cy="352697"/>
            </a:xfrm>
            <a:prstGeom prst="roundRect">
              <a:avLst/>
            </a:prstGeom>
            <a:solidFill>
              <a:schemeClr val="accent3">
                <a:lumMod val="60000"/>
                <a:lumOff val="4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0" name="Rounded Rectangle 79"/>
            <p:cNvSpPr/>
            <p:nvPr/>
          </p:nvSpPr>
          <p:spPr>
            <a:xfrm>
              <a:off x="3255863" y="2154180"/>
              <a:ext cx="462460" cy="352697"/>
            </a:xfrm>
            <a:prstGeom prst="roundRect">
              <a:avLst/>
            </a:prstGeom>
            <a:solidFill>
              <a:schemeClr val="accent3">
                <a:lumMod val="60000"/>
                <a:lumOff val="4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1" name="Rounded Rectangle 80"/>
            <p:cNvSpPr/>
            <p:nvPr/>
          </p:nvSpPr>
          <p:spPr>
            <a:xfrm>
              <a:off x="3260716" y="2689144"/>
              <a:ext cx="462460" cy="352697"/>
            </a:xfrm>
            <a:prstGeom prst="roundRect">
              <a:avLst/>
            </a:prstGeom>
            <a:solidFill>
              <a:schemeClr val="accent3">
                <a:lumMod val="60000"/>
                <a:lumOff val="4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2" name="Rounded Rectangle 81"/>
            <p:cNvSpPr/>
            <p:nvPr/>
          </p:nvSpPr>
          <p:spPr>
            <a:xfrm>
              <a:off x="3259394" y="3251203"/>
              <a:ext cx="462460" cy="352697"/>
            </a:xfrm>
            <a:prstGeom prst="roundRect">
              <a:avLst/>
            </a:prstGeom>
            <a:solidFill>
              <a:schemeClr val="accent3">
                <a:lumMod val="60000"/>
                <a:lumOff val="4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13" name="Group 112"/>
          <p:cNvGrpSpPr/>
          <p:nvPr/>
        </p:nvGrpSpPr>
        <p:grpSpPr>
          <a:xfrm>
            <a:off x="3786148" y="1497366"/>
            <a:ext cx="5582626" cy="1593173"/>
            <a:chOff x="2913656" y="620507"/>
            <a:chExt cx="4188060" cy="1195191"/>
          </a:xfrm>
        </p:grpSpPr>
        <p:grpSp>
          <p:nvGrpSpPr>
            <p:cNvPr id="74" name="Group 73"/>
            <p:cNvGrpSpPr/>
            <p:nvPr/>
          </p:nvGrpSpPr>
          <p:grpSpPr>
            <a:xfrm>
              <a:off x="3998565" y="620507"/>
              <a:ext cx="3103151" cy="1195191"/>
              <a:chOff x="4058184" y="476197"/>
              <a:chExt cx="3103151" cy="1195191"/>
            </a:xfrm>
          </p:grpSpPr>
          <p:sp>
            <p:nvSpPr>
              <p:cNvPr id="8" name="TextBox 7"/>
              <p:cNvSpPr txBox="1"/>
              <p:nvPr/>
            </p:nvSpPr>
            <p:spPr>
              <a:xfrm>
                <a:off x="4058184" y="476197"/>
                <a:ext cx="2894914" cy="269257"/>
              </a:xfrm>
              <a:prstGeom prst="rect">
                <a:avLst/>
              </a:prstGeom>
              <a:solidFill>
                <a:schemeClr val="accent5">
                  <a:lumMod val="20000"/>
                  <a:lumOff val="80000"/>
                </a:schemeClr>
              </a:solidFill>
              <a:ln>
                <a:solidFill>
                  <a:schemeClr val="accent1"/>
                </a:solidFill>
              </a:ln>
            </p:spPr>
            <p:txBody>
              <a:bodyPr wrap="square" rtlCol="0">
                <a:spAutoFit/>
              </a:bodyPr>
              <a:lstStyle/>
              <a:p>
                <a:pPr algn="ctr"/>
                <a:r>
                  <a:rPr lang="en-US" sz="1732" dirty="0">
                    <a:latin typeface="Amazon Ember" panose="020B0603020204020204" pitchFamily="34" charset="0"/>
                    <a:ea typeface="Amazon Ember" panose="020B0603020204020204" pitchFamily="34" charset="0"/>
                    <a:cs typeface="Amazon Ember" panose="020B0603020204020204" pitchFamily="34" charset="0"/>
                  </a:rPr>
                  <a:t>Data elements stored as attributes</a:t>
                </a:r>
              </a:p>
            </p:txBody>
          </p:sp>
          <p:cxnSp>
            <p:nvCxnSpPr>
              <p:cNvPr id="12" name="Straight Arrow Connector 11"/>
              <p:cNvCxnSpPr>
                <a:stCxn id="8" idx="2"/>
              </p:cNvCxnSpPr>
              <p:nvPr/>
            </p:nvCxnSpPr>
            <p:spPr>
              <a:xfrm flipH="1">
                <a:off x="5360170" y="745454"/>
                <a:ext cx="145471" cy="916291"/>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8" idx="2"/>
              </p:cNvCxnSpPr>
              <p:nvPr/>
            </p:nvCxnSpPr>
            <p:spPr>
              <a:xfrm>
                <a:off x="5505641" y="745454"/>
                <a:ext cx="462561" cy="902126"/>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stCxn id="8" idx="2"/>
              </p:cNvCxnSpPr>
              <p:nvPr/>
            </p:nvCxnSpPr>
            <p:spPr>
              <a:xfrm>
                <a:off x="5505641" y="745454"/>
                <a:ext cx="1062370" cy="925934"/>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a:stCxn id="8" idx="2"/>
              </p:cNvCxnSpPr>
              <p:nvPr/>
            </p:nvCxnSpPr>
            <p:spPr>
              <a:xfrm flipH="1">
                <a:off x="4744637" y="745454"/>
                <a:ext cx="761004" cy="890796"/>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p:cNvCxnSpPr>
                <a:stCxn id="8" idx="2"/>
              </p:cNvCxnSpPr>
              <p:nvPr/>
            </p:nvCxnSpPr>
            <p:spPr>
              <a:xfrm>
                <a:off x="5505641" y="745454"/>
                <a:ext cx="1655694" cy="890796"/>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a:stCxn id="8" idx="2"/>
              </p:cNvCxnSpPr>
              <p:nvPr/>
            </p:nvCxnSpPr>
            <p:spPr>
              <a:xfrm flipH="1">
                <a:off x="4146868" y="745454"/>
                <a:ext cx="1358773" cy="916291"/>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grpSp>
        <p:cxnSp>
          <p:nvCxnSpPr>
            <p:cNvPr id="123" name="Straight Arrow Connector 122"/>
            <p:cNvCxnSpPr>
              <a:stCxn id="8" idx="2"/>
            </p:cNvCxnSpPr>
            <p:nvPr/>
          </p:nvCxnSpPr>
          <p:spPr>
            <a:xfrm flipH="1">
              <a:off x="2913656" y="889764"/>
              <a:ext cx="2532366" cy="899788"/>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126" name="Straight Arrow Connector 125"/>
            <p:cNvCxnSpPr>
              <a:stCxn id="8" idx="2"/>
            </p:cNvCxnSpPr>
            <p:nvPr/>
          </p:nvCxnSpPr>
          <p:spPr>
            <a:xfrm flipH="1">
              <a:off x="3456080" y="889764"/>
              <a:ext cx="1989942" cy="902126"/>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grpSp>
      <p:sp>
        <p:nvSpPr>
          <p:cNvPr id="104" name="Line Callout 1 103"/>
          <p:cNvSpPr/>
          <p:nvPr/>
        </p:nvSpPr>
        <p:spPr>
          <a:xfrm>
            <a:off x="5767637" y="6228430"/>
            <a:ext cx="2165917" cy="450506"/>
          </a:xfrm>
          <a:prstGeom prst="borderCallout1">
            <a:avLst>
              <a:gd name="adj1" fmla="val 515"/>
              <a:gd name="adj2" fmla="val 4846"/>
              <a:gd name="adj3" fmla="val -220832"/>
              <a:gd name="adj4" fmla="val -56521"/>
            </a:avLst>
          </a:prstGeom>
          <a:solidFill>
            <a:schemeClr val="accent5">
              <a:lumMod val="20000"/>
              <a:lumOff val="80000"/>
            </a:schemeClr>
          </a:solidFill>
          <a:ln w="19050">
            <a:solidFill>
              <a:schemeClr val="accent1"/>
            </a:solidFill>
            <a:headEnd type="none" w="med" len="me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32"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Sort (range) keys</a:t>
            </a:r>
            <a:endParaRPr lang="en-US" sz="1732" dirty="0">
              <a:solidFill>
                <a:schemeClr val="tx1"/>
              </a:solidFill>
              <a:latin typeface="Amazon Ember" panose="020B0603020204020204" pitchFamily="34" charset="0"/>
              <a:ea typeface="Amazon Ember" panose="020B0603020204020204" pitchFamily="34" charset="0"/>
              <a:cs typeface="Amazon Ember" panose="020B0603020204020204" pitchFamily="34" charset="0"/>
              <a:sym typeface="Wingdings" panose="05000000000000000000" pitchFamily="2" charset="2"/>
            </a:endParaRPr>
          </a:p>
        </p:txBody>
      </p:sp>
      <p:grpSp>
        <p:nvGrpSpPr>
          <p:cNvPr id="152" name="Group 151"/>
          <p:cNvGrpSpPr/>
          <p:nvPr/>
        </p:nvGrpSpPr>
        <p:grpSpPr>
          <a:xfrm>
            <a:off x="377402" y="5283898"/>
            <a:ext cx="3317880" cy="1046259"/>
            <a:chOff x="-821905" y="3197776"/>
            <a:chExt cx="2489058" cy="784899"/>
          </a:xfrm>
        </p:grpSpPr>
        <p:sp>
          <p:nvSpPr>
            <p:cNvPr id="37" name="TextBox 36"/>
            <p:cNvSpPr txBox="1"/>
            <p:nvPr/>
          </p:nvSpPr>
          <p:spPr>
            <a:xfrm>
              <a:off x="-821905" y="3713418"/>
              <a:ext cx="1757723" cy="269257"/>
            </a:xfrm>
            <a:prstGeom prst="rect">
              <a:avLst/>
            </a:prstGeom>
            <a:solidFill>
              <a:schemeClr val="accent5">
                <a:lumMod val="20000"/>
                <a:lumOff val="80000"/>
              </a:schemeClr>
            </a:solidFill>
            <a:ln>
              <a:solidFill>
                <a:schemeClr val="accent1"/>
              </a:solidFill>
            </a:ln>
          </p:spPr>
          <p:txBody>
            <a:bodyPr wrap="square" rtlCol="0">
              <a:spAutoFit/>
            </a:bodyPr>
            <a:lstStyle/>
            <a:p>
              <a:r>
                <a:rPr lang="en-US" sz="1732" dirty="0">
                  <a:latin typeface="Amazon Ember" panose="020B0603020204020204" pitchFamily="34" charset="0"/>
                  <a:ea typeface="Amazon Ember" panose="020B0603020204020204" pitchFamily="34" charset="0"/>
                  <a:cs typeface="Amazon Ember" panose="020B0603020204020204" pitchFamily="34" charset="0"/>
                </a:rPr>
                <a:t>Partition (hash) keys</a:t>
              </a:r>
              <a:endParaRPr lang="en-US" sz="1732" dirty="0">
                <a:latin typeface="Amazon Ember" panose="020B0603020204020204" pitchFamily="34" charset="0"/>
                <a:ea typeface="Amazon Ember" panose="020B0603020204020204" pitchFamily="34" charset="0"/>
                <a:cs typeface="Amazon Ember" panose="020B0603020204020204" pitchFamily="34" charset="0"/>
                <a:sym typeface="Wingdings" panose="05000000000000000000" pitchFamily="2" charset="2"/>
              </a:endParaRPr>
            </a:p>
          </p:txBody>
        </p:sp>
        <p:cxnSp>
          <p:nvCxnSpPr>
            <p:cNvPr id="55" name="Straight Arrow Connector 54"/>
            <p:cNvCxnSpPr>
              <a:stCxn id="37" idx="0"/>
            </p:cNvCxnSpPr>
            <p:nvPr/>
          </p:nvCxnSpPr>
          <p:spPr>
            <a:xfrm flipV="1">
              <a:off x="56957" y="3197776"/>
              <a:ext cx="1610196" cy="515642"/>
            </a:xfrm>
            <a:prstGeom prst="straightConnector1">
              <a:avLst/>
            </a:prstGeom>
            <a:ln w="19050">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Tree>
    <p:custDataLst>
      <p:tags r:id="rId1"/>
    </p:custDataLst>
    <p:extLst>
      <p:ext uri="{BB962C8B-B14F-4D97-AF65-F5344CB8AC3E}">
        <p14:creationId xmlns:p14="http://schemas.microsoft.com/office/powerpoint/2010/main" val="264684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500"/>
                                        <p:tgtEl>
                                          <p:spTgt spid="114"/>
                                        </p:tgtEl>
                                      </p:cBhvr>
                                    </p:animEffect>
                                  </p:childTnLst>
                                </p:cTn>
                              </p:par>
                              <p:par>
                                <p:cTn id="8" presetID="10" presetClass="entr" presetSubtype="0" fill="hold" nodeType="withEffect">
                                  <p:stCondLst>
                                    <p:cond delay="0"/>
                                  </p:stCondLst>
                                  <p:childTnLst>
                                    <p:set>
                                      <p:cBhvr>
                                        <p:cTn id="9" dur="1" fill="hold">
                                          <p:stCondLst>
                                            <p:cond delay="0"/>
                                          </p:stCondLst>
                                        </p:cTn>
                                        <p:tgtEl>
                                          <p:spTgt spid="115"/>
                                        </p:tgtEl>
                                        <p:attrNameLst>
                                          <p:attrName>style.visibility</p:attrName>
                                        </p:attrNameLst>
                                      </p:cBhvr>
                                      <p:to>
                                        <p:strVal val="visible"/>
                                      </p:to>
                                    </p:set>
                                    <p:animEffect transition="in" filter="fade">
                                      <p:cBhvr>
                                        <p:cTn id="10" dur="500"/>
                                        <p:tgtEl>
                                          <p:spTgt spid="1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500"/>
                                        <p:tgtEl>
                                          <p:spTgt spid="6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3"/>
                                        </p:tgtEl>
                                        <p:attrNameLst>
                                          <p:attrName>style.visibility</p:attrName>
                                        </p:attrNameLst>
                                      </p:cBhvr>
                                      <p:to>
                                        <p:strVal val="visible"/>
                                      </p:to>
                                    </p:set>
                                    <p:animEffect transition="in" filter="fade">
                                      <p:cBhvr>
                                        <p:cTn id="24" dur="500"/>
                                        <p:tgtEl>
                                          <p:spTgt spid="1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6"/>
                                        </p:tgtEl>
                                        <p:attrNameLst>
                                          <p:attrName>style.visibility</p:attrName>
                                        </p:attrNameLst>
                                      </p:cBhvr>
                                      <p:to>
                                        <p:strVal val="visible"/>
                                      </p:to>
                                    </p:set>
                                    <p:animEffect transition="in" filter="fade">
                                      <p:cBhvr>
                                        <p:cTn id="29" dur="500"/>
                                        <p:tgtEl>
                                          <p:spTgt spid="66"/>
                                        </p:tgtEl>
                                      </p:cBhvr>
                                    </p:animEffect>
                                  </p:childTnLst>
                                </p:cTn>
                              </p:par>
                              <p:par>
                                <p:cTn id="30" presetID="10" presetClass="entr" presetSubtype="0"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0"/>
                                        </p:tgtEl>
                                        <p:attrNameLst>
                                          <p:attrName>style.visibility</p:attrName>
                                        </p:attrNameLst>
                                      </p:cBhvr>
                                      <p:to>
                                        <p:strVal val="visible"/>
                                      </p:to>
                                    </p:set>
                                    <p:animEffect transition="in" filter="fade">
                                      <p:cBhvr>
                                        <p:cTn id="35" dur="500"/>
                                        <p:tgtEl>
                                          <p:spTgt spid="15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4"/>
                                        </p:tgtEl>
                                        <p:attrNameLst>
                                          <p:attrName>style.visibility</p:attrName>
                                        </p:attrNameLst>
                                      </p:cBhvr>
                                      <p:to>
                                        <p:strVal val="visible"/>
                                      </p:to>
                                    </p:set>
                                    <p:animEffect transition="in" filter="fade">
                                      <p:cBhvr>
                                        <p:cTn id="38" dur="500"/>
                                        <p:tgtEl>
                                          <p:spTgt spid="6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1"/>
                                        </p:tgtEl>
                                        <p:attrNameLst>
                                          <p:attrName>style.visibility</p:attrName>
                                        </p:attrNameLst>
                                      </p:cBhvr>
                                      <p:to>
                                        <p:strVal val="visible"/>
                                      </p:to>
                                    </p:set>
                                    <p:animEffect transition="in" filter="fade">
                                      <p:cBhvr>
                                        <p:cTn id="41" dur="500"/>
                                        <p:tgtEl>
                                          <p:spTgt spid="15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10"/>
                                        </p:tgtEl>
                                        <p:attrNameLst>
                                          <p:attrName>style.visibility</p:attrName>
                                        </p:attrNameLst>
                                      </p:cBhvr>
                                      <p:to>
                                        <p:strVal val="visible"/>
                                      </p:to>
                                    </p:set>
                                    <p:animEffect transition="in" filter="fade">
                                      <p:cBhvr>
                                        <p:cTn id="46" dur="500"/>
                                        <p:tgtEl>
                                          <p:spTgt spid="110"/>
                                        </p:tgtEl>
                                      </p:cBhvr>
                                    </p:animEffect>
                                  </p:childTnLst>
                                </p:cTn>
                              </p:par>
                              <p:par>
                                <p:cTn id="47" presetID="10" presetClass="entr" presetSubtype="0" fill="hold" nodeType="withEffect">
                                  <p:stCondLst>
                                    <p:cond delay="0"/>
                                  </p:stCondLst>
                                  <p:childTnLst>
                                    <p:set>
                                      <p:cBhvr>
                                        <p:cTn id="48" dur="1" fill="hold">
                                          <p:stCondLst>
                                            <p:cond delay="0"/>
                                          </p:stCondLst>
                                        </p:cTn>
                                        <p:tgtEl>
                                          <p:spTgt spid="152"/>
                                        </p:tgtEl>
                                        <p:attrNameLst>
                                          <p:attrName>style.visibility</p:attrName>
                                        </p:attrNameLst>
                                      </p:cBhvr>
                                      <p:to>
                                        <p:strVal val="visible"/>
                                      </p:to>
                                    </p:set>
                                    <p:animEffect transition="in" filter="fade">
                                      <p:cBhvr>
                                        <p:cTn id="49" dur="500"/>
                                        <p:tgtEl>
                                          <p:spTgt spid="152"/>
                                        </p:tgtEl>
                                      </p:cBhvr>
                                    </p:animEffect>
                                  </p:childTnLst>
                                </p:cTn>
                              </p:par>
                              <p:par>
                                <p:cTn id="50" presetID="10" presetClass="entr" presetSubtype="0" fill="hold" nodeType="with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1"/>
                                        </p:tgtEl>
                                        <p:attrNameLst>
                                          <p:attrName>style.visibility</p:attrName>
                                        </p:attrNameLst>
                                      </p:cBhvr>
                                      <p:to>
                                        <p:strVal val="visible"/>
                                      </p:to>
                                    </p:set>
                                    <p:animEffect transition="in" filter="fade">
                                      <p:cBhvr>
                                        <p:cTn id="57" dur="500"/>
                                        <p:tgtEl>
                                          <p:spTgt spid="221"/>
                                        </p:tgtEl>
                                      </p:cBhvr>
                                    </p:animEffect>
                                  </p:childTnLst>
                                </p:cTn>
                              </p:par>
                              <p:par>
                                <p:cTn id="58" presetID="10" presetClass="entr" presetSubtype="0" fill="hold" nodeType="withEffect">
                                  <p:stCondLst>
                                    <p:cond delay="0"/>
                                  </p:stCondLst>
                                  <p:childTnLst>
                                    <p:set>
                                      <p:cBhvr>
                                        <p:cTn id="59" dur="1" fill="hold">
                                          <p:stCondLst>
                                            <p:cond delay="0"/>
                                          </p:stCondLst>
                                        </p:cTn>
                                        <p:tgtEl>
                                          <p:spTgt spid="171"/>
                                        </p:tgtEl>
                                        <p:attrNameLst>
                                          <p:attrName>style.visibility</p:attrName>
                                        </p:attrNameLst>
                                      </p:cBhvr>
                                      <p:to>
                                        <p:strVal val="visible"/>
                                      </p:to>
                                    </p:set>
                                    <p:animEffect transition="in" filter="fade">
                                      <p:cBhvr>
                                        <p:cTn id="60" dur="500"/>
                                        <p:tgtEl>
                                          <p:spTgt spid="171"/>
                                        </p:tgtEl>
                                      </p:cBhvr>
                                    </p:animEffect>
                                  </p:childTnLst>
                                </p:cTn>
                              </p:par>
                              <p:par>
                                <p:cTn id="61" presetID="10" presetClass="entr" presetSubtype="0" fill="hold" nodeType="withEffect">
                                  <p:stCondLst>
                                    <p:cond delay="0"/>
                                  </p:stCondLst>
                                  <p:childTnLst>
                                    <p:set>
                                      <p:cBhvr>
                                        <p:cTn id="62" dur="1" fill="hold">
                                          <p:stCondLst>
                                            <p:cond delay="0"/>
                                          </p:stCondLst>
                                        </p:cTn>
                                        <p:tgtEl>
                                          <p:spTgt spid="68"/>
                                        </p:tgtEl>
                                        <p:attrNameLst>
                                          <p:attrName>style.visibility</p:attrName>
                                        </p:attrNameLst>
                                      </p:cBhvr>
                                      <p:to>
                                        <p:strVal val="visible"/>
                                      </p:to>
                                    </p:set>
                                    <p:animEffect transition="in" filter="fade">
                                      <p:cBhvr>
                                        <p:cTn id="63" dur="500"/>
                                        <p:tgtEl>
                                          <p:spTgt spid="68"/>
                                        </p:tgtEl>
                                      </p:cBhvr>
                                    </p:animEffect>
                                  </p:childTnLst>
                                </p:cTn>
                              </p:par>
                              <p:par>
                                <p:cTn id="64" presetID="10" presetClass="entr" presetSubtype="0" fill="hold" nodeType="withEffect">
                                  <p:stCondLst>
                                    <p:cond delay="0"/>
                                  </p:stCondLst>
                                  <p:childTnLst>
                                    <p:set>
                                      <p:cBhvr>
                                        <p:cTn id="65" dur="1" fill="hold">
                                          <p:stCondLst>
                                            <p:cond delay="0"/>
                                          </p:stCondLst>
                                        </p:cTn>
                                        <p:tgtEl>
                                          <p:spTgt spid="161"/>
                                        </p:tgtEl>
                                        <p:attrNameLst>
                                          <p:attrName>style.visibility</p:attrName>
                                        </p:attrNameLst>
                                      </p:cBhvr>
                                      <p:to>
                                        <p:strVal val="visible"/>
                                      </p:to>
                                    </p:set>
                                    <p:animEffect transition="in" filter="fade">
                                      <p:cBhvr>
                                        <p:cTn id="66" dur="500"/>
                                        <p:tgtEl>
                                          <p:spTgt spid="161"/>
                                        </p:tgtEl>
                                      </p:cBhvr>
                                    </p:animEffect>
                                  </p:childTnLst>
                                </p:cTn>
                              </p:par>
                              <p:par>
                                <p:cTn id="67" presetID="10" presetClass="entr" presetSubtype="0" fill="hold" nodeType="withEffect">
                                  <p:stCondLst>
                                    <p:cond delay="0"/>
                                  </p:stCondLst>
                                  <p:childTnLst>
                                    <p:set>
                                      <p:cBhvr>
                                        <p:cTn id="68" dur="1" fill="hold">
                                          <p:stCondLst>
                                            <p:cond delay="0"/>
                                          </p:stCondLst>
                                        </p:cTn>
                                        <p:tgtEl>
                                          <p:spTgt spid="72"/>
                                        </p:tgtEl>
                                        <p:attrNameLst>
                                          <p:attrName>style.visibility</p:attrName>
                                        </p:attrNameLst>
                                      </p:cBhvr>
                                      <p:to>
                                        <p:strVal val="visible"/>
                                      </p:to>
                                    </p:set>
                                    <p:animEffect transition="in" filter="fade">
                                      <p:cBhvr>
                                        <p:cTn id="69" dur="500"/>
                                        <p:tgtEl>
                                          <p:spTgt spid="72"/>
                                        </p:tgtEl>
                                      </p:cBhvr>
                                    </p:animEffect>
                                  </p:childTnLst>
                                </p:cTn>
                              </p:par>
                              <p:par>
                                <p:cTn id="70" presetID="10" presetClass="entr" presetSubtype="0" fill="hold" nodeType="withEffect">
                                  <p:stCondLst>
                                    <p:cond delay="0"/>
                                  </p:stCondLst>
                                  <p:childTnLst>
                                    <p:set>
                                      <p:cBhvr>
                                        <p:cTn id="71" dur="1" fill="hold">
                                          <p:stCondLst>
                                            <p:cond delay="0"/>
                                          </p:stCondLst>
                                        </p:cTn>
                                        <p:tgtEl>
                                          <p:spTgt spid="163"/>
                                        </p:tgtEl>
                                        <p:attrNameLst>
                                          <p:attrName>style.visibility</p:attrName>
                                        </p:attrNameLst>
                                      </p:cBhvr>
                                      <p:to>
                                        <p:strVal val="visible"/>
                                      </p:to>
                                    </p:set>
                                    <p:animEffect transition="in" filter="fade">
                                      <p:cBhvr>
                                        <p:cTn id="72" dur="500"/>
                                        <p:tgtEl>
                                          <p:spTgt spid="16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11"/>
                                        </p:tgtEl>
                                        <p:attrNameLst>
                                          <p:attrName>style.visibility</p:attrName>
                                        </p:attrNameLst>
                                      </p:cBhvr>
                                      <p:to>
                                        <p:strVal val="visible"/>
                                      </p:to>
                                    </p:set>
                                    <p:animEffect transition="in" filter="fade">
                                      <p:cBhvr>
                                        <p:cTn id="77" dur="500"/>
                                        <p:tgtEl>
                                          <p:spTgt spid="11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04"/>
                                        </p:tgtEl>
                                        <p:attrNameLst>
                                          <p:attrName>style.visibility</p:attrName>
                                        </p:attrNameLst>
                                      </p:cBhvr>
                                      <p:to>
                                        <p:strVal val="visible"/>
                                      </p:to>
                                    </p:set>
                                    <p:animEffect transition="in" filter="fade">
                                      <p:cBhvr>
                                        <p:cTn id="80" dur="500"/>
                                        <p:tgtEl>
                                          <p:spTgt spid="104"/>
                                        </p:tgtEl>
                                      </p:cBhvr>
                                    </p:animEffect>
                                  </p:childTnLst>
                                </p:cTn>
                              </p:par>
                              <p:par>
                                <p:cTn id="81" presetID="10" presetClass="entr" presetSubtype="0" fill="hold" nodeType="withEffect">
                                  <p:stCondLst>
                                    <p:cond delay="0"/>
                                  </p:stCondLst>
                                  <p:childTnLst>
                                    <p:set>
                                      <p:cBhvr>
                                        <p:cTn id="82" dur="1" fill="hold">
                                          <p:stCondLst>
                                            <p:cond delay="0"/>
                                          </p:stCondLst>
                                        </p:cTn>
                                        <p:tgtEl>
                                          <p:spTgt spid="7"/>
                                        </p:tgtEl>
                                        <p:attrNameLst>
                                          <p:attrName>style.visibility</p:attrName>
                                        </p:attrNameLst>
                                      </p:cBhvr>
                                      <p:to>
                                        <p:strVal val="visible"/>
                                      </p:to>
                                    </p:set>
                                    <p:animEffect transition="in" filter="fade">
                                      <p:cBhvr>
                                        <p:cTn id="8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64" grpId="0" animBg="1"/>
      <p:bldP spid="150" grpId="0" animBg="1"/>
      <p:bldP spid="66" grpId="0" animBg="1"/>
      <p:bldP spid="59" grpId="0" animBg="1"/>
      <p:bldP spid="221" grpId="0"/>
      <p:bldP spid="110" grpId="0"/>
      <p:bldP spid="111" grpId="0"/>
      <p:bldP spid="114" grpId="0" animBg="1"/>
      <p:bldP spid="104"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2DB2-3652-A14A-950A-5E05E8DC1BDE}"/>
              </a:ext>
            </a:extLst>
          </p:cNvPr>
          <p:cNvSpPr>
            <a:spLocks noGrp="1"/>
          </p:cNvSpPr>
          <p:nvPr>
            <p:ph type="title"/>
          </p:nvPr>
        </p:nvSpPr>
        <p:spPr/>
        <p:txBody>
          <a:bodyPr>
            <a:normAutofit fontScale="90000"/>
          </a:bodyPr>
          <a:lstStyle/>
          <a:p>
            <a:r>
              <a:rPr lang="en-US" dirty="0"/>
              <a:t>Data Distribution: </a:t>
            </a:r>
            <a:br>
              <a:rPr lang="en-US" dirty="0"/>
            </a:br>
            <a:r>
              <a:rPr lang="en-US" dirty="0"/>
              <a:t>Partition Key and Sort Key</a:t>
            </a:r>
          </a:p>
        </p:txBody>
      </p:sp>
      <p:sp>
        <p:nvSpPr>
          <p:cNvPr id="5" name="TextBox 4">
            <a:extLst>
              <a:ext uri="{FF2B5EF4-FFF2-40B4-BE49-F238E27FC236}">
                <a16:creationId xmlns:a16="http://schemas.microsoft.com/office/drawing/2014/main" id="{65161056-CCD2-CA41-86B4-6ACE8D59B0A9}"/>
              </a:ext>
            </a:extLst>
          </p:cNvPr>
          <p:cNvSpPr txBox="1"/>
          <p:nvPr/>
        </p:nvSpPr>
        <p:spPr>
          <a:xfrm>
            <a:off x="571073" y="1478150"/>
            <a:ext cx="3318268" cy="1323439"/>
          </a:xfrm>
          <a:prstGeom prst="rect">
            <a:avLst/>
          </a:prstGeom>
          <a:noFill/>
          <a:ln>
            <a:solidFill>
              <a:schemeClr val="tx1">
                <a:lumMod val="75000"/>
                <a:lumOff val="25000"/>
              </a:schemeClr>
            </a:solidFill>
          </a:ln>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sz="16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600" dirty="0">
                <a:latin typeface="Amazon Ember" panose="020B0603020204020204" pitchFamily="34" charset="0"/>
                <a:ea typeface="Amazon Ember" panose="020B0603020204020204" pitchFamily="34" charset="0"/>
                <a:cs typeface="Amazon Ember" panose="020B0603020204020204" pitchFamily="34" charset="0"/>
              </a:rPr>
              <a:t>”:“</a:t>
            </a:r>
            <a:r>
              <a:rPr lang="en-US" sz="16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Dog</a:t>
            </a:r>
            <a:r>
              <a:rPr lang="en-US" sz="1600" dirty="0">
                <a:latin typeface="Amazon Ember" panose="020B0603020204020204" pitchFamily="34" charset="0"/>
                <a:ea typeface="Amazon Ember" panose="020B0603020204020204" pitchFamily="34" charset="0"/>
                <a:cs typeface="Amazon Ember" panose="020B0603020204020204" pitchFamily="34" charset="0"/>
              </a:rPr>
              <a:t>”,</a:t>
            </a:r>
          </a:p>
          <a:p>
            <a:r>
              <a:rPr 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sz="16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600" dirty="0">
                <a:latin typeface="Amazon Ember" panose="020B0603020204020204" pitchFamily="34" charset="0"/>
                <a:ea typeface="Amazon Ember" panose="020B0603020204020204" pitchFamily="34" charset="0"/>
                <a:cs typeface="Amazon Ember" panose="020B0603020204020204" pitchFamily="34" charset="0"/>
              </a:rPr>
              <a:t>”:“</a:t>
            </a:r>
            <a:r>
              <a:rPr lang="en-US" sz="16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Fido</a:t>
            </a:r>
            <a:r>
              <a:rPr lang="en-US" sz="1600" dirty="0">
                <a:latin typeface="Amazon Ember" panose="020B0603020204020204" pitchFamily="34" charset="0"/>
                <a:ea typeface="Amazon Ember" panose="020B0603020204020204" pitchFamily="34" charset="0"/>
                <a:cs typeface="Amazon Ember" panose="020B0603020204020204" pitchFamily="34" charset="0"/>
              </a:rPr>
              <a:t>”,</a:t>
            </a:r>
          </a:p>
          <a:p>
            <a:r>
              <a:rPr 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6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7" name="TextBox 6">
            <a:extLst>
              <a:ext uri="{FF2B5EF4-FFF2-40B4-BE49-F238E27FC236}">
                <a16:creationId xmlns:a16="http://schemas.microsoft.com/office/drawing/2014/main" id="{DDDD90AB-A9B8-BE45-BDCF-2235EF7B073E}"/>
              </a:ext>
            </a:extLst>
          </p:cNvPr>
          <p:cNvSpPr txBox="1"/>
          <p:nvPr/>
        </p:nvSpPr>
        <p:spPr>
          <a:xfrm>
            <a:off x="4641685" y="1862870"/>
            <a:ext cx="1109272" cy="553998"/>
          </a:xfrm>
          <a:prstGeom prst="rect">
            <a:avLst/>
          </a:prstGeom>
          <a:noFill/>
          <a:ln>
            <a:solidFill>
              <a:schemeClr val="tx1">
                <a:lumMod val="75000"/>
                <a:lumOff val="25000"/>
              </a:schemeClr>
            </a:solidFill>
          </a:ln>
        </p:spPr>
        <p:txBody>
          <a:bodyPr wrap="square" rtlCol="0" anchor="ctr">
            <a:spAutoFit/>
          </a:bodyPr>
          <a:lstStyle/>
          <a:p>
            <a:pPr algn="ctr"/>
            <a:r>
              <a:rPr lang="en-US" sz="3000" dirty="0">
                <a:latin typeface="Amazon Ember" panose="020B0603020204020204" pitchFamily="34" charset="0"/>
                <a:ea typeface="Amazon Ember" panose="020B0603020204020204" pitchFamily="34" charset="0"/>
                <a:cs typeface="Amazon Ember" panose="020B0603020204020204" pitchFamily="34" charset="0"/>
              </a:rPr>
              <a:t>F(X)</a:t>
            </a:r>
          </a:p>
        </p:txBody>
      </p:sp>
      <p:cxnSp>
        <p:nvCxnSpPr>
          <p:cNvPr id="9" name="Straight Arrow Connector 8">
            <a:extLst>
              <a:ext uri="{FF2B5EF4-FFF2-40B4-BE49-F238E27FC236}">
                <a16:creationId xmlns:a16="http://schemas.microsoft.com/office/drawing/2014/main" id="{C2AFB5AA-73AA-5646-A551-D6032ECCF0CD}"/>
              </a:ext>
            </a:extLst>
          </p:cNvPr>
          <p:cNvCxnSpPr>
            <a:cxnSpLocks/>
          </p:cNvCxnSpPr>
          <p:nvPr/>
        </p:nvCxnSpPr>
        <p:spPr>
          <a:xfrm>
            <a:off x="3889341" y="2145924"/>
            <a:ext cx="752344" cy="0"/>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890FA6A-F672-CE4A-A9C8-83248689721A}"/>
              </a:ext>
            </a:extLst>
          </p:cNvPr>
          <p:cNvSpPr txBox="1"/>
          <p:nvPr/>
        </p:nvSpPr>
        <p:spPr>
          <a:xfrm>
            <a:off x="4477559" y="2523198"/>
            <a:ext cx="1426464" cy="645690"/>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Hash</a:t>
            </a:r>
          </a:p>
          <a:p>
            <a:pPr algn="ctr"/>
            <a:r>
              <a:rPr lang="en-US" dirty="0">
                <a:latin typeface="Amazon Ember" panose="020B0603020204020204" pitchFamily="34" charset="0"/>
                <a:ea typeface="Amazon Ember" panose="020B0603020204020204" pitchFamily="34" charset="0"/>
                <a:cs typeface="Amazon Ember" panose="020B0603020204020204" pitchFamily="34" charset="0"/>
              </a:rPr>
              <a:t>function</a:t>
            </a:r>
          </a:p>
        </p:txBody>
      </p:sp>
      <p:grpSp>
        <p:nvGrpSpPr>
          <p:cNvPr id="33" name="Group 32">
            <a:extLst>
              <a:ext uri="{FF2B5EF4-FFF2-40B4-BE49-F238E27FC236}">
                <a16:creationId xmlns:a16="http://schemas.microsoft.com/office/drawing/2014/main" id="{66621A30-C033-A142-B45E-B6951CE442D2}"/>
              </a:ext>
            </a:extLst>
          </p:cNvPr>
          <p:cNvGrpSpPr/>
          <p:nvPr/>
        </p:nvGrpSpPr>
        <p:grpSpPr>
          <a:xfrm>
            <a:off x="3601151" y="3597059"/>
            <a:ext cx="2632381" cy="3045843"/>
            <a:chOff x="3601151" y="3597059"/>
            <a:chExt cx="2632381" cy="3045843"/>
          </a:xfrm>
        </p:grpSpPr>
        <p:sp>
          <p:nvSpPr>
            <p:cNvPr id="18" name="TextBox 17">
              <a:extLst>
                <a:ext uri="{FF2B5EF4-FFF2-40B4-BE49-F238E27FC236}">
                  <a16:creationId xmlns:a16="http://schemas.microsoft.com/office/drawing/2014/main" id="{9A8B4565-42C0-BF41-A809-4358FCFB5991}"/>
                </a:ext>
              </a:extLst>
            </p:cNvPr>
            <p:cNvSpPr txBox="1"/>
            <p:nvPr/>
          </p:nvSpPr>
          <p:spPr>
            <a:xfrm>
              <a:off x="3706614" y="3700802"/>
              <a:ext cx="2421455" cy="1169551"/>
            </a:xfrm>
            <a:prstGeom prst="rect">
              <a:avLst/>
            </a:prstGeom>
            <a:noFill/>
            <a:ln>
              <a:solidFill>
                <a:schemeClr val="tx1">
                  <a:lumMod val="75000"/>
                  <a:lumOff val="25000"/>
                </a:schemeClr>
              </a:solidFill>
            </a:ln>
          </p:spPr>
          <p:txBody>
            <a:bodyPr wrap="squar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Fish</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Blub</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4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9" name="TextBox 18">
              <a:extLst>
                <a:ext uri="{FF2B5EF4-FFF2-40B4-BE49-F238E27FC236}">
                  <a16:creationId xmlns:a16="http://schemas.microsoft.com/office/drawing/2014/main" id="{DC222013-0C7B-4D43-BE25-6B26024ADC12}"/>
                </a:ext>
              </a:extLst>
            </p:cNvPr>
            <p:cNvSpPr txBox="1"/>
            <p:nvPr/>
          </p:nvSpPr>
          <p:spPr>
            <a:xfrm>
              <a:off x="3706614" y="4976683"/>
              <a:ext cx="2421455" cy="1169551"/>
            </a:xfrm>
            <a:prstGeom prst="rect">
              <a:avLst/>
            </a:prstGeom>
            <a:noFill/>
            <a:ln>
              <a:solidFill>
                <a:schemeClr val="tx1">
                  <a:lumMod val="75000"/>
                  <a:lumOff val="25000"/>
                </a:schemeClr>
              </a:solidFill>
            </a:ln>
          </p:spPr>
          <p:txBody>
            <a:bodyPr wrap="squar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Lizard</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Lizzy</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4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4" name="TextBox 23">
              <a:extLst>
                <a:ext uri="{FF2B5EF4-FFF2-40B4-BE49-F238E27FC236}">
                  <a16:creationId xmlns:a16="http://schemas.microsoft.com/office/drawing/2014/main" id="{1B8D07F4-06A0-4F47-AB25-2C8FB51FEADF}"/>
                </a:ext>
              </a:extLst>
            </p:cNvPr>
            <p:cNvSpPr txBox="1"/>
            <p:nvPr/>
          </p:nvSpPr>
          <p:spPr>
            <a:xfrm>
              <a:off x="3919145" y="6273890"/>
              <a:ext cx="1996393" cy="369012"/>
            </a:xfrm>
            <a:prstGeom prst="rect">
              <a:avLst/>
            </a:prstGeom>
            <a:noFill/>
          </p:spPr>
          <p:txBody>
            <a:bodyPr wrap="square" rtlCol="0">
              <a:spAutoFit/>
            </a:bodyPr>
            <a:lstStyle/>
            <a:p>
              <a:pPr algn="ctr"/>
              <a:r>
                <a:rPr lang="en-US" b="1" dirty="0">
                  <a:solidFill>
                    <a:srgbClr val="4AC1FF"/>
                  </a:solidFill>
                  <a:latin typeface="Amazon Ember" panose="020B0603020204020204" pitchFamily="34" charset="0"/>
                  <a:ea typeface="Amazon Ember" panose="020B0603020204020204" pitchFamily="34" charset="0"/>
                  <a:cs typeface="Amazon Ember" panose="020B0603020204020204" pitchFamily="34" charset="0"/>
                </a:rPr>
                <a:t>Partition</a:t>
              </a:r>
            </a:p>
          </p:txBody>
        </p:sp>
        <p:sp>
          <p:nvSpPr>
            <p:cNvPr id="30" name="Rectangle 29">
              <a:extLst>
                <a:ext uri="{FF2B5EF4-FFF2-40B4-BE49-F238E27FC236}">
                  <a16:creationId xmlns:a16="http://schemas.microsoft.com/office/drawing/2014/main" id="{2D6CB581-74C1-334C-AA42-E7DDD8C9DAF9}"/>
                </a:ext>
              </a:extLst>
            </p:cNvPr>
            <p:cNvSpPr/>
            <p:nvPr/>
          </p:nvSpPr>
          <p:spPr>
            <a:xfrm>
              <a:off x="3601151" y="3597059"/>
              <a:ext cx="2632381" cy="2635854"/>
            </a:xfrm>
            <a:prstGeom prst="rect">
              <a:avLst/>
            </a:prstGeom>
            <a:noFill/>
            <a:ln w="254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E259C72B-A268-5347-B39A-FFA626E69568}"/>
              </a:ext>
            </a:extLst>
          </p:cNvPr>
          <p:cNvGrpSpPr/>
          <p:nvPr/>
        </p:nvGrpSpPr>
        <p:grpSpPr>
          <a:xfrm>
            <a:off x="6433037" y="2294021"/>
            <a:ext cx="2632381" cy="4348881"/>
            <a:chOff x="6456143" y="2294021"/>
            <a:chExt cx="2632381" cy="4348881"/>
          </a:xfrm>
        </p:grpSpPr>
        <p:sp>
          <p:nvSpPr>
            <p:cNvPr id="21" name="TextBox 20">
              <a:extLst>
                <a:ext uri="{FF2B5EF4-FFF2-40B4-BE49-F238E27FC236}">
                  <a16:creationId xmlns:a16="http://schemas.microsoft.com/office/drawing/2014/main" id="{4040BFF9-4B25-F44D-959A-74DC551F72A9}"/>
                </a:ext>
              </a:extLst>
            </p:cNvPr>
            <p:cNvSpPr txBox="1"/>
            <p:nvPr/>
          </p:nvSpPr>
          <p:spPr>
            <a:xfrm>
              <a:off x="6568373" y="2427508"/>
              <a:ext cx="2407920" cy="1169551"/>
            </a:xfrm>
            <a:prstGeom prst="rect">
              <a:avLst/>
            </a:prstGeom>
            <a:noFill/>
            <a:ln>
              <a:solidFill>
                <a:schemeClr val="tx1">
                  <a:lumMod val="75000"/>
                  <a:lumOff val="25000"/>
                </a:schemeClr>
              </a:solidFill>
            </a:ln>
          </p:spPr>
          <p:txBody>
            <a:bodyPr wrap="squar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Bird</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Polly</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4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2" name="TextBox 21">
              <a:extLst>
                <a:ext uri="{FF2B5EF4-FFF2-40B4-BE49-F238E27FC236}">
                  <a16:creationId xmlns:a16="http://schemas.microsoft.com/office/drawing/2014/main" id="{57C7DC88-BB32-F84F-BB30-81419B2BE971}"/>
                </a:ext>
              </a:extLst>
            </p:cNvPr>
            <p:cNvSpPr txBox="1"/>
            <p:nvPr/>
          </p:nvSpPr>
          <p:spPr>
            <a:xfrm>
              <a:off x="6568373" y="3700802"/>
              <a:ext cx="2407920" cy="1169551"/>
            </a:xfrm>
            <a:prstGeom prst="rect">
              <a:avLst/>
            </a:prstGeom>
            <a:noFill/>
            <a:ln>
              <a:solidFill>
                <a:schemeClr val="tx1">
                  <a:lumMod val="75000"/>
                  <a:lumOff val="25000"/>
                </a:schemeClr>
              </a:solidFill>
            </a:ln>
          </p:spPr>
          <p:txBody>
            <a:bodyPr wrap="squar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Cat</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Fluffy</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4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3" name="TextBox 22">
              <a:extLst>
                <a:ext uri="{FF2B5EF4-FFF2-40B4-BE49-F238E27FC236}">
                  <a16:creationId xmlns:a16="http://schemas.microsoft.com/office/drawing/2014/main" id="{0C36DAE0-E50A-5C43-AC3E-6BC2F8EE4F4C}"/>
                </a:ext>
              </a:extLst>
            </p:cNvPr>
            <p:cNvSpPr txBox="1"/>
            <p:nvPr/>
          </p:nvSpPr>
          <p:spPr>
            <a:xfrm>
              <a:off x="6568373" y="4976683"/>
              <a:ext cx="2407920" cy="1169551"/>
            </a:xfrm>
            <a:prstGeom prst="rect">
              <a:avLst/>
            </a:prstGeom>
            <a:noFill/>
            <a:ln>
              <a:solidFill>
                <a:schemeClr val="tx1">
                  <a:lumMod val="75000"/>
                  <a:lumOff val="25000"/>
                </a:schemeClr>
              </a:solidFill>
            </a:ln>
          </p:spPr>
          <p:txBody>
            <a:bodyPr wrap="squar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Turtle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Shelly</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4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5" name="TextBox 24">
              <a:extLst>
                <a:ext uri="{FF2B5EF4-FFF2-40B4-BE49-F238E27FC236}">
                  <a16:creationId xmlns:a16="http://schemas.microsoft.com/office/drawing/2014/main" id="{FE496E3B-D548-154F-8240-26279F42699A}"/>
                </a:ext>
              </a:extLst>
            </p:cNvPr>
            <p:cNvSpPr txBox="1"/>
            <p:nvPr/>
          </p:nvSpPr>
          <p:spPr>
            <a:xfrm>
              <a:off x="6774137" y="6273890"/>
              <a:ext cx="1996393" cy="369012"/>
            </a:xfrm>
            <a:prstGeom prst="rect">
              <a:avLst/>
            </a:prstGeom>
            <a:noFill/>
          </p:spPr>
          <p:txBody>
            <a:bodyPr wrap="square" rtlCol="0">
              <a:spAutoFit/>
            </a:bodyPr>
            <a:lstStyle/>
            <a:p>
              <a:pPr algn="ctr"/>
              <a:r>
                <a:rPr lang="en-US" b="1" dirty="0">
                  <a:solidFill>
                    <a:srgbClr val="4AC1FF"/>
                  </a:solidFill>
                  <a:latin typeface="Amazon Ember" panose="020B0603020204020204" pitchFamily="34" charset="0"/>
                  <a:ea typeface="Amazon Ember" panose="020B0603020204020204" pitchFamily="34" charset="0"/>
                  <a:cs typeface="Amazon Ember" panose="020B0603020204020204" pitchFamily="34" charset="0"/>
                </a:rPr>
                <a:t>Partition</a:t>
              </a:r>
            </a:p>
          </p:txBody>
        </p:sp>
        <p:sp>
          <p:nvSpPr>
            <p:cNvPr id="31" name="Rectangle 30">
              <a:extLst>
                <a:ext uri="{FF2B5EF4-FFF2-40B4-BE49-F238E27FC236}">
                  <a16:creationId xmlns:a16="http://schemas.microsoft.com/office/drawing/2014/main" id="{9E35D609-9E03-704E-86D8-31797B921653}"/>
                </a:ext>
              </a:extLst>
            </p:cNvPr>
            <p:cNvSpPr/>
            <p:nvPr/>
          </p:nvSpPr>
          <p:spPr>
            <a:xfrm>
              <a:off x="6456143" y="2294021"/>
              <a:ext cx="2632381" cy="3938892"/>
            </a:xfrm>
            <a:prstGeom prst="rect">
              <a:avLst/>
            </a:prstGeom>
            <a:noFill/>
            <a:ln w="25400">
              <a:solidFill>
                <a:srgbClr val="4AC1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CC18AA00-66AD-594B-AC9E-7680CE18C98C}"/>
              </a:ext>
            </a:extLst>
          </p:cNvPr>
          <p:cNvGrpSpPr/>
          <p:nvPr/>
        </p:nvGrpSpPr>
        <p:grpSpPr>
          <a:xfrm>
            <a:off x="9264924" y="2294021"/>
            <a:ext cx="2632381" cy="4348881"/>
            <a:chOff x="9264924" y="2294021"/>
            <a:chExt cx="2632381" cy="4348881"/>
          </a:xfrm>
        </p:grpSpPr>
        <p:sp>
          <p:nvSpPr>
            <p:cNvPr id="12" name="TextBox 11">
              <a:extLst>
                <a:ext uri="{FF2B5EF4-FFF2-40B4-BE49-F238E27FC236}">
                  <a16:creationId xmlns:a16="http://schemas.microsoft.com/office/drawing/2014/main" id="{DA3B77C2-DB65-344B-9DC0-C3647AC65445}"/>
                </a:ext>
              </a:extLst>
            </p:cNvPr>
            <p:cNvSpPr txBox="1"/>
            <p:nvPr/>
          </p:nvSpPr>
          <p:spPr>
            <a:xfrm>
              <a:off x="9377154" y="2427508"/>
              <a:ext cx="2407920" cy="1169551"/>
            </a:xfrm>
            <a:prstGeom prst="rect">
              <a:avLst/>
            </a:prstGeom>
            <a:noFill/>
            <a:ln>
              <a:solidFill>
                <a:schemeClr val="tx1">
                  <a:lumMod val="75000"/>
                  <a:lumOff val="25000"/>
                </a:schemeClr>
              </a:solidFill>
            </a:ln>
          </p:spPr>
          <p:txBody>
            <a:bodyPr wrap="squar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Dog</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Bowser</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4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4" name="TextBox 13">
              <a:extLst>
                <a:ext uri="{FF2B5EF4-FFF2-40B4-BE49-F238E27FC236}">
                  <a16:creationId xmlns:a16="http://schemas.microsoft.com/office/drawing/2014/main" id="{2E2D3FF8-1A62-D243-B875-C295BFAE3FFD}"/>
                </a:ext>
              </a:extLst>
            </p:cNvPr>
            <p:cNvSpPr txBox="1"/>
            <p:nvPr/>
          </p:nvSpPr>
          <p:spPr>
            <a:xfrm>
              <a:off x="9377154" y="3700802"/>
              <a:ext cx="2407920" cy="1169551"/>
            </a:xfrm>
            <a:prstGeom prst="rect">
              <a:avLst/>
            </a:prstGeom>
            <a:noFill/>
            <a:ln w="50800">
              <a:solidFill>
                <a:schemeClr val="accent6"/>
              </a:solidFill>
            </a:ln>
          </p:spPr>
          <p:txBody>
            <a:bodyPr wrap="squar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Dog</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Fido</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4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5" name="TextBox 14">
              <a:extLst>
                <a:ext uri="{FF2B5EF4-FFF2-40B4-BE49-F238E27FC236}">
                  <a16:creationId xmlns:a16="http://schemas.microsoft.com/office/drawing/2014/main" id="{72CC2CF0-5B22-094C-8524-B4710E3787F5}"/>
                </a:ext>
              </a:extLst>
            </p:cNvPr>
            <p:cNvSpPr txBox="1"/>
            <p:nvPr/>
          </p:nvSpPr>
          <p:spPr>
            <a:xfrm>
              <a:off x="9377154" y="4976683"/>
              <a:ext cx="2407920" cy="1169551"/>
            </a:xfrm>
            <a:prstGeom prst="rect">
              <a:avLst/>
            </a:prstGeom>
            <a:noFill/>
            <a:ln>
              <a:solidFill>
                <a:schemeClr val="tx1">
                  <a:lumMod val="75000"/>
                  <a:lumOff val="25000"/>
                </a:schemeClr>
              </a:solidFill>
            </a:ln>
          </p:spPr>
          <p:txBody>
            <a:bodyPr wrap="squar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AnimalType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Dog</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solidFill>
                    <a:srgbClr val="008E7D"/>
                  </a:solidFill>
                  <a:latin typeface="Amazon Ember" panose="020B0603020204020204" pitchFamily="34" charset="0"/>
                  <a:ea typeface="Amazon Ember" panose="020B0603020204020204" pitchFamily="34" charset="0"/>
                  <a:cs typeface="Amazon Ember" panose="020B0603020204020204" pitchFamily="34" charset="0"/>
                </a:rPr>
                <a:t>Name</a:t>
              </a:r>
              <a:r>
                <a:rPr lang="en-US" sz="1400" dirty="0">
                  <a:latin typeface="Amazon Ember" panose="020B0603020204020204" pitchFamily="34" charset="0"/>
                  <a:ea typeface="Amazon Ember" panose="020B0603020204020204" pitchFamily="34" charset="0"/>
                  <a:cs typeface="Amazon Ember" panose="020B0603020204020204" pitchFamily="34" charset="0"/>
                </a:rPr>
                <a:t>”:“</a:t>
              </a:r>
              <a:r>
                <a:rPr lang="en-US" sz="1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Rover</a:t>
              </a:r>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r>
                <a:rPr lang="en-US" sz="1400" dirty="0">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&lt;</a:t>
              </a:r>
              <a:r>
                <a:rPr lang="en-US" sz="1400"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…other attributes…</a:t>
              </a: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&gt;</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6" name="TextBox 25">
              <a:extLst>
                <a:ext uri="{FF2B5EF4-FFF2-40B4-BE49-F238E27FC236}">
                  <a16:creationId xmlns:a16="http://schemas.microsoft.com/office/drawing/2014/main" id="{837CA5A1-BC18-7246-A437-8059062CD730}"/>
                </a:ext>
              </a:extLst>
            </p:cNvPr>
            <p:cNvSpPr txBox="1"/>
            <p:nvPr/>
          </p:nvSpPr>
          <p:spPr>
            <a:xfrm>
              <a:off x="9582918" y="6273890"/>
              <a:ext cx="1996393" cy="369012"/>
            </a:xfrm>
            <a:prstGeom prst="rect">
              <a:avLst/>
            </a:prstGeom>
            <a:noFill/>
          </p:spPr>
          <p:txBody>
            <a:bodyPr wrap="square" rtlCol="0">
              <a:spAutoFit/>
            </a:bodyPr>
            <a:lstStyle/>
            <a:p>
              <a:pPr algn="ctr"/>
              <a:r>
                <a:rPr lang="en-US" b="1" dirty="0">
                  <a:solidFill>
                    <a:srgbClr val="4AC1FF"/>
                  </a:solidFill>
                  <a:latin typeface="Amazon Ember" panose="020B0603020204020204" pitchFamily="34" charset="0"/>
                  <a:ea typeface="Amazon Ember" panose="020B0603020204020204" pitchFamily="34" charset="0"/>
                  <a:cs typeface="Amazon Ember" panose="020B0603020204020204" pitchFamily="34" charset="0"/>
                </a:rPr>
                <a:t>Partition</a:t>
              </a:r>
            </a:p>
          </p:txBody>
        </p:sp>
        <p:sp>
          <p:nvSpPr>
            <p:cNvPr id="32" name="Rectangle 31">
              <a:extLst>
                <a:ext uri="{FF2B5EF4-FFF2-40B4-BE49-F238E27FC236}">
                  <a16:creationId xmlns:a16="http://schemas.microsoft.com/office/drawing/2014/main" id="{2F3927CE-6238-DA45-AA2C-258C1EFE4AEC}"/>
                </a:ext>
              </a:extLst>
            </p:cNvPr>
            <p:cNvSpPr/>
            <p:nvPr/>
          </p:nvSpPr>
          <p:spPr>
            <a:xfrm>
              <a:off x="9264924" y="2294021"/>
              <a:ext cx="2632381" cy="3948125"/>
            </a:xfrm>
            <a:prstGeom prst="rect">
              <a:avLst/>
            </a:prstGeom>
            <a:noFill/>
            <a:ln w="254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37" name="Elbow Connector 36">
            <a:extLst>
              <a:ext uri="{FF2B5EF4-FFF2-40B4-BE49-F238E27FC236}">
                <a16:creationId xmlns:a16="http://schemas.microsoft.com/office/drawing/2014/main" id="{C7EAD063-6AD4-0F41-BE25-F56DC5897852}"/>
              </a:ext>
            </a:extLst>
          </p:cNvPr>
          <p:cNvCxnSpPr>
            <a:stCxn id="7" idx="3"/>
            <a:endCxn id="32" idx="0"/>
          </p:cNvCxnSpPr>
          <p:nvPr/>
        </p:nvCxnSpPr>
        <p:spPr>
          <a:xfrm>
            <a:off x="5750957" y="2139869"/>
            <a:ext cx="4830158" cy="154152"/>
          </a:xfrm>
          <a:prstGeom prst="bentConnector2">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163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fontScale="90000"/>
          </a:bodyPr>
          <a:lstStyle/>
          <a:p>
            <a:r>
              <a:rPr lang="en-US" dirty="0"/>
              <a:t>Amazon DynamoDB Has Global Tables</a:t>
            </a:r>
          </a:p>
        </p:txBody>
      </p:sp>
      <p:sp>
        <p:nvSpPr>
          <p:cNvPr id="22" name="Rectangle 21">
            <a:extLst>
              <a:ext uri="{FF2B5EF4-FFF2-40B4-BE49-F238E27FC236}">
                <a16:creationId xmlns:a16="http://schemas.microsoft.com/office/drawing/2014/main" id="{D9B6C954-5802-6B44-B8EE-19DDFB775D28}"/>
              </a:ext>
            </a:extLst>
          </p:cNvPr>
          <p:cNvSpPr/>
          <p:nvPr/>
        </p:nvSpPr>
        <p:spPr>
          <a:xfrm>
            <a:off x="8573567" y="2009482"/>
            <a:ext cx="2885749" cy="4045058"/>
          </a:xfrm>
          <a:prstGeom prst="rect">
            <a:avLst/>
          </a:prstGeom>
          <a:noFill/>
          <a:ln w="508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grpSp>
        <p:nvGrpSpPr>
          <p:cNvPr id="6" name="Group 5">
            <a:extLst>
              <a:ext uri="{FF2B5EF4-FFF2-40B4-BE49-F238E27FC236}">
                <a16:creationId xmlns:a16="http://schemas.microsoft.com/office/drawing/2014/main" id="{30258D60-5BB9-4B40-A54F-86D4CC2BDA4C}"/>
              </a:ext>
            </a:extLst>
          </p:cNvPr>
          <p:cNvGrpSpPr/>
          <p:nvPr/>
        </p:nvGrpSpPr>
        <p:grpSpPr>
          <a:xfrm>
            <a:off x="174988" y="2009482"/>
            <a:ext cx="8132676" cy="4265173"/>
            <a:chOff x="-742147" y="1972910"/>
            <a:chExt cx="10311230" cy="5407713"/>
          </a:xfrm>
        </p:grpSpPr>
        <p:pic>
          <p:nvPicPr>
            <p:cNvPr id="15" name="Picture 2" descr="https://upload.wikimedia.org/wikipedia/commons/f/f5/Worldemptymap.png">
              <a:extLst>
                <a:ext uri="{FF2B5EF4-FFF2-40B4-BE49-F238E27FC236}">
                  <a16:creationId xmlns:a16="http://schemas.microsoft.com/office/drawing/2014/main" id="{D1BDB56D-07F9-7244-BEAF-7B6E997384A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294408" y="2053305"/>
              <a:ext cx="9863491" cy="5327318"/>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2645FA07-B109-3C4B-B4CA-EA79F4C01A45}"/>
                </a:ext>
              </a:extLst>
            </p:cNvPr>
            <p:cNvSpPr/>
            <p:nvPr/>
          </p:nvSpPr>
          <p:spPr>
            <a:xfrm>
              <a:off x="2372483" y="4390472"/>
              <a:ext cx="1636479" cy="4187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75000"/>
                    </a:schemeClr>
                  </a:solidFill>
                  <a:latin typeface="Amazon Ember" panose="020B0603020204020204" pitchFamily="34" charset="0"/>
                  <a:ea typeface="Amazon Ember" panose="020B0603020204020204" pitchFamily="34" charset="0"/>
                  <a:cs typeface="Amazon Ember" panose="020B0603020204020204" pitchFamily="34" charset="0"/>
                </a:rPr>
                <a:t>Replica</a:t>
              </a:r>
            </a:p>
            <a:p>
              <a:pPr algn="ctr"/>
              <a:r>
                <a:rPr lang="en-US" b="1" dirty="0">
                  <a:solidFill>
                    <a:schemeClr val="tx1">
                      <a:lumMod val="75000"/>
                    </a:schemeClr>
                  </a:solidFill>
                  <a:latin typeface="Amazon Ember" panose="020B0603020204020204" pitchFamily="34" charset="0"/>
                  <a:ea typeface="Amazon Ember" panose="020B0603020204020204" pitchFamily="34" charset="0"/>
                  <a:cs typeface="Amazon Ember" panose="020B0603020204020204" pitchFamily="34" charset="0"/>
                </a:rPr>
                <a:t>us-east-1</a:t>
              </a:r>
              <a:r>
                <a:rPr lang="en-US" dirty="0">
                  <a:solidFill>
                    <a:schemeClr val="tx1">
                      <a:lumMod val="75000"/>
                    </a:schemeClr>
                  </a:solidFill>
                  <a:latin typeface="Amazon Ember" panose="020B0603020204020204" pitchFamily="34" charset="0"/>
                  <a:ea typeface="Amazon Ember" panose="020B0603020204020204" pitchFamily="34" charset="0"/>
                  <a:cs typeface="Amazon Ember" panose="020B0603020204020204" pitchFamily="34" charset="0"/>
                </a:rPr>
                <a:t> </a:t>
              </a:r>
            </a:p>
          </p:txBody>
        </p:sp>
        <p:grpSp>
          <p:nvGrpSpPr>
            <p:cNvPr id="18" name="Group 17">
              <a:extLst>
                <a:ext uri="{FF2B5EF4-FFF2-40B4-BE49-F238E27FC236}">
                  <a16:creationId xmlns:a16="http://schemas.microsoft.com/office/drawing/2014/main" id="{C0170688-DA6F-A84C-B545-9314DE211BC1}"/>
                </a:ext>
              </a:extLst>
            </p:cNvPr>
            <p:cNvGrpSpPr/>
            <p:nvPr/>
          </p:nvGrpSpPr>
          <p:grpSpPr>
            <a:xfrm>
              <a:off x="4440723" y="3353881"/>
              <a:ext cx="837441" cy="837441"/>
              <a:chOff x="4319495" y="1562632"/>
              <a:chExt cx="628081" cy="628081"/>
            </a:xfrm>
          </p:grpSpPr>
          <p:sp>
            <p:nvSpPr>
              <p:cNvPr id="19" name="Oval 18">
                <a:extLst>
                  <a:ext uri="{FF2B5EF4-FFF2-40B4-BE49-F238E27FC236}">
                    <a16:creationId xmlns:a16="http://schemas.microsoft.com/office/drawing/2014/main" id="{E6C0AB39-0B61-5241-9932-91C7B490DA67}"/>
                  </a:ext>
                </a:extLst>
              </p:cNvPr>
              <p:cNvSpPr/>
              <p:nvPr/>
            </p:nvSpPr>
            <p:spPr>
              <a:xfrm>
                <a:off x="4319495" y="1562632"/>
                <a:ext cx="628081" cy="628081"/>
              </a:xfrm>
              <a:prstGeom prst="ellipse">
                <a:avLst/>
              </a:prstGeom>
              <a:solidFill>
                <a:srgbClr val="FFE9D0">
                  <a:alpha val="63000"/>
                </a:srgbClr>
              </a:solidFill>
              <a:ln w="285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0" name="Picture 19">
                <a:extLst>
                  <a:ext uri="{FF2B5EF4-FFF2-40B4-BE49-F238E27FC236}">
                    <a16:creationId xmlns:a16="http://schemas.microsoft.com/office/drawing/2014/main" id="{ECB17C61-9621-294A-A3A0-F1AFB6DD89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6956" y="1712824"/>
                <a:ext cx="333158" cy="327696"/>
              </a:xfrm>
              <a:prstGeom prst="rect">
                <a:avLst/>
              </a:prstGeom>
            </p:spPr>
          </p:pic>
        </p:grpSp>
        <p:grpSp>
          <p:nvGrpSpPr>
            <p:cNvPr id="24" name="Group 23">
              <a:extLst>
                <a:ext uri="{FF2B5EF4-FFF2-40B4-BE49-F238E27FC236}">
                  <a16:creationId xmlns:a16="http://schemas.microsoft.com/office/drawing/2014/main" id="{ACE94743-85E8-774A-A061-95F04B8FB549}"/>
                </a:ext>
              </a:extLst>
            </p:cNvPr>
            <p:cNvGrpSpPr/>
            <p:nvPr/>
          </p:nvGrpSpPr>
          <p:grpSpPr>
            <a:xfrm>
              <a:off x="2076461" y="3546459"/>
              <a:ext cx="837441" cy="837441"/>
              <a:chOff x="4471895" y="1715032"/>
              <a:chExt cx="628081" cy="628081"/>
            </a:xfrm>
          </p:grpSpPr>
          <p:sp>
            <p:nvSpPr>
              <p:cNvPr id="25" name="Oval 24">
                <a:extLst>
                  <a:ext uri="{FF2B5EF4-FFF2-40B4-BE49-F238E27FC236}">
                    <a16:creationId xmlns:a16="http://schemas.microsoft.com/office/drawing/2014/main" id="{22560B5B-67C2-BD46-BEA5-7FC6185CEEA5}"/>
                  </a:ext>
                </a:extLst>
              </p:cNvPr>
              <p:cNvSpPr/>
              <p:nvPr/>
            </p:nvSpPr>
            <p:spPr>
              <a:xfrm>
                <a:off x="4471895" y="1715032"/>
                <a:ext cx="628081" cy="628081"/>
              </a:xfrm>
              <a:prstGeom prst="ellipse">
                <a:avLst/>
              </a:prstGeom>
              <a:solidFill>
                <a:schemeClr val="accent2">
                  <a:lumMod val="20000"/>
                  <a:lumOff val="80000"/>
                  <a:alpha val="63000"/>
                </a:schemeClr>
              </a:solidFill>
              <a:ln w="285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6" name="Picture 25">
                <a:extLst>
                  <a:ext uri="{FF2B5EF4-FFF2-40B4-BE49-F238E27FC236}">
                    <a16:creationId xmlns:a16="http://schemas.microsoft.com/office/drawing/2014/main" id="{575BC5F1-BB0F-D942-A51F-78BC3FA124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9356" y="1865224"/>
                <a:ext cx="333158" cy="327696"/>
              </a:xfrm>
              <a:prstGeom prst="rect">
                <a:avLst/>
              </a:prstGeom>
              <a:ln>
                <a:noFill/>
              </a:ln>
            </p:spPr>
          </p:pic>
        </p:grpSp>
        <p:grpSp>
          <p:nvGrpSpPr>
            <p:cNvPr id="27" name="Group 26">
              <a:extLst>
                <a:ext uri="{FF2B5EF4-FFF2-40B4-BE49-F238E27FC236}">
                  <a16:creationId xmlns:a16="http://schemas.microsoft.com/office/drawing/2014/main" id="{CD588408-4F1A-E740-82D5-FE76F28D9950}"/>
                </a:ext>
              </a:extLst>
            </p:cNvPr>
            <p:cNvGrpSpPr/>
            <p:nvPr/>
          </p:nvGrpSpPr>
          <p:grpSpPr>
            <a:xfrm>
              <a:off x="511241" y="3652825"/>
              <a:ext cx="837441" cy="837441"/>
              <a:chOff x="740194" y="3422311"/>
              <a:chExt cx="628081" cy="628081"/>
            </a:xfrm>
          </p:grpSpPr>
          <p:sp>
            <p:nvSpPr>
              <p:cNvPr id="28" name="Oval 27">
                <a:extLst>
                  <a:ext uri="{FF2B5EF4-FFF2-40B4-BE49-F238E27FC236}">
                    <a16:creationId xmlns:a16="http://schemas.microsoft.com/office/drawing/2014/main" id="{C238C89A-B16A-B047-A857-74C33989F547}"/>
                  </a:ext>
                </a:extLst>
              </p:cNvPr>
              <p:cNvSpPr/>
              <p:nvPr/>
            </p:nvSpPr>
            <p:spPr>
              <a:xfrm>
                <a:off x="740194" y="3422311"/>
                <a:ext cx="628081" cy="628081"/>
              </a:xfrm>
              <a:prstGeom prst="ellipse">
                <a:avLst/>
              </a:prstGeom>
              <a:solidFill>
                <a:srgbClr val="FFE9D0">
                  <a:alpha val="63000"/>
                </a:srgbClr>
              </a:solidFill>
              <a:ln w="285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9" name="Picture 28">
                <a:extLst>
                  <a:ext uri="{FF2B5EF4-FFF2-40B4-BE49-F238E27FC236}">
                    <a16:creationId xmlns:a16="http://schemas.microsoft.com/office/drawing/2014/main" id="{518C2C04-A70A-9A4C-9844-9E6D314168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7655" y="3572503"/>
                <a:ext cx="333158" cy="327696"/>
              </a:xfrm>
              <a:prstGeom prst="rect">
                <a:avLst/>
              </a:prstGeom>
            </p:spPr>
          </p:pic>
        </p:grpSp>
        <p:sp>
          <p:nvSpPr>
            <p:cNvPr id="30" name="Rectangle 29">
              <a:extLst>
                <a:ext uri="{FF2B5EF4-FFF2-40B4-BE49-F238E27FC236}">
                  <a16:creationId xmlns:a16="http://schemas.microsoft.com/office/drawing/2014/main" id="{97C7F3C3-48F8-514B-B9CD-7370D2AB0720}"/>
                </a:ext>
              </a:extLst>
            </p:cNvPr>
            <p:cNvSpPr/>
            <p:nvPr/>
          </p:nvSpPr>
          <p:spPr>
            <a:xfrm>
              <a:off x="-742147" y="4440981"/>
              <a:ext cx="1636479" cy="3177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75000"/>
                    </a:schemeClr>
                  </a:solidFill>
                  <a:latin typeface="Amazon Ember" panose="020B0603020204020204" pitchFamily="34" charset="0"/>
                  <a:ea typeface="Amazon Ember" panose="020B0603020204020204" pitchFamily="34" charset="0"/>
                  <a:cs typeface="Amazon Ember" panose="020B0603020204020204" pitchFamily="34" charset="0"/>
                </a:rPr>
                <a:t>Replica</a:t>
              </a:r>
            </a:p>
            <a:p>
              <a:pPr algn="ctr"/>
              <a:r>
                <a:rPr lang="en-US" b="1" dirty="0">
                  <a:solidFill>
                    <a:schemeClr val="tx1">
                      <a:lumMod val="75000"/>
                    </a:schemeClr>
                  </a:solidFill>
                  <a:latin typeface="Amazon Ember" panose="020B0603020204020204" pitchFamily="34" charset="0"/>
                  <a:ea typeface="Amazon Ember" panose="020B0603020204020204" pitchFamily="34" charset="0"/>
                  <a:cs typeface="Amazon Ember" panose="020B0603020204020204" pitchFamily="34" charset="0"/>
                </a:rPr>
                <a:t>us-west-2</a:t>
              </a:r>
            </a:p>
          </p:txBody>
        </p:sp>
        <p:sp>
          <p:nvSpPr>
            <p:cNvPr id="31" name="Rectangle 30">
              <a:extLst>
                <a:ext uri="{FF2B5EF4-FFF2-40B4-BE49-F238E27FC236}">
                  <a16:creationId xmlns:a16="http://schemas.microsoft.com/office/drawing/2014/main" id="{58AE7E48-3238-9842-BD9C-5BEC6BC73373}"/>
                </a:ext>
              </a:extLst>
            </p:cNvPr>
            <p:cNvSpPr/>
            <p:nvPr/>
          </p:nvSpPr>
          <p:spPr>
            <a:xfrm>
              <a:off x="3588956" y="4397446"/>
              <a:ext cx="2626845" cy="4047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75000"/>
                    </a:schemeClr>
                  </a:solidFill>
                  <a:latin typeface="Amazon Ember" panose="020B0603020204020204" pitchFamily="34" charset="0"/>
                  <a:ea typeface="Amazon Ember" panose="020B0603020204020204" pitchFamily="34" charset="0"/>
                  <a:cs typeface="Amazon Ember" panose="020B0603020204020204" pitchFamily="34" charset="0"/>
                </a:rPr>
                <a:t>Replica</a:t>
              </a:r>
            </a:p>
            <a:p>
              <a:pPr algn="ctr"/>
              <a:r>
                <a:rPr lang="en-US" b="1" dirty="0">
                  <a:solidFill>
                    <a:schemeClr val="tx1">
                      <a:lumMod val="75000"/>
                    </a:schemeClr>
                  </a:solidFill>
                  <a:latin typeface="Amazon Ember" panose="020B0603020204020204" pitchFamily="34" charset="0"/>
                  <a:ea typeface="Amazon Ember" panose="020B0603020204020204" pitchFamily="34" charset="0"/>
                  <a:cs typeface="Amazon Ember" panose="020B0603020204020204" pitchFamily="34" charset="0"/>
                </a:rPr>
                <a:t>eu-central-1</a:t>
              </a:r>
            </a:p>
          </p:txBody>
        </p:sp>
        <p:cxnSp>
          <p:nvCxnSpPr>
            <p:cNvPr id="32" name="Straight Arrow Connector 31">
              <a:extLst>
                <a:ext uri="{FF2B5EF4-FFF2-40B4-BE49-F238E27FC236}">
                  <a16:creationId xmlns:a16="http://schemas.microsoft.com/office/drawing/2014/main" id="{EA0AA0F1-17C2-CD44-AEF3-BC2D425C6427}"/>
                </a:ext>
              </a:extLst>
            </p:cNvPr>
            <p:cNvCxnSpPr>
              <a:stCxn id="25" idx="0"/>
            </p:cNvCxnSpPr>
            <p:nvPr/>
          </p:nvCxnSpPr>
          <p:spPr>
            <a:xfrm flipV="1">
              <a:off x="2495182" y="2834634"/>
              <a:ext cx="882756" cy="711825"/>
            </a:xfrm>
            <a:prstGeom prst="straightConnector1">
              <a:avLst/>
            </a:prstGeom>
            <a:ln w="38100">
              <a:solidFill>
                <a:schemeClr val="accent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E66AF26-65A4-834F-835A-E4CB912867D0}"/>
                </a:ext>
              </a:extLst>
            </p:cNvPr>
            <p:cNvCxnSpPr>
              <a:stCxn id="28" idx="7"/>
            </p:cNvCxnSpPr>
            <p:nvPr/>
          </p:nvCxnSpPr>
          <p:spPr>
            <a:xfrm flipV="1">
              <a:off x="1226042" y="2655002"/>
              <a:ext cx="1955281" cy="1120463"/>
            </a:xfrm>
            <a:prstGeom prst="straightConnector1">
              <a:avLst/>
            </a:prstGeom>
            <a:ln w="38100">
              <a:solidFill>
                <a:schemeClr val="accent1"/>
              </a:solidFill>
              <a:prstDash val="solid"/>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AD3822C7-5829-6042-8760-87E1A00EAF1B}"/>
                </a:ext>
              </a:extLst>
            </p:cNvPr>
            <p:cNvGrpSpPr/>
            <p:nvPr/>
          </p:nvGrpSpPr>
          <p:grpSpPr>
            <a:xfrm>
              <a:off x="3271517" y="2120693"/>
              <a:ext cx="837441" cy="837441"/>
              <a:chOff x="4471895" y="1715032"/>
              <a:chExt cx="628081" cy="628081"/>
            </a:xfrm>
          </p:grpSpPr>
          <p:sp>
            <p:nvSpPr>
              <p:cNvPr id="35" name="Oval 34">
                <a:extLst>
                  <a:ext uri="{FF2B5EF4-FFF2-40B4-BE49-F238E27FC236}">
                    <a16:creationId xmlns:a16="http://schemas.microsoft.com/office/drawing/2014/main" id="{E4B5F3C1-18BC-1748-AE03-527175F90ED0}"/>
                  </a:ext>
                </a:extLst>
              </p:cNvPr>
              <p:cNvSpPr/>
              <p:nvPr/>
            </p:nvSpPr>
            <p:spPr>
              <a:xfrm>
                <a:off x="4471895" y="1715032"/>
                <a:ext cx="628081" cy="628081"/>
              </a:xfrm>
              <a:prstGeom prst="ellipse">
                <a:avLst/>
              </a:prstGeom>
              <a:solidFill>
                <a:schemeClr val="accent4">
                  <a:lumMod val="40000"/>
                  <a:lumOff val="60000"/>
                  <a:alpha val="63000"/>
                </a:schemeClr>
              </a:solidFill>
              <a:ln w="285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36" name="Picture 35">
                <a:extLst>
                  <a:ext uri="{FF2B5EF4-FFF2-40B4-BE49-F238E27FC236}">
                    <a16:creationId xmlns:a16="http://schemas.microsoft.com/office/drawing/2014/main" id="{814B8060-5D2A-7747-B4F8-97A9ABD9A3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9356" y="1865224"/>
                <a:ext cx="333158" cy="327696"/>
              </a:xfrm>
              <a:prstGeom prst="rect">
                <a:avLst/>
              </a:prstGeom>
              <a:ln>
                <a:solidFill>
                  <a:schemeClr val="accent6"/>
                </a:solidFill>
              </a:ln>
            </p:spPr>
          </p:pic>
        </p:grpSp>
        <p:sp>
          <p:nvSpPr>
            <p:cNvPr id="37" name="Rectangle 36">
              <a:extLst>
                <a:ext uri="{FF2B5EF4-FFF2-40B4-BE49-F238E27FC236}">
                  <a16:creationId xmlns:a16="http://schemas.microsoft.com/office/drawing/2014/main" id="{4522CF44-0E0A-F744-AEBB-5780E8967A0A}"/>
                </a:ext>
              </a:extLst>
            </p:cNvPr>
            <p:cNvSpPr/>
            <p:nvPr/>
          </p:nvSpPr>
          <p:spPr>
            <a:xfrm>
              <a:off x="3886851" y="1972910"/>
              <a:ext cx="1636479" cy="4187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75000"/>
                    </a:schemeClr>
                  </a:solidFill>
                  <a:latin typeface="Amazon Ember" panose="020B0603020204020204" pitchFamily="34" charset="0"/>
                  <a:ea typeface="Amazon Ember" panose="020B0603020204020204" pitchFamily="34" charset="0"/>
                  <a:cs typeface="Amazon Ember" panose="020B0603020204020204" pitchFamily="34" charset="0"/>
                </a:rPr>
                <a:t>Global table</a:t>
              </a:r>
            </a:p>
          </p:txBody>
        </p:sp>
        <p:cxnSp>
          <p:nvCxnSpPr>
            <p:cNvPr id="38" name="Straight Arrow Connector 37">
              <a:extLst>
                <a:ext uri="{FF2B5EF4-FFF2-40B4-BE49-F238E27FC236}">
                  <a16:creationId xmlns:a16="http://schemas.microsoft.com/office/drawing/2014/main" id="{CC464B89-5436-3B41-910D-723914AA2E0E}"/>
                </a:ext>
              </a:extLst>
            </p:cNvPr>
            <p:cNvCxnSpPr/>
            <p:nvPr/>
          </p:nvCxnSpPr>
          <p:spPr>
            <a:xfrm flipH="1" flipV="1">
              <a:off x="4144643" y="2805692"/>
              <a:ext cx="560448" cy="548190"/>
            </a:xfrm>
            <a:prstGeom prst="straightConnector1">
              <a:avLst/>
            </a:prstGeom>
            <a:ln w="38100">
              <a:solidFill>
                <a:schemeClr val="accent1"/>
              </a:solidFill>
              <a:prstDash val="solid"/>
              <a:tailEnd type="triangle"/>
            </a:ln>
            <a:effectLst/>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8AEAD83B-A02A-AC4D-AB53-FE4C152535AE}"/>
              </a:ext>
            </a:extLst>
          </p:cNvPr>
          <p:cNvSpPr txBox="1"/>
          <p:nvPr/>
        </p:nvSpPr>
        <p:spPr>
          <a:xfrm>
            <a:off x="8881677" y="4702938"/>
            <a:ext cx="2366952"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DynamoDB</a:t>
            </a:r>
          </a:p>
        </p:txBody>
      </p:sp>
      <p:pic>
        <p:nvPicPr>
          <p:cNvPr id="40" name="Picture 39">
            <a:extLst>
              <a:ext uri="{FF2B5EF4-FFF2-40B4-BE49-F238E27FC236}">
                <a16:creationId xmlns:a16="http://schemas.microsoft.com/office/drawing/2014/main" id="{8EFEE92C-3BD5-9649-AAAC-EC0FFAC9F2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74551" y="3098682"/>
            <a:ext cx="1181204" cy="1308412"/>
          </a:xfrm>
          <a:prstGeom prst="rect">
            <a:avLst/>
          </a:prstGeom>
        </p:spPr>
      </p:pic>
      <p:sp>
        <p:nvSpPr>
          <p:cNvPr id="41" name="TextBox 40">
            <a:extLst>
              <a:ext uri="{FF2B5EF4-FFF2-40B4-BE49-F238E27FC236}">
                <a16:creationId xmlns:a16="http://schemas.microsoft.com/office/drawing/2014/main" id="{33C1C7B7-1595-F649-B12F-426BBCB3756E}"/>
              </a:ext>
            </a:extLst>
          </p:cNvPr>
          <p:cNvSpPr txBox="1"/>
          <p:nvPr/>
        </p:nvSpPr>
        <p:spPr>
          <a:xfrm>
            <a:off x="9038836" y="2443625"/>
            <a:ext cx="2052634"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Non-Relational</a:t>
            </a:r>
          </a:p>
        </p:txBody>
      </p:sp>
    </p:spTree>
    <p:extLst>
      <p:ext uri="{BB962C8B-B14F-4D97-AF65-F5344CB8AC3E}">
        <p14:creationId xmlns:p14="http://schemas.microsoft.com/office/powerpoint/2010/main" val="1217966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Amazon DynamoDB Use Cases</a:t>
            </a:r>
          </a:p>
        </p:txBody>
      </p:sp>
      <p:sp>
        <p:nvSpPr>
          <p:cNvPr id="3" name="TextBox 2">
            <a:extLst>
              <a:ext uri="{FF2B5EF4-FFF2-40B4-BE49-F238E27FC236}">
                <a16:creationId xmlns:a16="http://schemas.microsoft.com/office/drawing/2014/main" id="{D0CEF921-936B-5845-A44C-C009416288FE}"/>
              </a:ext>
            </a:extLst>
          </p:cNvPr>
          <p:cNvSpPr txBox="1"/>
          <p:nvPr/>
        </p:nvSpPr>
        <p:spPr>
          <a:xfrm>
            <a:off x="2795899" y="1661374"/>
            <a:ext cx="6449978" cy="523220"/>
          </a:xfrm>
          <a:prstGeom prst="rect">
            <a:avLst/>
          </a:prstGeom>
          <a:noFill/>
        </p:spPr>
        <p:txBody>
          <a:bodyPr wrap="square" rtlCol="0">
            <a:spAutoFit/>
          </a:bodyPr>
          <a:lstStyle/>
          <a:p>
            <a:pPr algn="ctr"/>
            <a:r>
              <a:rPr lang="en-US" sz="28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Leaderboards and Scoring</a:t>
            </a:r>
          </a:p>
        </p:txBody>
      </p:sp>
      <p:grpSp>
        <p:nvGrpSpPr>
          <p:cNvPr id="16" name="Group 15">
            <a:extLst>
              <a:ext uri="{FF2B5EF4-FFF2-40B4-BE49-F238E27FC236}">
                <a16:creationId xmlns:a16="http://schemas.microsoft.com/office/drawing/2014/main" id="{0D3693E8-CB16-1A4B-A578-7A9A34A91E3C}"/>
              </a:ext>
            </a:extLst>
          </p:cNvPr>
          <p:cNvGrpSpPr/>
          <p:nvPr/>
        </p:nvGrpSpPr>
        <p:grpSpPr>
          <a:xfrm>
            <a:off x="515706" y="2715174"/>
            <a:ext cx="11436163" cy="2896436"/>
            <a:chOff x="662667" y="2715174"/>
            <a:chExt cx="11436163" cy="2896436"/>
          </a:xfrm>
        </p:grpSpPr>
        <p:pic>
          <p:nvPicPr>
            <p:cNvPr id="8" name="Picture 7">
              <a:extLst>
                <a:ext uri="{FF2B5EF4-FFF2-40B4-BE49-F238E27FC236}">
                  <a16:creationId xmlns:a16="http://schemas.microsoft.com/office/drawing/2014/main" id="{74505791-2203-BF49-A4FE-DF2DB638D8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4160" y="3449306"/>
              <a:ext cx="1040651" cy="1098466"/>
            </a:xfrm>
            <a:prstGeom prst="rect">
              <a:avLst/>
            </a:prstGeom>
          </p:spPr>
        </p:pic>
        <p:pic>
          <p:nvPicPr>
            <p:cNvPr id="9" name="Picture 8">
              <a:extLst>
                <a:ext uri="{FF2B5EF4-FFF2-40B4-BE49-F238E27FC236}">
                  <a16:creationId xmlns:a16="http://schemas.microsoft.com/office/drawing/2014/main" id="{F9436ADD-062D-494E-BB9D-92B5BFC71F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1516" y="3488169"/>
              <a:ext cx="548640" cy="731520"/>
            </a:xfrm>
            <a:prstGeom prst="rect">
              <a:avLst/>
            </a:prstGeom>
          </p:spPr>
        </p:pic>
        <p:pic>
          <p:nvPicPr>
            <p:cNvPr id="10" name="Picture 9">
              <a:extLst>
                <a:ext uri="{FF2B5EF4-FFF2-40B4-BE49-F238E27FC236}">
                  <a16:creationId xmlns:a16="http://schemas.microsoft.com/office/drawing/2014/main" id="{9F8D9D01-F982-7944-94AD-8BF31FE67E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19135" y="3492315"/>
              <a:ext cx="848714" cy="940115"/>
            </a:xfrm>
            <a:prstGeom prst="rect">
              <a:avLst/>
            </a:prstGeom>
          </p:spPr>
        </p:pic>
        <p:sp>
          <p:nvSpPr>
            <p:cNvPr id="5" name="TextBox 4">
              <a:extLst>
                <a:ext uri="{FF2B5EF4-FFF2-40B4-BE49-F238E27FC236}">
                  <a16:creationId xmlns:a16="http://schemas.microsoft.com/office/drawing/2014/main" id="{14EDC61F-5A54-DC40-A266-C4E70E2F6872}"/>
                </a:ext>
              </a:extLst>
            </p:cNvPr>
            <p:cNvSpPr txBox="1"/>
            <p:nvPr/>
          </p:nvSpPr>
          <p:spPr>
            <a:xfrm>
              <a:off x="662667" y="4701116"/>
              <a:ext cx="1146338"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Players</a:t>
              </a:r>
            </a:p>
          </p:txBody>
        </p:sp>
        <p:sp>
          <p:nvSpPr>
            <p:cNvPr id="12" name="TextBox 11">
              <a:extLst>
                <a:ext uri="{FF2B5EF4-FFF2-40B4-BE49-F238E27FC236}">
                  <a16:creationId xmlns:a16="http://schemas.microsoft.com/office/drawing/2014/main" id="{1251A87D-B3D2-1843-97F0-9641FC54C41E}"/>
                </a:ext>
              </a:extLst>
            </p:cNvPr>
            <p:cNvSpPr txBox="1"/>
            <p:nvPr/>
          </p:nvSpPr>
          <p:spPr>
            <a:xfrm>
              <a:off x="2821316" y="4701116"/>
              <a:ext cx="1146338" cy="645690"/>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Game servers</a:t>
              </a:r>
            </a:p>
          </p:txBody>
        </p:sp>
        <p:sp>
          <p:nvSpPr>
            <p:cNvPr id="13" name="TextBox 12">
              <a:extLst>
                <a:ext uri="{FF2B5EF4-FFF2-40B4-BE49-F238E27FC236}">
                  <a16:creationId xmlns:a16="http://schemas.microsoft.com/office/drawing/2014/main" id="{92482941-6F63-6942-95DB-9B7AFFD0150D}"/>
                </a:ext>
              </a:extLst>
            </p:cNvPr>
            <p:cNvSpPr txBox="1"/>
            <p:nvPr/>
          </p:nvSpPr>
          <p:spPr>
            <a:xfrm>
              <a:off x="4926782" y="4701116"/>
              <a:ext cx="1607982"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Leaderboard</a:t>
              </a:r>
            </a:p>
          </p:txBody>
        </p:sp>
        <p:pic>
          <p:nvPicPr>
            <p:cNvPr id="11" name="Picture 10">
              <a:extLst>
                <a:ext uri="{FF2B5EF4-FFF2-40B4-BE49-F238E27FC236}">
                  <a16:creationId xmlns:a16="http://schemas.microsoft.com/office/drawing/2014/main" id="{91112239-198E-8047-A347-6D599ECFDE88}"/>
                </a:ext>
              </a:extLst>
            </p:cNvPr>
            <p:cNvPicPr>
              <a:picLocks noChangeAspect="1"/>
            </p:cNvPicPr>
            <p:nvPr/>
          </p:nvPicPr>
          <p:blipFill>
            <a:blip r:embed="rId6"/>
            <a:stretch>
              <a:fillRect/>
            </a:stretch>
          </p:blipFill>
          <p:spPr>
            <a:xfrm>
              <a:off x="7317140" y="2715174"/>
              <a:ext cx="4781690" cy="2896436"/>
            </a:xfrm>
            <a:prstGeom prst="rect">
              <a:avLst/>
            </a:prstGeom>
          </p:spPr>
        </p:pic>
        <p:cxnSp>
          <p:nvCxnSpPr>
            <p:cNvPr id="15" name="Straight Arrow Connector 14">
              <a:extLst>
                <a:ext uri="{FF2B5EF4-FFF2-40B4-BE49-F238E27FC236}">
                  <a16:creationId xmlns:a16="http://schemas.microsoft.com/office/drawing/2014/main" id="{08D25EBA-24F7-D143-9ADA-C6DAFF4BE4E9}"/>
                </a:ext>
              </a:extLst>
            </p:cNvPr>
            <p:cNvCxnSpPr/>
            <p:nvPr/>
          </p:nvCxnSpPr>
          <p:spPr>
            <a:xfrm>
              <a:off x="1813565" y="4057460"/>
              <a:ext cx="833115" cy="0"/>
            </a:xfrm>
            <a:prstGeom prst="straightConnector1">
              <a:avLst/>
            </a:prstGeom>
            <a:ln w="635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7" name="Straight Arrow Connector 6">
            <a:extLst>
              <a:ext uri="{FF2B5EF4-FFF2-40B4-BE49-F238E27FC236}">
                <a16:creationId xmlns:a16="http://schemas.microsoft.com/office/drawing/2014/main" id="{3F07CD51-43DB-964A-A3AC-38A22E47FB93}"/>
              </a:ext>
            </a:extLst>
          </p:cNvPr>
          <p:cNvCxnSpPr/>
          <p:nvPr/>
        </p:nvCxnSpPr>
        <p:spPr>
          <a:xfrm>
            <a:off x="4033157" y="4057460"/>
            <a:ext cx="811193" cy="0"/>
          </a:xfrm>
          <a:prstGeom prst="straightConnector1">
            <a:avLst/>
          </a:prstGeom>
          <a:ln w="635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834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Amazon DynamoDB Use Cases</a:t>
            </a:r>
          </a:p>
        </p:txBody>
      </p:sp>
      <p:grpSp>
        <p:nvGrpSpPr>
          <p:cNvPr id="59" name="Group 58">
            <a:extLst>
              <a:ext uri="{FF2B5EF4-FFF2-40B4-BE49-F238E27FC236}">
                <a16:creationId xmlns:a16="http://schemas.microsoft.com/office/drawing/2014/main" id="{BD2D20DA-18CD-E041-9B71-FF12D79C97D8}"/>
              </a:ext>
            </a:extLst>
          </p:cNvPr>
          <p:cNvGrpSpPr/>
          <p:nvPr/>
        </p:nvGrpSpPr>
        <p:grpSpPr>
          <a:xfrm>
            <a:off x="2000033" y="2815787"/>
            <a:ext cx="5305694" cy="3244919"/>
            <a:chOff x="644377" y="2857659"/>
            <a:chExt cx="5305694" cy="3244919"/>
          </a:xfrm>
        </p:grpSpPr>
        <p:pic>
          <p:nvPicPr>
            <p:cNvPr id="24" name="Picture 23">
              <a:extLst>
                <a:ext uri="{FF2B5EF4-FFF2-40B4-BE49-F238E27FC236}">
                  <a16:creationId xmlns:a16="http://schemas.microsoft.com/office/drawing/2014/main" id="{F9954821-18B2-9443-9B8E-26D0C821CD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912" y="2857659"/>
              <a:ext cx="479271" cy="731520"/>
            </a:xfrm>
            <a:prstGeom prst="rect">
              <a:avLst/>
            </a:prstGeom>
          </p:spPr>
        </p:pic>
        <p:pic>
          <p:nvPicPr>
            <p:cNvPr id="25" name="Picture 24">
              <a:extLst>
                <a:ext uri="{FF2B5EF4-FFF2-40B4-BE49-F238E27FC236}">
                  <a16:creationId xmlns:a16="http://schemas.microsoft.com/office/drawing/2014/main" id="{47CCD145-56DA-6547-9683-D7A9F60E52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912" y="3818984"/>
              <a:ext cx="479271" cy="731520"/>
            </a:xfrm>
            <a:prstGeom prst="rect">
              <a:avLst/>
            </a:prstGeom>
          </p:spPr>
        </p:pic>
        <p:pic>
          <p:nvPicPr>
            <p:cNvPr id="26" name="Picture 25">
              <a:extLst>
                <a:ext uri="{FF2B5EF4-FFF2-40B4-BE49-F238E27FC236}">
                  <a16:creationId xmlns:a16="http://schemas.microsoft.com/office/drawing/2014/main" id="{41C3C0D9-F58C-4C4A-9D69-3099AFC717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911" y="4776275"/>
              <a:ext cx="479271" cy="731520"/>
            </a:xfrm>
            <a:prstGeom prst="rect">
              <a:avLst/>
            </a:prstGeom>
          </p:spPr>
        </p:pic>
        <p:pic>
          <p:nvPicPr>
            <p:cNvPr id="28" name="Picture 27">
              <a:extLst>
                <a:ext uri="{FF2B5EF4-FFF2-40B4-BE49-F238E27FC236}">
                  <a16:creationId xmlns:a16="http://schemas.microsoft.com/office/drawing/2014/main" id="{394188AF-449A-3D4E-8E15-8E6495F4F8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0997" y="3866466"/>
              <a:ext cx="595669" cy="617731"/>
            </a:xfrm>
            <a:prstGeom prst="rect">
              <a:avLst/>
            </a:prstGeom>
          </p:spPr>
        </p:pic>
        <p:sp>
          <p:nvSpPr>
            <p:cNvPr id="32" name="TextBox 31">
              <a:extLst>
                <a:ext uri="{FF2B5EF4-FFF2-40B4-BE49-F238E27FC236}">
                  <a16:creationId xmlns:a16="http://schemas.microsoft.com/office/drawing/2014/main" id="{1DC9455B-46AE-5846-9F1B-899A0DE1AFB2}"/>
                </a:ext>
              </a:extLst>
            </p:cNvPr>
            <p:cNvSpPr txBox="1"/>
            <p:nvPr/>
          </p:nvSpPr>
          <p:spPr>
            <a:xfrm>
              <a:off x="644377" y="5733566"/>
              <a:ext cx="1146338"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Users</a:t>
              </a:r>
            </a:p>
          </p:txBody>
        </p:sp>
        <p:cxnSp>
          <p:nvCxnSpPr>
            <p:cNvPr id="38" name="Straight Arrow Connector 37">
              <a:extLst>
                <a:ext uri="{FF2B5EF4-FFF2-40B4-BE49-F238E27FC236}">
                  <a16:creationId xmlns:a16="http://schemas.microsoft.com/office/drawing/2014/main" id="{F0DE46A6-F4FD-5643-8D80-38E4AA0244A2}"/>
                </a:ext>
              </a:extLst>
            </p:cNvPr>
            <p:cNvCxnSpPr>
              <a:cxnSpLocks/>
            </p:cNvCxnSpPr>
            <p:nvPr/>
          </p:nvCxnSpPr>
          <p:spPr>
            <a:xfrm>
              <a:off x="1457182" y="4227659"/>
              <a:ext cx="1057418" cy="0"/>
            </a:xfrm>
            <a:prstGeom prst="straightConnector1">
              <a:avLst/>
            </a:prstGeom>
            <a:ln w="381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D118910-285A-C541-945A-79E4FEDFA5E0}"/>
                </a:ext>
              </a:extLst>
            </p:cNvPr>
            <p:cNvCxnSpPr>
              <a:cxnSpLocks/>
              <a:stCxn id="26" idx="3"/>
            </p:cNvCxnSpPr>
            <p:nvPr/>
          </p:nvCxnSpPr>
          <p:spPr>
            <a:xfrm flipV="1">
              <a:off x="1457182" y="4227659"/>
              <a:ext cx="1233815" cy="914376"/>
            </a:xfrm>
            <a:prstGeom prst="straightConnector1">
              <a:avLst/>
            </a:prstGeom>
            <a:ln w="381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7E20FF1-5883-8A4C-83FB-AF5071EE458F}"/>
                </a:ext>
              </a:extLst>
            </p:cNvPr>
            <p:cNvCxnSpPr>
              <a:cxnSpLocks/>
              <a:stCxn id="24" idx="3"/>
            </p:cNvCxnSpPr>
            <p:nvPr/>
          </p:nvCxnSpPr>
          <p:spPr>
            <a:xfrm>
              <a:off x="1457183" y="3223419"/>
              <a:ext cx="1233813" cy="1005427"/>
            </a:xfrm>
            <a:prstGeom prst="straightConnector1">
              <a:avLst/>
            </a:prstGeom>
            <a:ln w="381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308201A6-4DE9-6C4C-9E1B-87FEB588C403}"/>
                </a:ext>
              </a:extLst>
            </p:cNvPr>
            <p:cNvSpPr txBox="1"/>
            <p:nvPr/>
          </p:nvSpPr>
          <p:spPr>
            <a:xfrm>
              <a:off x="2009904" y="4660884"/>
              <a:ext cx="1976724"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Web store</a:t>
              </a:r>
            </a:p>
          </p:txBody>
        </p:sp>
        <p:pic>
          <p:nvPicPr>
            <p:cNvPr id="54" name="Picture 53">
              <a:extLst>
                <a:ext uri="{FF2B5EF4-FFF2-40B4-BE49-F238E27FC236}">
                  <a16:creationId xmlns:a16="http://schemas.microsoft.com/office/drawing/2014/main" id="{7AC516AE-8CAD-CF48-A66A-562B6ACC4C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32341" y="3853818"/>
              <a:ext cx="569092" cy="630379"/>
            </a:xfrm>
            <a:prstGeom prst="rect">
              <a:avLst/>
            </a:prstGeom>
          </p:spPr>
        </p:pic>
        <p:sp>
          <p:nvSpPr>
            <p:cNvPr id="55" name="TextBox 54">
              <a:extLst>
                <a:ext uri="{FF2B5EF4-FFF2-40B4-BE49-F238E27FC236}">
                  <a16:creationId xmlns:a16="http://schemas.microsoft.com/office/drawing/2014/main" id="{3D07C45F-5F90-D943-B6E8-A50945CED40E}"/>
                </a:ext>
              </a:extLst>
            </p:cNvPr>
            <p:cNvSpPr txBox="1"/>
            <p:nvPr/>
          </p:nvSpPr>
          <p:spPr>
            <a:xfrm>
              <a:off x="4283702" y="4660884"/>
              <a:ext cx="1666369"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Shopping cart</a:t>
              </a:r>
            </a:p>
          </p:txBody>
        </p:sp>
        <p:cxnSp>
          <p:nvCxnSpPr>
            <p:cNvPr id="57" name="Straight Arrow Connector 56">
              <a:extLst>
                <a:ext uri="{FF2B5EF4-FFF2-40B4-BE49-F238E27FC236}">
                  <a16:creationId xmlns:a16="http://schemas.microsoft.com/office/drawing/2014/main" id="{93FAB5DB-FB30-C046-B62C-4974BDB58429}"/>
                </a:ext>
              </a:extLst>
            </p:cNvPr>
            <p:cNvCxnSpPr/>
            <p:nvPr/>
          </p:nvCxnSpPr>
          <p:spPr>
            <a:xfrm>
              <a:off x="3412671" y="4169007"/>
              <a:ext cx="1240972" cy="0"/>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60" name="Picture 59">
            <a:extLst>
              <a:ext uri="{FF2B5EF4-FFF2-40B4-BE49-F238E27FC236}">
                <a16:creationId xmlns:a16="http://schemas.microsoft.com/office/drawing/2014/main" id="{C6B4C433-FBCF-2C42-8C76-21FFF770BC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18440" y="3834005"/>
            <a:ext cx="595669" cy="617731"/>
          </a:xfrm>
          <a:prstGeom prst="rect">
            <a:avLst/>
          </a:prstGeom>
        </p:spPr>
      </p:pic>
      <p:cxnSp>
        <p:nvCxnSpPr>
          <p:cNvPr id="61" name="Straight Arrow Connector 60">
            <a:extLst>
              <a:ext uri="{FF2B5EF4-FFF2-40B4-BE49-F238E27FC236}">
                <a16:creationId xmlns:a16="http://schemas.microsoft.com/office/drawing/2014/main" id="{EE77AAE8-0A0E-C14D-AE78-410A589227A9}"/>
              </a:ext>
            </a:extLst>
          </p:cNvPr>
          <p:cNvCxnSpPr/>
          <p:nvPr/>
        </p:nvCxnSpPr>
        <p:spPr>
          <a:xfrm>
            <a:off x="7056308" y="4142871"/>
            <a:ext cx="1240972" cy="0"/>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86ADCD4-E2F3-884A-97C0-1BC08FA61DA8}"/>
              </a:ext>
            </a:extLst>
          </p:cNvPr>
          <p:cNvSpPr txBox="1"/>
          <p:nvPr/>
        </p:nvSpPr>
        <p:spPr>
          <a:xfrm>
            <a:off x="7727912" y="4619012"/>
            <a:ext cx="1976724"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Order processing</a:t>
            </a:r>
          </a:p>
        </p:txBody>
      </p:sp>
      <p:sp>
        <p:nvSpPr>
          <p:cNvPr id="21" name="TextBox 20">
            <a:extLst>
              <a:ext uri="{FF2B5EF4-FFF2-40B4-BE49-F238E27FC236}">
                <a16:creationId xmlns:a16="http://schemas.microsoft.com/office/drawing/2014/main" id="{68C8FC63-E5F9-714E-B7B2-DE0AA8490F92}"/>
              </a:ext>
            </a:extLst>
          </p:cNvPr>
          <p:cNvSpPr txBox="1"/>
          <p:nvPr/>
        </p:nvSpPr>
        <p:spPr>
          <a:xfrm>
            <a:off x="2795899" y="1661374"/>
            <a:ext cx="6449978" cy="523220"/>
          </a:xfrm>
          <a:prstGeom prst="rect">
            <a:avLst/>
          </a:prstGeom>
          <a:noFill/>
        </p:spPr>
        <p:txBody>
          <a:bodyPr wrap="square" rtlCol="0">
            <a:spAutoFit/>
          </a:bodyPr>
          <a:lstStyle/>
          <a:p>
            <a:pPr algn="ctr"/>
            <a:r>
              <a:rPr lang="en-US" sz="28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Temporary Data (Online Cart)</a:t>
            </a:r>
          </a:p>
        </p:txBody>
      </p:sp>
    </p:spTree>
    <p:extLst>
      <p:ext uri="{BB962C8B-B14F-4D97-AF65-F5344CB8AC3E}">
        <p14:creationId xmlns:p14="http://schemas.microsoft.com/office/powerpoint/2010/main" val="3080099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a:xfrm>
            <a:off x="418991" y="263531"/>
            <a:ext cx="9174188" cy="779463"/>
          </a:xfrm>
        </p:spPr>
        <p:txBody>
          <a:bodyPr>
            <a:normAutofit fontScale="90000"/>
          </a:bodyPr>
          <a:lstStyle/>
          <a:p>
            <a:r>
              <a:rPr lang="en-US" dirty="0"/>
              <a:t>Amazon DynamoDB </a:t>
            </a:r>
            <a:br>
              <a:rPr lang="en-US" dirty="0"/>
            </a:br>
            <a:r>
              <a:rPr lang="en-US" dirty="0"/>
              <a:t>Consistency Options</a:t>
            </a:r>
          </a:p>
        </p:txBody>
      </p:sp>
      <p:grpSp>
        <p:nvGrpSpPr>
          <p:cNvPr id="66" name="Group 65">
            <a:extLst>
              <a:ext uri="{FF2B5EF4-FFF2-40B4-BE49-F238E27FC236}">
                <a16:creationId xmlns:a16="http://schemas.microsoft.com/office/drawing/2014/main" id="{0A1CB6BA-0E42-7C4C-9367-26CF72AD9500}"/>
              </a:ext>
            </a:extLst>
          </p:cNvPr>
          <p:cNvGrpSpPr/>
          <p:nvPr/>
        </p:nvGrpSpPr>
        <p:grpSpPr>
          <a:xfrm>
            <a:off x="1184873" y="2063162"/>
            <a:ext cx="9819079" cy="3340003"/>
            <a:chOff x="1230691" y="1904138"/>
            <a:chExt cx="9819079" cy="3340003"/>
          </a:xfrm>
        </p:grpSpPr>
        <p:sp>
          <p:nvSpPr>
            <p:cNvPr id="63" name="TextBox 62">
              <a:extLst>
                <a:ext uri="{FF2B5EF4-FFF2-40B4-BE49-F238E27FC236}">
                  <a16:creationId xmlns:a16="http://schemas.microsoft.com/office/drawing/2014/main" id="{5C4F9E14-100C-8945-9234-CE2CD34EBDC4}"/>
                </a:ext>
              </a:extLst>
            </p:cNvPr>
            <p:cNvSpPr txBox="1"/>
            <p:nvPr/>
          </p:nvSpPr>
          <p:spPr>
            <a:xfrm>
              <a:off x="7322511" y="4875129"/>
              <a:ext cx="3316738" cy="369012"/>
            </a:xfrm>
            <a:prstGeom prst="rect">
              <a:avLst/>
            </a:prstGeom>
            <a:noFill/>
          </p:spPr>
          <p:txBody>
            <a:bodyPr wrap="square" rtlCol="0">
              <a:spAutoFit/>
            </a:bodyPr>
            <a:lstStyle/>
            <a:p>
              <a:pPr algn="ctr"/>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Uses 1x Read Capacity Unit</a:t>
              </a:r>
            </a:p>
          </p:txBody>
        </p:sp>
        <p:sp>
          <p:nvSpPr>
            <p:cNvPr id="3" name="TextBox 2">
              <a:extLst>
                <a:ext uri="{FF2B5EF4-FFF2-40B4-BE49-F238E27FC236}">
                  <a16:creationId xmlns:a16="http://schemas.microsoft.com/office/drawing/2014/main" id="{BE110C1A-6ED5-914B-9B79-72866EFACE79}"/>
                </a:ext>
              </a:extLst>
            </p:cNvPr>
            <p:cNvSpPr txBox="1"/>
            <p:nvPr/>
          </p:nvSpPr>
          <p:spPr>
            <a:xfrm>
              <a:off x="6995891" y="1909659"/>
              <a:ext cx="3969978" cy="461665"/>
            </a:xfrm>
            <a:prstGeom prst="rect">
              <a:avLst/>
            </a:prstGeom>
            <a:noFill/>
          </p:spPr>
          <p:txBody>
            <a:bodyPr wrap="square" rtlCol="0">
              <a:spAutoFit/>
            </a:bodyPr>
            <a:lstStyle/>
            <a:p>
              <a:pPr algn="ctr"/>
              <a:r>
                <a:rPr lang="en-US" sz="24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Strongly</a:t>
              </a:r>
              <a:r>
                <a:rPr lang="en-US" sz="2400" dirty="0">
                  <a:latin typeface="Amazon Ember" panose="020B0603020204020204" pitchFamily="34" charset="0"/>
                  <a:ea typeface="Amazon Ember" panose="020B0603020204020204" pitchFamily="34" charset="0"/>
                  <a:cs typeface="Amazon Ember" panose="020B0603020204020204" pitchFamily="34" charset="0"/>
                </a:rPr>
                <a:t> Consistent</a:t>
              </a:r>
            </a:p>
          </p:txBody>
        </p:sp>
        <p:sp>
          <p:nvSpPr>
            <p:cNvPr id="15" name="TextBox 14">
              <a:extLst>
                <a:ext uri="{FF2B5EF4-FFF2-40B4-BE49-F238E27FC236}">
                  <a16:creationId xmlns:a16="http://schemas.microsoft.com/office/drawing/2014/main" id="{967E8E6C-8EB6-9644-A153-CC0D1974C12F}"/>
                </a:ext>
              </a:extLst>
            </p:cNvPr>
            <p:cNvSpPr txBox="1"/>
            <p:nvPr/>
          </p:nvSpPr>
          <p:spPr>
            <a:xfrm>
              <a:off x="1637115" y="1904138"/>
              <a:ext cx="3969978" cy="461665"/>
            </a:xfrm>
            <a:prstGeom prst="rect">
              <a:avLst/>
            </a:prstGeom>
            <a:noFill/>
          </p:spPr>
          <p:txBody>
            <a:bodyPr wrap="square" rtlCol="0">
              <a:spAutoFit/>
            </a:bodyPr>
            <a:lstStyle/>
            <a:p>
              <a:pPr algn="ctr"/>
              <a:r>
                <a:rPr lang="en-US" sz="2400"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Eventually</a:t>
              </a:r>
              <a:r>
                <a:rPr lang="en-US" sz="2400" dirty="0">
                  <a:latin typeface="Amazon Ember" panose="020B0603020204020204" pitchFamily="34" charset="0"/>
                  <a:ea typeface="Amazon Ember" panose="020B0603020204020204" pitchFamily="34" charset="0"/>
                  <a:cs typeface="Amazon Ember" panose="020B0603020204020204" pitchFamily="34" charset="0"/>
                </a:rPr>
                <a:t> Consistent</a:t>
              </a:r>
            </a:p>
          </p:txBody>
        </p:sp>
        <p:grpSp>
          <p:nvGrpSpPr>
            <p:cNvPr id="10" name="Group 9">
              <a:extLst>
                <a:ext uri="{FF2B5EF4-FFF2-40B4-BE49-F238E27FC236}">
                  <a16:creationId xmlns:a16="http://schemas.microsoft.com/office/drawing/2014/main" id="{71A0FB18-1220-4B42-B176-53895CE365E0}"/>
                </a:ext>
              </a:extLst>
            </p:cNvPr>
            <p:cNvGrpSpPr/>
            <p:nvPr/>
          </p:nvGrpSpPr>
          <p:grpSpPr>
            <a:xfrm>
              <a:off x="1230691" y="2876462"/>
              <a:ext cx="1621708" cy="1365772"/>
              <a:chOff x="2119736" y="2720292"/>
              <a:chExt cx="1621708" cy="1365772"/>
            </a:xfrm>
          </p:grpSpPr>
          <p:pic>
            <p:nvPicPr>
              <p:cNvPr id="16" name="Picture 15">
                <a:extLst>
                  <a:ext uri="{FF2B5EF4-FFF2-40B4-BE49-F238E27FC236}">
                    <a16:creationId xmlns:a16="http://schemas.microsoft.com/office/drawing/2014/main" id="{B59E3593-8722-684B-BCB6-8523DA6B28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360" y="2726241"/>
                <a:ext cx="352153" cy="377306"/>
              </a:xfrm>
              <a:prstGeom prst="rect">
                <a:avLst/>
              </a:prstGeom>
            </p:spPr>
          </p:pic>
          <p:pic>
            <p:nvPicPr>
              <p:cNvPr id="17" name="Picture 16">
                <a:extLst>
                  <a:ext uri="{FF2B5EF4-FFF2-40B4-BE49-F238E27FC236}">
                    <a16:creationId xmlns:a16="http://schemas.microsoft.com/office/drawing/2014/main" id="{C74A4BB0-6AA2-B84F-8F41-036481BB9D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360" y="3216956"/>
                <a:ext cx="352153" cy="377306"/>
              </a:xfrm>
              <a:prstGeom prst="rect">
                <a:avLst/>
              </a:prstGeom>
            </p:spPr>
          </p:pic>
          <p:pic>
            <p:nvPicPr>
              <p:cNvPr id="18" name="Picture 17">
                <a:extLst>
                  <a:ext uri="{FF2B5EF4-FFF2-40B4-BE49-F238E27FC236}">
                    <a16:creationId xmlns:a16="http://schemas.microsoft.com/office/drawing/2014/main" id="{2488A2F9-FB90-234B-A5CC-8C4E63AFA6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360" y="3707671"/>
                <a:ext cx="352153" cy="377306"/>
              </a:xfrm>
              <a:prstGeom prst="rect">
                <a:avLst/>
              </a:prstGeom>
            </p:spPr>
          </p:pic>
          <p:sp>
            <p:nvSpPr>
              <p:cNvPr id="6" name="TextBox 5">
                <a:extLst>
                  <a:ext uri="{FF2B5EF4-FFF2-40B4-BE49-F238E27FC236}">
                    <a16:creationId xmlns:a16="http://schemas.microsoft.com/office/drawing/2014/main" id="{35BEA4CE-5B69-5240-B831-360C75D90F1F}"/>
                  </a:ext>
                </a:extLst>
              </p:cNvPr>
              <p:cNvSpPr txBox="1"/>
              <p:nvPr/>
            </p:nvSpPr>
            <p:spPr>
              <a:xfrm>
                <a:off x="2124916" y="2720292"/>
                <a:ext cx="1616528" cy="369012"/>
              </a:xfrm>
              <a:prstGeom prst="rect">
                <a:avLst/>
              </a:prstGeom>
              <a:noFill/>
            </p:spPr>
            <p:txBody>
              <a:bodyPr wrap="square" rtlCol="0">
                <a:spAutoFit/>
              </a:bodyPr>
              <a:lstStyle/>
              <a:p>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Replica </a:t>
                </a:r>
              </a:p>
            </p:txBody>
          </p:sp>
          <p:sp>
            <p:nvSpPr>
              <p:cNvPr id="20" name="TextBox 19">
                <a:extLst>
                  <a:ext uri="{FF2B5EF4-FFF2-40B4-BE49-F238E27FC236}">
                    <a16:creationId xmlns:a16="http://schemas.microsoft.com/office/drawing/2014/main" id="{7454BFCE-4EDE-D845-8698-4B4892D1C871}"/>
                  </a:ext>
                </a:extLst>
              </p:cNvPr>
              <p:cNvSpPr txBox="1"/>
              <p:nvPr/>
            </p:nvSpPr>
            <p:spPr>
              <a:xfrm>
                <a:off x="2119736" y="3225250"/>
                <a:ext cx="1616528" cy="369012"/>
              </a:xfrm>
              <a:prstGeom prst="rect">
                <a:avLst/>
              </a:prstGeom>
              <a:noFill/>
            </p:spPr>
            <p:txBody>
              <a:bodyPr wrap="square" rtlCol="0">
                <a:spAutoFit/>
              </a:bodyPr>
              <a:lstStyle/>
              <a:p>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Replica </a:t>
                </a:r>
              </a:p>
            </p:txBody>
          </p:sp>
          <p:sp>
            <p:nvSpPr>
              <p:cNvPr id="24" name="TextBox 23">
                <a:extLst>
                  <a:ext uri="{FF2B5EF4-FFF2-40B4-BE49-F238E27FC236}">
                    <a16:creationId xmlns:a16="http://schemas.microsoft.com/office/drawing/2014/main" id="{2FDF7690-4A5C-C54B-B528-13BC7EE4071D}"/>
                  </a:ext>
                </a:extLst>
              </p:cNvPr>
              <p:cNvSpPr txBox="1"/>
              <p:nvPr/>
            </p:nvSpPr>
            <p:spPr>
              <a:xfrm>
                <a:off x="2119736" y="3717052"/>
                <a:ext cx="1616528" cy="369012"/>
              </a:xfrm>
              <a:prstGeom prst="rect">
                <a:avLst/>
              </a:prstGeom>
              <a:noFill/>
            </p:spPr>
            <p:txBody>
              <a:bodyPr wrap="square" rtlCol="0" anchor="ctr" anchorCtr="0">
                <a:spAutoFit/>
              </a:bodyPr>
              <a:lstStyle/>
              <a:p>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Replica </a:t>
                </a:r>
              </a:p>
            </p:txBody>
          </p:sp>
        </p:grpSp>
        <p:pic>
          <p:nvPicPr>
            <p:cNvPr id="25" name="Picture 24">
              <a:extLst>
                <a:ext uri="{FF2B5EF4-FFF2-40B4-BE49-F238E27FC236}">
                  <a16:creationId xmlns:a16="http://schemas.microsoft.com/office/drawing/2014/main" id="{8BF7D35A-9744-3C40-B141-97A32C981E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5179" y="3209640"/>
              <a:ext cx="595669" cy="617731"/>
            </a:xfrm>
            <a:prstGeom prst="rect">
              <a:avLst/>
            </a:prstGeom>
          </p:spPr>
        </p:pic>
        <p:pic>
          <p:nvPicPr>
            <p:cNvPr id="26" name="Picture 25">
              <a:extLst>
                <a:ext uri="{FF2B5EF4-FFF2-40B4-BE49-F238E27FC236}">
                  <a16:creationId xmlns:a16="http://schemas.microsoft.com/office/drawing/2014/main" id="{EA3EF7F5-C49E-5945-B390-49C17DAAB7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0571" y="3214125"/>
              <a:ext cx="569092" cy="630379"/>
            </a:xfrm>
            <a:prstGeom prst="rect">
              <a:avLst/>
            </a:prstGeom>
          </p:spPr>
        </p:pic>
        <p:cxnSp>
          <p:nvCxnSpPr>
            <p:cNvPr id="28" name="Straight Arrow Connector 27">
              <a:extLst>
                <a:ext uri="{FF2B5EF4-FFF2-40B4-BE49-F238E27FC236}">
                  <a16:creationId xmlns:a16="http://schemas.microsoft.com/office/drawing/2014/main" id="{979592B9-8031-F340-AFBA-EB351E2F2615}"/>
                </a:ext>
              </a:extLst>
            </p:cNvPr>
            <p:cNvCxnSpPr>
              <a:cxnSpLocks/>
              <a:endCxn id="25" idx="1"/>
            </p:cNvCxnSpPr>
            <p:nvPr/>
          </p:nvCxnSpPr>
          <p:spPr>
            <a:xfrm flipV="1">
              <a:off x="4106414" y="3518506"/>
              <a:ext cx="958765" cy="10808"/>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69733FB-14E8-1044-A1D5-63A8C8F23EB1}"/>
                </a:ext>
              </a:extLst>
            </p:cNvPr>
            <p:cNvCxnSpPr>
              <a:cxnSpLocks/>
            </p:cNvCxnSpPr>
            <p:nvPr/>
          </p:nvCxnSpPr>
          <p:spPr>
            <a:xfrm>
              <a:off x="2904236" y="3060891"/>
              <a:ext cx="554404" cy="28795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6D2B78A0-B334-E543-89BF-38F838DFE8AE}"/>
                </a:ext>
              </a:extLst>
            </p:cNvPr>
            <p:cNvGrpSpPr/>
            <p:nvPr/>
          </p:nvGrpSpPr>
          <p:grpSpPr>
            <a:xfrm>
              <a:off x="6619613" y="2871688"/>
              <a:ext cx="1621708" cy="1365772"/>
              <a:chOff x="2119736" y="2720292"/>
              <a:chExt cx="1621708" cy="1365772"/>
            </a:xfrm>
          </p:grpSpPr>
          <p:pic>
            <p:nvPicPr>
              <p:cNvPr id="43" name="Picture 42">
                <a:extLst>
                  <a:ext uri="{FF2B5EF4-FFF2-40B4-BE49-F238E27FC236}">
                    <a16:creationId xmlns:a16="http://schemas.microsoft.com/office/drawing/2014/main" id="{32BCBC7B-F554-4240-A922-9745B04EE8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360" y="2726241"/>
                <a:ext cx="352153" cy="377306"/>
              </a:xfrm>
              <a:prstGeom prst="rect">
                <a:avLst/>
              </a:prstGeom>
            </p:spPr>
          </p:pic>
          <p:pic>
            <p:nvPicPr>
              <p:cNvPr id="44" name="Picture 43">
                <a:extLst>
                  <a:ext uri="{FF2B5EF4-FFF2-40B4-BE49-F238E27FC236}">
                    <a16:creationId xmlns:a16="http://schemas.microsoft.com/office/drawing/2014/main" id="{50ECA4B7-69ED-A34F-87E3-01F76CBEB1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360" y="3216956"/>
                <a:ext cx="352153" cy="377306"/>
              </a:xfrm>
              <a:prstGeom prst="rect">
                <a:avLst/>
              </a:prstGeom>
            </p:spPr>
          </p:pic>
          <p:pic>
            <p:nvPicPr>
              <p:cNvPr id="45" name="Picture 44">
                <a:extLst>
                  <a:ext uri="{FF2B5EF4-FFF2-40B4-BE49-F238E27FC236}">
                    <a16:creationId xmlns:a16="http://schemas.microsoft.com/office/drawing/2014/main" id="{073EC5B1-2170-7648-9A07-8E4CE0AB6E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360" y="3707671"/>
                <a:ext cx="352153" cy="377306"/>
              </a:xfrm>
              <a:prstGeom prst="rect">
                <a:avLst/>
              </a:prstGeom>
            </p:spPr>
          </p:pic>
          <p:sp>
            <p:nvSpPr>
              <p:cNvPr id="46" name="TextBox 45">
                <a:extLst>
                  <a:ext uri="{FF2B5EF4-FFF2-40B4-BE49-F238E27FC236}">
                    <a16:creationId xmlns:a16="http://schemas.microsoft.com/office/drawing/2014/main" id="{465C9B1C-D90E-A641-97B0-CD8DBF1CD8D1}"/>
                  </a:ext>
                </a:extLst>
              </p:cNvPr>
              <p:cNvSpPr txBox="1"/>
              <p:nvPr/>
            </p:nvSpPr>
            <p:spPr>
              <a:xfrm>
                <a:off x="2124916" y="2720292"/>
                <a:ext cx="1616528" cy="369012"/>
              </a:xfrm>
              <a:prstGeom prst="rect">
                <a:avLst/>
              </a:prstGeom>
              <a:noFill/>
            </p:spPr>
            <p:txBody>
              <a:bodyPr wrap="square" rtlCol="0">
                <a:spAutoFit/>
              </a:bodyPr>
              <a:lstStyle/>
              <a:p>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Replica </a:t>
                </a:r>
              </a:p>
            </p:txBody>
          </p:sp>
          <p:sp>
            <p:nvSpPr>
              <p:cNvPr id="47" name="TextBox 46">
                <a:extLst>
                  <a:ext uri="{FF2B5EF4-FFF2-40B4-BE49-F238E27FC236}">
                    <a16:creationId xmlns:a16="http://schemas.microsoft.com/office/drawing/2014/main" id="{A7C675AF-959C-134E-A8A7-4B3598BA4CD2}"/>
                  </a:ext>
                </a:extLst>
              </p:cNvPr>
              <p:cNvSpPr txBox="1"/>
              <p:nvPr/>
            </p:nvSpPr>
            <p:spPr>
              <a:xfrm>
                <a:off x="2119736" y="3225250"/>
                <a:ext cx="1616528" cy="369012"/>
              </a:xfrm>
              <a:prstGeom prst="rect">
                <a:avLst/>
              </a:prstGeom>
              <a:noFill/>
            </p:spPr>
            <p:txBody>
              <a:bodyPr wrap="square" rtlCol="0">
                <a:spAutoFit/>
              </a:bodyPr>
              <a:lstStyle/>
              <a:p>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Replica </a:t>
                </a:r>
              </a:p>
            </p:txBody>
          </p:sp>
          <p:sp>
            <p:nvSpPr>
              <p:cNvPr id="48" name="TextBox 47">
                <a:extLst>
                  <a:ext uri="{FF2B5EF4-FFF2-40B4-BE49-F238E27FC236}">
                    <a16:creationId xmlns:a16="http://schemas.microsoft.com/office/drawing/2014/main" id="{F3F87EE9-3B3D-3146-B525-BFBB9EB6E197}"/>
                  </a:ext>
                </a:extLst>
              </p:cNvPr>
              <p:cNvSpPr txBox="1"/>
              <p:nvPr/>
            </p:nvSpPr>
            <p:spPr>
              <a:xfrm>
                <a:off x="2119736" y="3717052"/>
                <a:ext cx="1616528" cy="369012"/>
              </a:xfrm>
              <a:prstGeom prst="rect">
                <a:avLst/>
              </a:prstGeom>
              <a:noFill/>
            </p:spPr>
            <p:txBody>
              <a:bodyPr wrap="square" rtlCol="0" anchor="ctr" anchorCtr="0">
                <a:spAutoFit/>
              </a:bodyPr>
              <a:lstStyle/>
              <a:p>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Replica </a:t>
                </a:r>
              </a:p>
            </p:txBody>
          </p:sp>
        </p:grpSp>
        <p:pic>
          <p:nvPicPr>
            <p:cNvPr id="49" name="Picture 48">
              <a:extLst>
                <a:ext uri="{FF2B5EF4-FFF2-40B4-BE49-F238E27FC236}">
                  <a16:creationId xmlns:a16="http://schemas.microsoft.com/office/drawing/2014/main" id="{1426D01A-47B9-3742-81C7-727B3B9FFF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4101" y="3204866"/>
              <a:ext cx="595669" cy="617731"/>
            </a:xfrm>
            <a:prstGeom prst="rect">
              <a:avLst/>
            </a:prstGeom>
          </p:spPr>
        </p:pic>
        <p:pic>
          <p:nvPicPr>
            <p:cNvPr id="50" name="Picture 49">
              <a:extLst>
                <a:ext uri="{FF2B5EF4-FFF2-40B4-BE49-F238E27FC236}">
                  <a16:creationId xmlns:a16="http://schemas.microsoft.com/office/drawing/2014/main" id="{70F958B3-2C35-1B4C-9D92-2F8D011F2D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9493" y="3209351"/>
              <a:ext cx="569092" cy="630379"/>
            </a:xfrm>
            <a:prstGeom prst="rect">
              <a:avLst/>
            </a:prstGeom>
          </p:spPr>
        </p:pic>
        <p:cxnSp>
          <p:nvCxnSpPr>
            <p:cNvPr id="51" name="Straight Arrow Connector 50">
              <a:extLst>
                <a:ext uri="{FF2B5EF4-FFF2-40B4-BE49-F238E27FC236}">
                  <a16:creationId xmlns:a16="http://schemas.microsoft.com/office/drawing/2014/main" id="{5BF7ABA7-D3C8-7847-B495-85900128C855}"/>
                </a:ext>
              </a:extLst>
            </p:cNvPr>
            <p:cNvCxnSpPr>
              <a:cxnSpLocks/>
              <a:endCxn id="49" idx="1"/>
            </p:cNvCxnSpPr>
            <p:nvPr/>
          </p:nvCxnSpPr>
          <p:spPr>
            <a:xfrm flipV="1">
              <a:off x="9495336" y="3513732"/>
              <a:ext cx="958765" cy="10808"/>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F7C07D0-3AE6-C141-94C9-45201AE75D58}"/>
                </a:ext>
              </a:extLst>
            </p:cNvPr>
            <p:cNvCxnSpPr>
              <a:cxnSpLocks/>
            </p:cNvCxnSpPr>
            <p:nvPr/>
          </p:nvCxnSpPr>
          <p:spPr>
            <a:xfrm>
              <a:off x="8293158" y="3056117"/>
              <a:ext cx="554404" cy="28795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377CBDD-36B3-9E42-B8F1-4636130904C7}"/>
                </a:ext>
              </a:extLst>
            </p:cNvPr>
            <p:cNvCxnSpPr>
              <a:cxnSpLocks/>
            </p:cNvCxnSpPr>
            <p:nvPr/>
          </p:nvCxnSpPr>
          <p:spPr>
            <a:xfrm>
              <a:off x="8293158" y="3560451"/>
              <a:ext cx="559584" cy="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FBCAE4B6-FC3F-A548-97F4-E225B555C0F1}"/>
                </a:ext>
              </a:extLst>
            </p:cNvPr>
            <p:cNvCxnSpPr>
              <a:cxnSpLocks/>
            </p:cNvCxnSpPr>
            <p:nvPr/>
          </p:nvCxnSpPr>
          <p:spPr>
            <a:xfrm flipV="1">
              <a:off x="8293158" y="3753953"/>
              <a:ext cx="559584" cy="293767"/>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CDAB1F4-7ADC-6040-979B-25875E22A399}"/>
                </a:ext>
              </a:extLst>
            </p:cNvPr>
            <p:cNvSpPr txBox="1"/>
            <p:nvPr/>
          </p:nvSpPr>
          <p:spPr>
            <a:xfrm>
              <a:off x="1963735" y="4871127"/>
              <a:ext cx="3316738" cy="369012"/>
            </a:xfrm>
            <a:prstGeom prst="rect">
              <a:avLst/>
            </a:prstGeom>
            <a:noFill/>
          </p:spPr>
          <p:txBody>
            <a:bodyPr wrap="square" rtlCol="0">
              <a:spAutoFit/>
            </a:bodyPr>
            <a:lstStyle/>
            <a:p>
              <a:pPr algn="ctr"/>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Uses .5x Read Capacity Unit</a:t>
              </a:r>
            </a:p>
          </p:txBody>
        </p:sp>
      </p:grpSp>
    </p:spTree>
    <p:extLst>
      <p:ext uri="{BB962C8B-B14F-4D97-AF65-F5344CB8AC3E}">
        <p14:creationId xmlns:p14="http://schemas.microsoft.com/office/powerpoint/2010/main" val="3726592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1352854" cy="779057"/>
          </a:xfrm>
        </p:spPr>
        <p:txBody>
          <a:bodyPr>
            <a:noAutofit/>
          </a:bodyPr>
          <a:lstStyle/>
          <a:p>
            <a:r>
              <a:rPr lang="en-US" dirty="0"/>
              <a:t>Security Controls for </a:t>
            </a:r>
            <a:br>
              <a:rPr lang="en-US" dirty="0"/>
            </a:br>
            <a:r>
              <a:rPr lang="en-US" dirty="0"/>
              <a:t>Amazon RDS and DynamoDB</a:t>
            </a:r>
          </a:p>
        </p:txBody>
      </p:sp>
    </p:spTree>
    <p:extLst>
      <p:ext uri="{BB962C8B-B14F-4D97-AF65-F5344CB8AC3E}">
        <p14:creationId xmlns:p14="http://schemas.microsoft.com/office/powerpoint/2010/main" val="11972345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Amazon RDS</a:t>
            </a:r>
          </a:p>
        </p:txBody>
      </p:sp>
      <p:sp>
        <p:nvSpPr>
          <p:cNvPr id="5" name="TextBox 4">
            <a:extLst>
              <a:ext uri="{FF2B5EF4-FFF2-40B4-BE49-F238E27FC236}">
                <a16:creationId xmlns:a16="http://schemas.microsoft.com/office/drawing/2014/main" id="{CA75C124-C5C8-1242-ADBC-09622503C405}"/>
              </a:ext>
            </a:extLst>
          </p:cNvPr>
          <p:cNvSpPr txBox="1"/>
          <p:nvPr/>
        </p:nvSpPr>
        <p:spPr>
          <a:xfrm>
            <a:off x="874642" y="1694649"/>
            <a:ext cx="7732644" cy="461665"/>
          </a:xfrm>
          <a:prstGeom prst="rect">
            <a:avLst/>
          </a:prstGeom>
          <a:noFill/>
        </p:spPr>
        <p:txBody>
          <a:bodyPr wrap="square" rtlCol="0">
            <a:spAutoFit/>
          </a:bodyPr>
          <a:lstStyle/>
          <a:p>
            <a:r>
              <a:rPr lang="en-US" sz="2400" dirty="0">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Tree>
    <p:extLst>
      <p:ext uri="{BB962C8B-B14F-4D97-AF65-F5344CB8AC3E}">
        <p14:creationId xmlns:p14="http://schemas.microsoft.com/office/powerpoint/2010/main" val="180086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Security Controls for Amazon RDS</a:t>
            </a:r>
          </a:p>
        </p:txBody>
      </p:sp>
      <p:sp>
        <p:nvSpPr>
          <p:cNvPr id="3" name="TextBox 2">
            <a:extLst>
              <a:ext uri="{FF2B5EF4-FFF2-40B4-BE49-F238E27FC236}">
                <a16:creationId xmlns:a16="http://schemas.microsoft.com/office/drawing/2014/main" id="{4F1C38EC-E07B-C14E-9814-B4AF29011404}"/>
              </a:ext>
            </a:extLst>
          </p:cNvPr>
          <p:cNvSpPr txBox="1"/>
          <p:nvPr/>
        </p:nvSpPr>
        <p:spPr>
          <a:xfrm>
            <a:off x="1450565" y="2550021"/>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Access to the DB itself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Who has visibility and can run actions on the database?</a:t>
            </a:r>
          </a:p>
        </p:txBody>
      </p:sp>
      <p:sp>
        <p:nvSpPr>
          <p:cNvPr id="5" name="TextBox 4">
            <a:extLst>
              <a:ext uri="{FF2B5EF4-FFF2-40B4-BE49-F238E27FC236}">
                <a16:creationId xmlns:a16="http://schemas.microsoft.com/office/drawing/2014/main" id="{CA75C124-C5C8-1242-ADBC-09622503C405}"/>
              </a:ext>
            </a:extLst>
          </p:cNvPr>
          <p:cNvSpPr txBox="1"/>
          <p:nvPr/>
        </p:nvSpPr>
        <p:spPr>
          <a:xfrm>
            <a:off x="874642" y="1694649"/>
            <a:ext cx="7732644" cy="461665"/>
          </a:xfrm>
          <a:prstGeom prst="rect">
            <a:avLst/>
          </a:prstGeom>
          <a:noFill/>
        </p:spPr>
        <p:txBody>
          <a:bodyPr wrap="square" rtlCol="0">
            <a:spAutoFit/>
          </a:bodyPr>
          <a:lstStyle/>
          <a:p>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Tree>
    <p:extLst>
      <p:ext uri="{BB962C8B-B14F-4D97-AF65-F5344CB8AC3E}">
        <p14:creationId xmlns:p14="http://schemas.microsoft.com/office/powerpoint/2010/main" val="27438670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Amazon RDS</a:t>
            </a:r>
          </a:p>
        </p:txBody>
      </p:sp>
      <p:sp>
        <p:nvSpPr>
          <p:cNvPr id="3" name="TextBox 2">
            <a:extLst>
              <a:ext uri="{FF2B5EF4-FFF2-40B4-BE49-F238E27FC236}">
                <a16:creationId xmlns:a16="http://schemas.microsoft.com/office/drawing/2014/main" id="{4F1C38EC-E07B-C14E-9814-B4AF29011404}"/>
              </a:ext>
            </a:extLst>
          </p:cNvPr>
          <p:cNvSpPr txBox="1"/>
          <p:nvPr/>
        </p:nvSpPr>
        <p:spPr>
          <a:xfrm>
            <a:off x="1450565" y="2550021"/>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Access to the DB itself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Who has visibility and can run actions on the database?</a:t>
            </a:r>
          </a:p>
        </p:txBody>
      </p:sp>
      <p:sp>
        <p:nvSpPr>
          <p:cNvPr id="5" name="TextBox 4">
            <a:extLst>
              <a:ext uri="{FF2B5EF4-FFF2-40B4-BE49-F238E27FC236}">
                <a16:creationId xmlns:a16="http://schemas.microsoft.com/office/drawing/2014/main" id="{CA75C124-C5C8-1242-ADBC-09622503C405}"/>
              </a:ext>
            </a:extLst>
          </p:cNvPr>
          <p:cNvSpPr txBox="1"/>
          <p:nvPr/>
        </p:nvSpPr>
        <p:spPr>
          <a:xfrm>
            <a:off x="874642" y="1694649"/>
            <a:ext cx="7732644" cy="461665"/>
          </a:xfrm>
          <a:prstGeom prst="rect">
            <a:avLst/>
          </a:prstGeom>
          <a:noFill/>
        </p:spPr>
        <p:txBody>
          <a:bodyPr wrap="square" rtlCol="0">
            <a:spAutoFit/>
          </a:bodyPr>
          <a:lstStyle/>
          <a:p>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
        <p:nvSpPr>
          <p:cNvPr id="6" name="TextBox 5">
            <a:extLst>
              <a:ext uri="{FF2B5EF4-FFF2-40B4-BE49-F238E27FC236}">
                <a16:creationId xmlns:a16="http://schemas.microsoft.com/office/drawing/2014/main" id="{1FD8C4C7-D28C-F040-BABD-2AA1CD5FCC42}"/>
              </a:ext>
            </a:extLst>
          </p:cNvPr>
          <p:cNvSpPr txBox="1"/>
          <p:nvPr/>
        </p:nvSpPr>
        <p:spPr>
          <a:xfrm>
            <a:off x="1445595" y="3296138"/>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Encryption at rest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Data that is encrypted at rest includes the underlying storage for a DB instance, its automated backups, read replicas, and snapshots.</a:t>
            </a:r>
          </a:p>
        </p:txBody>
      </p:sp>
    </p:spTree>
    <p:extLst>
      <p:ext uri="{BB962C8B-B14F-4D97-AF65-F5344CB8AC3E}">
        <p14:creationId xmlns:p14="http://schemas.microsoft.com/office/powerpoint/2010/main" val="3224657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Amazon RDS</a:t>
            </a:r>
          </a:p>
        </p:txBody>
      </p:sp>
      <p:sp>
        <p:nvSpPr>
          <p:cNvPr id="3" name="TextBox 2">
            <a:extLst>
              <a:ext uri="{FF2B5EF4-FFF2-40B4-BE49-F238E27FC236}">
                <a16:creationId xmlns:a16="http://schemas.microsoft.com/office/drawing/2014/main" id="{4F1C38EC-E07B-C14E-9814-B4AF29011404}"/>
              </a:ext>
            </a:extLst>
          </p:cNvPr>
          <p:cNvSpPr txBox="1"/>
          <p:nvPr/>
        </p:nvSpPr>
        <p:spPr>
          <a:xfrm>
            <a:off x="1450565" y="2550021"/>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Access to the DB itself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Who has visibility and can run actions on the database?</a:t>
            </a:r>
          </a:p>
        </p:txBody>
      </p:sp>
      <p:sp>
        <p:nvSpPr>
          <p:cNvPr id="5" name="TextBox 4">
            <a:extLst>
              <a:ext uri="{FF2B5EF4-FFF2-40B4-BE49-F238E27FC236}">
                <a16:creationId xmlns:a16="http://schemas.microsoft.com/office/drawing/2014/main" id="{CA75C124-C5C8-1242-ADBC-09622503C405}"/>
              </a:ext>
            </a:extLst>
          </p:cNvPr>
          <p:cNvSpPr txBox="1"/>
          <p:nvPr/>
        </p:nvSpPr>
        <p:spPr>
          <a:xfrm>
            <a:off x="874642" y="1694649"/>
            <a:ext cx="7732644" cy="461665"/>
          </a:xfrm>
          <a:prstGeom prst="rect">
            <a:avLst/>
          </a:prstGeom>
          <a:noFill/>
        </p:spPr>
        <p:txBody>
          <a:bodyPr wrap="square" rtlCol="0">
            <a:spAutoFit/>
          </a:bodyPr>
          <a:lstStyle/>
          <a:p>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
        <p:nvSpPr>
          <p:cNvPr id="6" name="TextBox 5">
            <a:extLst>
              <a:ext uri="{FF2B5EF4-FFF2-40B4-BE49-F238E27FC236}">
                <a16:creationId xmlns:a16="http://schemas.microsoft.com/office/drawing/2014/main" id="{1FD8C4C7-D28C-F040-BABD-2AA1CD5FCC42}"/>
              </a:ext>
            </a:extLst>
          </p:cNvPr>
          <p:cNvSpPr txBox="1"/>
          <p:nvPr/>
        </p:nvSpPr>
        <p:spPr>
          <a:xfrm>
            <a:off x="1445595" y="3296138"/>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Encryption at rest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Data that is encrypted at rest includes the underlying storage for a DB instance, its automated backups, read replicas, and snapshots.</a:t>
            </a:r>
          </a:p>
        </p:txBody>
      </p:sp>
      <p:sp>
        <p:nvSpPr>
          <p:cNvPr id="7" name="TextBox 6">
            <a:extLst>
              <a:ext uri="{FF2B5EF4-FFF2-40B4-BE49-F238E27FC236}">
                <a16:creationId xmlns:a16="http://schemas.microsoft.com/office/drawing/2014/main" id="{6A3AD323-A807-184D-A52D-AFC7278C23D4}"/>
              </a:ext>
            </a:extLst>
          </p:cNvPr>
          <p:cNvSpPr txBox="1"/>
          <p:nvPr/>
        </p:nvSpPr>
        <p:spPr>
          <a:xfrm>
            <a:off x="1440625" y="4318933"/>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Encryption in transit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Encryption in transit can be accomplished with SSL.</a:t>
            </a:r>
          </a:p>
        </p:txBody>
      </p:sp>
    </p:spTree>
    <p:extLst>
      <p:ext uri="{BB962C8B-B14F-4D97-AF65-F5344CB8AC3E}">
        <p14:creationId xmlns:p14="http://schemas.microsoft.com/office/powerpoint/2010/main" val="1491961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Amazon RDS</a:t>
            </a:r>
          </a:p>
        </p:txBody>
      </p:sp>
      <p:sp>
        <p:nvSpPr>
          <p:cNvPr id="3" name="TextBox 2">
            <a:extLst>
              <a:ext uri="{FF2B5EF4-FFF2-40B4-BE49-F238E27FC236}">
                <a16:creationId xmlns:a16="http://schemas.microsoft.com/office/drawing/2014/main" id="{4F1C38EC-E07B-C14E-9814-B4AF29011404}"/>
              </a:ext>
            </a:extLst>
          </p:cNvPr>
          <p:cNvSpPr txBox="1"/>
          <p:nvPr/>
        </p:nvSpPr>
        <p:spPr>
          <a:xfrm>
            <a:off x="1450565" y="2550021"/>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Access to the DB itself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Who has visibility and can run actions on the database?</a:t>
            </a:r>
          </a:p>
        </p:txBody>
      </p:sp>
      <p:sp>
        <p:nvSpPr>
          <p:cNvPr id="5" name="TextBox 4">
            <a:extLst>
              <a:ext uri="{FF2B5EF4-FFF2-40B4-BE49-F238E27FC236}">
                <a16:creationId xmlns:a16="http://schemas.microsoft.com/office/drawing/2014/main" id="{CA75C124-C5C8-1242-ADBC-09622503C405}"/>
              </a:ext>
            </a:extLst>
          </p:cNvPr>
          <p:cNvSpPr txBox="1"/>
          <p:nvPr/>
        </p:nvSpPr>
        <p:spPr>
          <a:xfrm>
            <a:off x="874642" y="1694649"/>
            <a:ext cx="7732644" cy="461665"/>
          </a:xfrm>
          <a:prstGeom prst="rect">
            <a:avLst/>
          </a:prstGeom>
          <a:noFill/>
        </p:spPr>
        <p:txBody>
          <a:bodyPr wrap="square" rtlCol="0">
            <a:spAutoFit/>
          </a:bodyPr>
          <a:lstStyle/>
          <a:p>
            <a:r>
              <a:rPr lang="en-US" sz="2400" dirty="0">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
        <p:nvSpPr>
          <p:cNvPr id="6" name="TextBox 5">
            <a:extLst>
              <a:ext uri="{FF2B5EF4-FFF2-40B4-BE49-F238E27FC236}">
                <a16:creationId xmlns:a16="http://schemas.microsoft.com/office/drawing/2014/main" id="{1FD8C4C7-D28C-F040-BABD-2AA1CD5FCC42}"/>
              </a:ext>
            </a:extLst>
          </p:cNvPr>
          <p:cNvSpPr txBox="1"/>
          <p:nvPr/>
        </p:nvSpPr>
        <p:spPr>
          <a:xfrm>
            <a:off x="1445595" y="3296138"/>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Encryption at rest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Data that is encrypted at rest includes the underlying storage for a DB instance, its automated backups, read replicas, and snapshots.</a:t>
            </a:r>
          </a:p>
        </p:txBody>
      </p:sp>
      <p:sp>
        <p:nvSpPr>
          <p:cNvPr id="7" name="TextBox 6">
            <a:extLst>
              <a:ext uri="{FF2B5EF4-FFF2-40B4-BE49-F238E27FC236}">
                <a16:creationId xmlns:a16="http://schemas.microsoft.com/office/drawing/2014/main" id="{6A3AD323-A807-184D-A52D-AFC7278C23D4}"/>
              </a:ext>
            </a:extLst>
          </p:cNvPr>
          <p:cNvSpPr txBox="1"/>
          <p:nvPr/>
        </p:nvSpPr>
        <p:spPr>
          <a:xfrm>
            <a:off x="1440625" y="4318933"/>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Encryption in transit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Encryption in transit can be accomplished with SSL.</a:t>
            </a:r>
          </a:p>
        </p:txBody>
      </p:sp>
      <p:sp>
        <p:nvSpPr>
          <p:cNvPr id="8" name="TextBox 7">
            <a:extLst>
              <a:ext uri="{FF2B5EF4-FFF2-40B4-BE49-F238E27FC236}">
                <a16:creationId xmlns:a16="http://schemas.microsoft.com/office/drawing/2014/main" id="{5563BF0E-85D8-8149-9D34-0000F6A04F17}"/>
              </a:ext>
            </a:extLst>
          </p:cNvPr>
          <p:cNvSpPr txBox="1"/>
          <p:nvPr/>
        </p:nvSpPr>
        <p:spPr>
          <a:xfrm>
            <a:off x="1440625" y="5065049"/>
            <a:ext cx="9770714"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Event notifications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You can receive notifications of a variety of important events that can occur on your Amazon RDS instance.</a:t>
            </a:r>
          </a:p>
        </p:txBody>
      </p:sp>
    </p:spTree>
    <p:extLst>
      <p:ext uri="{BB962C8B-B14F-4D97-AF65-F5344CB8AC3E}">
        <p14:creationId xmlns:p14="http://schemas.microsoft.com/office/powerpoint/2010/main" val="37244474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DynamoDB</a:t>
            </a:r>
          </a:p>
        </p:txBody>
      </p:sp>
      <p:sp>
        <p:nvSpPr>
          <p:cNvPr id="11" name="TextBox 10">
            <a:extLst>
              <a:ext uri="{FF2B5EF4-FFF2-40B4-BE49-F238E27FC236}">
                <a16:creationId xmlns:a16="http://schemas.microsoft.com/office/drawing/2014/main" id="{9E1FC25A-C346-114C-A282-38C66F55F277}"/>
              </a:ext>
            </a:extLst>
          </p:cNvPr>
          <p:cNvSpPr txBox="1"/>
          <p:nvPr/>
        </p:nvSpPr>
        <p:spPr>
          <a:xfrm>
            <a:off x="874642" y="1694649"/>
            <a:ext cx="7732644" cy="461665"/>
          </a:xfrm>
          <a:prstGeom prst="rect">
            <a:avLst/>
          </a:prstGeom>
          <a:noFill/>
        </p:spPr>
        <p:txBody>
          <a:bodyPr wrap="square" rtlCol="0">
            <a:spAutoFit/>
          </a:bodyPr>
          <a:lstStyle/>
          <a:p>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Tree>
    <p:extLst>
      <p:ext uri="{BB962C8B-B14F-4D97-AF65-F5344CB8AC3E}">
        <p14:creationId xmlns:p14="http://schemas.microsoft.com/office/powerpoint/2010/main" val="3648047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DynamoDB</a:t>
            </a:r>
          </a:p>
        </p:txBody>
      </p:sp>
      <p:sp>
        <p:nvSpPr>
          <p:cNvPr id="11" name="TextBox 10">
            <a:extLst>
              <a:ext uri="{FF2B5EF4-FFF2-40B4-BE49-F238E27FC236}">
                <a16:creationId xmlns:a16="http://schemas.microsoft.com/office/drawing/2014/main" id="{9E1FC25A-C346-114C-A282-38C66F55F277}"/>
              </a:ext>
            </a:extLst>
          </p:cNvPr>
          <p:cNvSpPr txBox="1"/>
          <p:nvPr/>
        </p:nvSpPr>
        <p:spPr>
          <a:xfrm>
            <a:off x="874642" y="1694649"/>
            <a:ext cx="7732644" cy="461665"/>
          </a:xfrm>
          <a:prstGeom prst="rect">
            <a:avLst/>
          </a:prstGeom>
          <a:noFill/>
        </p:spPr>
        <p:txBody>
          <a:bodyPr wrap="square" rtlCol="0">
            <a:spAutoFit/>
          </a:bodyPr>
          <a:lstStyle/>
          <a:p>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
        <p:nvSpPr>
          <p:cNvPr id="12" name="TextBox 11">
            <a:extLst>
              <a:ext uri="{FF2B5EF4-FFF2-40B4-BE49-F238E27FC236}">
                <a16:creationId xmlns:a16="http://schemas.microsoft.com/office/drawing/2014/main" id="{517B64D9-A23F-3640-AA32-CB86D7E115A6}"/>
              </a:ext>
            </a:extLst>
          </p:cNvPr>
          <p:cNvSpPr txBox="1"/>
          <p:nvPr/>
        </p:nvSpPr>
        <p:spPr>
          <a:xfrm>
            <a:off x="1450565" y="2512527"/>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Definable access permissions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With DynamoDB, you can grant access to everything from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table</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to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item</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to even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attributes</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of your database.</a:t>
            </a:r>
          </a:p>
        </p:txBody>
      </p:sp>
    </p:spTree>
    <p:extLst>
      <p:ext uri="{BB962C8B-B14F-4D97-AF65-F5344CB8AC3E}">
        <p14:creationId xmlns:p14="http://schemas.microsoft.com/office/powerpoint/2010/main" val="4103844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DynamoDB</a:t>
            </a:r>
          </a:p>
        </p:txBody>
      </p:sp>
      <p:sp>
        <p:nvSpPr>
          <p:cNvPr id="11" name="TextBox 10">
            <a:extLst>
              <a:ext uri="{FF2B5EF4-FFF2-40B4-BE49-F238E27FC236}">
                <a16:creationId xmlns:a16="http://schemas.microsoft.com/office/drawing/2014/main" id="{9E1FC25A-C346-114C-A282-38C66F55F277}"/>
              </a:ext>
            </a:extLst>
          </p:cNvPr>
          <p:cNvSpPr txBox="1"/>
          <p:nvPr/>
        </p:nvSpPr>
        <p:spPr>
          <a:xfrm>
            <a:off x="874642" y="1694649"/>
            <a:ext cx="7732644" cy="461665"/>
          </a:xfrm>
          <a:prstGeom prst="rect">
            <a:avLst/>
          </a:prstGeom>
          <a:noFill/>
        </p:spPr>
        <p:txBody>
          <a:bodyPr wrap="square" rtlCol="0">
            <a:spAutoFit/>
          </a:bodyPr>
          <a:lstStyle/>
          <a:p>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
        <p:nvSpPr>
          <p:cNvPr id="12" name="TextBox 11">
            <a:extLst>
              <a:ext uri="{FF2B5EF4-FFF2-40B4-BE49-F238E27FC236}">
                <a16:creationId xmlns:a16="http://schemas.microsoft.com/office/drawing/2014/main" id="{517B64D9-A23F-3640-AA32-CB86D7E115A6}"/>
              </a:ext>
            </a:extLst>
          </p:cNvPr>
          <p:cNvSpPr txBox="1"/>
          <p:nvPr/>
        </p:nvSpPr>
        <p:spPr>
          <a:xfrm>
            <a:off x="1450565" y="2512527"/>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Definable access permissions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With DynamoDB, you can grant access to everything from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table</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to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item</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to even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attributes</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of your database.</a:t>
            </a:r>
          </a:p>
        </p:txBody>
      </p:sp>
      <p:sp>
        <p:nvSpPr>
          <p:cNvPr id="13" name="TextBox 12">
            <a:extLst>
              <a:ext uri="{FF2B5EF4-FFF2-40B4-BE49-F238E27FC236}">
                <a16:creationId xmlns:a16="http://schemas.microsoft.com/office/drawing/2014/main" id="{564BE366-2504-1A48-A020-3F17E2E2AFE6}"/>
              </a:ext>
            </a:extLst>
          </p:cNvPr>
          <p:cNvSpPr txBox="1"/>
          <p:nvPr/>
        </p:nvSpPr>
        <p:spPr>
          <a:xfrm>
            <a:off x="1450565" y="3578561"/>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Encryption at rest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DynamoDB offers fully managed encryption at rest.</a:t>
            </a:r>
          </a:p>
        </p:txBody>
      </p:sp>
    </p:spTree>
    <p:extLst>
      <p:ext uri="{BB962C8B-B14F-4D97-AF65-F5344CB8AC3E}">
        <p14:creationId xmlns:p14="http://schemas.microsoft.com/office/powerpoint/2010/main" val="35817855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DynamoDB</a:t>
            </a:r>
          </a:p>
        </p:txBody>
      </p:sp>
      <p:sp>
        <p:nvSpPr>
          <p:cNvPr id="11" name="TextBox 10">
            <a:extLst>
              <a:ext uri="{FF2B5EF4-FFF2-40B4-BE49-F238E27FC236}">
                <a16:creationId xmlns:a16="http://schemas.microsoft.com/office/drawing/2014/main" id="{9E1FC25A-C346-114C-A282-38C66F55F277}"/>
              </a:ext>
            </a:extLst>
          </p:cNvPr>
          <p:cNvSpPr txBox="1"/>
          <p:nvPr/>
        </p:nvSpPr>
        <p:spPr>
          <a:xfrm>
            <a:off x="874642" y="1694649"/>
            <a:ext cx="7732644" cy="461665"/>
          </a:xfrm>
          <a:prstGeom prst="rect">
            <a:avLst/>
          </a:prstGeom>
          <a:noFill/>
        </p:spPr>
        <p:txBody>
          <a:bodyPr wrap="square" rtlCol="0">
            <a:spAutoFit/>
          </a:bodyPr>
          <a:lstStyle/>
          <a:p>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
        <p:nvSpPr>
          <p:cNvPr id="12" name="TextBox 11">
            <a:extLst>
              <a:ext uri="{FF2B5EF4-FFF2-40B4-BE49-F238E27FC236}">
                <a16:creationId xmlns:a16="http://schemas.microsoft.com/office/drawing/2014/main" id="{517B64D9-A23F-3640-AA32-CB86D7E115A6}"/>
              </a:ext>
            </a:extLst>
          </p:cNvPr>
          <p:cNvSpPr txBox="1"/>
          <p:nvPr/>
        </p:nvSpPr>
        <p:spPr>
          <a:xfrm>
            <a:off x="1450565" y="2512527"/>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Definable access permissions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With DynamoDB, you can grant access to everything from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table</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to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item</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to even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attributes</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of your database.</a:t>
            </a:r>
          </a:p>
        </p:txBody>
      </p:sp>
      <p:sp>
        <p:nvSpPr>
          <p:cNvPr id="13" name="TextBox 12">
            <a:extLst>
              <a:ext uri="{FF2B5EF4-FFF2-40B4-BE49-F238E27FC236}">
                <a16:creationId xmlns:a16="http://schemas.microsoft.com/office/drawing/2014/main" id="{564BE366-2504-1A48-A020-3F17E2E2AFE6}"/>
              </a:ext>
            </a:extLst>
          </p:cNvPr>
          <p:cNvSpPr txBox="1"/>
          <p:nvPr/>
        </p:nvSpPr>
        <p:spPr>
          <a:xfrm>
            <a:off x="1450565" y="3578561"/>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Encryption at rest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DynamoDB offers fully managed encryption at rest.</a:t>
            </a:r>
          </a:p>
        </p:txBody>
      </p:sp>
      <p:sp>
        <p:nvSpPr>
          <p:cNvPr id="14" name="TextBox 13">
            <a:extLst>
              <a:ext uri="{FF2B5EF4-FFF2-40B4-BE49-F238E27FC236}">
                <a16:creationId xmlns:a16="http://schemas.microsoft.com/office/drawing/2014/main" id="{F04F68A6-1D87-714E-BA75-E91BF1790515}"/>
              </a:ext>
            </a:extLst>
          </p:cNvPr>
          <p:cNvSpPr txBox="1"/>
          <p:nvPr/>
        </p:nvSpPr>
        <p:spPr>
          <a:xfrm>
            <a:off x="1450565" y="4336819"/>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SSL/TLS</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By default, communications to and from DynamoDB use the HTTPS protocol, which protects network traffic by using SSL/TLS encryption. </a:t>
            </a:r>
          </a:p>
        </p:txBody>
      </p:sp>
    </p:spTree>
    <p:extLst>
      <p:ext uri="{BB962C8B-B14F-4D97-AF65-F5344CB8AC3E}">
        <p14:creationId xmlns:p14="http://schemas.microsoft.com/office/powerpoint/2010/main" val="7962582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Security Controls for DynamoDB</a:t>
            </a:r>
          </a:p>
        </p:txBody>
      </p:sp>
      <p:sp>
        <p:nvSpPr>
          <p:cNvPr id="11" name="TextBox 10">
            <a:extLst>
              <a:ext uri="{FF2B5EF4-FFF2-40B4-BE49-F238E27FC236}">
                <a16:creationId xmlns:a16="http://schemas.microsoft.com/office/drawing/2014/main" id="{9E1FC25A-C346-114C-A282-38C66F55F277}"/>
              </a:ext>
            </a:extLst>
          </p:cNvPr>
          <p:cNvSpPr txBox="1"/>
          <p:nvPr/>
        </p:nvSpPr>
        <p:spPr>
          <a:xfrm>
            <a:off x="874642" y="1694649"/>
            <a:ext cx="7732644" cy="461665"/>
          </a:xfrm>
          <a:prstGeom prst="rect">
            <a:avLst/>
          </a:prstGeom>
          <a:noFill/>
        </p:spPr>
        <p:txBody>
          <a:bodyPr wrap="square" rtlCol="0">
            <a:spAutoFit/>
          </a:bodyPr>
          <a:lstStyle/>
          <a:p>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few things to think about:</a:t>
            </a:r>
          </a:p>
        </p:txBody>
      </p:sp>
      <p:sp>
        <p:nvSpPr>
          <p:cNvPr id="12" name="TextBox 11">
            <a:extLst>
              <a:ext uri="{FF2B5EF4-FFF2-40B4-BE49-F238E27FC236}">
                <a16:creationId xmlns:a16="http://schemas.microsoft.com/office/drawing/2014/main" id="{517B64D9-A23F-3640-AA32-CB86D7E115A6}"/>
              </a:ext>
            </a:extLst>
          </p:cNvPr>
          <p:cNvSpPr txBox="1"/>
          <p:nvPr/>
        </p:nvSpPr>
        <p:spPr>
          <a:xfrm>
            <a:off x="1450565" y="2512527"/>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Definable access permissions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With DynamoDB, you can grant access to everything from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table</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to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item</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to even the </a:t>
            </a:r>
            <a:r>
              <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attributes</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of your database.</a:t>
            </a:r>
          </a:p>
        </p:txBody>
      </p:sp>
      <p:sp>
        <p:nvSpPr>
          <p:cNvPr id="13" name="TextBox 12">
            <a:extLst>
              <a:ext uri="{FF2B5EF4-FFF2-40B4-BE49-F238E27FC236}">
                <a16:creationId xmlns:a16="http://schemas.microsoft.com/office/drawing/2014/main" id="{564BE366-2504-1A48-A020-3F17E2E2AFE6}"/>
              </a:ext>
            </a:extLst>
          </p:cNvPr>
          <p:cNvSpPr txBox="1"/>
          <p:nvPr/>
        </p:nvSpPr>
        <p:spPr>
          <a:xfrm>
            <a:off x="1450565" y="3578561"/>
            <a:ext cx="10296940" cy="400110"/>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Encryption at rest </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DynamoDB offers fully managed encryption at rest.</a:t>
            </a:r>
          </a:p>
        </p:txBody>
      </p:sp>
      <p:sp>
        <p:nvSpPr>
          <p:cNvPr id="14" name="TextBox 13">
            <a:extLst>
              <a:ext uri="{FF2B5EF4-FFF2-40B4-BE49-F238E27FC236}">
                <a16:creationId xmlns:a16="http://schemas.microsoft.com/office/drawing/2014/main" id="{F04F68A6-1D87-714E-BA75-E91BF1790515}"/>
              </a:ext>
            </a:extLst>
          </p:cNvPr>
          <p:cNvSpPr txBox="1"/>
          <p:nvPr/>
        </p:nvSpPr>
        <p:spPr>
          <a:xfrm>
            <a:off x="1450565" y="4336819"/>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SSL/TLS</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By default, communications to and from DynamoDB use the HTTPS protocol, which protects network traffic by using SSL/TLS encryption. </a:t>
            </a:r>
          </a:p>
        </p:txBody>
      </p:sp>
      <p:sp>
        <p:nvSpPr>
          <p:cNvPr id="7" name="TextBox 6">
            <a:extLst>
              <a:ext uri="{FF2B5EF4-FFF2-40B4-BE49-F238E27FC236}">
                <a16:creationId xmlns:a16="http://schemas.microsoft.com/office/drawing/2014/main" id="{F04F68A6-1D87-714E-BA75-E91BF1790515}"/>
              </a:ext>
            </a:extLst>
          </p:cNvPr>
          <p:cNvSpPr txBox="1"/>
          <p:nvPr/>
        </p:nvSpPr>
        <p:spPr>
          <a:xfrm>
            <a:off x="1450565" y="5402853"/>
            <a:ext cx="10296940" cy="707886"/>
          </a:xfrm>
          <a:prstGeom prst="rect">
            <a:avLst/>
          </a:prstGeom>
          <a:noFill/>
        </p:spPr>
        <p:txBody>
          <a:bodyPr wrap="square" rtlCol="0">
            <a:spAutoFit/>
          </a:bodyPr>
          <a:lstStyle/>
          <a:p>
            <a:r>
              <a:rPr lang="en-US" sz="20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Customer managed keys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t>
            </a:r>
            <a:r>
              <a:rPr 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You can have full control over how you encrypt and manage the security of your DynamoDB data. </a:t>
            </a:r>
          </a:p>
        </p:txBody>
      </p:sp>
    </p:spTree>
    <p:extLst>
      <p:ext uri="{BB962C8B-B14F-4D97-AF65-F5344CB8AC3E}">
        <p14:creationId xmlns:p14="http://schemas.microsoft.com/office/powerpoint/2010/main" val="26588553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1352854" cy="779057"/>
          </a:xfrm>
        </p:spPr>
        <p:txBody>
          <a:bodyPr>
            <a:noAutofit/>
          </a:bodyPr>
          <a:lstStyle/>
          <a:p>
            <a:r>
              <a:rPr lang="en-US" dirty="0"/>
              <a:t>Migrating Data into Your AWS Databases</a:t>
            </a:r>
          </a:p>
        </p:txBody>
      </p:sp>
    </p:spTree>
    <p:extLst>
      <p:ext uri="{BB962C8B-B14F-4D97-AF65-F5344CB8AC3E}">
        <p14:creationId xmlns:p14="http://schemas.microsoft.com/office/powerpoint/2010/main" val="4599502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8876D70-FA29-AB42-90F6-53D7BAF073BF}"/>
              </a:ext>
            </a:extLst>
          </p:cNvPr>
          <p:cNvSpPr>
            <a:spLocks noGrp="1"/>
          </p:cNvSpPr>
          <p:nvPr>
            <p:ph type="title"/>
          </p:nvPr>
        </p:nvSpPr>
        <p:spPr>
          <a:xfrm>
            <a:off x="418991" y="263531"/>
            <a:ext cx="7946076" cy="779463"/>
          </a:xfrm>
        </p:spPr>
        <p:txBody>
          <a:bodyPr>
            <a:normAutofit fontScale="90000"/>
          </a:bodyPr>
          <a:lstStyle/>
          <a:p>
            <a:r>
              <a:rPr lang="en-US" dirty="0"/>
              <a:t>AWS Database Migration Service (AWS DMS)</a:t>
            </a:r>
          </a:p>
        </p:txBody>
      </p:sp>
      <p:grpSp>
        <p:nvGrpSpPr>
          <p:cNvPr id="22" name="Group 21">
            <a:extLst>
              <a:ext uri="{FF2B5EF4-FFF2-40B4-BE49-F238E27FC236}">
                <a16:creationId xmlns:a16="http://schemas.microsoft.com/office/drawing/2014/main" id="{2A83D1F8-DDB7-4E4A-BC6E-D213ABC1DC35}"/>
              </a:ext>
            </a:extLst>
          </p:cNvPr>
          <p:cNvGrpSpPr/>
          <p:nvPr/>
        </p:nvGrpSpPr>
        <p:grpSpPr>
          <a:xfrm>
            <a:off x="968790" y="1689652"/>
            <a:ext cx="2998487" cy="4373217"/>
            <a:chOff x="2201242" y="1729409"/>
            <a:chExt cx="2998487" cy="4373217"/>
          </a:xfrm>
        </p:grpSpPr>
        <p:grpSp>
          <p:nvGrpSpPr>
            <p:cNvPr id="12" name="Group 11">
              <a:extLst>
                <a:ext uri="{FF2B5EF4-FFF2-40B4-BE49-F238E27FC236}">
                  <a16:creationId xmlns:a16="http://schemas.microsoft.com/office/drawing/2014/main" id="{27DBD388-BCE1-1549-A334-0B43DEFC6BD6}"/>
                </a:ext>
              </a:extLst>
            </p:cNvPr>
            <p:cNvGrpSpPr/>
            <p:nvPr/>
          </p:nvGrpSpPr>
          <p:grpSpPr>
            <a:xfrm>
              <a:off x="2445607" y="2562690"/>
              <a:ext cx="2509760" cy="3287459"/>
              <a:chOff x="1174852" y="2154249"/>
              <a:chExt cx="2509760" cy="3287459"/>
            </a:xfrm>
          </p:grpSpPr>
          <p:pic>
            <p:nvPicPr>
              <p:cNvPr id="7" name="Picture 6">
                <a:extLst>
                  <a:ext uri="{FF2B5EF4-FFF2-40B4-BE49-F238E27FC236}">
                    <a16:creationId xmlns:a16="http://schemas.microsoft.com/office/drawing/2014/main" id="{0A79636A-CF32-9949-9836-6561BED910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1394" y="2154249"/>
                <a:ext cx="1496675" cy="1683761"/>
              </a:xfrm>
              <a:prstGeom prst="rect">
                <a:avLst/>
              </a:prstGeom>
            </p:spPr>
          </p:pic>
          <p:sp>
            <p:nvSpPr>
              <p:cNvPr id="11" name="TextBox 10">
                <a:extLst>
                  <a:ext uri="{FF2B5EF4-FFF2-40B4-BE49-F238E27FC236}">
                    <a16:creationId xmlns:a16="http://schemas.microsoft.com/office/drawing/2014/main" id="{7E296940-470C-A64E-AE74-ED0FEB18321D}"/>
                  </a:ext>
                </a:extLst>
              </p:cNvPr>
              <p:cNvSpPr txBox="1"/>
              <p:nvPr/>
            </p:nvSpPr>
            <p:spPr>
              <a:xfrm>
                <a:off x="1174852" y="4241379"/>
                <a:ext cx="2509760" cy="1200329"/>
              </a:xfrm>
              <a:prstGeom prst="rect">
                <a:avLst/>
              </a:prstGeom>
              <a:noFill/>
            </p:spPr>
            <p:txBody>
              <a:bodyPr wrap="square" rtlCol="0">
                <a:spAutoFit/>
              </a:bodyPr>
              <a:lstStyle/>
              <a:p>
                <a:pPr algn="ctr"/>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Database Migration Service </a:t>
                </a:r>
              </a:p>
            </p:txBody>
          </p:sp>
        </p:grpSp>
        <p:sp>
          <p:nvSpPr>
            <p:cNvPr id="19" name="Rectangle 18">
              <a:extLst>
                <a:ext uri="{FF2B5EF4-FFF2-40B4-BE49-F238E27FC236}">
                  <a16:creationId xmlns:a16="http://schemas.microsoft.com/office/drawing/2014/main" id="{614BC7FC-9852-0D47-B9E1-ADEC6B7C7BF8}"/>
                </a:ext>
              </a:extLst>
            </p:cNvPr>
            <p:cNvSpPr/>
            <p:nvPr/>
          </p:nvSpPr>
          <p:spPr>
            <a:xfrm>
              <a:off x="2201242" y="1729409"/>
              <a:ext cx="2998487" cy="43732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TextBox 22">
            <a:extLst>
              <a:ext uri="{FF2B5EF4-FFF2-40B4-BE49-F238E27FC236}">
                <a16:creationId xmlns:a16="http://schemas.microsoft.com/office/drawing/2014/main" id="{424B4630-D814-8843-A89F-E88969BF7076}"/>
              </a:ext>
            </a:extLst>
          </p:cNvPr>
          <p:cNvSpPr txBox="1"/>
          <p:nvPr/>
        </p:nvSpPr>
        <p:spPr>
          <a:xfrm>
            <a:off x="4392029" y="2529311"/>
            <a:ext cx="7007959" cy="3724096"/>
          </a:xfrm>
          <a:prstGeom prst="rect">
            <a:avLst/>
          </a:prstGeom>
          <a:noFill/>
        </p:spPr>
        <p:txBody>
          <a:bodyPr wrap="square" rtlCol="0">
            <a:spAutoFit/>
          </a:bodyPr>
          <a:lstStyle/>
          <a:p>
            <a:r>
              <a:rPr lang="en-US" sz="24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Supports migration to and from most commercial and open source databases</a:t>
            </a:r>
          </a:p>
          <a:p>
            <a:endParaRPr lang="en-US" sz="24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4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4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Can be used to migrate between databases on Amazon EC2, Amazon RDS, Amazon S3, and on-premises</a:t>
            </a:r>
          </a:p>
          <a:p>
            <a:endPar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a:p>
            <a:endPar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914400" indent="-914400"/>
            <a:r>
              <a:rPr lang="en-US" sz="20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a:t>
            </a:r>
            <a:endPar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12078018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normAutofit/>
          </a:bodyPr>
          <a:lstStyle/>
          <a:p>
            <a:r>
              <a:rPr lang="en-US" dirty="0"/>
              <a:t>Migration Options</a:t>
            </a:r>
          </a:p>
        </p:txBody>
      </p:sp>
      <p:sp>
        <p:nvSpPr>
          <p:cNvPr id="5" name="TextBox 4">
            <a:extLst>
              <a:ext uri="{FF2B5EF4-FFF2-40B4-BE49-F238E27FC236}">
                <a16:creationId xmlns:a16="http://schemas.microsoft.com/office/drawing/2014/main" id="{DBF7C911-C6F5-8A48-B9A5-0CFBF6B11811}"/>
              </a:ext>
            </a:extLst>
          </p:cNvPr>
          <p:cNvSpPr txBox="1"/>
          <p:nvPr/>
        </p:nvSpPr>
        <p:spPr>
          <a:xfrm>
            <a:off x="6810530" y="2553168"/>
            <a:ext cx="2981738" cy="430887"/>
          </a:xfrm>
          <a:prstGeom prst="rect">
            <a:avLst/>
          </a:prstGeom>
          <a:noFill/>
        </p:spPr>
        <p:txBody>
          <a:bodyPr wrap="square" rtlCol="0">
            <a:spAutoFit/>
          </a:bodyPr>
          <a:lstStyle/>
          <a:p>
            <a:pPr algn="ctr"/>
            <a:r>
              <a:rPr lang="en-US" sz="2200" dirty="0">
                <a:solidFill>
                  <a:schemeClr val="bg2">
                    <a:lumMod val="25000"/>
                  </a:schemeClr>
                </a:solidFill>
                <a:latin typeface="Amazon Ember" panose="020B0603020204020204" pitchFamily="34" charset="0"/>
                <a:ea typeface="Amazon Ember" panose="020B0603020204020204" pitchFamily="34" charset="0"/>
                <a:cs typeface="Amazon Ember" panose="020B0603020204020204" pitchFamily="34" charset="0"/>
              </a:rPr>
              <a:t>One-time migration</a:t>
            </a:r>
          </a:p>
        </p:txBody>
      </p:sp>
      <p:sp>
        <p:nvSpPr>
          <p:cNvPr id="6" name="TextBox 5">
            <a:extLst>
              <a:ext uri="{FF2B5EF4-FFF2-40B4-BE49-F238E27FC236}">
                <a16:creationId xmlns:a16="http://schemas.microsoft.com/office/drawing/2014/main" id="{64FE3275-9739-6347-AFA1-F0C0DAFB43CE}"/>
              </a:ext>
            </a:extLst>
          </p:cNvPr>
          <p:cNvSpPr txBox="1"/>
          <p:nvPr/>
        </p:nvSpPr>
        <p:spPr>
          <a:xfrm>
            <a:off x="6749268" y="4689882"/>
            <a:ext cx="2981738" cy="430887"/>
          </a:xfrm>
          <a:prstGeom prst="rect">
            <a:avLst/>
          </a:prstGeom>
          <a:noFill/>
        </p:spPr>
        <p:txBody>
          <a:bodyPr wrap="square" rtlCol="0">
            <a:spAutoFit/>
          </a:bodyPr>
          <a:lstStyle/>
          <a:p>
            <a:pPr algn="ctr"/>
            <a:r>
              <a:rPr lang="en-US" sz="2200" dirty="0">
                <a:solidFill>
                  <a:schemeClr val="bg2">
                    <a:lumMod val="25000"/>
                  </a:schemeClr>
                </a:solidFill>
                <a:latin typeface="Amazon Ember" panose="020B0603020204020204" pitchFamily="34" charset="0"/>
                <a:ea typeface="Amazon Ember" panose="020B0603020204020204" pitchFamily="34" charset="0"/>
                <a:cs typeface="Amazon Ember" panose="020B0603020204020204" pitchFamily="34" charset="0"/>
              </a:rPr>
              <a:t>Ongoing migration</a:t>
            </a:r>
          </a:p>
        </p:txBody>
      </p:sp>
      <p:pic>
        <p:nvPicPr>
          <p:cNvPr id="9" name="Picture 8">
            <a:extLst>
              <a:ext uri="{FF2B5EF4-FFF2-40B4-BE49-F238E27FC236}">
                <a16:creationId xmlns:a16="http://schemas.microsoft.com/office/drawing/2014/main" id="{C831C579-325B-CA43-980F-06F6BC42F238}"/>
              </a:ext>
            </a:extLst>
          </p:cNvPr>
          <p:cNvPicPr>
            <a:picLocks noChangeAspect="1"/>
          </p:cNvPicPr>
          <p:nvPr/>
        </p:nvPicPr>
        <p:blipFill>
          <a:blip r:embed="rId3"/>
          <a:stretch>
            <a:fillRect/>
          </a:stretch>
        </p:blipFill>
        <p:spPr>
          <a:xfrm>
            <a:off x="5150386" y="2053530"/>
            <a:ext cx="1411971" cy="1411971"/>
          </a:xfrm>
          <a:prstGeom prst="rect">
            <a:avLst/>
          </a:prstGeom>
        </p:spPr>
      </p:pic>
      <p:grpSp>
        <p:nvGrpSpPr>
          <p:cNvPr id="17" name="Group 16">
            <a:extLst>
              <a:ext uri="{FF2B5EF4-FFF2-40B4-BE49-F238E27FC236}">
                <a16:creationId xmlns:a16="http://schemas.microsoft.com/office/drawing/2014/main" id="{33790754-5888-A548-8E11-7377BF336DB9}"/>
              </a:ext>
            </a:extLst>
          </p:cNvPr>
          <p:cNvGrpSpPr/>
          <p:nvPr/>
        </p:nvGrpSpPr>
        <p:grpSpPr>
          <a:xfrm>
            <a:off x="968790" y="1689652"/>
            <a:ext cx="2998487" cy="4373217"/>
            <a:chOff x="2201242" y="1729409"/>
            <a:chExt cx="2998487" cy="4373217"/>
          </a:xfrm>
        </p:grpSpPr>
        <p:pic>
          <p:nvPicPr>
            <p:cNvPr id="20" name="Picture 19">
              <a:extLst>
                <a:ext uri="{FF2B5EF4-FFF2-40B4-BE49-F238E27FC236}">
                  <a16:creationId xmlns:a16="http://schemas.microsoft.com/office/drawing/2014/main" id="{80071C78-5589-1C40-A6D9-A21CAEB559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2149" y="2562690"/>
              <a:ext cx="1496675" cy="1683761"/>
            </a:xfrm>
            <a:prstGeom prst="rect">
              <a:avLst/>
            </a:prstGeom>
          </p:spPr>
        </p:pic>
        <p:sp>
          <p:nvSpPr>
            <p:cNvPr id="19" name="Rectangle 18">
              <a:extLst>
                <a:ext uri="{FF2B5EF4-FFF2-40B4-BE49-F238E27FC236}">
                  <a16:creationId xmlns:a16="http://schemas.microsoft.com/office/drawing/2014/main" id="{7CCDA59A-973A-7845-9120-9A213E3D4766}"/>
                </a:ext>
              </a:extLst>
            </p:cNvPr>
            <p:cNvSpPr/>
            <p:nvPr/>
          </p:nvSpPr>
          <p:spPr>
            <a:xfrm>
              <a:off x="2201242" y="1729409"/>
              <a:ext cx="2998487" cy="43732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Picture 6">
            <a:extLst>
              <a:ext uri="{FF2B5EF4-FFF2-40B4-BE49-F238E27FC236}">
                <a16:creationId xmlns:a16="http://schemas.microsoft.com/office/drawing/2014/main" id="{48F89BAF-E474-684A-ADBF-DDAD804FE556}"/>
              </a:ext>
            </a:extLst>
          </p:cNvPr>
          <p:cNvPicPr>
            <a:picLocks noChangeAspect="1"/>
          </p:cNvPicPr>
          <p:nvPr/>
        </p:nvPicPr>
        <p:blipFill>
          <a:blip r:embed="rId5"/>
          <a:stretch>
            <a:fillRect/>
          </a:stretch>
        </p:blipFill>
        <p:spPr>
          <a:xfrm>
            <a:off x="5332324" y="4381278"/>
            <a:ext cx="1048094" cy="1048094"/>
          </a:xfrm>
          <a:prstGeom prst="rect">
            <a:avLst/>
          </a:prstGeom>
        </p:spPr>
      </p:pic>
      <p:sp>
        <p:nvSpPr>
          <p:cNvPr id="16" name="TextBox 15">
            <a:extLst>
              <a:ext uri="{FF2B5EF4-FFF2-40B4-BE49-F238E27FC236}">
                <a16:creationId xmlns:a16="http://schemas.microsoft.com/office/drawing/2014/main" id="{353682B5-3F37-704B-8799-BF804419B75E}"/>
              </a:ext>
            </a:extLst>
          </p:cNvPr>
          <p:cNvSpPr txBox="1"/>
          <p:nvPr/>
        </p:nvSpPr>
        <p:spPr>
          <a:xfrm>
            <a:off x="1213155" y="4610063"/>
            <a:ext cx="2509760" cy="1200329"/>
          </a:xfrm>
          <a:prstGeom prst="rect">
            <a:avLst/>
          </a:prstGeom>
          <a:noFill/>
        </p:spPr>
        <p:txBody>
          <a:bodyPr wrap="square" rtlCol="0">
            <a:spAutoFit/>
          </a:bodyPr>
          <a:lstStyle/>
          <a:p>
            <a:pPr algn="ctr"/>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Database Migration Service </a:t>
            </a:r>
          </a:p>
        </p:txBody>
      </p:sp>
    </p:spTree>
    <p:extLst>
      <p:ext uri="{BB962C8B-B14F-4D97-AF65-F5344CB8AC3E}">
        <p14:creationId xmlns:p14="http://schemas.microsoft.com/office/powerpoint/2010/main" val="11825886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a:xfrm>
            <a:off x="418991" y="263531"/>
            <a:ext cx="6930076" cy="779463"/>
          </a:xfrm>
        </p:spPr>
        <p:txBody>
          <a:bodyPr>
            <a:normAutofit fontScale="90000"/>
          </a:bodyPr>
          <a:lstStyle/>
          <a:p>
            <a:r>
              <a:rPr lang="en-US" dirty="0"/>
              <a:t>Using AWS Snowball Edge with AWS DMS</a:t>
            </a:r>
          </a:p>
        </p:txBody>
      </p:sp>
      <p:grpSp>
        <p:nvGrpSpPr>
          <p:cNvPr id="17" name="Group 16">
            <a:extLst>
              <a:ext uri="{FF2B5EF4-FFF2-40B4-BE49-F238E27FC236}">
                <a16:creationId xmlns:a16="http://schemas.microsoft.com/office/drawing/2014/main" id="{33790754-5888-A548-8E11-7377BF336DB9}"/>
              </a:ext>
            </a:extLst>
          </p:cNvPr>
          <p:cNvGrpSpPr/>
          <p:nvPr/>
        </p:nvGrpSpPr>
        <p:grpSpPr>
          <a:xfrm>
            <a:off x="968790" y="1689652"/>
            <a:ext cx="2998487" cy="4373217"/>
            <a:chOff x="2201242" y="1729409"/>
            <a:chExt cx="2998487" cy="4373217"/>
          </a:xfrm>
        </p:grpSpPr>
        <p:pic>
          <p:nvPicPr>
            <p:cNvPr id="20" name="Picture 19">
              <a:extLst>
                <a:ext uri="{FF2B5EF4-FFF2-40B4-BE49-F238E27FC236}">
                  <a16:creationId xmlns:a16="http://schemas.microsoft.com/office/drawing/2014/main" id="{80071C78-5589-1C40-A6D9-A21CAEB559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2149" y="2562690"/>
              <a:ext cx="1496675" cy="1683761"/>
            </a:xfrm>
            <a:prstGeom prst="rect">
              <a:avLst/>
            </a:prstGeom>
          </p:spPr>
        </p:pic>
        <p:sp>
          <p:nvSpPr>
            <p:cNvPr id="19" name="Rectangle 18">
              <a:extLst>
                <a:ext uri="{FF2B5EF4-FFF2-40B4-BE49-F238E27FC236}">
                  <a16:creationId xmlns:a16="http://schemas.microsoft.com/office/drawing/2014/main" id="{7CCDA59A-973A-7845-9120-9A213E3D4766}"/>
                </a:ext>
              </a:extLst>
            </p:cNvPr>
            <p:cNvSpPr/>
            <p:nvPr/>
          </p:nvSpPr>
          <p:spPr>
            <a:xfrm>
              <a:off x="2201242" y="1729409"/>
              <a:ext cx="2998487" cy="43732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Box 2">
            <a:extLst>
              <a:ext uri="{FF2B5EF4-FFF2-40B4-BE49-F238E27FC236}">
                <a16:creationId xmlns:a16="http://schemas.microsoft.com/office/drawing/2014/main" id="{586B36D8-8136-DB47-AC32-A376CAA42732}"/>
              </a:ext>
            </a:extLst>
          </p:cNvPr>
          <p:cNvSpPr txBox="1"/>
          <p:nvPr/>
        </p:nvSpPr>
        <p:spPr>
          <a:xfrm>
            <a:off x="4770783" y="1908313"/>
            <a:ext cx="6976722" cy="2677656"/>
          </a:xfrm>
          <a:prstGeom prst="rect">
            <a:avLst/>
          </a:prstGeom>
          <a:noFill/>
        </p:spPr>
        <p:txBody>
          <a:bodyPr wrap="square" rtlCol="0">
            <a:spAutoFit/>
          </a:bodyPr>
          <a:lstStyle/>
          <a:p>
            <a:r>
              <a:rPr lang="en-US" sz="2400" dirty="0">
                <a:latin typeface="Amazon Ember" panose="020B0603020204020204" pitchFamily="34" charset="0"/>
                <a:ea typeface="Amazon Ember" panose="020B0603020204020204" pitchFamily="34" charset="0"/>
                <a:cs typeface="Amazon Ember" panose="020B0603020204020204" pitchFamily="34" charset="0"/>
              </a:rPr>
              <a:t>When migrating data is unfeasible:</a:t>
            </a:r>
          </a:p>
          <a:p>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buClr>
                <a:schemeClr val="accent2"/>
              </a:buClr>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Database is too large</a:t>
            </a:r>
          </a:p>
          <a:p>
            <a:pPr marL="285750" indent="-285750">
              <a:buClr>
                <a:schemeClr val="accent2"/>
              </a:buClr>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Connection is too slow</a:t>
            </a:r>
          </a:p>
          <a:p>
            <a:pPr marL="285750" indent="-285750">
              <a:buClr>
                <a:schemeClr val="accent2"/>
              </a:buClr>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Privacy and security concerns</a:t>
            </a:r>
          </a:p>
          <a:p>
            <a:pPr marL="285750" indent="-285750">
              <a:buClr>
                <a:schemeClr val="accent2"/>
              </a:buClr>
              <a:buFont typeface="Arial" panose="020B0604020202020204" pitchFamily="34" charset="0"/>
              <a:buChar char="•"/>
            </a:pP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p>
            <a:pPr>
              <a:buClr>
                <a:schemeClr val="accent2"/>
              </a:buClr>
            </a:pPr>
            <a:r>
              <a:rPr lang="en-US" sz="2400" dirty="0">
                <a:latin typeface="Amazon Ember" panose="020B0603020204020204" pitchFamily="34" charset="0"/>
                <a:ea typeface="Amazon Ember" panose="020B0603020204020204" pitchFamily="34" charset="0"/>
                <a:cs typeface="Amazon Ember" panose="020B0603020204020204" pitchFamily="34" charset="0"/>
              </a:rPr>
              <a:t>We recommend </a:t>
            </a:r>
            <a:r>
              <a:rPr lang="en-US" sz="2400"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AWS Snowball Edge</a:t>
            </a:r>
          </a:p>
        </p:txBody>
      </p:sp>
      <p:pic>
        <p:nvPicPr>
          <p:cNvPr id="14" name="Picture 13">
            <a:extLst>
              <a:ext uri="{FF2B5EF4-FFF2-40B4-BE49-F238E27FC236}">
                <a16:creationId xmlns:a16="http://schemas.microsoft.com/office/drawing/2014/main" id="{054ED759-9F23-2E49-8533-2AF0B0F46A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8614" y="4856284"/>
            <a:ext cx="1322390" cy="1560854"/>
          </a:xfrm>
          <a:prstGeom prst="rect">
            <a:avLst/>
          </a:prstGeom>
        </p:spPr>
      </p:pic>
      <p:sp>
        <p:nvSpPr>
          <p:cNvPr id="11" name="TextBox 10">
            <a:extLst>
              <a:ext uri="{FF2B5EF4-FFF2-40B4-BE49-F238E27FC236}">
                <a16:creationId xmlns:a16="http://schemas.microsoft.com/office/drawing/2014/main" id="{27340F01-BEB5-FE4D-9B90-94EF7F43944A}"/>
              </a:ext>
            </a:extLst>
          </p:cNvPr>
          <p:cNvSpPr txBox="1"/>
          <p:nvPr/>
        </p:nvSpPr>
        <p:spPr>
          <a:xfrm>
            <a:off x="1213155" y="4610063"/>
            <a:ext cx="2509760" cy="1200329"/>
          </a:xfrm>
          <a:prstGeom prst="rect">
            <a:avLst/>
          </a:prstGeom>
          <a:noFill/>
        </p:spPr>
        <p:txBody>
          <a:bodyPr wrap="square" rtlCol="0">
            <a:spAutoFit/>
          </a:bodyPr>
          <a:lstStyle/>
          <a:p>
            <a:pPr algn="ctr"/>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Database Migration Service </a:t>
            </a:r>
          </a:p>
        </p:txBody>
      </p:sp>
    </p:spTree>
    <p:extLst>
      <p:ext uri="{BB962C8B-B14F-4D97-AF65-F5344CB8AC3E}">
        <p14:creationId xmlns:p14="http://schemas.microsoft.com/office/powerpoint/2010/main" val="35264710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EC15A1C-7B76-9046-982C-C6AB70951119}"/>
              </a:ext>
            </a:extLst>
          </p:cNvPr>
          <p:cNvCxnSpPr/>
          <p:nvPr/>
        </p:nvCxnSpPr>
        <p:spPr>
          <a:xfrm>
            <a:off x="1152939" y="3160644"/>
            <a:ext cx="1530626" cy="0"/>
          </a:xfrm>
          <a:prstGeom prst="line">
            <a:avLst/>
          </a:prstGeom>
          <a:ln w="635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a:xfrm>
            <a:off x="418991" y="263531"/>
            <a:ext cx="6591409" cy="779463"/>
          </a:xfrm>
        </p:spPr>
        <p:txBody>
          <a:bodyPr>
            <a:normAutofit fontScale="90000"/>
          </a:bodyPr>
          <a:lstStyle/>
          <a:p>
            <a:r>
              <a:rPr lang="en-US" dirty="0"/>
              <a:t>Using AWS Snowball Edge with AWS DMS</a:t>
            </a:r>
          </a:p>
        </p:txBody>
      </p:sp>
      <p:sp>
        <p:nvSpPr>
          <p:cNvPr id="3" name="TextBox 2">
            <a:extLst>
              <a:ext uri="{FF2B5EF4-FFF2-40B4-BE49-F238E27FC236}">
                <a16:creationId xmlns:a16="http://schemas.microsoft.com/office/drawing/2014/main" id="{586B36D8-8136-DB47-AC32-A376CAA42732}"/>
              </a:ext>
            </a:extLst>
          </p:cNvPr>
          <p:cNvSpPr txBox="1"/>
          <p:nvPr/>
        </p:nvSpPr>
        <p:spPr>
          <a:xfrm>
            <a:off x="4770783" y="1908313"/>
            <a:ext cx="6976722" cy="4154984"/>
          </a:xfrm>
          <a:prstGeom prst="rect">
            <a:avLst/>
          </a:prstGeom>
          <a:noFill/>
        </p:spPr>
        <p:txBody>
          <a:bodyPr wrap="square" rtlCol="0">
            <a:spAutoFit/>
          </a:bodyPr>
          <a:lstStyle/>
          <a:p>
            <a:r>
              <a:rPr lang="en-US" sz="2400" dirty="0">
                <a:latin typeface="Amazon Ember" panose="020B0603020204020204" pitchFamily="34" charset="0"/>
                <a:ea typeface="Amazon Ember" panose="020B0603020204020204" pitchFamily="34" charset="0"/>
                <a:cs typeface="Amazon Ember" panose="020B0603020204020204" pitchFamily="34" charset="0"/>
              </a:rPr>
              <a:t>AWS DMS has a Snowball Edge integration point.</a:t>
            </a:r>
          </a:p>
          <a:p>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You can migrate one or more databases using the Snowball Edge device.</a:t>
            </a:r>
          </a:p>
          <a:p>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Clr>
                <a:schemeClr val="accent2"/>
              </a:buClr>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Multi-terabyte storage</a:t>
            </a:r>
          </a:p>
          <a:p>
            <a:pPr>
              <a:buClr>
                <a:schemeClr val="accent2"/>
              </a:buClr>
            </a:pP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Clr>
                <a:schemeClr val="accent2"/>
              </a:buClr>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Without using internet or DX bandwidth</a:t>
            </a:r>
          </a:p>
          <a:p>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1" name="Picture 10">
            <a:extLst>
              <a:ext uri="{FF2B5EF4-FFF2-40B4-BE49-F238E27FC236}">
                <a16:creationId xmlns:a16="http://schemas.microsoft.com/office/drawing/2014/main" id="{15E536FC-1085-2D44-ACFD-499FEF1417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321" y="2623930"/>
            <a:ext cx="932731" cy="1049323"/>
          </a:xfrm>
          <a:prstGeom prst="rect">
            <a:avLst/>
          </a:prstGeom>
        </p:spPr>
      </p:pic>
      <p:pic>
        <p:nvPicPr>
          <p:cNvPr id="6" name="Picture 5">
            <a:extLst>
              <a:ext uri="{FF2B5EF4-FFF2-40B4-BE49-F238E27FC236}">
                <a16:creationId xmlns:a16="http://schemas.microsoft.com/office/drawing/2014/main" id="{3BA9CBC8-6038-A54F-9394-D35567909F69}"/>
              </a:ext>
            </a:extLst>
          </p:cNvPr>
          <p:cNvPicPr>
            <a:picLocks noChangeAspect="1"/>
          </p:cNvPicPr>
          <p:nvPr/>
        </p:nvPicPr>
        <p:blipFill>
          <a:blip r:embed="rId4"/>
          <a:stretch>
            <a:fillRect/>
          </a:stretch>
        </p:blipFill>
        <p:spPr>
          <a:xfrm>
            <a:off x="2172891" y="1902074"/>
            <a:ext cx="1969053" cy="1969053"/>
          </a:xfrm>
          <a:prstGeom prst="rect">
            <a:avLst/>
          </a:prstGeom>
        </p:spPr>
      </p:pic>
      <p:sp>
        <p:nvSpPr>
          <p:cNvPr id="7" name="TextBox 6">
            <a:extLst>
              <a:ext uri="{FF2B5EF4-FFF2-40B4-BE49-F238E27FC236}">
                <a16:creationId xmlns:a16="http://schemas.microsoft.com/office/drawing/2014/main" id="{061515DF-0C46-BA4F-9033-B433B282D02A}"/>
              </a:ext>
            </a:extLst>
          </p:cNvPr>
          <p:cNvSpPr txBox="1"/>
          <p:nvPr/>
        </p:nvSpPr>
        <p:spPr>
          <a:xfrm>
            <a:off x="611320" y="4068270"/>
            <a:ext cx="932731" cy="830997"/>
          </a:xfrm>
          <a:prstGeom prst="rect">
            <a:avLst/>
          </a:prstGeom>
          <a:noFill/>
        </p:spPr>
        <p:txBody>
          <a:bodyPr wrap="squar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AWS DMS</a:t>
            </a:r>
          </a:p>
        </p:txBody>
      </p:sp>
      <p:sp>
        <p:nvSpPr>
          <p:cNvPr id="15" name="TextBox 14">
            <a:extLst>
              <a:ext uri="{FF2B5EF4-FFF2-40B4-BE49-F238E27FC236}">
                <a16:creationId xmlns:a16="http://schemas.microsoft.com/office/drawing/2014/main" id="{C2D448B3-720F-B048-A4F3-0473BD4372F8}"/>
              </a:ext>
            </a:extLst>
          </p:cNvPr>
          <p:cNvSpPr txBox="1"/>
          <p:nvPr/>
        </p:nvSpPr>
        <p:spPr>
          <a:xfrm>
            <a:off x="2172891" y="4032739"/>
            <a:ext cx="1605349" cy="830997"/>
          </a:xfrm>
          <a:prstGeom prst="rect">
            <a:avLst/>
          </a:prstGeom>
          <a:noFill/>
        </p:spPr>
        <p:txBody>
          <a:bodyPr wrap="squar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Snowball Edge</a:t>
            </a:r>
          </a:p>
        </p:txBody>
      </p:sp>
    </p:spTree>
    <p:extLst>
      <p:ext uri="{BB962C8B-B14F-4D97-AF65-F5344CB8AC3E}">
        <p14:creationId xmlns:p14="http://schemas.microsoft.com/office/powerpoint/2010/main" val="19316715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Schema Conversion Tool</a:t>
            </a:r>
          </a:p>
        </p:txBody>
      </p:sp>
      <p:sp>
        <p:nvSpPr>
          <p:cNvPr id="3" name="Content Placeholder 2"/>
          <p:cNvSpPr>
            <a:spLocks noGrp="1"/>
          </p:cNvSpPr>
          <p:nvPr>
            <p:ph idx="1"/>
          </p:nvPr>
        </p:nvSpPr>
        <p:spPr/>
        <p:txBody>
          <a:bodyPr/>
          <a:lstStyle/>
          <a:p>
            <a:pPr marL="0" indent="0">
              <a:buNone/>
            </a:pPr>
            <a:r>
              <a:rPr lang="en-US" dirty="0"/>
              <a:t>A standalone application that enables you to convert your existing database schema from one database engine to another.</a:t>
            </a:r>
          </a:p>
          <a:p>
            <a:endParaRPr lang="en-US" dirty="0"/>
          </a:p>
        </p:txBody>
      </p:sp>
      <p:graphicFrame>
        <p:nvGraphicFramePr>
          <p:cNvPr id="5" name="Table 4"/>
          <p:cNvGraphicFramePr>
            <a:graphicFrameLocks noGrp="1"/>
          </p:cNvGraphicFramePr>
          <p:nvPr/>
        </p:nvGraphicFramePr>
        <p:xfrm>
          <a:off x="1737818" y="2793354"/>
          <a:ext cx="9031342" cy="3052966"/>
        </p:xfrm>
        <a:graphic>
          <a:graphicData uri="http://schemas.openxmlformats.org/drawingml/2006/table">
            <a:tbl>
              <a:tblPr firstRow="1" bandRow="1">
                <a:tableStyleId>{5C22544A-7EE6-4342-B048-85BDC9FD1C3A}</a:tableStyleId>
              </a:tblPr>
              <a:tblGrid>
                <a:gridCol w="4515671">
                  <a:extLst>
                    <a:ext uri="{9D8B030D-6E8A-4147-A177-3AD203B41FA5}">
                      <a16:colId xmlns:a16="http://schemas.microsoft.com/office/drawing/2014/main" val="20000"/>
                    </a:ext>
                  </a:extLst>
                </a:gridCol>
                <a:gridCol w="4515671">
                  <a:extLst>
                    <a:ext uri="{9D8B030D-6E8A-4147-A177-3AD203B41FA5}">
                      <a16:colId xmlns:a16="http://schemas.microsoft.com/office/drawing/2014/main" val="20001"/>
                    </a:ext>
                  </a:extLst>
                </a:gridCol>
              </a:tblGrid>
              <a:tr h="436138">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Source Database</a:t>
                      </a:r>
                    </a:p>
                  </a:txBody>
                  <a:tcPr marL="121888" marR="121888" marT="60944" marB="60944"/>
                </a:tc>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Target Database</a:t>
                      </a:r>
                    </a:p>
                  </a:txBody>
                  <a:tcPr marL="121888" marR="121888" marT="60944" marB="60944"/>
                </a:tc>
                <a:extLst>
                  <a:ext uri="{0D108BD9-81ED-4DB2-BD59-A6C34878D82A}">
                    <a16:rowId xmlns:a16="http://schemas.microsoft.com/office/drawing/2014/main" val="10000"/>
                  </a:ext>
                </a:extLst>
              </a:tr>
              <a:tr h="436138">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Microsoft SQL Server</a:t>
                      </a:r>
                    </a:p>
                  </a:txBody>
                  <a:tcPr marL="121888" marR="121888" marT="60944" marB="60944"/>
                </a:tc>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Amazon Aurora, MySQL, PostgreSQL</a:t>
                      </a:r>
                    </a:p>
                  </a:txBody>
                  <a:tcPr marL="121888" marR="121888" marT="60944" marB="60944"/>
                </a:tc>
                <a:extLst>
                  <a:ext uri="{0D108BD9-81ED-4DB2-BD59-A6C34878D82A}">
                    <a16:rowId xmlns:a16="http://schemas.microsoft.com/office/drawing/2014/main" val="10001"/>
                  </a:ext>
                </a:extLst>
              </a:tr>
              <a:tr h="436138">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MySQL</a:t>
                      </a:r>
                    </a:p>
                  </a:txBody>
                  <a:tcPr marL="121888" marR="121888" marT="60944" marB="60944"/>
                </a:tc>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PostgreSQL</a:t>
                      </a:r>
                    </a:p>
                  </a:txBody>
                  <a:tcPr marL="121888" marR="121888" marT="60944" marB="60944"/>
                </a:tc>
                <a:extLst>
                  <a:ext uri="{0D108BD9-81ED-4DB2-BD59-A6C34878D82A}">
                    <a16:rowId xmlns:a16="http://schemas.microsoft.com/office/drawing/2014/main" val="10002"/>
                  </a:ext>
                </a:extLst>
              </a:tr>
              <a:tr h="436138">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Oracle</a:t>
                      </a:r>
                    </a:p>
                  </a:txBody>
                  <a:tcPr marL="121888" marR="121888" marT="60944" marB="60944"/>
                </a:tc>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Amazon</a:t>
                      </a:r>
                      <a:r>
                        <a:rPr lang="en-US" sz="1900" baseline="0" dirty="0">
                          <a:latin typeface="Amazon Ember" panose="020B0603020204020204" pitchFamily="34" charset="0"/>
                          <a:ea typeface="Amazon Ember" panose="020B0603020204020204" pitchFamily="34" charset="0"/>
                          <a:cs typeface="Amazon Ember" panose="020B0603020204020204" pitchFamily="34" charset="0"/>
                        </a:rPr>
                        <a:t> Aurora, MySQL, PostgreSQL</a:t>
                      </a:r>
                      <a:endParaRPr lang="en-US" sz="1900" dirty="0">
                        <a:latin typeface="Amazon Ember" panose="020B0603020204020204" pitchFamily="34" charset="0"/>
                        <a:ea typeface="Amazon Ember" panose="020B0603020204020204" pitchFamily="34" charset="0"/>
                        <a:cs typeface="Amazon Ember" panose="020B0603020204020204" pitchFamily="34" charset="0"/>
                      </a:endParaRPr>
                    </a:p>
                  </a:txBody>
                  <a:tcPr marL="121888" marR="121888" marT="60944" marB="60944"/>
                </a:tc>
                <a:extLst>
                  <a:ext uri="{0D108BD9-81ED-4DB2-BD59-A6C34878D82A}">
                    <a16:rowId xmlns:a16="http://schemas.microsoft.com/office/drawing/2014/main" val="10003"/>
                  </a:ext>
                </a:extLst>
              </a:tr>
              <a:tr h="436138">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Oracle</a:t>
                      </a:r>
                      <a:r>
                        <a:rPr lang="en-US" sz="1900" baseline="0" dirty="0">
                          <a:latin typeface="Amazon Ember" panose="020B0603020204020204" pitchFamily="34" charset="0"/>
                          <a:ea typeface="Amazon Ember" panose="020B0603020204020204" pitchFamily="34" charset="0"/>
                          <a:cs typeface="Amazon Ember" panose="020B0603020204020204" pitchFamily="34" charset="0"/>
                        </a:rPr>
                        <a:t> Data Warehouse</a:t>
                      </a:r>
                      <a:endParaRPr lang="en-US" sz="1900" dirty="0">
                        <a:latin typeface="Amazon Ember" panose="020B0603020204020204" pitchFamily="34" charset="0"/>
                        <a:ea typeface="Amazon Ember" panose="020B0603020204020204" pitchFamily="34" charset="0"/>
                        <a:cs typeface="Amazon Ember" panose="020B0603020204020204" pitchFamily="34" charset="0"/>
                      </a:endParaRPr>
                    </a:p>
                  </a:txBody>
                  <a:tcPr marL="121888" marR="121888" marT="60944" marB="60944"/>
                </a:tc>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Amazon Redshift</a:t>
                      </a:r>
                    </a:p>
                  </a:txBody>
                  <a:tcPr marL="121888" marR="121888" marT="60944" marB="60944"/>
                </a:tc>
                <a:extLst>
                  <a:ext uri="{0D108BD9-81ED-4DB2-BD59-A6C34878D82A}">
                    <a16:rowId xmlns:a16="http://schemas.microsoft.com/office/drawing/2014/main" val="10004"/>
                  </a:ext>
                </a:extLst>
              </a:tr>
              <a:tr h="436138">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PostgreSQL</a:t>
                      </a:r>
                    </a:p>
                  </a:txBody>
                  <a:tcPr marL="121888" marR="121888" marT="60944" marB="60944"/>
                </a:tc>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Amazon Aurora, MySQL</a:t>
                      </a:r>
                    </a:p>
                  </a:txBody>
                  <a:tcPr marL="121888" marR="121888" marT="60944" marB="60944"/>
                </a:tc>
                <a:extLst>
                  <a:ext uri="{0D108BD9-81ED-4DB2-BD59-A6C34878D82A}">
                    <a16:rowId xmlns:a16="http://schemas.microsoft.com/office/drawing/2014/main" val="10005"/>
                  </a:ext>
                </a:extLst>
              </a:tr>
              <a:tr h="436138">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Teradata</a:t>
                      </a:r>
                    </a:p>
                  </a:txBody>
                  <a:tcPr marL="121888" marR="121888" marT="60944" marB="60944"/>
                </a:tc>
                <a:tc>
                  <a:txBody>
                    <a:bodyPr/>
                    <a:lstStyle/>
                    <a:p>
                      <a:r>
                        <a:rPr lang="en-US" sz="1900" dirty="0">
                          <a:latin typeface="Amazon Ember" panose="020B0603020204020204" pitchFamily="34" charset="0"/>
                          <a:ea typeface="Amazon Ember" panose="020B0603020204020204" pitchFamily="34" charset="0"/>
                          <a:cs typeface="Amazon Ember" panose="020B0603020204020204" pitchFamily="34" charset="0"/>
                        </a:rPr>
                        <a:t>Amazon Redshift</a:t>
                      </a:r>
                    </a:p>
                  </a:txBody>
                  <a:tcPr marL="121888" marR="121888" marT="60944" marB="60944"/>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31162774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38" y="2770589"/>
            <a:ext cx="10841889" cy="779057"/>
          </a:xfrm>
        </p:spPr>
        <p:txBody>
          <a:bodyPr>
            <a:noAutofit/>
          </a:bodyPr>
          <a:lstStyle/>
          <a:p>
            <a:r>
              <a:rPr lang="en-US" dirty="0"/>
              <a:t>Lab 2: Deploying a Web Application on AWS</a:t>
            </a:r>
          </a:p>
        </p:txBody>
      </p:sp>
    </p:spTree>
    <p:extLst>
      <p:ext uri="{BB962C8B-B14F-4D97-AF65-F5344CB8AC3E}">
        <p14:creationId xmlns:p14="http://schemas.microsoft.com/office/powerpoint/2010/main" val="22609878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54F9A-3CA7-024A-B0C0-CAB7D80CAC21}"/>
              </a:ext>
            </a:extLst>
          </p:cNvPr>
          <p:cNvSpPr>
            <a:spLocks noGrp="1"/>
          </p:cNvSpPr>
          <p:nvPr>
            <p:ph type="title"/>
          </p:nvPr>
        </p:nvSpPr>
        <p:spPr/>
        <p:txBody>
          <a:bodyPr>
            <a:noAutofit/>
          </a:bodyPr>
          <a:lstStyle/>
          <a:p>
            <a:r>
              <a:rPr lang="en-US" sz="3600" dirty="0"/>
              <a:t>Lab 2: Deploying a Web Application on AWS</a:t>
            </a:r>
          </a:p>
        </p:txBody>
      </p:sp>
      <p:sp>
        <p:nvSpPr>
          <p:cNvPr id="3" name="Content Placeholder 2">
            <a:extLst>
              <a:ext uri="{FF2B5EF4-FFF2-40B4-BE49-F238E27FC236}">
                <a16:creationId xmlns:a16="http://schemas.microsoft.com/office/drawing/2014/main" id="{2794A971-3097-944D-BD3D-437B87B74C96}"/>
              </a:ext>
            </a:extLst>
          </p:cNvPr>
          <p:cNvSpPr>
            <a:spLocks noGrp="1"/>
          </p:cNvSpPr>
          <p:nvPr>
            <p:ph idx="1"/>
          </p:nvPr>
        </p:nvSpPr>
        <p:spPr>
          <a:xfrm>
            <a:off x="418990" y="1440305"/>
            <a:ext cx="11418333" cy="4779520"/>
          </a:xfrm>
        </p:spPr>
        <p:txBody>
          <a:bodyPr/>
          <a:lstStyle/>
          <a:p>
            <a:pPr marL="0" indent="0" algn="ctr">
              <a:lnSpc>
                <a:spcPct val="100000"/>
              </a:lnSpc>
              <a:buNone/>
            </a:pPr>
            <a:endParaRPr lang="en-US" i="1" dirty="0"/>
          </a:p>
          <a:p>
            <a:pPr marL="0" indent="0" algn="ctr">
              <a:lnSpc>
                <a:spcPct val="100000"/>
              </a:lnSpc>
              <a:buNone/>
            </a:pPr>
            <a:r>
              <a:rPr lang="en-US" i="1" dirty="0">
                <a:solidFill>
                  <a:srgbClr val="F68536"/>
                </a:solidFill>
              </a:rPr>
              <a:t>”I want to host a web application and database.”</a:t>
            </a:r>
          </a:p>
          <a:p>
            <a:pPr marL="0" indent="0" algn="ctr">
              <a:lnSpc>
                <a:spcPct val="100000"/>
              </a:lnSpc>
              <a:buNone/>
            </a:pPr>
            <a:endParaRPr lang="en-US" i="1" dirty="0"/>
          </a:p>
          <a:p>
            <a:pPr marL="0" indent="0">
              <a:lnSpc>
                <a:spcPct val="100000"/>
              </a:lnSpc>
              <a:buNone/>
            </a:pPr>
            <a:r>
              <a:rPr lang="en-US" dirty="0">
                <a:latin typeface="Amazon Ember" panose="02000000000000000000" pitchFamily="2" charset="0"/>
                <a:ea typeface="Amazon Ember" panose="02000000000000000000" pitchFamily="2" charset="0"/>
              </a:rPr>
              <a:t>Technologies used:</a:t>
            </a:r>
          </a:p>
          <a:p>
            <a:pPr marL="457200" indent="-457200">
              <a:lnSpc>
                <a:spcPct val="100000"/>
              </a:lnSpc>
              <a:buClr>
                <a:schemeClr val="tx1">
                  <a:lumMod val="85000"/>
                  <a:lumOff val="15000"/>
                </a:schemeClr>
              </a:buClr>
            </a:pPr>
            <a:r>
              <a:rPr lang="en-US" dirty="0"/>
              <a:t>Amazon EC2</a:t>
            </a:r>
          </a:p>
          <a:p>
            <a:pPr marL="457200" indent="-457200">
              <a:lnSpc>
                <a:spcPct val="100000"/>
              </a:lnSpc>
              <a:buClr>
                <a:schemeClr val="tx1">
                  <a:lumMod val="85000"/>
                  <a:lumOff val="15000"/>
                </a:schemeClr>
              </a:buClr>
            </a:pPr>
            <a:r>
              <a:rPr lang="en-US" dirty="0"/>
              <a:t>Amazon RDS</a:t>
            </a:r>
          </a:p>
          <a:p>
            <a:pPr marL="457200" indent="-457200">
              <a:lnSpc>
                <a:spcPct val="100000"/>
              </a:lnSpc>
              <a:buClr>
                <a:schemeClr val="tx1">
                  <a:lumMod val="85000"/>
                  <a:lumOff val="15000"/>
                </a:schemeClr>
              </a:buClr>
            </a:pPr>
            <a:r>
              <a:rPr lang="en-US" dirty="0"/>
              <a:t>Security groups</a:t>
            </a:r>
          </a:p>
        </p:txBody>
      </p:sp>
    </p:spTree>
    <p:extLst>
      <p:ext uri="{BB962C8B-B14F-4D97-AF65-F5344CB8AC3E}">
        <p14:creationId xmlns:p14="http://schemas.microsoft.com/office/powerpoint/2010/main" val="20410655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54F9A-3CA7-024A-B0C0-CAB7D80CAC21}"/>
              </a:ext>
            </a:extLst>
          </p:cNvPr>
          <p:cNvSpPr>
            <a:spLocks noGrp="1"/>
          </p:cNvSpPr>
          <p:nvPr>
            <p:ph type="title"/>
          </p:nvPr>
        </p:nvSpPr>
        <p:spPr/>
        <p:txBody>
          <a:bodyPr>
            <a:noAutofit/>
          </a:bodyPr>
          <a:lstStyle/>
          <a:p>
            <a:r>
              <a:rPr lang="en-US" sz="3600" dirty="0"/>
              <a:t>Lab 2: Deploying a Web Application on AWS</a:t>
            </a:r>
          </a:p>
        </p:txBody>
      </p:sp>
      <p:sp>
        <p:nvSpPr>
          <p:cNvPr id="3" name="Content Placeholder 2">
            <a:extLst>
              <a:ext uri="{FF2B5EF4-FFF2-40B4-BE49-F238E27FC236}">
                <a16:creationId xmlns:a16="http://schemas.microsoft.com/office/drawing/2014/main" id="{2794A971-3097-944D-BD3D-437B87B74C96}"/>
              </a:ext>
            </a:extLst>
          </p:cNvPr>
          <p:cNvSpPr>
            <a:spLocks noGrp="1"/>
          </p:cNvSpPr>
          <p:nvPr>
            <p:ph idx="1"/>
          </p:nvPr>
        </p:nvSpPr>
        <p:spPr>
          <a:xfrm>
            <a:off x="418991" y="1440305"/>
            <a:ext cx="5414492" cy="4779520"/>
          </a:xfrm>
        </p:spPr>
        <p:txBody>
          <a:bodyPr/>
          <a:lstStyle/>
          <a:p>
            <a:pPr marL="0" indent="0">
              <a:lnSpc>
                <a:spcPct val="100000"/>
              </a:lnSpc>
              <a:buNone/>
            </a:pPr>
            <a:r>
              <a:rPr lang="en-US" dirty="0"/>
              <a:t>Provided at start of lab: </a:t>
            </a:r>
          </a:p>
          <a:p>
            <a:pPr marL="457200" indent="-457200">
              <a:lnSpc>
                <a:spcPct val="100000"/>
              </a:lnSpc>
              <a:buClr>
                <a:schemeClr val="tx1">
                  <a:lumMod val="85000"/>
                  <a:lumOff val="15000"/>
                </a:schemeClr>
              </a:buClr>
            </a:pPr>
            <a:r>
              <a:rPr lang="en-US" dirty="0"/>
              <a:t>VPC across two Availability Zones</a:t>
            </a:r>
          </a:p>
          <a:p>
            <a:pPr marL="457200" indent="-457200">
              <a:lnSpc>
                <a:spcPct val="100000"/>
              </a:lnSpc>
              <a:buClr>
                <a:schemeClr val="tx1">
                  <a:lumMod val="85000"/>
                  <a:lumOff val="15000"/>
                </a:schemeClr>
              </a:buClr>
            </a:pPr>
            <a:r>
              <a:rPr lang="en-US" dirty="0"/>
              <a:t>2 x public subnets</a:t>
            </a:r>
          </a:p>
          <a:p>
            <a:pPr marL="457200" indent="-457200">
              <a:lnSpc>
                <a:spcPct val="100000"/>
              </a:lnSpc>
              <a:buClr>
                <a:schemeClr val="tx1">
                  <a:lumMod val="85000"/>
                  <a:lumOff val="15000"/>
                </a:schemeClr>
              </a:buClr>
            </a:pPr>
            <a:r>
              <a:rPr lang="en-US" dirty="0"/>
              <a:t>2 x private subnets</a:t>
            </a:r>
          </a:p>
        </p:txBody>
      </p:sp>
      <p:sp>
        <p:nvSpPr>
          <p:cNvPr id="5" name="Rounded Rectangle 4">
            <a:extLst>
              <a:ext uri="{FF2B5EF4-FFF2-40B4-BE49-F238E27FC236}">
                <a16:creationId xmlns:a16="http://schemas.microsoft.com/office/drawing/2014/main" id="{BF8B0DB6-3F93-2A4A-96A0-DD1AE95DE3C6}"/>
              </a:ext>
            </a:extLst>
          </p:cNvPr>
          <p:cNvSpPr/>
          <p:nvPr/>
        </p:nvSpPr>
        <p:spPr>
          <a:xfrm>
            <a:off x="6287664" y="1513493"/>
            <a:ext cx="5079872" cy="5020258"/>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TextBox 35">
            <a:extLst>
              <a:ext uri="{FF2B5EF4-FFF2-40B4-BE49-F238E27FC236}">
                <a16:creationId xmlns:a16="http://schemas.microsoft.com/office/drawing/2014/main" id="{2F25B225-9389-0C44-94F5-0D83061239C9}"/>
              </a:ext>
            </a:extLst>
          </p:cNvPr>
          <p:cNvSpPr txBox="1">
            <a:spLocks noChangeArrowheads="1"/>
          </p:cNvSpPr>
          <p:nvPr/>
        </p:nvSpPr>
        <p:spPr bwMode="auto">
          <a:xfrm>
            <a:off x="8048932" y="6225974"/>
            <a:ext cx="1557337" cy="307777"/>
          </a:xfrm>
          <a:prstGeom prst="rect">
            <a:avLst/>
          </a:prstGeom>
          <a:noFill/>
          <a:ln w="9525">
            <a:noFill/>
            <a:miter lim="800000"/>
            <a:headEnd/>
            <a:tailEnd/>
          </a:ln>
        </p:spPr>
        <p:txBody>
          <a:bodyPr>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Lab VPC</a:t>
            </a:r>
          </a:p>
        </p:txBody>
      </p:sp>
      <p:pic>
        <p:nvPicPr>
          <p:cNvPr id="7" name="Picture 6">
            <a:extLst>
              <a:ext uri="{FF2B5EF4-FFF2-40B4-BE49-F238E27FC236}">
                <a16:creationId xmlns:a16="http://schemas.microsoft.com/office/drawing/2014/main" id="{CEDB5A5D-D52D-2745-A87E-B83974B16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533" y="1251069"/>
            <a:ext cx="599170" cy="391125"/>
          </a:xfrm>
          <a:prstGeom prst="rect">
            <a:avLst/>
          </a:prstGeom>
        </p:spPr>
      </p:pic>
      <p:sp>
        <p:nvSpPr>
          <p:cNvPr id="8" name="Rounded Rectangle 7">
            <a:extLst>
              <a:ext uri="{FF2B5EF4-FFF2-40B4-BE49-F238E27FC236}">
                <a16:creationId xmlns:a16="http://schemas.microsoft.com/office/drawing/2014/main" id="{6E6B64DC-4D6B-A948-ACFC-7BC7F43164CD}"/>
              </a:ext>
            </a:extLst>
          </p:cNvPr>
          <p:cNvSpPr/>
          <p:nvPr/>
        </p:nvSpPr>
        <p:spPr>
          <a:xfrm>
            <a:off x="6527720" y="1791468"/>
            <a:ext cx="2158400" cy="4345772"/>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TextBox 32">
            <a:extLst>
              <a:ext uri="{FF2B5EF4-FFF2-40B4-BE49-F238E27FC236}">
                <a16:creationId xmlns:a16="http://schemas.microsoft.com/office/drawing/2014/main" id="{21B52CA9-B77C-7547-8464-D90FBFF0F245}"/>
              </a:ext>
            </a:extLst>
          </p:cNvPr>
          <p:cNvSpPr txBox="1">
            <a:spLocks noChangeArrowheads="1"/>
          </p:cNvSpPr>
          <p:nvPr/>
        </p:nvSpPr>
        <p:spPr bwMode="auto">
          <a:xfrm>
            <a:off x="6730620" y="5829463"/>
            <a:ext cx="1752600" cy="307777"/>
          </a:xfrm>
          <a:prstGeom prst="rect">
            <a:avLst/>
          </a:prstGeom>
          <a:noFill/>
          <a:ln w="9525">
            <a:noFill/>
            <a:miter lim="800000"/>
            <a:headEnd/>
            <a:tailEnd/>
          </a:ln>
        </p:spPr>
        <p:txBody>
          <a:bodyPr wrap="square">
            <a:spAutoFit/>
          </a:bodyPr>
          <a:lstStyle/>
          <a:p>
            <a:pPr algn="ctr"/>
            <a:r>
              <a:rPr lang="en-US" sz="1400" b="1" dirty="0">
                <a:solidFill>
                  <a:srgbClr val="F7981F"/>
                </a:solidFill>
                <a:latin typeface="Amazon Ember" panose="020B0603020204020204" pitchFamily="34" charset="0"/>
                <a:ea typeface="Amazon Ember" panose="020B0603020204020204" pitchFamily="34" charset="0"/>
                <a:cs typeface="Amazon Ember" panose="020B0603020204020204" pitchFamily="34" charset="0"/>
              </a:rPr>
              <a:t>Availability Zone</a:t>
            </a:r>
          </a:p>
        </p:txBody>
      </p:sp>
      <p:sp>
        <p:nvSpPr>
          <p:cNvPr id="10" name="Rounded Rectangle 9">
            <a:extLst>
              <a:ext uri="{FF2B5EF4-FFF2-40B4-BE49-F238E27FC236}">
                <a16:creationId xmlns:a16="http://schemas.microsoft.com/office/drawing/2014/main" id="{1ED61F91-A6F5-D643-9FF2-02C66DF6E9AC}"/>
              </a:ext>
            </a:extLst>
          </p:cNvPr>
          <p:cNvSpPr/>
          <p:nvPr/>
        </p:nvSpPr>
        <p:spPr>
          <a:xfrm>
            <a:off x="6730620" y="2027243"/>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TextBox 37">
            <a:extLst>
              <a:ext uri="{FF2B5EF4-FFF2-40B4-BE49-F238E27FC236}">
                <a16:creationId xmlns:a16="http://schemas.microsoft.com/office/drawing/2014/main" id="{CE483022-99DB-CB46-B1AC-D6DE6BD469A6}"/>
              </a:ext>
            </a:extLst>
          </p:cNvPr>
          <p:cNvSpPr txBox="1">
            <a:spLocks noChangeArrowheads="1"/>
          </p:cNvSpPr>
          <p:nvPr/>
        </p:nvSpPr>
        <p:spPr bwMode="auto">
          <a:xfrm>
            <a:off x="6829045" y="3250474"/>
            <a:ext cx="1555750" cy="523220"/>
          </a:xfrm>
          <a:prstGeom prst="rect">
            <a:avLst/>
          </a:prstGeom>
          <a:noFill/>
          <a:ln w="9525">
            <a:noFill/>
            <a:miter lim="800000"/>
            <a:headEnd/>
            <a:tailEnd/>
          </a:ln>
        </p:spPr>
        <p:txBody>
          <a:bodyPr>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Public Subnet 1</a:t>
            </a:r>
          </a:p>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10.0.0.0/24</a:t>
            </a:r>
          </a:p>
        </p:txBody>
      </p:sp>
      <p:sp>
        <p:nvSpPr>
          <p:cNvPr id="13" name="Rounded Rectangle 12">
            <a:extLst>
              <a:ext uri="{FF2B5EF4-FFF2-40B4-BE49-F238E27FC236}">
                <a16:creationId xmlns:a16="http://schemas.microsoft.com/office/drawing/2014/main" id="{79A4AB8D-E081-2942-92B7-18F81EEA5993}"/>
              </a:ext>
            </a:extLst>
          </p:cNvPr>
          <p:cNvSpPr/>
          <p:nvPr/>
        </p:nvSpPr>
        <p:spPr>
          <a:xfrm>
            <a:off x="6730620" y="4009414"/>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4" name="TextBox 37">
            <a:extLst>
              <a:ext uri="{FF2B5EF4-FFF2-40B4-BE49-F238E27FC236}">
                <a16:creationId xmlns:a16="http://schemas.microsoft.com/office/drawing/2014/main" id="{841F3DE4-BD29-184B-B266-A784E329E85C}"/>
              </a:ext>
            </a:extLst>
          </p:cNvPr>
          <p:cNvSpPr txBox="1">
            <a:spLocks noChangeArrowheads="1"/>
          </p:cNvSpPr>
          <p:nvPr/>
        </p:nvSpPr>
        <p:spPr bwMode="auto">
          <a:xfrm>
            <a:off x="6730620" y="5232642"/>
            <a:ext cx="1752600" cy="523220"/>
          </a:xfrm>
          <a:prstGeom prst="rect">
            <a:avLst/>
          </a:prstGeom>
          <a:noFill/>
          <a:ln w="9525">
            <a:noFill/>
            <a:miter lim="800000"/>
            <a:headEnd/>
            <a:tailEnd/>
          </a:ln>
        </p:spPr>
        <p:txBody>
          <a:bodyPr wrap="square">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Private Subnet 1</a:t>
            </a:r>
          </a:p>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10.0.2.0/23</a:t>
            </a:r>
          </a:p>
        </p:txBody>
      </p:sp>
      <p:pic>
        <p:nvPicPr>
          <p:cNvPr id="15" name="Picture 14">
            <a:extLst>
              <a:ext uri="{FF2B5EF4-FFF2-40B4-BE49-F238E27FC236}">
                <a16:creationId xmlns:a16="http://schemas.microsoft.com/office/drawing/2014/main" id="{45580C3E-268F-3444-A5B6-8521D3A61036}"/>
              </a:ext>
            </a:extLst>
          </p:cNvPr>
          <p:cNvPicPr>
            <a:picLocks noChangeAspect="1"/>
          </p:cNvPicPr>
          <p:nvPr/>
        </p:nvPicPr>
        <p:blipFill>
          <a:blip r:embed="rId4"/>
          <a:stretch>
            <a:fillRect/>
          </a:stretch>
        </p:blipFill>
        <p:spPr>
          <a:xfrm>
            <a:off x="6883664" y="3847022"/>
            <a:ext cx="215900" cy="241300"/>
          </a:xfrm>
          <a:prstGeom prst="rect">
            <a:avLst/>
          </a:prstGeom>
        </p:spPr>
      </p:pic>
      <p:sp>
        <p:nvSpPr>
          <p:cNvPr id="16" name="Rounded Rectangle 15">
            <a:extLst>
              <a:ext uri="{FF2B5EF4-FFF2-40B4-BE49-F238E27FC236}">
                <a16:creationId xmlns:a16="http://schemas.microsoft.com/office/drawing/2014/main" id="{9C6FF6C8-3AB9-BC47-A98A-2FB5F3C69CB8}"/>
              </a:ext>
            </a:extLst>
          </p:cNvPr>
          <p:cNvSpPr/>
          <p:nvPr/>
        </p:nvSpPr>
        <p:spPr>
          <a:xfrm>
            <a:off x="8937292" y="1791468"/>
            <a:ext cx="2158400" cy="4345772"/>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7" name="TextBox 32">
            <a:extLst>
              <a:ext uri="{FF2B5EF4-FFF2-40B4-BE49-F238E27FC236}">
                <a16:creationId xmlns:a16="http://schemas.microsoft.com/office/drawing/2014/main" id="{1982A5BC-3B56-1346-9B68-6DA7DF279E6F}"/>
              </a:ext>
            </a:extLst>
          </p:cNvPr>
          <p:cNvSpPr txBox="1">
            <a:spLocks noChangeArrowheads="1"/>
          </p:cNvSpPr>
          <p:nvPr/>
        </p:nvSpPr>
        <p:spPr bwMode="auto">
          <a:xfrm>
            <a:off x="9140192" y="5829463"/>
            <a:ext cx="1752600" cy="307777"/>
          </a:xfrm>
          <a:prstGeom prst="rect">
            <a:avLst/>
          </a:prstGeom>
          <a:noFill/>
          <a:ln w="9525">
            <a:noFill/>
            <a:miter lim="800000"/>
            <a:headEnd/>
            <a:tailEnd/>
          </a:ln>
        </p:spPr>
        <p:txBody>
          <a:bodyPr wrap="square">
            <a:spAutoFit/>
          </a:bodyPr>
          <a:lstStyle/>
          <a:p>
            <a:pPr algn="ctr"/>
            <a:r>
              <a:rPr lang="en-US" sz="1400" b="1" dirty="0">
                <a:solidFill>
                  <a:srgbClr val="F7981F"/>
                </a:solidFill>
                <a:latin typeface="Amazon Ember" panose="020B0603020204020204" pitchFamily="34" charset="0"/>
                <a:ea typeface="Amazon Ember" panose="020B0603020204020204" pitchFamily="34" charset="0"/>
                <a:cs typeface="Amazon Ember" panose="020B0603020204020204" pitchFamily="34" charset="0"/>
              </a:rPr>
              <a:t>Availability Zone</a:t>
            </a:r>
          </a:p>
        </p:txBody>
      </p:sp>
      <p:sp>
        <p:nvSpPr>
          <p:cNvPr id="18" name="Rounded Rectangle 17">
            <a:extLst>
              <a:ext uri="{FF2B5EF4-FFF2-40B4-BE49-F238E27FC236}">
                <a16:creationId xmlns:a16="http://schemas.microsoft.com/office/drawing/2014/main" id="{8765A243-928F-9A4C-AC82-184FE430E4A7}"/>
              </a:ext>
            </a:extLst>
          </p:cNvPr>
          <p:cNvSpPr/>
          <p:nvPr/>
        </p:nvSpPr>
        <p:spPr>
          <a:xfrm>
            <a:off x="9140192" y="2027243"/>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TextBox 37">
            <a:extLst>
              <a:ext uri="{FF2B5EF4-FFF2-40B4-BE49-F238E27FC236}">
                <a16:creationId xmlns:a16="http://schemas.microsoft.com/office/drawing/2014/main" id="{EAAE01D7-8380-4546-8564-0F6D9E78751E}"/>
              </a:ext>
            </a:extLst>
          </p:cNvPr>
          <p:cNvSpPr txBox="1">
            <a:spLocks noChangeArrowheads="1"/>
          </p:cNvSpPr>
          <p:nvPr/>
        </p:nvSpPr>
        <p:spPr bwMode="auto">
          <a:xfrm>
            <a:off x="9238617" y="3250474"/>
            <a:ext cx="1555750" cy="523220"/>
          </a:xfrm>
          <a:prstGeom prst="rect">
            <a:avLst/>
          </a:prstGeom>
          <a:noFill/>
          <a:ln w="9525">
            <a:noFill/>
            <a:miter lim="800000"/>
            <a:headEnd/>
            <a:tailEnd/>
          </a:ln>
        </p:spPr>
        <p:txBody>
          <a:bodyPr>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Public Subnet 2</a:t>
            </a:r>
          </a:p>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10.0.1.0/24</a:t>
            </a:r>
          </a:p>
        </p:txBody>
      </p:sp>
      <p:sp>
        <p:nvSpPr>
          <p:cNvPr id="21" name="Rounded Rectangle 20">
            <a:extLst>
              <a:ext uri="{FF2B5EF4-FFF2-40B4-BE49-F238E27FC236}">
                <a16:creationId xmlns:a16="http://schemas.microsoft.com/office/drawing/2014/main" id="{F3001245-1E3F-5A4A-991C-187D48F6410A}"/>
              </a:ext>
            </a:extLst>
          </p:cNvPr>
          <p:cNvSpPr/>
          <p:nvPr/>
        </p:nvSpPr>
        <p:spPr>
          <a:xfrm>
            <a:off x="9140192" y="4009414"/>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 name="TextBox 37">
            <a:extLst>
              <a:ext uri="{FF2B5EF4-FFF2-40B4-BE49-F238E27FC236}">
                <a16:creationId xmlns:a16="http://schemas.microsoft.com/office/drawing/2014/main" id="{3BDD9A01-D47D-F140-B3EF-DAF55B7327A6}"/>
              </a:ext>
            </a:extLst>
          </p:cNvPr>
          <p:cNvSpPr txBox="1">
            <a:spLocks noChangeArrowheads="1"/>
          </p:cNvSpPr>
          <p:nvPr/>
        </p:nvSpPr>
        <p:spPr bwMode="auto">
          <a:xfrm>
            <a:off x="9140192" y="5232642"/>
            <a:ext cx="1752600" cy="523220"/>
          </a:xfrm>
          <a:prstGeom prst="rect">
            <a:avLst/>
          </a:prstGeom>
          <a:noFill/>
          <a:ln w="9525">
            <a:noFill/>
            <a:miter lim="800000"/>
            <a:headEnd/>
            <a:tailEnd/>
          </a:ln>
        </p:spPr>
        <p:txBody>
          <a:bodyPr wrap="square">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Private Subnet 2</a:t>
            </a:r>
          </a:p>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10.0.4.0/23</a:t>
            </a:r>
          </a:p>
        </p:txBody>
      </p:sp>
      <p:pic>
        <p:nvPicPr>
          <p:cNvPr id="23" name="Picture 22">
            <a:extLst>
              <a:ext uri="{FF2B5EF4-FFF2-40B4-BE49-F238E27FC236}">
                <a16:creationId xmlns:a16="http://schemas.microsoft.com/office/drawing/2014/main" id="{F5FA4B53-542C-BF4E-B582-A553FD4F0121}"/>
              </a:ext>
            </a:extLst>
          </p:cNvPr>
          <p:cNvPicPr>
            <a:picLocks noChangeAspect="1"/>
          </p:cNvPicPr>
          <p:nvPr/>
        </p:nvPicPr>
        <p:blipFill>
          <a:blip r:embed="rId4"/>
          <a:stretch>
            <a:fillRect/>
          </a:stretch>
        </p:blipFill>
        <p:spPr>
          <a:xfrm>
            <a:off x="9293236" y="3847022"/>
            <a:ext cx="215900" cy="241300"/>
          </a:xfrm>
          <a:prstGeom prst="rect">
            <a:avLst/>
          </a:prstGeom>
        </p:spPr>
      </p:pic>
    </p:spTree>
    <p:extLst>
      <p:ext uri="{BB962C8B-B14F-4D97-AF65-F5344CB8AC3E}">
        <p14:creationId xmlns:p14="http://schemas.microsoft.com/office/powerpoint/2010/main" val="25587170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54F9A-3CA7-024A-B0C0-CAB7D80CAC21}"/>
              </a:ext>
            </a:extLst>
          </p:cNvPr>
          <p:cNvSpPr>
            <a:spLocks noGrp="1"/>
          </p:cNvSpPr>
          <p:nvPr>
            <p:ph type="title"/>
          </p:nvPr>
        </p:nvSpPr>
        <p:spPr/>
        <p:txBody>
          <a:bodyPr>
            <a:noAutofit/>
          </a:bodyPr>
          <a:lstStyle/>
          <a:p>
            <a:r>
              <a:rPr lang="en-US" sz="3600" dirty="0"/>
              <a:t>Lab 2: Deploying a Web Application on AWS</a:t>
            </a:r>
          </a:p>
        </p:txBody>
      </p:sp>
      <p:sp>
        <p:nvSpPr>
          <p:cNvPr id="3" name="Content Placeholder 2">
            <a:extLst>
              <a:ext uri="{FF2B5EF4-FFF2-40B4-BE49-F238E27FC236}">
                <a16:creationId xmlns:a16="http://schemas.microsoft.com/office/drawing/2014/main" id="{2794A971-3097-944D-BD3D-437B87B74C96}"/>
              </a:ext>
            </a:extLst>
          </p:cNvPr>
          <p:cNvSpPr>
            <a:spLocks noGrp="1"/>
          </p:cNvSpPr>
          <p:nvPr>
            <p:ph idx="1"/>
          </p:nvPr>
        </p:nvSpPr>
        <p:spPr>
          <a:xfrm>
            <a:off x="418991" y="1440305"/>
            <a:ext cx="11434958" cy="4779520"/>
          </a:xfrm>
        </p:spPr>
        <p:txBody>
          <a:bodyPr/>
          <a:lstStyle/>
          <a:p>
            <a:pPr marL="0" indent="0">
              <a:lnSpc>
                <a:spcPct val="100000"/>
              </a:lnSpc>
              <a:buNone/>
            </a:pPr>
            <a:r>
              <a:rPr lang="en-US" dirty="0">
                <a:latin typeface="Amazon Ember" panose="02000000000000000000" pitchFamily="2" charset="0"/>
                <a:ea typeface="Amazon Ember" panose="02000000000000000000" pitchFamily="2" charset="0"/>
              </a:rPr>
              <a:t>Security Configuration</a:t>
            </a:r>
          </a:p>
          <a:p>
            <a:pPr>
              <a:lnSpc>
                <a:spcPct val="100000"/>
              </a:lnSpc>
              <a:buClr>
                <a:schemeClr val="tx1">
                  <a:lumMod val="75000"/>
                  <a:lumOff val="25000"/>
                </a:schemeClr>
              </a:buClr>
            </a:pPr>
            <a:r>
              <a:rPr lang="en-US" dirty="0"/>
              <a:t>App Security Group: Permit access from the internet</a:t>
            </a:r>
          </a:p>
          <a:p>
            <a:pPr>
              <a:lnSpc>
                <a:spcPct val="100000"/>
              </a:lnSpc>
              <a:buClr>
                <a:schemeClr val="tx1">
                  <a:lumMod val="75000"/>
                  <a:lumOff val="25000"/>
                </a:schemeClr>
              </a:buClr>
            </a:pPr>
            <a:r>
              <a:rPr lang="en-US" dirty="0"/>
              <a:t>DB Security Group: Permit access from </a:t>
            </a:r>
            <a:r>
              <a:rPr lang="en-US" i="1" dirty="0"/>
              <a:t>App Security Group</a:t>
            </a:r>
          </a:p>
        </p:txBody>
      </p:sp>
      <p:sp>
        <p:nvSpPr>
          <p:cNvPr id="28" name="TextBox 27">
            <a:extLst>
              <a:ext uri="{FF2B5EF4-FFF2-40B4-BE49-F238E27FC236}">
                <a16:creationId xmlns:a16="http://schemas.microsoft.com/office/drawing/2014/main" id="{0DD81F21-AE35-6C41-8D06-D1E3086E43CA}"/>
              </a:ext>
            </a:extLst>
          </p:cNvPr>
          <p:cNvSpPr txBox="1"/>
          <p:nvPr/>
        </p:nvSpPr>
        <p:spPr>
          <a:xfrm>
            <a:off x="4887791" y="4502349"/>
            <a:ext cx="945692" cy="248929"/>
          </a:xfrm>
          <a:prstGeom prst="rect">
            <a:avLst/>
          </a:prstGeom>
          <a:noFill/>
        </p:spPr>
        <p:txBody>
          <a:bodyPr wrap="square" lIns="0" tIns="0" rIns="0" bIns="0" rtlCol="0" anchor="t">
            <a:no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App server</a:t>
            </a:r>
          </a:p>
        </p:txBody>
      </p:sp>
      <p:pic>
        <p:nvPicPr>
          <p:cNvPr id="29" name="Picture 28">
            <a:extLst>
              <a:ext uri="{FF2B5EF4-FFF2-40B4-BE49-F238E27FC236}">
                <a16:creationId xmlns:a16="http://schemas.microsoft.com/office/drawing/2014/main" id="{9C223C05-D0BA-7746-B3C7-ECFDA189B3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8247" y="3893564"/>
            <a:ext cx="544781" cy="564959"/>
          </a:xfrm>
          <a:prstGeom prst="rect">
            <a:avLst/>
          </a:prstGeom>
        </p:spPr>
      </p:pic>
      <p:sp>
        <p:nvSpPr>
          <p:cNvPr id="30" name="TextBox 29">
            <a:extLst>
              <a:ext uri="{FF2B5EF4-FFF2-40B4-BE49-F238E27FC236}">
                <a16:creationId xmlns:a16="http://schemas.microsoft.com/office/drawing/2014/main" id="{DBDB989F-0591-E04C-A6AD-8D7B063A672D}"/>
              </a:ext>
            </a:extLst>
          </p:cNvPr>
          <p:cNvSpPr txBox="1"/>
          <p:nvPr/>
        </p:nvSpPr>
        <p:spPr>
          <a:xfrm>
            <a:off x="7759319" y="4418280"/>
            <a:ext cx="1599556" cy="317956"/>
          </a:xfrm>
          <a:prstGeom prst="rect">
            <a:avLst/>
          </a:prstGeom>
          <a:noFill/>
        </p:spPr>
        <p:txBody>
          <a:bodyPr wrap="square" lIns="0" tIns="0" rIns="0" bIns="0" rtlCol="0" anchor="t">
            <a:noAutofit/>
          </a:bodyPr>
          <a:lstStyle>
            <a:defPPr>
              <a:defRPr lang="en-US"/>
            </a:defPPr>
            <a:lvl1pPr algn="ctr">
              <a:defRPr sz="1400" b="1"/>
            </a:lvl1pPr>
          </a:lstStyle>
          <a:p>
            <a:pPr>
              <a:lnSpc>
                <a:spcPct val="90000"/>
              </a:lnSpc>
            </a:pPr>
            <a:r>
              <a:rPr lang="en-US" dirty="0">
                <a:latin typeface="Amazon Ember" panose="020B0603020204020204" pitchFamily="34" charset="0"/>
                <a:ea typeface="Amazon Ember" panose="020B0603020204020204" pitchFamily="34" charset="0"/>
                <a:cs typeface="Amazon Ember" panose="020B0603020204020204" pitchFamily="34" charset="0"/>
              </a:rPr>
              <a:t>Amazon RDS</a:t>
            </a:r>
            <a:br>
              <a:rPr lang="en-US" dirty="0">
                <a:latin typeface="Amazon Ember" panose="020B0603020204020204" pitchFamily="34" charset="0"/>
                <a:ea typeface="Amazon Ember" panose="020B0603020204020204" pitchFamily="34" charset="0"/>
                <a:cs typeface="Amazon Ember" panose="020B0603020204020204" pitchFamily="34" charset="0"/>
              </a:rPr>
            </a:br>
            <a:r>
              <a:rPr lang="en-US" b="0" dirty="0">
                <a:latin typeface="Amazon Ember" panose="020B0603020204020204" pitchFamily="34" charset="0"/>
                <a:ea typeface="Amazon Ember" panose="020B0603020204020204" pitchFamily="34" charset="0"/>
                <a:cs typeface="Amazon Ember" panose="020B0603020204020204" pitchFamily="34" charset="0"/>
              </a:rPr>
              <a:t>MySQL DB instance</a:t>
            </a:r>
          </a:p>
        </p:txBody>
      </p:sp>
      <p:sp>
        <p:nvSpPr>
          <p:cNvPr id="32" name="TextBox 31">
            <a:extLst>
              <a:ext uri="{FF2B5EF4-FFF2-40B4-BE49-F238E27FC236}">
                <a16:creationId xmlns:a16="http://schemas.microsoft.com/office/drawing/2014/main" id="{7B34C1AF-99C7-5A47-8994-DF3156AC79DE}"/>
              </a:ext>
            </a:extLst>
          </p:cNvPr>
          <p:cNvSpPr txBox="1">
            <a:spLocks noChangeArrowheads="1"/>
          </p:cNvSpPr>
          <p:nvPr/>
        </p:nvSpPr>
        <p:spPr bwMode="auto">
          <a:xfrm>
            <a:off x="4435929" y="5004476"/>
            <a:ext cx="1857610" cy="307777"/>
          </a:xfrm>
          <a:prstGeom prst="rect">
            <a:avLst/>
          </a:prstGeom>
          <a:noFill/>
          <a:ln w="9525">
            <a:noFill/>
            <a:miter lim="800000"/>
            <a:headEnd/>
            <a:tailEnd/>
          </a:ln>
        </p:spPr>
        <p:txBody>
          <a:bodyPr wrap="square">
            <a:spAutoFit/>
          </a:bodyPr>
          <a:lstStyle/>
          <a:p>
            <a:pPr algn="ctr"/>
            <a:r>
              <a:rPr lang="en-US" sz="14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App Security Group</a:t>
            </a:r>
          </a:p>
        </p:txBody>
      </p:sp>
      <p:grpSp>
        <p:nvGrpSpPr>
          <p:cNvPr id="33" name="Group 21">
            <a:extLst>
              <a:ext uri="{FF2B5EF4-FFF2-40B4-BE49-F238E27FC236}">
                <a16:creationId xmlns:a16="http://schemas.microsoft.com/office/drawing/2014/main" id="{60DC14D5-66A6-2844-95F5-08D5B9ED7A6E}"/>
              </a:ext>
            </a:extLst>
          </p:cNvPr>
          <p:cNvGrpSpPr>
            <a:grpSpLocks/>
          </p:cNvGrpSpPr>
          <p:nvPr/>
        </p:nvGrpSpPr>
        <p:grpSpPr bwMode="auto">
          <a:xfrm>
            <a:off x="7634389" y="3614595"/>
            <a:ext cx="1849417" cy="1385620"/>
            <a:chOff x="545458" y="4783771"/>
            <a:chExt cx="2293787" cy="1733798"/>
          </a:xfrm>
        </p:grpSpPr>
        <p:sp>
          <p:nvSpPr>
            <p:cNvPr id="34" name="Rounded Rectangle 33">
              <a:extLst>
                <a:ext uri="{FF2B5EF4-FFF2-40B4-BE49-F238E27FC236}">
                  <a16:creationId xmlns:a16="http://schemas.microsoft.com/office/drawing/2014/main" id="{A90A120A-5180-3846-BAE0-DC69CDA840F1}"/>
                </a:ext>
              </a:extLst>
            </p:cNvPr>
            <p:cNvSpPr/>
            <p:nvPr/>
          </p:nvSpPr>
          <p:spPr>
            <a:xfrm>
              <a:off x="545458" y="4783771"/>
              <a:ext cx="2293787" cy="1733798"/>
            </a:xfrm>
            <a:prstGeom prst="roundRect">
              <a:avLst>
                <a:gd name="adj" fmla="val 9818"/>
              </a:avLst>
            </a:prstGeom>
            <a:noFill/>
            <a:ln w="190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Rounded Rectangle 34">
              <a:extLst>
                <a:ext uri="{FF2B5EF4-FFF2-40B4-BE49-F238E27FC236}">
                  <a16:creationId xmlns:a16="http://schemas.microsoft.com/office/drawing/2014/main" id="{60E32794-3642-6E4C-A60C-9B08EB05FE2F}"/>
                </a:ext>
              </a:extLst>
            </p:cNvPr>
            <p:cNvSpPr/>
            <p:nvPr/>
          </p:nvSpPr>
          <p:spPr>
            <a:xfrm>
              <a:off x="545458" y="4783771"/>
              <a:ext cx="2293787" cy="1733798"/>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36" name="Group 21">
            <a:extLst>
              <a:ext uri="{FF2B5EF4-FFF2-40B4-BE49-F238E27FC236}">
                <a16:creationId xmlns:a16="http://schemas.microsoft.com/office/drawing/2014/main" id="{B3C7EE64-1910-924F-8296-1AAB8A4CC0C9}"/>
              </a:ext>
            </a:extLst>
          </p:cNvPr>
          <p:cNvGrpSpPr>
            <a:grpSpLocks/>
          </p:cNvGrpSpPr>
          <p:nvPr/>
        </p:nvGrpSpPr>
        <p:grpSpPr bwMode="auto">
          <a:xfrm>
            <a:off x="4435929" y="3618856"/>
            <a:ext cx="1849417" cy="1385620"/>
            <a:chOff x="545458" y="4783771"/>
            <a:chExt cx="2293787" cy="1733798"/>
          </a:xfrm>
        </p:grpSpPr>
        <p:sp>
          <p:nvSpPr>
            <p:cNvPr id="37" name="Rounded Rectangle 36">
              <a:extLst>
                <a:ext uri="{FF2B5EF4-FFF2-40B4-BE49-F238E27FC236}">
                  <a16:creationId xmlns:a16="http://schemas.microsoft.com/office/drawing/2014/main" id="{05278869-8B18-8941-B461-424F1B6A4E73}"/>
                </a:ext>
              </a:extLst>
            </p:cNvPr>
            <p:cNvSpPr/>
            <p:nvPr/>
          </p:nvSpPr>
          <p:spPr>
            <a:xfrm>
              <a:off x="545458" y="4783771"/>
              <a:ext cx="2293787" cy="1733798"/>
            </a:xfrm>
            <a:prstGeom prst="roundRect">
              <a:avLst>
                <a:gd name="adj" fmla="val 9818"/>
              </a:avLst>
            </a:prstGeom>
            <a:noFill/>
            <a:ln w="190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8" name="Rounded Rectangle 37">
              <a:extLst>
                <a:ext uri="{FF2B5EF4-FFF2-40B4-BE49-F238E27FC236}">
                  <a16:creationId xmlns:a16="http://schemas.microsoft.com/office/drawing/2014/main" id="{B100B394-789E-3F47-8F2D-D010DC931647}"/>
                </a:ext>
              </a:extLst>
            </p:cNvPr>
            <p:cNvSpPr/>
            <p:nvPr/>
          </p:nvSpPr>
          <p:spPr>
            <a:xfrm>
              <a:off x="545458" y="4783771"/>
              <a:ext cx="2293787" cy="1733798"/>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39" name="TextBox 38">
            <a:extLst>
              <a:ext uri="{FF2B5EF4-FFF2-40B4-BE49-F238E27FC236}">
                <a16:creationId xmlns:a16="http://schemas.microsoft.com/office/drawing/2014/main" id="{6625FB66-77D1-A74A-AD83-DB7BCC765F12}"/>
              </a:ext>
            </a:extLst>
          </p:cNvPr>
          <p:cNvSpPr txBox="1">
            <a:spLocks noChangeArrowheads="1"/>
          </p:cNvSpPr>
          <p:nvPr/>
        </p:nvSpPr>
        <p:spPr bwMode="auto">
          <a:xfrm>
            <a:off x="7630292" y="5000215"/>
            <a:ext cx="1857610" cy="307777"/>
          </a:xfrm>
          <a:prstGeom prst="rect">
            <a:avLst/>
          </a:prstGeom>
          <a:noFill/>
          <a:ln w="9525">
            <a:noFill/>
            <a:miter lim="800000"/>
            <a:headEnd/>
            <a:tailEnd/>
          </a:ln>
        </p:spPr>
        <p:txBody>
          <a:bodyPr wrap="square">
            <a:spAutoFit/>
          </a:bodyPr>
          <a:lstStyle/>
          <a:p>
            <a:pPr algn="ctr"/>
            <a:r>
              <a:rPr lang="en-US" sz="14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DB Security Group</a:t>
            </a:r>
          </a:p>
        </p:txBody>
      </p:sp>
      <p:pic>
        <p:nvPicPr>
          <p:cNvPr id="40" name="Picture 39">
            <a:extLst>
              <a:ext uri="{FF2B5EF4-FFF2-40B4-BE49-F238E27FC236}">
                <a16:creationId xmlns:a16="http://schemas.microsoft.com/office/drawing/2014/main" id="{0F3551E7-1DAB-7048-806B-2E66F873C2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6293" y="3900719"/>
            <a:ext cx="709267" cy="701253"/>
          </a:xfrm>
          <a:prstGeom prst="rect">
            <a:avLst/>
          </a:prstGeom>
        </p:spPr>
      </p:pic>
      <p:sp>
        <p:nvSpPr>
          <p:cNvPr id="41" name="TextBox 40">
            <a:extLst>
              <a:ext uri="{FF2B5EF4-FFF2-40B4-BE49-F238E27FC236}">
                <a16:creationId xmlns:a16="http://schemas.microsoft.com/office/drawing/2014/main" id="{8527AFA6-51BA-1443-A1EE-A504C11BFA70}"/>
              </a:ext>
            </a:extLst>
          </p:cNvPr>
          <p:cNvSpPr txBox="1">
            <a:spLocks noChangeArrowheads="1"/>
          </p:cNvSpPr>
          <p:nvPr/>
        </p:nvSpPr>
        <p:spPr bwMode="auto">
          <a:xfrm>
            <a:off x="2245092" y="4577258"/>
            <a:ext cx="951668" cy="307777"/>
          </a:xfrm>
          <a:prstGeom prst="rect">
            <a:avLst/>
          </a:prstGeom>
          <a:noFill/>
          <a:ln w="9525">
            <a:noFill/>
            <a:miter lim="800000"/>
            <a:headEnd/>
            <a:tailEnd/>
          </a:ln>
        </p:spPr>
        <p:txBody>
          <a:bodyPr wrap="square">
            <a:spAutoFit/>
          </a:bodyPr>
          <a:lstStyle/>
          <a:p>
            <a:pPr algn="ctr"/>
            <a:r>
              <a:rPr lang="en-US" sz="14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Internet</a:t>
            </a:r>
          </a:p>
        </p:txBody>
      </p:sp>
      <p:cxnSp>
        <p:nvCxnSpPr>
          <p:cNvPr id="42" name="Straight Arrow Connector 41">
            <a:extLst>
              <a:ext uri="{FF2B5EF4-FFF2-40B4-BE49-F238E27FC236}">
                <a16:creationId xmlns:a16="http://schemas.microsoft.com/office/drawing/2014/main" id="{303AB65A-6E17-C043-87FB-82A3B77B289E}"/>
              </a:ext>
            </a:extLst>
          </p:cNvPr>
          <p:cNvCxnSpPr>
            <a:cxnSpLocks/>
          </p:cNvCxnSpPr>
          <p:nvPr/>
        </p:nvCxnSpPr>
        <p:spPr>
          <a:xfrm>
            <a:off x="3263831" y="4204140"/>
            <a:ext cx="100777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37">
            <a:extLst>
              <a:ext uri="{FF2B5EF4-FFF2-40B4-BE49-F238E27FC236}">
                <a16:creationId xmlns:a16="http://schemas.microsoft.com/office/drawing/2014/main" id="{3A1FC2F0-7E64-884C-89E9-B83A1BA09D03}"/>
              </a:ext>
            </a:extLst>
          </p:cNvPr>
          <p:cNvSpPr txBox="1">
            <a:spLocks noChangeArrowheads="1"/>
          </p:cNvSpPr>
          <p:nvPr/>
        </p:nvSpPr>
        <p:spPr bwMode="auto">
          <a:xfrm>
            <a:off x="3330725" y="4196913"/>
            <a:ext cx="873982" cy="738664"/>
          </a:xfrm>
          <a:prstGeom prst="rect">
            <a:avLst/>
          </a:prstGeom>
          <a:noFill/>
          <a:ln w="9525">
            <a:noFill/>
            <a:miter lim="800000"/>
            <a:headEnd/>
            <a:tailEnd/>
          </a:ln>
        </p:spPr>
        <p:txBody>
          <a:bodyPr wrap="square">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Allow</a:t>
            </a:r>
            <a:br>
              <a:rPr lang="en-US" sz="1400" b="1" dirty="0">
                <a:latin typeface="Amazon Ember" panose="020B0603020204020204" pitchFamily="34" charset="0"/>
                <a:ea typeface="Amazon Ember" panose="020B0603020204020204" pitchFamily="34" charset="0"/>
                <a:cs typeface="Amazon Ember" panose="020B0603020204020204" pitchFamily="34" charset="0"/>
              </a:rPr>
            </a:br>
            <a:r>
              <a:rPr lang="en-US" sz="1400" b="1" dirty="0">
                <a:latin typeface="Amazon Ember" panose="020B0603020204020204" pitchFamily="34" charset="0"/>
                <a:ea typeface="Amazon Ember" panose="020B0603020204020204" pitchFamily="34" charset="0"/>
                <a:cs typeface="Amazon Ember" panose="020B0603020204020204" pitchFamily="34" charset="0"/>
              </a:rPr>
              <a:t>HTTP traffic</a:t>
            </a:r>
          </a:p>
        </p:txBody>
      </p:sp>
      <p:cxnSp>
        <p:nvCxnSpPr>
          <p:cNvPr id="44" name="Straight Arrow Connector 43">
            <a:extLst>
              <a:ext uri="{FF2B5EF4-FFF2-40B4-BE49-F238E27FC236}">
                <a16:creationId xmlns:a16="http://schemas.microsoft.com/office/drawing/2014/main" id="{F86E80FE-DEE6-EF4A-82A6-96E18C429B75}"/>
              </a:ext>
            </a:extLst>
          </p:cNvPr>
          <p:cNvCxnSpPr>
            <a:cxnSpLocks/>
          </p:cNvCxnSpPr>
          <p:nvPr/>
        </p:nvCxnSpPr>
        <p:spPr>
          <a:xfrm>
            <a:off x="6446807" y="4204140"/>
            <a:ext cx="100777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37">
            <a:extLst>
              <a:ext uri="{FF2B5EF4-FFF2-40B4-BE49-F238E27FC236}">
                <a16:creationId xmlns:a16="http://schemas.microsoft.com/office/drawing/2014/main" id="{3006F87C-1393-B54B-ACE8-B1D62D18409C}"/>
              </a:ext>
            </a:extLst>
          </p:cNvPr>
          <p:cNvSpPr txBox="1">
            <a:spLocks noChangeArrowheads="1"/>
          </p:cNvSpPr>
          <p:nvPr/>
        </p:nvSpPr>
        <p:spPr bwMode="auto">
          <a:xfrm>
            <a:off x="6513701" y="4196913"/>
            <a:ext cx="873982" cy="738664"/>
          </a:xfrm>
          <a:prstGeom prst="rect">
            <a:avLst/>
          </a:prstGeom>
          <a:noFill/>
          <a:ln w="9525">
            <a:noFill/>
            <a:miter lim="800000"/>
            <a:headEnd/>
            <a:tailEnd/>
          </a:ln>
        </p:spPr>
        <p:txBody>
          <a:bodyPr wrap="square">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Allow</a:t>
            </a:r>
            <a:br>
              <a:rPr lang="en-US" sz="1400" b="1" dirty="0">
                <a:latin typeface="Amazon Ember" panose="020B0603020204020204" pitchFamily="34" charset="0"/>
                <a:ea typeface="Amazon Ember" panose="020B0603020204020204" pitchFamily="34" charset="0"/>
                <a:cs typeface="Amazon Ember" panose="020B0603020204020204" pitchFamily="34" charset="0"/>
              </a:rPr>
            </a:br>
            <a:r>
              <a:rPr lang="en-US" sz="1400" b="1" dirty="0">
                <a:latin typeface="Amazon Ember" panose="020B0603020204020204" pitchFamily="34" charset="0"/>
                <a:ea typeface="Amazon Ember" panose="020B0603020204020204" pitchFamily="34" charset="0"/>
                <a:cs typeface="Amazon Ember" panose="020B0603020204020204" pitchFamily="34" charset="0"/>
              </a:rPr>
              <a:t>MySQL traffic</a:t>
            </a:r>
          </a:p>
        </p:txBody>
      </p:sp>
      <p:sp>
        <p:nvSpPr>
          <p:cNvPr id="47" name="Rectangle 46">
            <a:extLst>
              <a:ext uri="{FF2B5EF4-FFF2-40B4-BE49-F238E27FC236}">
                <a16:creationId xmlns:a16="http://schemas.microsoft.com/office/drawing/2014/main" id="{1346E61F-CE63-5148-8729-ED60C19A5436}"/>
              </a:ext>
            </a:extLst>
          </p:cNvPr>
          <p:cNvSpPr/>
          <p:nvPr/>
        </p:nvSpPr>
        <p:spPr>
          <a:xfrm>
            <a:off x="1779770" y="5712979"/>
            <a:ext cx="8629286" cy="523220"/>
          </a:xfrm>
          <a:prstGeom prst="rect">
            <a:avLst/>
          </a:prstGeom>
        </p:spPr>
        <p:txBody>
          <a:bodyPr wrap="none">
            <a:spAutoFit/>
          </a:bodyPr>
          <a:lstStyle/>
          <a:p>
            <a:pPr algn="ctr"/>
            <a:r>
              <a:rPr lang="en-US" sz="2800" i="1" dirty="0">
                <a:solidFill>
                  <a:srgbClr val="F68536"/>
                </a:solidFill>
                <a:latin typeface="Amazon Ember" panose="020B0603020204020204" pitchFamily="34" charset="0"/>
                <a:ea typeface="Amazon Ember" panose="020B0603020204020204" pitchFamily="34" charset="0"/>
                <a:cs typeface="Amazon Ember" panose="020B0603020204020204" pitchFamily="34" charset="0"/>
              </a:rPr>
              <a:t>“Build the fence, then put resources inside the fence.”</a:t>
            </a:r>
          </a:p>
        </p:txBody>
      </p:sp>
      <p:pic>
        <p:nvPicPr>
          <p:cNvPr id="24" name="Picture 2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50992" y="3810025"/>
            <a:ext cx="416210" cy="548640"/>
          </a:xfrm>
          <a:prstGeom prst="rect">
            <a:avLst/>
          </a:prstGeom>
        </p:spPr>
      </p:pic>
    </p:spTree>
    <p:extLst>
      <p:ext uri="{BB962C8B-B14F-4D97-AF65-F5344CB8AC3E}">
        <p14:creationId xmlns:p14="http://schemas.microsoft.com/office/powerpoint/2010/main" val="5631752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54F9A-3CA7-024A-B0C0-CAB7D80CAC21}"/>
              </a:ext>
            </a:extLst>
          </p:cNvPr>
          <p:cNvSpPr>
            <a:spLocks noGrp="1"/>
          </p:cNvSpPr>
          <p:nvPr>
            <p:ph type="title"/>
          </p:nvPr>
        </p:nvSpPr>
        <p:spPr/>
        <p:txBody>
          <a:bodyPr>
            <a:noAutofit/>
          </a:bodyPr>
          <a:lstStyle/>
          <a:p>
            <a:r>
              <a:rPr lang="en-US" sz="3600" dirty="0"/>
              <a:t>Lab 2: Deploying a Web Application on AWS</a:t>
            </a:r>
          </a:p>
        </p:txBody>
      </p:sp>
      <p:sp>
        <p:nvSpPr>
          <p:cNvPr id="3" name="Content Placeholder 2">
            <a:extLst>
              <a:ext uri="{FF2B5EF4-FFF2-40B4-BE49-F238E27FC236}">
                <a16:creationId xmlns:a16="http://schemas.microsoft.com/office/drawing/2014/main" id="{2794A971-3097-944D-BD3D-437B87B74C96}"/>
              </a:ext>
            </a:extLst>
          </p:cNvPr>
          <p:cNvSpPr>
            <a:spLocks noGrp="1"/>
          </p:cNvSpPr>
          <p:nvPr>
            <p:ph idx="1"/>
          </p:nvPr>
        </p:nvSpPr>
        <p:spPr>
          <a:xfrm>
            <a:off x="418991" y="1440305"/>
            <a:ext cx="5414492" cy="4779520"/>
          </a:xfrm>
        </p:spPr>
        <p:txBody>
          <a:bodyPr/>
          <a:lstStyle/>
          <a:p>
            <a:pPr marL="0" indent="0">
              <a:lnSpc>
                <a:spcPct val="100000"/>
              </a:lnSpc>
              <a:buNone/>
            </a:pPr>
            <a:r>
              <a:rPr lang="en-US" dirty="0"/>
              <a:t>You will then:</a:t>
            </a:r>
          </a:p>
          <a:p>
            <a:pPr>
              <a:lnSpc>
                <a:spcPct val="100000"/>
              </a:lnSpc>
              <a:buClr>
                <a:schemeClr val="tx1">
                  <a:lumMod val="85000"/>
                  <a:lumOff val="15000"/>
                </a:schemeClr>
              </a:buClr>
            </a:pPr>
            <a:r>
              <a:rPr lang="en-US" dirty="0"/>
              <a:t>Deploy a </a:t>
            </a:r>
            <a:r>
              <a:rPr lang="en-US" dirty="0">
                <a:latin typeface="Amazon Ember" panose="02000000000000000000" pitchFamily="2" charset="0"/>
                <a:ea typeface="Amazon Ember" panose="02000000000000000000" pitchFamily="2" charset="0"/>
              </a:rPr>
              <a:t>database server</a:t>
            </a:r>
          </a:p>
          <a:p>
            <a:pPr>
              <a:lnSpc>
                <a:spcPct val="100000"/>
              </a:lnSpc>
              <a:buClr>
                <a:schemeClr val="tx1">
                  <a:lumMod val="85000"/>
                  <a:lumOff val="15000"/>
                </a:schemeClr>
              </a:buClr>
            </a:pPr>
            <a:r>
              <a:rPr lang="en-US" dirty="0"/>
              <a:t>Deploy an </a:t>
            </a:r>
            <a:r>
              <a:rPr lang="en-US" dirty="0">
                <a:latin typeface="Amazon Ember" panose="02000000000000000000" pitchFamily="2" charset="0"/>
                <a:ea typeface="Amazon Ember" panose="02000000000000000000" pitchFamily="2" charset="0"/>
              </a:rPr>
              <a:t>application server</a:t>
            </a:r>
          </a:p>
          <a:p>
            <a:pPr>
              <a:lnSpc>
                <a:spcPct val="100000"/>
              </a:lnSpc>
              <a:buClr>
                <a:schemeClr val="tx1">
                  <a:lumMod val="85000"/>
                  <a:lumOff val="15000"/>
                </a:schemeClr>
              </a:buClr>
            </a:pPr>
            <a:r>
              <a:rPr lang="en-US" dirty="0"/>
              <a:t>Test the application</a:t>
            </a:r>
            <a:endParaRPr lang="en-US" b="1" dirty="0"/>
          </a:p>
        </p:txBody>
      </p:sp>
      <p:sp>
        <p:nvSpPr>
          <p:cNvPr id="5" name="Rounded Rectangle 4">
            <a:extLst>
              <a:ext uri="{FF2B5EF4-FFF2-40B4-BE49-F238E27FC236}">
                <a16:creationId xmlns:a16="http://schemas.microsoft.com/office/drawing/2014/main" id="{BF8B0DB6-3F93-2A4A-96A0-DD1AE95DE3C6}"/>
              </a:ext>
            </a:extLst>
          </p:cNvPr>
          <p:cNvSpPr/>
          <p:nvPr/>
        </p:nvSpPr>
        <p:spPr>
          <a:xfrm>
            <a:off x="6287664" y="1513493"/>
            <a:ext cx="5079872" cy="5020258"/>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TextBox 35">
            <a:extLst>
              <a:ext uri="{FF2B5EF4-FFF2-40B4-BE49-F238E27FC236}">
                <a16:creationId xmlns:a16="http://schemas.microsoft.com/office/drawing/2014/main" id="{2F25B225-9389-0C44-94F5-0D83061239C9}"/>
              </a:ext>
            </a:extLst>
          </p:cNvPr>
          <p:cNvSpPr txBox="1">
            <a:spLocks noChangeArrowheads="1"/>
          </p:cNvSpPr>
          <p:nvPr/>
        </p:nvSpPr>
        <p:spPr bwMode="auto">
          <a:xfrm>
            <a:off x="8048932" y="6225974"/>
            <a:ext cx="1557337" cy="307777"/>
          </a:xfrm>
          <a:prstGeom prst="rect">
            <a:avLst/>
          </a:prstGeom>
          <a:noFill/>
          <a:ln w="9525">
            <a:noFill/>
            <a:miter lim="800000"/>
            <a:headEnd/>
            <a:tailEnd/>
          </a:ln>
        </p:spPr>
        <p:txBody>
          <a:bodyPr>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Lab VPC</a:t>
            </a:r>
          </a:p>
        </p:txBody>
      </p:sp>
      <p:pic>
        <p:nvPicPr>
          <p:cNvPr id="7" name="Picture 6">
            <a:extLst>
              <a:ext uri="{FF2B5EF4-FFF2-40B4-BE49-F238E27FC236}">
                <a16:creationId xmlns:a16="http://schemas.microsoft.com/office/drawing/2014/main" id="{CEDB5A5D-D52D-2745-A87E-B83974B16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533" y="1251069"/>
            <a:ext cx="599170" cy="391125"/>
          </a:xfrm>
          <a:prstGeom prst="rect">
            <a:avLst/>
          </a:prstGeom>
        </p:spPr>
      </p:pic>
      <p:sp>
        <p:nvSpPr>
          <p:cNvPr id="8" name="Rounded Rectangle 7">
            <a:extLst>
              <a:ext uri="{FF2B5EF4-FFF2-40B4-BE49-F238E27FC236}">
                <a16:creationId xmlns:a16="http://schemas.microsoft.com/office/drawing/2014/main" id="{6E6B64DC-4D6B-A948-ACFC-7BC7F43164CD}"/>
              </a:ext>
            </a:extLst>
          </p:cNvPr>
          <p:cNvSpPr/>
          <p:nvPr/>
        </p:nvSpPr>
        <p:spPr>
          <a:xfrm>
            <a:off x="6527720" y="1791468"/>
            <a:ext cx="2158400" cy="4345772"/>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TextBox 32">
            <a:extLst>
              <a:ext uri="{FF2B5EF4-FFF2-40B4-BE49-F238E27FC236}">
                <a16:creationId xmlns:a16="http://schemas.microsoft.com/office/drawing/2014/main" id="{21B52CA9-B77C-7547-8464-D90FBFF0F245}"/>
              </a:ext>
            </a:extLst>
          </p:cNvPr>
          <p:cNvSpPr txBox="1">
            <a:spLocks noChangeArrowheads="1"/>
          </p:cNvSpPr>
          <p:nvPr/>
        </p:nvSpPr>
        <p:spPr bwMode="auto">
          <a:xfrm>
            <a:off x="6730620" y="5829463"/>
            <a:ext cx="1752600" cy="307777"/>
          </a:xfrm>
          <a:prstGeom prst="rect">
            <a:avLst/>
          </a:prstGeom>
          <a:noFill/>
          <a:ln w="9525">
            <a:noFill/>
            <a:miter lim="800000"/>
            <a:headEnd/>
            <a:tailEnd/>
          </a:ln>
        </p:spPr>
        <p:txBody>
          <a:bodyPr wrap="square">
            <a:spAutoFit/>
          </a:bodyPr>
          <a:lstStyle/>
          <a:p>
            <a:pPr algn="ctr"/>
            <a:r>
              <a:rPr lang="en-US" sz="1400" b="1" dirty="0">
                <a:solidFill>
                  <a:srgbClr val="F7981F"/>
                </a:solidFill>
                <a:latin typeface="Amazon Ember" panose="020B0603020204020204" pitchFamily="34" charset="0"/>
                <a:ea typeface="Amazon Ember" panose="020B0603020204020204" pitchFamily="34" charset="0"/>
                <a:cs typeface="Amazon Ember" panose="020B0603020204020204" pitchFamily="34" charset="0"/>
              </a:rPr>
              <a:t>Availability Zone</a:t>
            </a:r>
          </a:p>
        </p:txBody>
      </p:sp>
      <p:sp>
        <p:nvSpPr>
          <p:cNvPr id="10" name="Rounded Rectangle 9">
            <a:extLst>
              <a:ext uri="{FF2B5EF4-FFF2-40B4-BE49-F238E27FC236}">
                <a16:creationId xmlns:a16="http://schemas.microsoft.com/office/drawing/2014/main" id="{1ED61F91-A6F5-D643-9FF2-02C66DF6E9AC}"/>
              </a:ext>
            </a:extLst>
          </p:cNvPr>
          <p:cNvSpPr/>
          <p:nvPr/>
        </p:nvSpPr>
        <p:spPr>
          <a:xfrm>
            <a:off x="6730620" y="2027243"/>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TextBox 37">
            <a:extLst>
              <a:ext uri="{FF2B5EF4-FFF2-40B4-BE49-F238E27FC236}">
                <a16:creationId xmlns:a16="http://schemas.microsoft.com/office/drawing/2014/main" id="{CE483022-99DB-CB46-B1AC-D6DE6BD469A6}"/>
              </a:ext>
            </a:extLst>
          </p:cNvPr>
          <p:cNvSpPr txBox="1">
            <a:spLocks noChangeArrowheads="1"/>
          </p:cNvSpPr>
          <p:nvPr/>
        </p:nvSpPr>
        <p:spPr bwMode="auto">
          <a:xfrm>
            <a:off x="6829045" y="3250474"/>
            <a:ext cx="1555750" cy="523220"/>
          </a:xfrm>
          <a:prstGeom prst="rect">
            <a:avLst/>
          </a:prstGeom>
          <a:noFill/>
          <a:ln w="9525">
            <a:noFill/>
            <a:miter lim="800000"/>
            <a:headEnd/>
            <a:tailEnd/>
          </a:ln>
        </p:spPr>
        <p:txBody>
          <a:bodyPr>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Public Subnet 1</a:t>
            </a:r>
          </a:p>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10.0.0.0/24</a:t>
            </a:r>
          </a:p>
        </p:txBody>
      </p:sp>
      <p:sp>
        <p:nvSpPr>
          <p:cNvPr id="13" name="Rounded Rectangle 12">
            <a:extLst>
              <a:ext uri="{FF2B5EF4-FFF2-40B4-BE49-F238E27FC236}">
                <a16:creationId xmlns:a16="http://schemas.microsoft.com/office/drawing/2014/main" id="{79A4AB8D-E081-2942-92B7-18F81EEA5993}"/>
              </a:ext>
            </a:extLst>
          </p:cNvPr>
          <p:cNvSpPr/>
          <p:nvPr/>
        </p:nvSpPr>
        <p:spPr>
          <a:xfrm>
            <a:off x="6730620" y="4009414"/>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4" name="TextBox 37">
            <a:extLst>
              <a:ext uri="{FF2B5EF4-FFF2-40B4-BE49-F238E27FC236}">
                <a16:creationId xmlns:a16="http://schemas.microsoft.com/office/drawing/2014/main" id="{841F3DE4-BD29-184B-B266-A784E329E85C}"/>
              </a:ext>
            </a:extLst>
          </p:cNvPr>
          <p:cNvSpPr txBox="1">
            <a:spLocks noChangeArrowheads="1"/>
          </p:cNvSpPr>
          <p:nvPr/>
        </p:nvSpPr>
        <p:spPr bwMode="auto">
          <a:xfrm>
            <a:off x="6730620" y="5232642"/>
            <a:ext cx="1752600" cy="523220"/>
          </a:xfrm>
          <a:prstGeom prst="rect">
            <a:avLst/>
          </a:prstGeom>
          <a:noFill/>
          <a:ln w="9525">
            <a:noFill/>
            <a:miter lim="800000"/>
            <a:headEnd/>
            <a:tailEnd/>
          </a:ln>
        </p:spPr>
        <p:txBody>
          <a:bodyPr wrap="square">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Private Subnet 1</a:t>
            </a:r>
          </a:p>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10.0.2.0/23</a:t>
            </a:r>
          </a:p>
        </p:txBody>
      </p:sp>
      <p:pic>
        <p:nvPicPr>
          <p:cNvPr id="15" name="Picture 14">
            <a:extLst>
              <a:ext uri="{FF2B5EF4-FFF2-40B4-BE49-F238E27FC236}">
                <a16:creationId xmlns:a16="http://schemas.microsoft.com/office/drawing/2014/main" id="{45580C3E-268F-3444-A5B6-8521D3A61036}"/>
              </a:ext>
            </a:extLst>
          </p:cNvPr>
          <p:cNvPicPr>
            <a:picLocks noChangeAspect="1"/>
          </p:cNvPicPr>
          <p:nvPr/>
        </p:nvPicPr>
        <p:blipFill>
          <a:blip r:embed="rId4"/>
          <a:stretch>
            <a:fillRect/>
          </a:stretch>
        </p:blipFill>
        <p:spPr>
          <a:xfrm>
            <a:off x="6883664" y="3847022"/>
            <a:ext cx="215900" cy="241300"/>
          </a:xfrm>
          <a:prstGeom prst="rect">
            <a:avLst/>
          </a:prstGeom>
        </p:spPr>
      </p:pic>
      <p:sp>
        <p:nvSpPr>
          <p:cNvPr id="16" name="Rounded Rectangle 15">
            <a:extLst>
              <a:ext uri="{FF2B5EF4-FFF2-40B4-BE49-F238E27FC236}">
                <a16:creationId xmlns:a16="http://schemas.microsoft.com/office/drawing/2014/main" id="{9C6FF6C8-3AB9-BC47-A98A-2FB5F3C69CB8}"/>
              </a:ext>
            </a:extLst>
          </p:cNvPr>
          <p:cNvSpPr/>
          <p:nvPr/>
        </p:nvSpPr>
        <p:spPr>
          <a:xfrm>
            <a:off x="8937292" y="1791468"/>
            <a:ext cx="2158400" cy="4345772"/>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7" name="TextBox 32">
            <a:extLst>
              <a:ext uri="{FF2B5EF4-FFF2-40B4-BE49-F238E27FC236}">
                <a16:creationId xmlns:a16="http://schemas.microsoft.com/office/drawing/2014/main" id="{1982A5BC-3B56-1346-9B68-6DA7DF279E6F}"/>
              </a:ext>
            </a:extLst>
          </p:cNvPr>
          <p:cNvSpPr txBox="1">
            <a:spLocks noChangeArrowheads="1"/>
          </p:cNvSpPr>
          <p:nvPr/>
        </p:nvSpPr>
        <p:spPr bwMode="auto">
          <a:xfrm>
            <a:off x="9140192" y="5829463"/>
            <a:ext cx="1752600" cy="307777"/>
          </a:xfrm>
          <a:prstGeom prst="rect">
            <a:avLst/>
          </a:prstGeom>
          <a:noFill/>
          <a:ln w="9525">
            <a:noFill/>
            <a:miter lim="800000"/>
            <a:headEnd/>
            <a:tailEnd/>
          </a:ln>
        </p:spPr>
        <p:txBody>
          <a:bodyPr wrap="square">
            <a:spAutoFit/>
          </a:bodyPr>
          <a:lstStyle/>
          <a:p>
            <a:pPr algn="ctr"/>
            <a:r>
              <a:rPr lang="en-US" sz="1400" b="1" dirty="0">
                <a:solidFill>
                  <a:srgbClr val="F7981F"/>
                </a:solidFill>
                <a:latin typeface="Amazon Ember" panose="020B0603020204020204" pitchFamily="34" charset="0"/>
                <a:ea typeface="Amazon Ember" panose="020B0603020204020204" pitchFamily="34" charset="0"/>
                <a:cs typeface="Amazon Ember" panose="020B0603020204020204" pitchFamily="34" charset="0"/>
              </a:rPr>
              <a:t>Availability Zone</a:t>
            </a:r>
          </a:p>
        </p:txBody>
      </p:sp>
      <p:sp>
        <p:nvSpPr>
          <p:cNvPr id="18" name="Rounded Rectangle 17">
            <a:extLst>
              <a:ext uri="{FF2B5EF4-FFF2-40B4-BE49-F238E27FC236}">
                <a16:creationId xmlns:a16="http://schemas.microsoft.com/office/drawing/2014/main" id="{8765A243-928F-9A4C-AC82-184FE430E4A7}"/>
              </a:ext>
            </a:extLst>
          </p:cNvPr>
          <p:cNvSpPr/>
          <p:nvPr/>
        </p:nvSpPr>
        <p:spPr>
          <a:xfrm>
            <a:off x="9140192" y="2027243"/>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TextBox 37">
            <a:extLst>
              <a:ext uri="{FF2B5EF4-FFF2-40B4-BE49-F238E27FC236}">
                <a16:creationId xmlns:a16="http://schemas.microsoft.com/office/drawing/2014/main" id="{EAAE01D7-8380-4546-8564-0F6D9E78751E}"/>
              </a:ext>
            </a:extLst>
          </p:cNvPr>
          <p:cNvSpPr txBox="1">
            <a:spLocks noChangeArrowheads="1"/>
          </p:cNvSpPr>
          <p:nvPr/>
        </p:nvSpPr>
        <p:spPr bwMode="auto">
          <a:xfrm>
            <a:off x="9238617" y="3250474"/>
            <a:ext cx="1555750" cy="523220"/>
          </a:xfrm>
          <a:prstGeom prst="rect">
            <a:avLst/>
          </a:prstGeom>
          <a:noFill/>
          <a:ln w="9525">
            <a:noFill/>
            <a:miter lim="800000"/>
            <a:headEnd/>
            <a:tailEnd/>
          </a:ln>
        </p:spPr>
        <p:txBody>
          <a:bodyPr>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Public Subnet 2</a:t>
            </a:r>
          </a:p>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10.0.1.0/24</a:t>
            </a:r>
          </a:p>
        </p:txBody>
      </p:sp>
      <p:sp>
        <p:nvSpPr>
          <p:cNvPr id="21" name="Rounded Rectangle 20">
            <a:extLst>
              <a:ext uri="{FF2B5EF4-FFF2-40B4-BE49-F238E27FC236}">
                <a16:creationId xmlns:a16="http://schemas.microsoft.com/office/drawing/2014/main" id="{F3001245-1E3F-5A4A-991C-187D48F6410A}"/>
              </a:ext>
            </a:extLst>
          </p:cNvPr>
          <p:cNvSpPr/>
          <p:nvPr/>
        </p:nvSpPr>
        <p:spPr>
          <a:xfrm>
            <a:off x="9140192" y="4009414"/>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 name="TextBox 37">
            <a:extLst>
              <a:ext uri="{FF2B5EF4-FFF2-40B4-BE49-F238E27FC236}">
                <a16:creationId xmlns:a16="http://schemas.microsoft.com/office/drawing/2014/main" id="{3BDD9A01-D47D-F140-B3EF-DAF55B7327A6}"/>
              </a:ext>
            </a:extLst>
          </p:cNvPr>
          <p:cNvSpPr txBox="1">
            <a:spLocks noChangeArrowheads="1"/>
          </p:cNvSpPr>
          <p:nvPr/>
        </p:nvSpPr>
        <p:spPr bwMode="auto">
          <a:xfrm>
            <a:off x="9140192" y="5232642"/>
            <a:ext cx="1752600" cy="523220"/>
          </a:xfrm>
          <a:prstGeom prst="rect">
            <a:avLst/>
          </a:prstGeom>
          <a:noFill/>
          <a:ln w="9525">
            <a:noFill/>
            <a:miter lim="800000"/>
            <a:headEnd/>
            <a:tailEnd/>
          </a:ln>
        </p:spPr>
        <p:txBody>
          <a:bodyPr wrap="square">
            <a:spAutoFit/>
          </a:body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Private Subnet 2</a:t>
            </a:r>
          </a:p>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10.0.4.0/23</a:t>
            </a:r>
          </a:p>
        </p:txBody>
      </p:sp>
      <p:pic>
        <p:nvPicPr>
          <p:cNvPr id="23" name="Picture 22">
            <a:extLst>
              <a:ext uri="{FF2B5EF4-FFF2-40B4-BE49-F238E27FC236}">
                <a16:creationId xmlns:a16="http://schemas.microsoft.com/office/drawing/2014/main" id="{F5FA4B53-542C-BF4E-B582-A553FD4F0121}"/>
              </a:ext>
            </a:extLst>
          </p:cNvPr>
          <p:cNvPicPr>
            <a:picLocks noChangeAspect="1"/>
          </p:cNvPicPr>
          <p:nvPr/>
        </p:nvPicPr>
        <p:blipFill>
          <a:blip r:embed="rId4"/>
          <a:stretch>
            <a:fillRect/>
          </a:stretch>
        </p:blipFill>
        <p:spPr>
          <a:xfrm>
            <a:off x="9293236" y="3847022"/>
            <a:ext cx="215900" cy="241300"/>
          </a:xfrm>
          <a:prstGeom prst="rect">
            <a:avLst/>
          </a:prstGeom>
        </p:spPr>
      </p:pic>
      <p:sp>
        <p:nvSpPr>
          <p:cNvPr id="24" name="TextBox 23">
            <a:extLst>
              <a:ext uri="{FF2B5EF4-FFF2-40B4-BE49-F238E27FC236}">
                <a16:creationId xmlns:a16="http://schemas.microsoft.com/office/drawing/2014/main" id="{C1948E8C-546C-5543-86C7-84B03D0C8662}"/>
              </a:ext>
            </a:extLst>
          </p:cNvPr>
          <p:cNvSpPr txBox="1"/>
          <p:nvPr/>
        </p:nvSpPr>
        <p:spPr>
          <a:xfrm>
            <a:off x="7134074" y="2890873"/>
            <a:ext cx="945692" cy="248929"/>
          </a:xfrm>
          <a:prstGeom prst="rect">
            <a:avLst/>
          </a:prstGeom>
          <a:noFill/>
        </p:spPr>
        <p:txBody>
          <a:bodyPr wrap="square" lIns="0" tIns="0" rIns="0" bIns="0" rtlCol="0" anchor="t">
            <a:noAutofit/>
          </a:bodyPr>
          <a:lstStyle/>
          <a:p>
            <a:pPr algn="ctr"/>
            <a:r>
              <a:rPr lang="en-US" sz="1400" dirty="0">
                <a:latin typeface="Amazon Ember" panose="020B0603020204020204" pitchFamily="34" charset="0"/>
                <a:ea typeface="Amazon Ember" panose="020B0603020204020204" pitchFamily="34" charset="0"/>
                <a:cs typeface="Amazon Ember" panose="020B0603020204020204" pitchFamily="34" charset="0"/>
              </a:rPr>
              <a:t>App server</a:t>
            </a:r>
          </a:p>
        </p:txBody>
      </p:sp>
      <p:pic>
        <p:nvPicPr>
          <p:cNvPr id="25" name="Picture 24">
            <a:extLst>
              <a:ext uri="{FF2B5EF4-FFF2-40B4-BE49-F238E27FC236}">
                <a16:creationId xmlns:a16="http://schemas.microsoft.com/office/drawing/2014/main" id="{4E4FE37D-1F0E-A540-8AAB-DBF2B035CD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4530" y="2282088"/>
            <a:ext cx="544781" cy="564959"/>
          </a:xfrm>
          <a:prstGeom prst="rect">
            <a:avLst/>
          </a:prstGeom>
        </p:spPr>
      </p:pic>
      <p:sp>
        <p:nvSpPr>
          <p:cNvPr id="26" name="TextBox 25">
            <a:extLst>
              <a:ext uri="{FF2B5EF4-FFF2-40B4-BE49-F238E27FC236}">
                <a16:creationId xmlns:a16="http://schemas.microsoft.com/office/drawing/2014/main" id="{1ADF970A-72BE-FF46-8028-D1C4D6E776C9}"/>
              </a:ext>
            </a:extLst>
          </p:cNvPr>
          <p:cNvSpPr txBox="1"/>
          <p:nvPr/>
        </p:nvSpPr>
        <p:spPr>
          <a:xfrm>
            <a:off x="6807142" y="4717515"/>
            <a:ext cx="1599556" cy="317956"/>
          </a:xfrm>
          <a:prstGeom prst="rect">
            <a:avLst/>
          </a:prstGeom>
          <a:noFill/>
        </p:spPr>
        <p:txBody>
          <a:bodyPr wrap="square" lIns="0" tIns="0" rIns="0" bIns="0" rtlCol="0" anchor="t">
            <a:noAutofit/>
          </a:bodyPr>
          <a:lstStyle>
            <a:defPPr>
              <a:defRPr lang="en-US"/>
            </a:defPPr>
            <a:lvl1pPr algn="ctr">
              <a:defRPr sz="1400" b="1"/>
            </a:lvl1pPr>
          </a:lstStyle>
          <a:p>
            <a:pPr>
              <a:lnSpc>
                <a:spcPct val="90000"/>
              </a:lnSpc>
            </a:pPr>
            <a:r>
              <a:rPr lang="en-US" b="0" dirty="0">
                <a:latin typeface="Amazon Ember" panose="020B0603020204020204" pitchFamily="34" charset="0"/>
                <a:ea typeface="Amazon Ember" panose="020B0603020204020204" pitchFamily="34" charset="0"/>
                <a:cs typeface="Amazon Ember" panose="020B0603020204020204" pitchFamily="34" charset="0"/>
              </a:rPr>
              <a:t>Amazon RDS</a:t>
            </a:r>
            <a:br>
              <a:rPr lang="en-US" b="0" dirty="0">
                <a:latin typeface="Amazon Ember" panose="020B0603020204020204" pitchFamily="34" charset="0"/>
                <a:ea typeface="Amazon Ember" panose="020B0603020204020204" pitchFamily="34" charset="0"/>
                <a:cs typeface="Amazon Ember" panose="020B0603020204020204" pitchFamily="34" charset="0"/>
              </a:rPr>
            </a:br>
            <a:r>
              <a:rPr lang="en-US" b="0" dirty="0">
                <a:latin typeface="Amazon Ember" panose="020B0603020204020204" pitchFamily="34" charset="0"/>
                <a:ea typeface="Amazon Ember" panose="020B0603020204020204" pitchFamily="34" charset="0"/>
                <a:cs typeface="Amazon Ember" panose="020B0603020204020204" pitchFamily="34" charset="0"/>
              </a:rPr>
              <a:t>DB instance</a:t>
            </a:r>
          </a:p>
        </p:txBody>
      </p:sp>
      <p:sp>
        <p:nvSpPr>
          <p:cNvPr id="12" name="TextBox 11">
            <a:extLst>
              <a:ext uri="{FF2B5EF4-FFF2-40B4-BE49-F238E27FC236}">
                <a16:creationId xmlns:a16="http://schemas.microsoft.com/office/drawing/2014/main" id="{0B138724-F90A-7344-BA9A-7B90B11A9341}"/>
              </a:ext>
            </a:extLst>
          </p:cNvPr>
          <p:cNvSpPr txBox="1"/>
          <p:nvPr/>
        </p:nvSpPr>
        <p:spPr>
          <a:xfrm>
            <a:off x="583745" y="5675575"/>
            <a:ext cx="3436883" cy="461665"/>
          </a:xfrm>
          <a:prstGeom prst="rect">
            <a:avLst/>
          </a:prstGeom>
          <a:noFill/>
        </p:spPr>
        <p:txBody>
          <a:bodyPr wrap="square" rtlCol="0">
            <a:spAutoFit/>
          </a:bodyPr>
          <a:lstStyle/>
          <a:p>
            <a:r>
              <a:rPr lang="en-US" sz="24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Duration</a:t>
            </a:r>
            <a:r>
              <a:rPr lang="en-US" sz="2400" b="1">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 30 min</a:t>
            </a:r>
            <a:endParaRPr lang="en-US" sz="24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8" name="Picture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98815" y="4128567"/>
            <a:ext cx="416210" cy="548640"/>
          </a:xfrm>
          <a:prstGeom prst="rect">
            <a:avLst/>
          </a:prstGeom>
        </p:spPr>
      </p:pic>
    </p:spTree>
    <p:extLst>
      <p:ext uri="{BB962C8B-B14F-4D97-AF65-F5344CB8AC3E}">
        <p14:creationId xmlns:p14="http://schemas.microsoft.com/office/powerpoint/2010/main" val="5306329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F793-0795-F244-A83F-3C767FE9EB3F}"/>
              </a:ext>
            </a:extLst>
          </p:cNvPr>
          <p:cNvSpPr>
            <a:spLocks noGrp="1"/>
          </p:cNvSpPr>
          <p:nvPr>
            <p:ph type="ctrTitle"/>
          </p:nvPr>
        </p:nvSpPr>
        <p:spPr/>
        <p:txBody>
          <a:bodyPr/>
          <a:lstStyle/>
          <a:p>
            <a:r>
              <a:rPr lang="en-US" dirty="0"/>
              <a:t>Thank You </a:t>
            </a:r>
          </a:p>
        </p:txBody>
      </p:sp>
    </p:spTree>
    <p:extLst>
      <p:ext uri="{BB962C8B-B14F-4D97-AF65-F5344CB8AC3E}">
        <p14:creationId xmlns:p14="http://schemas.microsoft.com/office/powerpoint/2010/main" val="22100952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EC3CBD49A9D74AB59EB8F208DED5D9" ma:contentTypeVersion="4" ma:contentTypeDescription="Create a new document." ma:contentTypeScope="" ma:versionID="7daf4a3c1576a459487efcb13ac74181">
  <xsd:schema xmlns:xsd="http://www.w3.org/2001/XMLSchema" xmlns:xs="http://www.w3.org/2001/XMLSchema" xmlns:p="http://schemas.microsoft.com/office/2006/metadata/properties" xmlns:ns2="61d7a295-102b-4ba7-8142-2982d133915a" targetNamespace="http://schemas.microsoft.com/office/2006/metadata/properties" ma:root="true" ma:fieldsID="589ccf5a2417981e7e5052ae0f1735bc" ns2:_="">
    <xsd:import namespace="61d7a295-102b-4ba7-8142-2982d133915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d7a295-102b-4ba7-8142-2982d13391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D9BE93-E448-496D-826C-3C5F2C74A88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75B06DF-9B63-433B-BD82-51A7B38C62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d7a295-102b-4ba7-8142-2982d13391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D5FBFD3-8C10-4B04-B747-D7CC9F35DD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19585</TotalTime>
  <Words>5156</Words>
  <Application>Microsoft Macintosh PowerPoint</Application>
  <PresentationFormat>Custom</PresentationFormat>
  <Paragraphs>622</Paragraphs>
  <Slides>57</Slides>
  <Notes>57</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Amazon Ember</vt:lpstr>
      <vt:lpstr>Amazon Ember Cd RC</vt:lpstr>
      <vt:lpstr>Amazon Ember Light</vt:lpstr>
      <vt:lpstr>Arial</vt:lpstr>
      <vt:lpstr>Calibri</vt:lpstr>
      <vt:lpstr>Helvetica Neue</vt:lpstr>
      <vt:lpstr>Helvetica Neue LT Std 65 Medium</vt:lpstr>
      <vt:lpstr>Office Theme</vt:lpstr>
      <vt:lpstr>Adding A Database Layer</vt:lpstr>
      <vt:lpstr>Dedicated Database Layer</vt:lpstr>
      <vt:lpstr>Module 4</vt:lpstr>
      <vt:lpstr>Database Layer Considerations</vt:lpstr>
      <vt:lpstr>What Should You Consider?</vt:lpstr>
      <vt:lpstr>What Should You Consider?</vt:lpstr>
      <vt:lpstr>What Should You Consider?</vt:lpstr>
      <vt:lpstr>What Should You Consider?</vt:lpstr>
      <vt:lpstr>Database Types </vt:lpstr>
      <vt:lpstr>Database Type: Relational</vt:lpstr>
      <vt:lpstr>Database Type: Relational</vt:lpstr>
      <vt:lpstr>Database Type: Non-Relational</vt:lpstr>
      <vt:lpstr>Database Type: Non-Relational</vt:lpstr>
      <vt:lpstr>Compare and Contrast Structured Data Storage</vt:lpstr>
      <vt:lpstr>Unmanaged Databases</vt:lpstr>
      <vt:lpstr>Unmanaged Databases</vt:lpstr>
      <vt:lpstr>Unmanaged Databases</vt:lpstr>
      <vt:lpstr>Managed Databases</vt:lpstr>
      <vt:lpstr>Amazon RDS and Amazon DynamoDB</vt:lpstr>
      <vt:lpstr>Amazon Database Options</vt:lpstr>
      <vt:lpstr>Our Focus</vt:lpstr>
      <vt:lpstr>Amazon RDS</vt:lpstr>
      <vt:lpstr>Amazon RDS in General</vt:lpstr>
      <vt:lpstr>Amazon RDS Storage is Fully Managed</vt:lpstr>
      <vt:lpstr>Amazon RDS and Amazon Aurora</vt:lpstr>
      <vt:lpstr>Amazon RDS Use Case</vt:lpstr>
      <vt:lpstr>Amazon DynamoDB</vt:lpstr>
      <vt:lpstr>Amazon DynamoDB</vt:lpstr>
      <vt:lpstr>Amazon DynamoDB Data Model</vt:lpstr>
      <vt:lpstr>Data Distribution:  Partition Key and Sort Key</vt:lpstr>
      <vt:lpstr>Amazon DynamoDB Has Global Tables</vt:lpstr>
      <vt:lpstr>Amazon DynamoDB Use Cases</vt:lpstr>
      <vt:lpstr>Amazon DynamoDB Use Cases</vt:lpstr>
      <vt:lpstr>Amazon DynamoDB  Consistency Options</vt:lpstr>
      <vt:lpstr>Security Controls for  Amazon RDS and DynamoDB</vt:lpstr>
      <vt:lpstr>Security Controls for Amazon RDS</vt:lpstr>
      <vt:lpstr>Security Controls for Amazon RDS</vt:lpstr>
      <vt:lpstr>Security Controls for Amazon RDS</vt:lpstr>
      <vt:lpstr>Security Controls for Amazon RDS</vt:lpstr>
      <vt:lpstr>Security Controls for Amazon RDS</vt:lpstr>
      <vt:lpstr>Security Controls for DynamoDB</vt:lpstr>
      <vt:lpstr>Security Controls for DynamoDB</vt:lpstr>
      <vt:lpstr>Security Controls for DynamoDB</vt:lpstr>
      <vt:lpstr>Security Controls for DynamoDB</vt:lpstr>
      <vt:lpstr>Security Controls for DynamoDB</vt:lpstr>
      <vt:lpstr>Migrating Data into Your AWS Databases</vt:lpstr>
      <vt:lpstr>AWS Database Migration Service (AWS DMS)</vt:lpstr>
      <vt:lpstr>Migration Options</vt:lpstr>
      <vt:lpstr>Using AWS Snowball Edge with AWS DMS</vt:lpstr>
      <vt:lpstr>Using AWS Snowball Edge with AWS DMS</vt:lpstr>
      <vt:lpstr>AWS Schema Conversion Tool</vt:lpstr>
      <vt:lpstr>Lab 2: Deploying a Web Application on AWS</vt:lpstr>
      <vt:lpstr>Lab 2: Deploying a Web Application on AWS</vt:lpstr>
      <vt:lpstr>Lab 2: Deploying a Web Application on AWS</vt:lpstr>
      <vt:lpstr>Lab 2: Deploying a Web Application on AWS</vt:lpstr>
      <vt:lpstr>Lab 2: Deploying a Web Application on AWS</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darshan Jinendrakumar</cp:lastModifiedBy>
  <cp:revision>913</cp:revision>
  <cp:lastPrinted>2018-07-30T14:49:24Z</cp:lastPrinted>
  <dcterms:created xsi:type="dcterms:W3CDTF">2017-05-11T23:06:57Z</dcterms:created>
  <dcterms:modified xsi:type="dcterms:W3CDTF">2020-10-01T17:30:56Z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0x010100D4EC3CBD49A9D74AB59EB8F208DED5D9</vt:lpwstr>
  </property>
</Properties>
</file>