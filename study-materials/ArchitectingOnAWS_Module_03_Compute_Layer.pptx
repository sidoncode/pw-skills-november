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comment1.xml" ContentType="application/vnd.openxmlformats-officedocument.presentationml.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855" r:id="rId4"/>
  </p:sldMasterIdLst>
  <p:notesMasterIdLst>
    <p:notesMasterId r:id="rId73"/>
  </p:notesMasterIdLst>
  <p:handoutMasterIdLst>
    <p:handoutMasterId r:id="rId74"/>
  </p:handoutMasterIdLst>
  <p:sldIdLst>
    <p:sldId id="350" r:id="rId5"/>
    <p:sldId id="468" r:id="rId6"/>
    <p:sldId id="351" r:id="rId7"/>
    <p:sldId id="379" r:id="rId8"/>
    <p:sldId id="373" r:id="rId9"/>
    <p:sldId id="374" r:id="rId10"/>
    <p:sldId id="448" r:id="rId11"/>
    <p:sldId id="440" r:id="rId12"/>
    <p:sldId id="441" r:id="rId13"/>
    <p:sldId id="377" r:id="rId14"/>
    <p:sldId id="443" r:id="rId15"/>
    <p:sldId id="444" r:id="rId16"/>
    <p:sldId id="445" r:id="rId17"/>
    <p:sldId id="446" r:id="rId18"/>
    <p:sldId id="447" r:id="rId19"/>
    <p:sldId id="485" r:id="rId20"/>
    <p:sldId id="449" r:id="rId21"/>
    <p:sldId id="419" r:id="rId22"/>
    <p:sldId id="465" r:id="rId23"/>
    <p:sldId id="422" r:id="rId24"/>
    <p:sldId id="417" r:id="rId25"/>
    <p:sldId id="424" r:id="rId26"/>
    <p:sldId id="466" r:id="rId27"/>
    <p:sldId id="426" r:id="rId28"/>
    <p:sldId id="427" r:id="rId29"/>
    <p:sldId id="481" r:id="rId30"/>
    <p:sldId id="450" r:id="rId31"/>
    <p:sldId id="375" r:id="rId32"/>
    <p:sldId id="392" r:id="rId33"/>
    <p:sldId id="380" r:id="rId34"/>
    <p:sldId id="469" r:id="rId35"/>
    <p:sldId id="382" r:id="rId36"/>
    <p:sldId id="384" r:id="rId37"/>
    <p:sldId id="387" r:id="rId38"/>
    <p:sldId id="388" r:id="rId39"/>
    <p:sldId id="390" r:id="rId40"/>
    <p:sldId id="484" r:id="rId41"/>
    <p:sldId id="477" r:id="rId42"/>
    <p:sldId id="479" r:id="rId43"/>
    <p:sldId id="472" r:id="rId44"/>
    <p:sldId id="478" r:id="rId45"/>
    <p:sldId id="474" r:id="rId46"/>
    <p:sldId id="480" r:id="rId47"/>
    <p:sldId id="421" r:id="rId48"/>
    <p:sldId id="394" r:id="rId49"/>
    <p:sldId id="400" r:id="rId50"/>
    <p:sldId id="409" r:id="rId51"/>
    <p:sldId id="487" r:id="rId52"/>
    <p:sldId id="488" r:id="rId53"/>
    <p:sldId id="413" r:id="rId54"/>
    <p:sldId id="403" r:id="rId55"/>
    <p:sldId id="416" r:id="rId56"/>
    <p:sldId id="397" r:id="rId57"/>
    <p:sldId id="486" r:id="rId58"/>
    <p:sldId id="398" r:id="rId59"/>
    <p:sldId id="399" r:id="rId60"/>
    <p:sldId id="429" r:id="rId61"/>
    <p:sldId id="430" r:id="rId62"/>
    <p:sldId id="467" r:id="rId63"/>
    <p:sldId id="483" r:id="rId64"/>
    <p:sldId id="451" r:id="rId65"/>
    <p:sldId id="432" r:id="rId66"/>
    <p:sldId id="460" r:id="rId67"/>
    <p:sldId id="463" r:id="rId68"/>
    <p:sldId id="464" r:id="rId69"/>
    <p:sldId id="458" r:id="rId70"/>
    <p:sldId id="459" r:id="rId71"/>
    <p:sldId id="372" r:id="rId72"/>
  </p:sldIdLst>
  <p:sldSz cx="12188825" cy="6858000"/>
  <p:notesSz cx="6858000" cy="9144000"/>
  <p:defaultTex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40" clrIdx="0"/>
  <p:cmAuthor id="2" name="Meyer-ravelli, Shawna R" initials="MSR" lastIdx="1" clrIdx="1">
    <p:extLst>
      <p:ext uri="{19B8F6BF-5375-455C-9EA6-DF929625EA0E}">
        <p15:presenceInfo xmlns:p15="http://schemas.microsoft.com/office/powerpoint/2012/main" userId="S::shawna.r.meyer-ravelli@intel.com::330c2d0c-5c52-40f6-b1e3-5918d6f55a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6FF1"/>
    <a:srgbClr val="4AC1FF"/>
    <a:srgbClr val="FF7F70"/>
    <a:srgbClr val="F68536"/>
    <a:srgbClr val="F4B183"/>
    <a:srgbClr val="E7E5E8"/>
    <a:srgbClr val="FF9900"/>
    <a:srgbClr val="333E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41A4C-E0FB-F740-9D81-544343AB784C}" v="4" dt="2020-08-17T22:19:14.554"/>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287" autoAdjust="0"/>
  </p:normalViewPr>
  <p:slideViewPr>
    <p:cSldViewPr snapToGrid="0">
      <p:cViewPr varScale="1">
        <p:scale>
          <a:sx n="82" d="100"/>
          <a:sy n="82" d="100"/>
        </p:scale>
        <p:origin x="1652" y="44"/>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theme" Target="theme/theme1.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yer-ravelli, Shawna R" userId="330c2d0c-5c52-40f6-b1e3-5918d6f55a05" providerId="ADAL" clId="{D0C23E21-EE79-4B02-B47B-E0A2E3836858}"/>
    <pc:docChg chg="custSel modSld">
      <pc:chgData name="Meyer-ravelli, Shawna R" userId="330c2d0c-5c52-40f6-b1e3-5918d6f55a05" providerId="ADAL" clId="{D0C23E21-EE79-4B02-B47B-E0A2E3836858}" dt="2020-04-09T23:13:03.962" v="5" actId="6549"/>
      <pc:docMkLst>
        <pc:docMk/>
      </pc:docMkLst>
      <pc:sldChg chg="modSp">
        <pc:chgData name="Meyer-ravelli, Shawna R" userId="330c2d0c-5c52-40f6-b1e3-5918d6f55a05" providerId="ADAL" clId="{D0C23E21-EE79-4B02-B47B-E0A2E3836858}" dt="2020-04-09T23:12:39.843" v="3" actId="27636"/>
        <pc:sldMkLst>
          <pc:docMk/>
          <pc:sldMk cId="1092801562" sldId="388"/>
        </pc:sldMkLst>
        <pc:spChg chg="mod">
          <ac:chgData name="Meyer-ravelli, Shawna R" userId="330c2d0c-5c52-40f6-b1e3-5918d6f55a05" providerId="ADAL" clId="{D0C23E21-EE79-4B02-B47B-E0A2E3836858}" dt="2020-04-09T23:12:39.843" v="3" actId="27636"/>
          <ac:spMkLst>
            <pc:docMk/>
            <pc:sldMk cId="1092801562" sldId="388"/>
            <ac:spMk id="2" creationId="{12333780-451D-624F-B22F-AC4418A3F4D9}"/>
          </ac:spMkLst>
        </pc:spChg>
      </pc:sldChg>
      <pc:sldChg chg="modSp">
        <pc:chgData name="Meyer-ravelli, Shawna R" userId="330c2d0c-5c52-40f6-b1e3-5918d6f55a05" providerId="ADAL" clId="{D0C23E21-EE79-4B02-B47B-E0A2E3836858}" dt="2020-04-09T23:13:03.962" v="5" actId="6549"/>
        <pc:sldMkLst>
          <pc:docMk/>
          <pc:sldMk cId="1433915201" sldId="472"/>
        </pc:sldMkLst>
        <pc:spChg chg="mod">
          <ac:chgData name="Meyer-ravelli, Shawna R" userId="330c2d0c-5c52-40f6-b1e3-5918d6f55a05" providerId="ADAL" clId="{D0C23E21-EE79-4B02-B47B-E0A2E3836858}" dt="2020-04-09T23:13:03.962" v="5" actId="6549"/>
          <ac:spMkLst>
            <pc:docMk/>
            <pc:sldMk cId="1433915201" sldId="472"/>
            <ac:spMk id="28" creationId="{00000000-0000-0000-0000-000000000000}"/>
          </ac:spMkLst>
        </pc:spChg>
      </pc:sldChg>
      <pc:sldChg chg="modSp">
        <pc:chgData name="Meyer-ravelli, Shawna R" userId="330c2d0c-5c52-40f6-b1e3-5918d6f55a05" providerId="ADAL" clId="{D0C23E21-EE79-4B02-B47B-E0A2E3836858}" dt="2020-04-09T23:12:39.821" v="2" actId="27636"/>
        <pc:sldMkLst>
          <pc:docMk/>
          <pc:sldMk cId="3385795979" sldId="474"/>
        </pc:sldMkLst>
        <pc:spChg chg="mod">
          <ac:chgData name="Meyer-ravelli, Shawna R" userId="330c2d0c-5c52-40f6-b1e3-5918d6f55a05" providerId="ADAL" clId="{D0C23E21-EE79-4B02-B47B-E0A2E3836858}" dt="2020-04-09T23:12:39.821" v="2" actId="27636"/>
          <ac:spMkLst>
            <pc:docMk/>
            <pc:sldMk cId="3385795979" sldId="474"/>
            <ac:spMk id="2" creationId="{00000000-0000-0000-0000-000000000000}"/>
          </ac:spMkLst>
        </pc:spChg>
      </pc:sldChg>
      <pc:sldChg chg="addCm modCm">
        <pc:chgData name="Meyer-ravelli, Shawna R" userId="330c2d0c-5c52-40f6-b1e3-5918d6f55a05" providerId="ADAL" clId="{D0C23E21-EE79-4B02-B47B-E0A2E3836858}" dt="2020-04-09T23:12:39.617" v="1"/>
        <pc:sldMkLst>
          <pc:docMk/>
          <pc:sldMk cId="2108377153" sldId="484"/>
        </pc:sldMkLst>
      </pc:sldChg>
    </pc:docChg>
  </pc:docChgLst>
  <pc:docChgLst>
    <pc:chgData name="Season Devereux" userId="1e8ae8d7-e1e4-41d7-b1aa-07c9c7bdc58a" providerId="ADAL" clId="{0DC41A4C-E0FB-F740-9D81-544343AB784C}"/>
    <pc:docChg chg="modSld">
      <pc:chgData name="Season Devereux" userId="1e8ae8d7-e1e4-41d7-b1aa-07c9c7bdc58a" providerId="ADAL" clId="{0DC41A4C-E0FB-F740-9D81-544343AB784C}" dt="2020-08-17T22:19:14.554" v="3" actId="20577"/>
      <pc:docMkLst>
        <pc:docMk/>
      </pc:docMkLst>
      <pc:sldChg chg="modNotesTx">
        <pc:chgData name="Season Devereux" userId="1e8ae8d7-e1e4-41d7-b1aa-07c9c7bdc58a" providerId="ADAL" clId="{0DC41A4C-E0FB-F740-9D81-544343AB784C}" dt="2020-08-17T22:19:14.554" v="3" actId="20577"/>
        <pc:sldMkLst>
          <pc:docMk/>
          <pc:sldMk cId="2612257767" sldId="41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defRPr>
            </a:pPr>
            <a:r>
              <a:rPr lang="en-US" dirty="0"/>
              <a:t>SQL Server Testing with </a:t>
            </a:r>
            <a:r>
              <a:rPr lang="en-US" dirty="0" err="1"/>
              <a:t>HammerDB</a:t>
            </a:r>
            <a:r>
              <a:rPr lang="en-US" dirty="0"/>
              <a:t>: </a:t>
            </a:r>
          </a:p>
          <a:p>
            <a:pPr>
              <a:defRPr/>
            </a:pPr>
            <a:r>
              <a:rPr lang="en-US" b="0" dirty="0"/>
              <a:t>Average Cost Per 1 Billion Transactions Per Month</a:t>
            </a:r>
          </a:p>
        </c:rich>
      </c:tx>
      <c:layout>
        <c:manualLayout>
          <c:xMode val="edge"/>
          <c:yMode val="edge"/>
          <c:x val="0.11898897132050405"/>
          <c:y val="1.7579596815407588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title>
    <c:autoTitleDeleted val="0"/>
    <c:plotArea>
      <c:layout/>
      <c:barChart>
        <c:barDir val="col"/>
        <c:grouping val="clustered"/>
        <c:varyColors val="0"/>
        <c:ser>
          <c:idx val="0"/>
          <c:order val="0"/>
          <c:tx>
            <c:strRef>
              <c:f>Sheet1!$B$1</c:f>
              <c:strCache>
                <c:ptCount val="1"/>
                <c:pt idx="0">
                  <c:v>m4.xlarge</c:v>
                </c:pt>
              </c:strCache>
            </c:strRef>
          </c:tx>
          <c:spPr>
            <a:solidFill>
              <a:schemeClr val="accent6"/>
            </a:solidFill>
            <a:ln>
              <a:noFill/>
            </a:ln>
            <a:effectLst/>
          </c:spPr>
          <c:invertIfNegative val="0"/>
          <c:dLbls>
            <c:numFmt formatCode="&quot;$&quot;#,##0.00" sourceLinked="0"/>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56.61</c:v>
                </c:pt>
              </c:numCache>
            </c:numRef>
          </c:val>
          <c:extLst xmlns:c16r2="http://schemas.microsoft.com/office/drawing/2015/06/chart">
            <c:ext xmlns:c16="http://schemas.microsoft.com/office/drawing/2014/chart" uri="{C3380CC4-5D6E-409C-BE32-E72D297353CC}">
              <c16:uniqueId val="{00000000-3403-D24D-8F13-6C9A7FC91071}"/>
            </c:ext>
          </c:extLst>
        </c:ser>
        <c:ser>
          <c:idx val="1"/>
          <c:order val="1"/>
          <c:tx>
            <c:strRef>
              <c:f>Sheet1!$C$1</c:f>
              <c:strCache>
                <c:ptCount val="1"/>
                <c:pt idx="0">
                  <c:v>m5.xlarge</c:v>
                </c:pt>
              </c:strCache>
            </c:strRef>
          </c:tx>
          <c:spPr>
            <a:solidFill>
              <a:schemeClr val="accent5"/>
            </a:solidFill>
            <a:ln>
              <a:noFill/>
            </a:ln>
            <a:effectLst/>
          </c:spPr>
          <c:invertIfNegative val="0"/>
          <c:dLbls>
            <c:numFmt formatCode="&quot;$&quot;#,##0.00" sourceLinked="0"/>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43.08</c:v>
                </c:pt>
              </c:numCache>
            </c:numRef>
          </c:val>
          <c:extLst xmlns:c16r2="http://schemas.microsoft.com/office/drawing/2015/06/chart">
            <c:ext xmlns:c16="http://schemas.microsoft.com/office/drawing/2014/chart" uri="{C3380CC4-5D6E-409C-BE32-E72D297353CC}">
              <c16:uniqueId val="{00000001-3403-D24D-8F13-6C9A7FC91071}"/>
            </c:ext>
          </c:extLst>
        </c:ser>
        <c:dLbls>
          <c:dLblPos val="outEnd"/>
          <c:showLegendKey val="0"/>
          <c:showVal val="1"/>
          <c:showCatName val="0"/>
          <c:showSerName val="0"/>
          <c:showPercent val="0"/>
          <c:showBubbleSize val="0"/>
        </c:dLbls>
        <c:gapWidth val="219"/>
        <c:overlap val="-27"/>
        <c:axId val="428982480"/>
        <c:axId val="428990320"/>
      </c:barChart>
      <c:catAx>
        <c:axId val="428982480"/>
        <c:scaling>
          <c:orientation val="minMax"/>
        </c:scaling>
        <c:delete val="1"/>
        <c:axPos val="b"/>
        <c:numFmt formatCode="General" sourceLinked="1"/>
        <c:majorTickMark val="none"/>
        <c:minorTickMark val="none"/>
        <c:tickLblPos val="nextTo"/>
        <c:crossAx val="428990320"/>
        <c:crosses val="autoZero"/>
        <c:auto val="1"/>
        <c:lblAlgn val="ctr"/>
        <c:lblOffset val="100"/>
        <c:noMultiLvlLbl val="0"/>
      </c:catAx>
      <c:valAx>
        <c:axId val="42899032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0"/>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crossAx val="428982480"/>
        <c:crosses val="autoZero"/>
        <c:crossBetween val="between"/>
      </c:valAx>
      <c:spPr>
        <a:noFill/>
        <a:ln>
          <a:noFill/>
        </a:ln>
        <a:effectLst/>
      </c:spPr>
    </c:plotArea>
    <c:legend>
      <c:legendPos val="b"/>
      <c:layout>
        <c:manualLayout>
          <c:xMode val="edge"/>
          <c:yMode val="edge"/>
          <c:x val="0.19705607652068849"/>
          <c:y val="0.89289125399832014"/>
          <c:w val="0.66958138705784476"/>
          <c:h val="7.1949552370864714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legend>
    <c:plotVisOnly val="1"/>
    <c:dispBlanksAs val="gap"/>
    <c:showDLblsOverMax val="0"/>
  </c:chart>
  <c:spPr>
    <a:noFill/>
    <a:ln>
      <a:noFill/>
    </a:ln>
    <a:effectLst/>
  </c:spPr>
  <c:txPr>
    <a:bodyPr/>
    <a:lstStyle/>
    <a:p>
      <a:pPr>
        <a:defRPr b="1">
          <a:latin typeface="Amazon Ember" panose="020B0603020204020204" pitchFamily="34" charset="0"/>
          <a:ea typeface="Amazon Ember" panose="020B0603020204020204" pitchFamily="34" charset="0"/>
          <a:cs typeface="Amazon Ember" panose="020B0603020204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2" dt="2020-04-09T16:11:48.125" idx="1">
    <p:pos x="6656" y="3200"/>
    <p:text>I thought it was not allowed to do comparisons across instance types?  When you state this, then M5a, R5a need to be included and the config details should be included to substantiate this point.</p:text>
    <p:extLst>
      <p:ext uri="{C676402C-5697-4E1C-873F-D02D1690AC5C}">
        <p15:threadingInfo xmlns:p15="http://schemas.microsoft.com/office/powerpoint/2012/main" timeZoneBias="420"/>
      </p:ext>
    </p:extLst>
  </p:cm>
  <p:cm authorId="1" dt="2020-04-13T15:16:03.883" idx="39">
    <p:pos x="6656" y="3296"/>
    <p:text>Don't know enough about this to comment, will need to talk to Taylor</p:text>
    <p:extLst>
      <p:ext uri="{C676402C-5697-4E1C-873F-D02D1690AC5C}">
        <p15:threadingInfo xmlns:p15="http://schemas.microsoft.com/office/powerpoint/2012/main" timeZoneBias="240">
          <p15:parentCm authorId="2" idx="1"/>
        </p15:threadingInfo>
      </p:ext>
    </p:extLst>
  </p:cm>
  <p:cm authorId="1" dt="2020-04-14T12:39:40.865" idx="40">
    <p:pos x="6656" y="3392"/>
    <p:text>We need to come back to this once C6g/R6g are actually out. A1 instances didn't get wide adoption, so it's not worth pushing this into the content right now.</p:text>
    <p:extLst>
      <p:ext uri="{C676402C-5697-4E1C-873F-D02D1690AC5C}">
        <p15:threadingInfo xmlns:p15="http://schemas.microsoft.com/office/powerpoint/2012/main" timeZoneBias="240">
          <p15:parentCm authorId="2" idx="1"/>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t>6/7/2022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t>‹#›</a:t>
            </a:fld>
            <a:endParaRPr lang="en-US"/>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t>6/7/2022</a:t>
            </a:fld>
            <a:endParaRPr lang="en-US"/>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notesStyle>
    <a:lvl1pPr marL="0" algn="l" defTabSz="913395" rtl="0" eaLnBrk="1" latinLnBrk="0" hangingPunct="1">
      <a:defRPr sz="1200" kern="1200">
        <a:solidFill>
          <a:schemeClr val="tx1"/>
        </a:solidFill>
        <a:latin typeface="+mn-lt"/>
        <a:ea typeface="+mn-ea"/>
        <a:cs typeface="+mn-cs"/>
      </a:defRPr>
    </a:lvl1pPr>
    <a:lvl2pPr marL="456696" algn="l" defTabSz="913395" rtl="0" eaLnBrk="1" latinLnBrk="0" hangingPunct="1">
      <a:defRPr sz="1200" kern="1200">
        <a:solidFill>
          <a:schemeClr val="tx1"/>
        </a:solidFill>
        <a:latin typeface="+mn-lt"/>
        <a:ea typeface="+mn-ea"/>
        <a:cs typeface="+mn-cs"/>
      </a:defRPr>
    </a:lvl2pPr>
    <a:lvl3pPr marL="913395" algn="l" defTabSz="913395" rtl="0" eaLnBrk="1" latinLnBrk="0" hangingPunct="1">
      <a:defRPr sz="1200" kern="1200">
        <a:solidFill>
          <a:schemeClr val="tx1"/>
        </a:solidFill>
        <a:latin typeface="+mn-lt"/>
        <a:ea typeface="+mn-ea"/>
        <a:cs typeface="+mn-cs"/>
      </a:defRPr>
    </a:lvl3pPr>
    <a:lvl4pPr marL="1370091" algn="l" defTabSz="913395" rtl="0" eaLnBrk="1" latinLnBrk="0" hangingPunct="1">
      <a:defRPr sz="1200" kern="1200">
        <a:solidFill>
          <a:schemeClr val="tx1"/>
        </a:solidFill>
        <a:latin typeface="+mn-lt"/>
        <a:ea typeface="+mn-ea"/>
        <a:cs typeface="+mn-cs"/>
      </a:defRPr>
    </a:lvl4pPr>
    <a:lvl5pPr marL="1826787" algn="l" defTabSz="913395" rtl="0" eaLnBrk="1" latinLnBrk="0" hangingPunct="1">
      <a:defRPr sz="1200" kern="1200">
        <a:solidFill>
          <a:schemeClr val="tx1"/>
        </a:solidFill>
        <a:latin typeface="+mn-lt"/>
        <a:ea typeface="+mn-ea"/>
        <a:cs typeface="+mn-cs"/>
      </a:defRPr>
    </a:lvl5pPr>
    <a:lvl6pPr marL="2283486" algn="l" defTabSz="913395" rtl="0" eaLnBrk="1" latinLnBrk="0" hangingPunct="1">
      <a:defRPr sz="1200" kern="1200">
        <a:solidFill>
          <a:schemeClr val="tx1"/>
        </a:solidFill>
        <a:latin typeface="+mn-lt"/>
        <a:ea typeface="+mn-ea"/>
        <a:cs typeface="+mn-cs"/>
      </a:defRPr>
    </a:lvl6pPr>
    <a:lvl7pPr marL="2740183" algn="l" defTabSz="913395" rtl="0" eaLnBrk="1" latinLnBrk="0" hangingPunct="1">
      <a:defRPr sz="1200" kern="1200">
        <a:solidFill>
          <a:schemeClr val="tx1"/>
        </a:solidFill>
        <a:latin typeface="+mn-lt"/>
        <a:ea typeface="+mn-ea"/>
        <a:cs typeface="+mn-cs"/>
      </a:defRPr>
    </a:lvl7pPr>
    <a:lvl8pPr marL="3196881" algn="l" defTabSz="913395" rtl="0" eaLnBrk="1" latinLnBrk="0" hangingPunct="1">
      <a:defRPr sz="1200" kern="1200">
        <a:solidFill>
          <a:schemeClr val="tx1"/>
        </a:solidFill>
        <a:latin typeface="+mn-lt"/>
        <a:ea typeface="+mn-ea"/>
        <a:cs typeface="+mn-cs"/>
      </a:defRPr>
    </a:lvl8pPr>
    <a:lvl9pPr marL="3653578" algn="l" defTabSz="91339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aws.amazon.com/AWSEC2/latest/UserGuide/AMI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aws.amazon.com/AWSEC2/latest/UserGuide/AMIs.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ocs.aws.amazon.com/AWSEC2/latest/UserGuide/ec2-instance-metadata.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cs.aws.amazon.com/AWSEC2/latest/UserGuide/AmazonEBS.html"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docs.aws.amazon.com/AWSEC2/latest/UserGuide/InstanceStorage.html"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aws.amazon.com/AWSEC2/latest/UserGuide/EBSVolumeTypes.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aws.amazon.com/AWSEC2/latest/UserGuide/EBSOptimized.html"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aws.amazon.com/blogs/aws/new-hibernate-your-ec2-instances/"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aws.amazon.com/about-aws/whats-new/2018/11/amazon-efs-now-supports-access-across-accounts-and-vpcs/"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s://docs.aws.amazon.com/efs/latest/ug/mounting-fs-old.html" TargetMode="External"/><Relationship Id="rId4" Type="http://schemas.openxmlformats.org/officeDocument/2006/relationships/hyperlink" Target="https://docs.aws.amazon.com/efs/latest/ug/manage-fs-access-vpc-peering.html"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aws.amazon.com/ec2/instance-types/t3/"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aws.amazon.com/about-aws/whats-new/2018/11/introducing-elastic-fabric-adapter/"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dbbest.com/blog/validating-aws-ec2-sql-server-deployments-using-benchmark-tools/"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aws.amazon.com/free/"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d0.awsstatic.com/whitepapers/aws_pricing_overview.pdf" TargetMode="Externa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docs.aws.amazon.com/aws-technical-content/latest/cost-optimization-reservation-models/introduction.html"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aws.amazon.com/about-aws/whats-new/2018/11/announcing-aws-license-manager/"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aws.amazon.com/ec2/dedicated-hosts/"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docs.aws.amazon.com/AWSEC2/latest/UserGuide/dedicated-instance.html#dedicated-change-tenancy"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aws.amazon.com/answers/account-management/aws-tagging-strategies/"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docs.aws.amazon.com/resourcegroupstagging/latest/APIReference/Welcome.html"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4064815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u="none">
                <a:latin typeface="Calibri" panose="020F0502020204030204" pitchFamily="34" charset="0"/>
              </a:rPr>
              <a:t>By the end of class, you will be able to understand all of the components of this architectural diagram. You will also be able to construct your own architectural solutions that are just as large and robust. </a:t>
            </a:r>
          </a:p>
        </p:txBody>
      </p:sp>
    </p:spTree>
    <p:extLst>
      <p:ext uri="{BB962C8B-B14F-4D97-AF65-F5344CB8AC3E}">
        <p14:creationId xmlns:p14="http://schemas.microsoft.com/office/powerpoint/2010/main" val="3651809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507424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421992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Amazon EC2 is just like your traditional on-premises server, but it is available in the cloud. It can support workloads such as web hosting, applications, databases, authentication services, and anything else a server can do.</a:t>
            </a:r>
          </a:p>
          <a:p>
            <a:r>
              <a:rPr lang="en-US" kern="1200">
                <a:solidFill>
                  <a:schemeClr val="tx1"/>
                </a:solidFill>
                <a:effectLst/>
                <a:latin typeface="Calibri" panose="020F0502020204030204" pitchFamily="34" charset="0"/>
                <a:ea typeface="+mn-ea"/>
                <a:cs typeface="+mn-cs"/>
              </a:rPr>
              <a:t> </a:t>
            </a:r>
          </a:p>
          <a:p>
            <a:endParaRPr lang="en-US"/>
          </a:p>
        </p:txBody>
      </p:sp>
    </p:spTree>
    <p:extLst>
      <p:ext uri="{BB962C8B-B14F-4D97-AF65-F5344CB8AC3E}">
        <p14:creationId xmlns:p14="http://schemas.microsoft.com/office/powerpoint/2010/main" val="299383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Calibri" panose="020F0502020204030204" pitchFamily="34" charset="0"/>
                <a:ea typeface="+mn-ea"/>
                <a:cs typeface="+mn-cs"/>
              </a:rPr>
              <a:t>On AWS, servers, databases, storage, and higher-level application components can be instantiated within seconds. You can treat these as temporary and disposable resources, free from the inflexibility and constraints of a fixed and finite IT infrastructure. This resets the way you approach change management, testing, reliability, and capacity planning. </a:t>
            </a:r>
          </a:p>
          <a:p>
            <a:endParaRPr lang="en-US"/>
          </a:p>
        </p:txBody>
      </p:sp>
    </p:spTree>
    <p:extLst>
      <p:ext uri="{BB962C8B-B14F-4D97-AF65-F5344CB8AC3E}">
        <p14:creationId xmlns:p14="http://schemas.microsoft.com/office/powerpoint/2010/main" val="3537998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3672793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Calibri" panose="020F0502020204030204" pitchFamily="34" charset="0"/>
                <a:ea typeface="+mn-ea"/>
                <a:cs typeface="+mn-cs"/>
              </a:rPr>
              <a:t>An </a:t>
            </a:r>
            <a:r>
              <a:rPr lang="en-US" b="0" i="1" kern="1200">
                <a:solidFill>
                  <a:schemeClr val="tx1"/>
                </a:solidFill>
                <a:effectLst/>
                <a:latin typeface="Calibri" panose="020F0502020204030204" pitchFamily="34" charset="0"/>
                <a:ea typeface="+mn-ea"/>
                <a:cs typeface="+mn-cs"/>
              </a:rPr>
              <a:t>Amazon Machine Image (AMI)</a:t>
            </a:r>
            <a:r>
              <a:rPr lang="en-US" b="0" i="0" kern="1200">
                <a:solidFill>
                  <a:schemeClr val="tx1"/>
                </a:solidFill>
                <a:effectLst/>
                <a:latin typeface="Calibri" panose="020F0502020204030204" pitchFamily="34" charset="0"/>
                <a:ea typeface="+mn-ea"/>
                <a:cs typeface="+mn-cs"/>
              </a:rPr>
              <a:t> provides the information required to launch an </a:t>
            </a:r>
            <a:r>
              <a:rPr lang="en-US" b="0" i="1" kern="1200">
                <a:solidFill>
                  <a:schemeClr val="tx1"/>
                </a:solidFill>
                <a:effectLst/>
                <a:latin typeface="Calibri" panose="020F0502020204030204" pitchFamily="34" charset="0"/>
                <a:ea typeface="+mn-ea"/>
                <a:cs typeface="+mn-cs"/>
              </a:rPr>
              <a:t>instance</a:t>
            </a:r>
            <a:r>
              <a:rPr lang="en-US" b="0" i="0" kern="1200">
                <a:solidFill>
                  <a:schemeClr val="tx1"/>
                </a:solidFill>
                <a:effectLst/>
                <a:latin typeface="Calibri" panose="020F0502020204030204" pitchFamily="34" charset="0"/>
                <a:ea typeface="+mn-ea"/>
                <a:cs typeface="+mn-cs"/>
              </a:rPr>
              <a:t>, which is a virtual server in the cloud. You must specify a source AMI when you launch an instance. You can launch multiple instances from a single AMI when you need multiple instances with the same configuration. For example, you can use </a:t>
            </a:r>
            <a:r>
              <a:rPr lang="en-US" b="0" i="0" kern="1200" baseline="0">
                <a:solidFill>
                  <a:schemeClr val="tx1"/>
                </a:solidFill>
                <a:effectLst/>
                <a:latin typeface="Calibri" panose="020F0502020204030204" pitchFamily="34" charset="0"/>
                <a:ea typeface="+mn-ea"/>
                <a:cs typeface="+mn-cs"/>
              </a:rPr>
              <a:t>a single AMI to</a:t>
            </a:r>
            <a:r>
              <a:rPr lang="en-US" b="0" i="0" kern="1200">
                <a:solidFill>
                  <a:schemeClr val="tx1"/>
                </a:solidFill>
                <a:effectLst/>
                <a:latin typeface="Calibri" panose="020F0502020204030204" pitchFamily="34" charset="0"/>
                <a:ea typeface="+mn-ea"/>
                <a:cs typeface="+mn-cs"/>
              </a:rPr>
              <a:t> launch a cluster</a:t>
            </a:r>
            <a:r>
              <a:rPr lang="en-US" b="0" i="0" kern="1200" baseline="0">
                <a:solidFill>
                  <a:schemeClr val="tx1"/>
                </a:solidFill>
                <a:effectLst/>
                <a:latin typeface="Calibri" panose="020F0502020204030204" pitchFamily="34" charset="0"/>
                <a:ea typeface="+mn-ea"/>
                <a:cs typeface="+mn-cs"/>
              </a:rPr>
              <a:t> </a:t>
            </a:r>
            <a:r>
              <a:rPr lang="en-US" b="0" i="0" kern="1200">
                <a:solidFill>
                  <a:schemeClr val="tx1"/>
                </a:solidFill>
                <a:effectLst/>
                <a:latin typeface="Calibri" panose="020F0502020204030204" pitchFamily="34" charset="0"/>
                <a:ea typeface="+mn-ea"/>
                <a:cs typeface="+mn-cs"/>
              </a:rPr>
              <a:t>of instances</a:t>
            </a:r>
            <a:r>
              <a:rPr lang="en-US" b="0" i="0" kern="1200" baseline="0">
                <a:solidFill>
                  <a:schemeClr val="tx1"/>
                </a:solidFill>
                <a:effectLst/>
                <a:latin typeface="Calibri" panose="020F0502020204030204" pitchFamily="34" charset="0"/>
                <a:ea typeface="+mn-ea"/>
                <a:cs typeface="+mn-cs"/>
              </a:rPr>
              <a:t> (</a:t>
            </a:r>
            <a:r>
              <a:rPr lang="en-US" b="0" i="0" kern="1200">
                <a:solidFill>
                  <a:schemeClr val="tx1"/>
                </a:solidFill>
                <a:effectLst/>
                <a:latin typeface="Calibri" panose="020F0502020204030204" pitchFamily="34" charset="0"/>
                <a:ea typeface="+mn-ea"/>
                <a:cs typeface="+mn-cs"/>
              </a:rPr>
              <a:t>identical</a:t>
            </a:r>
            <a:r>
              <a:rPr lang="en-US" b="0" i="0" kern="1200" baseline="0">
                <a:solidFill>
                  <a:schemeClr val="tx1"/>
                </a:solidFill>
                <a:effectLst/>
                <a:latin typeface="Calibri" panose="020F0502020204030204" pitchFamily="34" charset="0"/>
                <a:ea typeface="+mn-ea"/>
                <a:cs typeface="+mn-cs"/>
              </a:rPr>
              <a:t> except for their IP address)</a:t>
            </a:r>
            <a:r>
              <a:rPr lang="en-US" b="0" i="0" kern="1200">
                <a:solidFill>
                  <a:schemeClr val="tx1"/>
                </a:solidFill>
                <a:effectLst/>
                <a:latin typeface="Calibri" panose="020F0502020204030204" pitchFamily="34" charset="0"/>
                <a:ea typeface="+mn-ea"/>
                <a:cs typeface="+mn-cs"/>
              </a:rPr>
              <a:t> </a:t>
            </a:r>
            <a:r>
              <a:rPr lang="en-US" b="0" i="0" kern="1200" baseline="0">
                <a:solidFill>
                  <a:schemeClr val="tx1"/>
                </a:solidFill>
                <a:effectLst/>
                <a:latin typeface="Calibri" panose="020F0502020204030204" pitchFamily="34" charset="0"/>
                <a:ea typeface="+mn-ea"/>
                <a:cs typeface="+mn-cs"/>
              </a:rPr>
              <a:t>to be placed beneath a load balancer. </a:t>
            </a:r>
            <a:r>
              <a:rPr lang="en-US" b="0" i="0" kern="1200">
                <a:solidFill>
                  <a:schemeClr val="tx1"/>
                </a:solidFill>
                <a:effectLst/>
                <a:latin typeface="Calibri" panose="020F0502020204030204" pitchFamily="34" charset="0"/>
                <a:ea typeface="+mn-ea"/>
                <a:cs typeface="+mn-cs"/>
              </a:rPr>
              <a:t>You can also use different AMIs to launch different types of instance. For example, I might have one AMI to implement</a:t>
            </a:r>
            <a:r>
              <a:rPr lang="en-US" b="0" i="0" kern="1200" baseline="0">
                <a:solidFill>
                  <a:schemeClr val="tx1"/>
                </a:solidFill>
                <a:effectLst/>
                <a:latin typeface="Calibri" panose="020F0502020204030204" pitchFamily="34" charset="0"/>
                <a:ea typeface="+mn-ea"/>
                <a:cs typeface="+mn-cs"/>
              </a:rPr>
              <a:t> </a:t>
            </a:r>
            <a:r>
              <a:rPr lang="en-US" b="0" i="0" kern="1200">
                <a:solidFill>
                  <a:schemeClr val="tx1"/>
                </a:solidFill>
                <a:effectLst/>
                <a:latin typeface="Calibri" panose="020F0502020204030204" pitchFamily="34" charset="0"/>
                <a:ea typeface="+mn-ea"/>
                <a:cs typeface="+mn-cs"/>
              </a:rPr>
              <a:t>web server instances in my</a:t>
            </a:r>
            <a:r>
              <a:rPr lang="en-US" b="0" i="0" kern="1200" baseline="0">
                <a:solidFill>
                  <a:schemeClr val="tx1"/>
                </a:solidFill>
                <a:effectLst/>
                <a:latin typeface="Calibri" panose="020F0502020204030204" pitchFamily="34" charset="0"/>
                <a:ea typeface="+mn-ea"/>
                <a:cs typeface="+mn-cs"/>
              </a:rPr>
              <a:t> architecture, and another to implement application server instances.</a:t>
            </a:r>
            <a:endParaRPr lang="en-US" b="0" i="0"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4189455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Calibri" panose="020F0502020204030204" pitchFamily="34" charset="0"/>
                <a:ea typeface="+mn-ea"/>
                <a:cs typeface="+mn-cs"/>
              </a:rPr>
              <a:t>An AMI includes the following:</a:t>
            </a:r>
          </a:p>
          <a:p>
            <a:pPr marL="171450" marR="0" indent="-171450" algn="l" defTabSz="91339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kern="1200">
                <a:solidFill>
                  <a:schemeClr val="tx1"/>
                </a:solidFill>
                <a:effectLst/>
                <a:latin typeface="Calibri" panose="020F0502020204030204" pitchFamily="34" charset="0"/>
                <a:ea typeface="+mn-ea"/>
                <a:cs typeface="+mn-cs"/>
              </a:rPr>
              <a:t>One or more EBS snapshots, or, for instance-store-backed AMIs, a template for the root volume of the instance</a:t>
            </a:r>
            <a:r>
              <a:rPr lang="en-US" b="0" i="0" kern="1200" baseline="0">
                <a:solidFill>
                  <a:schemeClr val="tx1"/>
                </a:solidFill>
                <a:effectLst/>
                <a:latin typeface="Calibri" panose="020F0502020204030204" pitchFamily="34" charset="0"/>
                <a:ea typeface="+mn-ea"/>
                <a:cs typeface="+mn-cs"/>
              </a:rPr>
              <a:t>. A root volume typically</a:t>
            </a:r>
            <a:r>
              <a:rPr lang="en-US" b="0" i="0" kern="1200">
                <a:solidFill>
                  <a:schemeClr val="tx1"/>
                </a:solidFill>
                <a:effectLst/>
                <a:latin typeface="Calibri" panose="020F0502020204030204" pitchFamily="34" charset="0"/>
                <a:ea typeface="+mn-ea"/>
                <a:cs typeface="+mn-cs"/>
              </a:rPr>
              <a:t> </a:t>
            </a:r>
            <a:r>
              <a:rPr lang="en-US" b="0" i="0" kern="1200" baseline="0">
                <a:solidFill>
                  <a:schemeClr val="tx1"/>
                </a:solidFill>
                <a:effectLst/>
                <a:latin typeface="Calibri" panose="020F0502020204030204" pitchFamily="34" charset="0"/>
                <a:ea typeface="+mn-ea"/>
                <a:cs typeface="+mn-cs"/>
              </a:rPr>
              <a:t>contains </a:t>
            </a:r>
            <a:r>
              <a:rPr lang="en-US" b="0" i="0" kern="1200">
                <a:solidFill>
                  <a:schemeClr val="tx1"/>
                </a:solidFill>
                <a:effectLst/>
                <a:latin typeface="Calibri" panose="020F0502020204030204" pitchFamily="34" charset="0"/>
                <a:ea typeface="+mn-ea"/>
                <a:cs typeface="+mn-cs"/>
              </a:rPr>
              <a:t>a</a:t>
            </a:r>
            <a:r>
              <a:rPr lang="en-US" b="0" i="0" kern="1200" baseline="0">
                <a:solidFill>
                  <a:schemeClr val="tx1"/>
                </a:solidFill>
                <a:effectLst/>
                <a:latin typeface="Calibri" panose="020F0502020204030204" pitchFamily="34" charset="0"/>
                <a:ea typeface="+mn-ea"/>
                <a:cs typeface="+mn-cs"/>
              </a:rPr>
              <a:t> full</a:t>
            </a:r>
            <a:r>
              <a:rPr lang="en-US" b="0" i="0" kern="1200">
                <a:solidFill>
                  <a:schemeClr val="tx1"/>
                </a:solidFill>
                <a:effectLst/>
                <a:latin typeface="Calibri" panose="020F0502020204030204" pitchFamily="34" charset="0"/>
                <a:ea typeface="+mn-ea"/>
                <a:cs typeface="+mn-cs"/>
              </a:rPr>
              <a:t> operating system (OS) and everything</a:t>
            </a:r>
            <a:r>
              <a:rPr lang="en-US" b="0" i="0" kern="1200" baseline="0">
                <a:solidFill>
                  <a:schemeClr val="tx1"/>
                </a:solidFill>
                <a:effectLst/>
                <a:latin typeface="Calibri" panose="020F0502020204030204" pitchFamily="34" charset="0"/>
                <a:ea typeface="+mn-ea"/>
                <a:cs typeface="+mn-cs"/>
              </a:rPr>
              <a:t> that has been </a:t>
            </a:r>
            <a:r>
              <a:rPr lang="en-US" b="0" i="0" kern="1200">
                <a:solidFill>
                  <a:schemeClr val="tx1"/>
                </a:solidFill>
                <a:effectLst/>
                <a:latin typeface="Calibri" panose="020F0502020204030204" pitchFamily="34" charset="0"/>
                <a:ea typeface="+mn-ea"/>
                <a:cs typeface="+mn-cs"/>
              </a:rPr>
              <a:t>installed into that </a:t>
            </a:r>
            <a:r>
              <a:rPr lang="en-US" b="0" i="0" kern="1200" baseline="0">
                <a:solidFill>
                  <a:schemeClr val="tx1"/>
                </a:solidFill>
                <a:effectLst/>
                <a:latin typeface="Calibri" panose="020F0502020204030204" pitchFamily="34" charset="0"/>
                <a:ea typeface="+mn-ea"/>
                <a:cs typeface="+mn-cs"/>
              </a:rPr>
              <a:t>OS (the applications, libraries, utilities, and so on</a:t>
            </a:r>
            <a:r>
              <a:rPr lang="en-US" b="0" i="0" kern="1200">
                <a:solidFill>
                  <a:schemeClr val="tx1"/>
                </a:solidFill>
                <a:effectLst/>
                <a:latin typeface="Calibri" panose="020F0502020204030204" pitchFamily="34" charset="0"/>
                <a:ea typeface="+mn-ea"/>
                <a:cs typeface="+mn-cs"/>
              </a:rPr>
              <a:t>). The EC2 service copies</a:t>
            </a:r>
            <a:r>
              <a:rPr lang="en-US" b="0" i="0" kern="1200" baseline="0">
                <a:solidFill>
                  <a:schemeClr val="tx1"/>
                </a:solidFill>
                <a:effectLst/>
                <a:latin typeface="Calibri" panose="020F0502020204030204" pitchFamily="34" charset="0"/>
                <a:ea typeface="+mn-ea"/>
                <a:cs typeface="+mn-cs"/>
              </a:rPr>
              <a:t> the template to the root volume of a new EC2 instance and then starts it up.</a:t>
            </a:r>
            <a:endParaRPr lang="en-US" b="0" i="0"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kern="1200">
                <a:solidFill>
                  <a:schemeClr val="tx1"/>
                </a:solidFill>
                <a:effectLst/>
                <a:latin typeface="Calibri" panose="020F0502020204030204" pitchFamily="34" charset="0"/>
                <a:ea typeface="+mn-ea"/>
                <a:cs typeface="+mn-cs"/>
              </a:rPr>
              <a:t>Launch permissions that control which AWS accounts can use the AMI to launch instances</a:t>
            </a:r>
          </a:p>
          <a:p>
            <a:pPr marL="171450" indent="-171450">
              <a:buFont typeface="Arial" panose="020B0604020202020204" pitchFamily="34" charset="0"/>
              <a:buChar char="•"/>
            </a:pPr>
            <a:r>
              <a:rPr lang="en-US" b="0" i="0" kern="1200">
                <a:solidFill>
                  <a:schemeClr val="tx1"/>
                </a:solidFill>
                <a:effectLst/>
                <a:latin typeface="Calibri" panose="020F0502020204030204" pitchFamily="34" charset="0"/>
                <a:ea typeface="+mn-ea"/>
                <a:cs typeface="+mn-cs"/>
              </a:rPr>
              <a:t>A block device mapping that specifies the volumes to attach to the instance (if any) when it's launched</a:t>
            </a:r>
          </a:p>
          <a:p>
            <a:endParaRPr lang="en-US" b="0" i="0"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rPr>
              <a:t>For more information about AMIs, see </a:t>
            </a:r>
            <a:r>
              <a:rPr lang="en-US">
                <a:latin typeface="Calibri" panose="020F0502020204030204" pitchFamily="34" charset="0"/>
                <a:hlinkClick r:id="rId3"/>
              </a:rPr>
              <a:t>https://docs.aws.amazon.com/AWSEC2/latest/UserGuide/AMIs.html</a:t>
            </a:r>
            <a:endParaRPr lang="en-US"/>
          </a:p>
          <a:p>
            <a:endParaRPr lang="en-US">
              <a:latin typeface="Calibri" panose="020F0502020204030204" pitchFamily="34" charset="0"/>
            </a:endParaRPr>
          </a:p>
        </p:txBody>
      </p:sp>
    </p:spTree>
    <p:extLst>
      <p:ext uri="{BB962C8B-B14F-4D97-AF65-F5344CB8AC3E}">
        <p14:creationId xmlns:p14="http://schemas.microsoft.com/office/powerpoint/2010/main" val="2808587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566030"/>
          </a:xfrm>
        </p:spPr>
        <p:txBody>
          <a:bodyPr/>
          <a:lstStyle/>
          <a:p>
            <a:r>
              <a:rPr lang="en-US" b="1" kern="1200">
                <a:solidFill>
                  <a:schemeClr val="tx1"/>
                </a:solidFill>
                <a:effectLst/>
                <a:latin typeface="Calibri" panose="020F0502020204030204" pitchFamily="34" charset="0"/>
                <a:ea typeface="+mn-ea"/>
                <a:cs typeface="+mn-cs"/>
              </a:rPr>
              <a:t>Pre-Built:</a:t>
            </a:r>
            <a:r>
              <a:rPr lang="en-US" b="1"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Amazon offers a number of prebuilt AMIs to launch your instances. These AMIs include Linux and Windows options, with various sub-options to tailor your setup.</a:t>
            </a:r>
          </a:p>
          <a:p>
            <a:endParaRPr lang="en-US" kern="1200">
              <a:solidFill>
                <a:schemeClr val="tx1"/>
              </a:solidFill>
              <a:effectLst/>
              <a:latin typeface="Calibri" panose="020F0502020204030204" pitchFamily="34" charset="0"/>
              <a:ea typeface="+mn-ea"/>
              <a:cs typeface="+mn-cs"/>
            </a:endParaRPr>
          </a:p>
          <a:p>
            <a:r>
              <a:rPr lang="en-US" b="1" kern="1200">
                <a:solidFill>
                  <a:schemeClr val="tx1"/>
                </a:solidFill>
                <a:effectLst/>
                <a:latin typeface="Calibri" panose="020F0502020204030204" pitchFamily="34" charset="0"/>
                <a:ea typeface="+mn-ea"/>
                <a:cs typeface="+mn-cs"/>
              </a:rPr>
              <a:t>AWS Marketplace:</a:t>
            </a:r>
            <a:r>
              <a:rPr lang="en-US" b="1"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The AWS Marketplace offers a digital catalog with thousands of software solutions listed. These AMIs can offer specific use cases to help you get started quickly</a:t>
            </a:r>
          </a:p>
          <a:p>
            <a:endParaRPr lang="en-US" b="1" kern="1200">
              <a:solidFill>
                <a:schemeClr val="tx1"/>
              </a:solidFill>
              <a:effectLst/>
              <a:latin typeface="Calibri" panose="020F0502020204030204" pitchFamily="34" charset="0"/>
              <a:ea typeface="+mn-ea"/>
              <a:cs typeface="+mn-cs"/>
            </a:endParaRPr>
          </a:p>
          <a:p>
            <a:r>
              <a:rPr lang="en-US" b="1" kern="1200">
                <a:solidFill>
                  <a:schemeClr val="tx1"/>
                </a:solidFill>
                <a:effectLst/>
                <a:latin typeface="Calibri" panose="020F0502020204030204" pitchFamily="34" charset="0"/>
                <a:ea typeface="+mn-ea"/>
                <a:cs typeface="+mn-cs"/>
              </a:rPr>
              <a:t>Create your own:</a:t>
            </a:r>
            <a:r>
              <a:rPr lang="en-US" b="1"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An AMI is simply an anonymized, block-level copy of the root volume of a “donor machine” or “golden instance” – a virtual machine (VM) that you’ve configured with the specific OS and application content you want placed on the AMI. When you create an AMI, Amazon EC2 stops the instance, snapshots its root volume, and finally registers the snapshot as an AMI.</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There are also </a:t>
            </a:r>
            <a:r>
              <a:rPr lang="en-US" b="1" kern="1200">
                <a:solidFill>
                  <a:schemeClr val="tx1"/>
                </a:solidFill>
                <a:effectLst/>
                <a:latin typeface="Calibri" panose="020F0502020204030204" pitchFamily="34" charset="0"/>
                <a:ea typeface="+mn-ea"/>
                <a:cs typeface="+mn-cs"/>
              </a:rPr>
              <a:t>community AMIs </a:t>
            </a:r>
            <a:r>
              <a:rPr lang="en-US" kern="1200">
                <a:solidFill>
                  <a:schemeClr val="tx1"/>
                </a:solidFill>
                <a:effectLst/>
                <a:latin typeface="Calibri" panose="020F0502020204030204" pitchFamily="34" charset="0"/>
                <a:ea typeface="+mn-ea"/>
                <a:cs typeface="+mn-cs"/>
              </a:rPr>
              <a:t>created by people all over the globe. These AMIs are not vetted by AWS and are used at your own risk. These AMIs can offer many different solutions to various problems, but please use them with great care. Do not use them in any production/corporate environment.</a:t>
            </a:r>
          </a:p>
          <a:p>
            <a:r>
              <a:rPr lang="en-US" u="none" strike="noStrike" kern="1200">
                <a:solidFill>
                  <a:schemeClr val="tx1"/>
                </a:solidFill>
                <a:effectLst/>
                <a:latin typeface="Calibri" panose="020F0502020204030204" pitchFamily="34" charset="0"/>
                <a:ea typeface="+mn-ea"/>
                <a:cs typeface="+mn-cs"/>
              </a:rPr>
              <a:t> </a:t>
            </a:r>
            <a:endParaRPr lang="en-US" i="0" u="none"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i="0" u="none" kern="1200">
                <a:solidFill>
                  <a:schemeClr val="tx1"/>
                </a:solidFill>
                <a:effectLst/>
                <a:latin typeface="Calibri" panose="020F0502020204030204" pitchFamily="34" charset="0"/>
                <a:ea typeface="+mn-ea"/>
                <a:cs typeface="+mn-cs"/>
              </a:rPr>
              <a:t>For more information about</a:t>
            </a:r>
            <a:r>
              <a:rPr lang="en-US" i="0" u="none" kern="1200" baseline="0">
                <a:solidFill>
                  <a:schemeClr val="tx1"/>
                </a:solidFill>
                <a:effectLst/>
                <a:latin typeface="Calibri" panose="020F0502020204030204" pitchFamily="34" charset="0"/>
                <a:ea typeface="+mn-ea"/>
                <a:cs typeface="+mn-cs"/>
              </a:rPr>
              <a:t> AMIs, see </a:t>
            </a:r>
            <a:r>
              <a:rPr lang="en-US" u="sng">
                <a:latin typeface="Calibri" panose="020F0502020204030204" pitchFamily="34" charset="0"/>
                <a:hlinkClick r:id="rId3"/>
              </a:rPr>
              <a:t>https://docs.aws.amazon.com/AWSEC2/latest/UserGuide/AMIs.html</a:t>
            </a:r>
            <a:endParaRPr lang="en-US"/>
          </a:p>
          <a:p>
            <a:endParaRPr lang="en-US" u="none"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 </a:t>
            </a:r>
          </a:p>
          <a:p>
            <a:endParaRPr lang="en-US"/>
          </a:p>
        </p:txBody>
      </p:sp>
    </p:spTree>
    <p:extLst>
      <p:ext uri="{BB962C8B-B14F-4D97-AF65-F5344CB8AC3E}">
        <p14:creationId xmlns:p14="http://schemas.microsoft.com/office/powerpoint/2010/main" val="475483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Using AMIs solves a whole host of problems. First,</a:t>
            </a:r>
            <a:r>
              <a:rPr lang="en-US" kern="1200" baseline="0">
                <a:solidFill>
                  <a:schemeClr val="tx1"/>
                </a:solidFill>
                <a:effectLst/>
                <a:latin typeface="Calibri" panose="020F0502020204030204" pitchFamily="34" charset="0"/>
                <a:ea typeface="+mn-ea"/>
                <a:cs typeface="+mn-cs"/>
              </a:rPr>
              <a:t> r</a:t>
            </a:r>
            <a:r>
              <a:rPr lang="en-US" kern="1200">
                <a:solidFill>
                  <a:schemeClr val="tx1"/>
                </a:solidFill>
                <a:effectLst/>
                <a:latin typeface="Calibri" panose="020F0502020204030204" pitchFamily="34" charset="0"/>
                <a:ea typeface="+mn-ea"/>
                <a:cs typeface="+mn-cs"/>
              </a:rPr>
              <a:t>epeatability: instances launched from the same AMI</a:t>
            </a:r>
            <a:r>
              <a:rPr lang="en-US" kern="1200" baseline="0">
                <a:solidFill>
                  <a:schemeClr val="tx1"/>
                </a:solidFill>
                <a:effectLst/>
                <a:latin typeface="Calibri" panose="020F0502020204030204" pitchFamily="34" charset="0"/>
                <a:ea typeface="+mn-ea"/>
                <a:cs typeface="+mn-cs"/>
              </a:rPr>
              <a:t> are exact replicas of one another. That makes building clusters of similar instances or recreating compute environments considerably easier</a:t>
            </a:r>
            <a:r>
              <a:rPr lang="en-US" kern="1200">
                <a:solidFill>
                  <a:schemeClr val="tx1"/>
                </a:solidFill>
                <a:effectLst/>
                <a:latin typeface="Calibri" panose="020F0502020204030204" pitchFamily="34" charset="0"/>
                <a:ea typeface="+mn-ea"/>
                <a:cs typeface="+mn-cs"/>
              </a:rPr>
              <a:t>.	</a:t>
            </a:r>
          </a:p>
          <a:p>
            <a:endParaRPr lang="en-US"/>
          </a:p>
        </p:txBody>
      </p:sp>
    </p:spTree>
    <p:extLst>
      <p:ext uri="{BB962C8B-B14F-4D97-AF65-F5344CB8AC3E}">
        <p14:creationId xmlns:p14="http://schemas.microsoft.com/office/powerpoint/2010/main" val="1876067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Reusability: AMIs </a:t>
            </a:r>
            <a:r>
              <a:rPr lang="en-US" kern="1200" baseline="0">
                <a:solidFill>
                  <a:schemeClr val="tx1"/>
                </a:solidFill>
                <a:effectLst/>
                <a:latin typeface="Calibri" panose="020F0502020204030204" pitchFamily="34" charset="0"/>
                <a:ea typeface="+mn-ea"/>
                <a:cs typeface="+mn-cs"/>
              </a:rPr>
              <a:t>package the full configuration and content of an EC2 instance such that it can be used over and over again, with efficiency and precision.</a:t>
            </a:r>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 </a:t>
            </a:r>
          </a:p>
        </p:txBody>
      </p:sp>
    </p:spTree>
    <p:extLst>
      <p:ext uri="{BB962C8B-B14F-4D97-AF65-F5344CB8AC3E}">
        <p14:creationId xmlns:p14="http://schemas.microsoft.com/office/powerpoint/2010/main" val="761381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Recoverability: An AMI is perfect for replacing failed machines with new instances created from the same AMI.</a:t>
            </a:r>
          </a:p>
          <a:p>
            <a:r>
              <a:rPr lang="en-US" kern="1200">
                <a:solidFill>
                  <a:schemeClr val="tx1"/>
                </a:solidFill>
                <a:effectLst/>
                <a:latin typeface="Calibri" panose="020F0502020204030204" pitchFamily="34" charset="0"/>
                <a:ea typeface="+mn-ea"/>
                <a:cs typeface="+mn-cs"/>
              </a:rPr>
              <a:t> </a:t>
            </a:r>
          </a:p>
        </p:txBody>
      </p:sp>
    </p:spTree>
    <p:extLst>
      <p:ext uri="{BB962C8B-B14F-4D97-AF65-F5344CB8AC3E}">
        <p14:creationId xmlns:p14="http://schemas.microsoft.com/office/powerpoint/2010/main" val="2250207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AWS Marketplace: If you are looking for a software</a:t>
            </a:r>
            <a:r>
              <a:rPr lang="en-US"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solution from a specific</a:t>
            </a:r>
            <a:r>
              <a:rPr lang="en-US"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vendor, there is probably an AMI on the marketplace you can launch to implement that</a:t>
            </a:r>
            <a:r>
              <a:rPr lang="en-US" kern="1200" baseline="0">
                <a:solidFill>
                  <a:schemeClr val="tx1"/>
                </a:solidFill>
                <a:effectLst/>
                <a:latin typeface="Calibri" panose="020F0502020204030204" pitchFamily="34" charset="0"/>
                <a:ea typeface="+mn-ea"/>
                <a:cs typeface="+mn-cs"/>
              </a:rPr>
              <a:t> solution on an EC2 instance</a:t>
            </a:r>
            <a:r>
              <a:rPr lang="en-US" kern="1200">
                <a:solidFill>
                  <a:schemeClr val="tx1"/>
                </a:solidFill>
                <a:effectLst/>
                <a:latin typeface="Calibri" panose="020F0502020204030204" pitchFamily="34" charset="0"/>
                <a:ea typeface="+mn-ea"/>
                <a:cs typeface="+mn-cs"/>
              </a:rPr>
              <a:t>. Additionally, authorized</a:t>
            </a:r>
            <a:r>
              <a:rPr lang="en-US"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software vendors</a:t>
            </a:r>
            <a:r>
              <a:rPr lang="en-US" kern="1200" baseline="0">
                <a:solidFill>
                  <a:schemeClr val="tx1"/>
                </a:solidFill>
                <a:effectLst/>
                <a:latin typeface="Calibri" panose="020F0502020204030204" pitchFamily="34" charset="0"/>
                <a:ea typeface="+mn-ea"/>
                <a:cs typeface="+mn-cs"/>
              </a:rPr>
              <a:t> can create </a:t>
            </a:r>
            <a:r>
              <a:rPr lang="en-US" kern="1200">
                <a:solidFill>
                  <a:schemeClr val="tx1"/>
                </a:solidFill>
                <a:effectLst/>
                <a:latin typeface="Calibri" panose="020F0502020204030204" pitchFamily="34" charset="0"/>
                <a:ea typeface="+mn-ea"/>
                <a:cs typeface="+mn-cs"/>
              </a:rPr>
              <a:t>AMIs and sell</a:t>
            </a:r>
            <a:r>
              <a:rPr lang="en-US" kern="1200" baseline="0">
                <a:solidFill>
                  <a:schemeClr val="tx1"/>
                </a:solidFill>
                <a:effectLst/>
                <a:latin typeface="Calibri" panose="020F0502020204030204" pitchFamily="34" charset="0"/>
                <a:ea typeface="+mn-ea"/>
                <a:cs typeface="+mn-cs"/>
              </a:rPr>
              <a:t> them there as well. </a:t>
            </a:r>
            <a:endParaRPr lang="en-US">
              <a:latin typeface="Calibri" panose="020F0502020204030204" pitchFamily="34" charset="0"/>
            </a:endParaRPr>
          </a:p>
        </p:txBody>
      </p:sp>
    </p:spTree>
    <p:extLst>
      <p:ext uri="{BB962C8B-B14F-4D97-AF65-F5344CB8AC3E}">
        <p14:creationId xmlns:p14="http://schemas.microsoft.com/office/powerpoint/2010/main" val="1818020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Backup: AMIs provide a</a:t>
            </a:r>
            <a:r>
              <a:rPr lang="en-US"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great way</a:t>
            </a:r>
            <a:r>
              <a:rPr lang="en-US" kern="1200" baseline="0">
                <a:solidFill>
                  <a:schemeClr val="tx1"/>
                </a:solidFill>
                <a:effectLst/>
                <a:latin typeface="Calibri" panose="020F0502020204030204" pitchFamily="34" charset="0"/>
                <a:ea typeface="+mn-ea"/>
                <a:cs typeface="+mn-cs"/>
              </a:rPr>
              <a:t> to</a:t>
            </a:r>
            <a:r>
              <a:rPr lang="en-US" kern="1200">
                <a:solidFill>
                  <a:schemeClr val="tx1"/>
                </a:solidFill>
                <a:effectLst/>
                <a:latin typeface="Calibri" panose="020F0502020204030204" pitchFamily="34" charset="0"/>
                <a:ea typeface="+mn-ea"/>
                <a:cs typeface="+mn-cs"/>
              </a:rPr>
              <a:t> back up</a:t>
            </a:r>
            <a:r>
              <a:rPr lang="en-US" kern="1200" baseline="0">
                <a:solidFill>
                  <a:schemeClr val="tx1"/>
                </a:solidFill>
                <a:effectLst/>
                <a:latin typeface="Calibri" panose="020F0502020204030204" pitchFamily="34" charset="0"/>
                <a:ea typeface="+mn-ea"/>
                <a:cs typeface="+mn-cs"/>
              </a:rPr>
              <a:t> a complete</a:t>
            </a:r>
            <a:r>
              <a:rPr lang="en-US" kern="1200">
                <a:solidFill>
                  <a:schemeClr val="tx1"/>
                </a:solidFill>
                <a:effectLst/>
                <a:latin typeface="Calibri" panose="020F0502020204030204" pitchFamily="34" charset="0"/>
                <a:ea typeface="+mn-ea"/>
                <a:cs typeface="+mn-cs"/>
              </a:rPr>
              <a:t> </a:t>
            </a:r>
            <a:r>
              <a:rPr lang="en-US" kern="1200" baseline="0">
                <a:solidFill>
                  <a:schemeClr val="tx1"/>
                </a:solidFill>
                <a:effectLst/>
                <a:latin typeface="Calibri" panose="020F0502020204030204" pitchFamily="34" charset="0"/>
                <a:ea typeface="+mn-ea"/>
                <a:cs typeface="+mn-cs"/>
              </a:rPr>
              <a:t>EC2</a:t>
            </a:r>
            <a:r>
              <a:rPr lang="en-US" kern="1200">
                <a:solidFill>
                  <a:schemeClr val="tx1"/>
                </a:solidFill>
                <a:effectLst/>
                <a:latin typeface="Calibri" panose="020F0502020204030204" pitchFamily="34" charset="0"/>
                <a:ea typeface="+mn-ea"/>
                <a:cs typeface="+mn-cs"/>
              </a:rPr>
              <a:t> instance configuration, which you can</a:t>
            </a:r>
            <a:r>
              <a:rPr lang="en-US" kern="1200" baseline="0">
                <a:solidFill>
                  <a:schemeClr val="tx1"/>
                </a:solidFill>
                <a:effectLst/>
                <a:latin typeface="Calibri" panose="020F0502020204030204" pitchFamily="34" charset="0"/>
                <a:ea typeface="+mn-ea"/>
                <a:cs typeface="+mn-cs"/>
              </a:rPr>
              <a:t> use to launch a replacement instance in the event of a </a:t>
            </a:r>
            <a:r>
              <a:rPr lang="en-US" kern="1200">
                <a:solidFill>
                  <a:schemeClr val="tx1"/>
                </a:solidFill>
                <a:effectLst/>
                <a:latin typeface="Calibri" panose="020F0502020204030204" pitchFamily="34" charset="0"/>
                <a:ea typeface="+mn-ea"/>
                <a:cs typeface="+mn-cs"/>
              </a:rPr>
              <a:t>failure.</a:t>
            </a:r>
          </a:p>
          <a:p>
            <a:endParaRPr lang="en-US"/>
          </a:p>
        </p:txBody>
      </p:sp>
    </p:spTree>
    <p:extLst>
      <p:ext uri="{BB962C8B-B14F-4D97-AF65-F5344CB8AC3E}">
        <p14:creationId xmlns:p14="http://schemas.microsoft.com/office/powerpoint/2010/main" val="958838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729295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When creating your EC2 instances, you have the option of passing </a:t>
            </a:r>
            <a:r>
              <a:rPr lang="en-US" i="1">
                <a:latin typeface="Calibri" panose="020F0502020204030204" pitchFamily="34" charset="0"/>
              </a:rPr>
              <a:t>user data </a:t>
            </a:r>
            <a:r>
              <a:rPr lang="en-US">
                <a:latin typeface="Calibri" panose="020F0502020204030204" pitchFamily="34" charset="0"/>
              </a:rPr>
              <a:t>to the instance. User data can automate the completion of the </a:t>
            </a:r>
            <a:r>
              <a:rPr lang="en-US" baseline="0">
                <a:latin typeface="Calibri" panose="020F0502020204030204" pitchFamily="34" charset="0"/>
              </a:rPr>
              <a:t>instance launch.  For example, it might </a:t>
            </a:r>
            <a:r>
              <a:rPr lang="en-US">
                <a:latin typeface="Calibri" panose="020F0502020204030204" pitchFamily="34" charset="0"/>
              </a:rPr>
              <a:t>patch and update the instance AMI, fetch and install software</a:t>
            </a:r>
            <a:r>
              <a:rPr lang="en-US" baseline="0">
                <a:latin typeface="Calibri" panose="020F0502020204030204" pitchFamily="34" charset="0"/>
              </a:rPr>
              <a:t> license keys</a:t>
            </a:r>
            <a:r>
              <a:rPr lang="en-US">
                <a:latin typeface="Calibri" panose="020F0502020204030204" pitchFamily="34" charset="0"/>
              </a:rPr>
              <a:t>, or install additional software.</a:t>
            </a:r>
            <a:r>
              <a:rPr lang="en-US" baseline="0">
                <a:latin typeface="Calibri" panose="020F0502020204030204" pitchFamily="34" charset="0"/>
              </a:rPr>
              <a:t>  User data is </a:t>
            </a:r>
            <a:r>
              <a:rPr lang="en-US">
                <a:latin typeface="Calibri" panose="020F0502020204030204" pitchFamily="34" charset="0"/>
              </a:rPr>
              <a:t>implemented</a:t>
            </a:r>
            <a:r>
              <a:rPr lang="en-US" baseline="0">
                <a:latin typeface="Calibri" panose="020F0502020204030204" pitchFamily="34" charset="0"/>
              </a:rPr>
              <a:t> as a shell script or cloud-init directive</a:t>
            </a:r>
            <a:r>
              <a:rPr lang="en-US">
                <a:latin typeface="Calibri" panose="020F0502020204030204" pitchFamily="34" charset="0"/>
              </a:rPr>
              <a:t> that runs</a:t>
            </a:r>
            <a:r>
              <a:rPr lang="en-US" baseline="0">
                <a:latin typeface="Calibri" panose="020F0502020204030204" pitchFamily="34" charset="0"/>
              </a:rPr>
              <a:t> with root or Administrator privilege </a:t>
            </a:r>
            <a:r>
              <a:rPr lang="en-US">
                <a:latin typeface="Calibri" panose="020F0502020204030204" pitchFamily="34" charset="0"/>
              </a:rPr>
              <a:t>after the instances starts but</a:t>
            </a:r>
            <a:r>
              <a:rPr lang="en-US" baseline="0">
                <a:latin typeface="Calibri" panose="020F0502020204030204" pitchFamily="34" charset="0"/>
              </a:rPr>
              <a:t> before it becomes accessible on the network</a:t>
            </a:r>
            <a:r>
              <a:rPr lang="en-US">
                <a:latin typeface="Calibri" panose="020F0502020204030204" pitchFamily="34" charset="0"/>
              </a:rPr>
              <a:t>. </a:t>
            </a:r>
          </a:p>
        </p:txBody>
      </p:sp>
    </p:spTree>
    <p:extLst>
      <p:ext uri="{BB962C8B-B14F-4D97-AF65-F5344CB8AC3E}">
        <p14:creationId xmlns:p14="http://schemas.microsoft.com/office/powerpoint/2010/main" val="973412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Calibri" panose="020F0502020204030204" pitchFamily="34" charset="0"/>
                <a:ea typeface="+mn-ea"/>
                <a:cs typeface="+mn-cs"/>
              </a:rPr>
              <a:t>In</a:t>
            </a:r>
            <a:r>
              <a:rPr lang="en-US" b="0" i="0" kern="1200" baseline="0">
                <a:solidFill>
                  <a:schemeClr val="tx1"/>
                </a:solidFill>
                <a:effectLst/>
                <a:latin typeface="Calibri" panose="020F0502020204030204" pitchFamily="34" charset="0"/>
                <a:ea typeface="+mn-ea"/>
                <a:cs typeface="+mn-cs"/>
              </a:rPr>
              <a:t> order for User Data to complete the launch of a new EC2 instance, it may need to look up information about the instance itself. For example, it might need to learn and share the public IP address, hostname, or mac address of the new instance to complete the launch.  The Instance Metadata Service can provide that information.  </a:t>
            </a:r>
            <a:endParaRPr lang="en-US" b="0" i="0" kern="1200">
              <a:solidFill>
                <a:schemeClr val="tx1"/>
              </a:solidFill>
              <a:effectLst/>
              <a:latin typeface="Calibri" panose="020F0502020204030204" pitchFamily="34" charset="0"/>
              <a:ea typeface="+mn-ea"/>
              <a:cs typeface="+mn-cs"/>
            </a:endParaRPr>
          </a:p>
          <a:p>
            <a:endParaRPr lang="en-US" b="0" i="0"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hlinkClick r:id="rId3"/>
              </a:rPr>
              <a:t>https://docs.aws.amazon.com/AWSEC2/latest/UserGuide/ec2-instance-metadata.html</a:t>
            </a:r>
            <a:endParaRPr lang="en-US"/>
          </a:p>
          <a:p>
            <a:endParaRPr lang="en-US">
              <a:latin typeface="Calibri" panose="020F0502020204030204" pitchFamily="34" charset="0"/>
            </a:endParaRPr>
          </a:p>
        </p:txBody>
      </p:sp>
    </p:spTree>
    <p:extLst>
      <p:ext uri="{BB962C8B-B14F-4D97-AF65-F5344CB8AC3E}">
        <p14:creationId xmlns:p14="http://schemas.microsoft.com/office/powerpoint/2010/main" val="702927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2947155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Calibri" panose="020F0502020204030204" pitchFamily="34" charset="0"/>
                <a:ea typeface="+mn-ea"/>
                <a:cs typeface="+mn-cs"/>
              </a:rPr>
              <a:t>Amazon EBS volumes provide durable, detachable, block-level storage (like an external hard drive) for your Amazon EC2 instances. Because they are mounted to the instances, they can provide extremely low latency between where the data is stored and where it might be used on the instance. For this reason, they can be used to run a database with an Amazon EC2 instance. Amazon EBS volumes can also be used to back up your instances into AMIs, which are stored in Amazon S3 and can be reused to create new Amazon EC2 instances later.</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i="0" kern="1200">
                <a:solidFill>
                  <a:schemeClr val="tx1"/>
                </a:solidFill>
                <a:effectLst/>
                <a:latin typeface="Calibri" panose="020F0502020204030204" pitchFamily="34" charset="0"/>
                <a:ea typeface="+mn-ea"/>
                <a:cs typeface="+mn-cs"/>
              </a:rPr>
              <a:t>An </a:t>
            </a:r>
            <a:r>
              <a:rPr lang="en-US" b="0" i="1" kern="1200">
                <a:solidFill>
                  <a:schemeClr val="tx1"/>
                </a:solidFill>
                <a:effectLst/>
                <a:latin typeface="Calibri" panose="020F0502020204030204" pitchFamily="34" charset="0"/>
                <a:ea typeface="+mn-ea"/>
                <a:cs typeface="+mn-cs"/>
              </a:rPr>
              <a:t>instance store</a:t>
            </a:r>
            <a:r>
              <a:rPr lang="en-US" b="0" i="0" kern="1200">
                <a:solidFill>
                  <a:schemeClr val="tx1"/>
                </a:solidFill>
                <a:effectLst/>
                <a:latin typeface="Calibri" panose="020F0502020204030204" pitchFamily="34" charset="0"/>
                <a:ea typeface="+mn-ea"/>
                <a:cs typeface="+mn-cs"/>
              </a:rPr>
              <a:t> provides </a:t>
            </a:r>
            <a:r>
              <a:rPr lang="en-US" b="1" i="0" kern="1200">
                <a:solidFill>
                  <a:schemeClr val="tx1"/>
                </a:solidFill>
                <a:effectLst/>
                <a:latin typeface="Calibri" panose="020F0502020204030204" pitchFamily="34" charset="0"/>
                <a:ea typeface="+mn-ea"/>
                <a:cs typeface="+mn-cs"/>
              </a:rPr>
              <a:t>temporary</a:t>
            </a:r>
            <a:r>
              <a:rPr lang="en-US" b="0" i="0" kern="1200">
                <a:solidFill>
                  <a:schemeClr val="tx1"/>
                </a:solidFill>
                <a:effectLst/>
                <a:latin typeface="Calibri" panose="020F0502020204030204" pitchFamily="34" charset="0"/>
                <a:ea typeface="+mn-ea"/>
                <a:cs typeface="+mn-cs"/>
              </a:rPr>
              <a:t> block-level storage for your instance. This storage is located on disks that are physically attached to the host computer. Instance store is ideal for temporary storage of information that changes frequently, such as buffers, caches, scratch data, and other temporary content, or for data that is replicated across a fleet of instances, such as a load-balanced pool of web servers.</a:t>
            </a:r>
            <a:endParaRPr lang="en-US"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Calibri" panose="020F0502020204030204" pitchFamily="34" charset="0"/>
              <a:ea typeface="+mn-ea"/>
              <a:cs typeface="+mn-cs"/>
            </a:endParaRPr>
          </a:p>
          <a:p>
            <a:r>
              <a:rPr lang="en-US" sz="1200" kern="1200">
                <a:solidFill>
                  <a:schemeClr val="tx1"/>
                </a:solidFill>
                <a:effectLst/>
                <a:latin typeface="+mn-lt"/>
                <a:ea typeface="+mn-ea"/>
                <a:cs typeface="+mn-cs"/>
              </a:rPr>
              <a:t>For more information on EBS, see: </a:t>
            </a:r>
            <a:r>
              <a:rPr lang="en-US">
                <a:hlinkClick r:id="rId3"/>
              </a:rPr>
              <a:t>https://docs.aws.amazon.com/AWSEC2/latest/UserGuide/AmazonEBS.html</a:t>
            </a:r>
            <a:endParaRPr lang="en-US"/>
          </a:p>
          <a:p>
            <a:r>
              <a:rPr lang="en-US" sz="1200" kern="1200">
                <a:solidFill>
                  <a:schemeClr val="tx1"/>
                </a:solidFill>
                <a:effectLst/>
                <a:latin typeface="+mn-lt"/>
                <a:ea typeface="+mn-ea"/>
                <a:cs typeface="+mn-cs"/>
              </a:rPr>
              <a:t>For more information on Instance Storage, See: </a:t>
            </a:r>
            <a:r>
              <a:rPr lang="en-US" sz="1200" u="sng" kern="1200">
                <a:solidFill>
                  <a:schemeClr val="tx1"/>
                </a:solidFill>
                <a:effectLst/>
                <a:latin typeface="+mn-lt"/>
                <a:ea typeface="+mn-ea"/>
                <a:cs typeface="+mn-cs"/>
                <a:hlinkClick r:id="rId4"/>
              </a:rPr>
              <a:t>https://docs.aws.amazon.com/AWSEC2/latest/UserGuide/InstanceStorage.html</a:t>
            </a:r>
            <a:r>
              <a:rPr lang="en-US">
                <a:effectLst/>
              </a:rPr>
              <a:t> </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894385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SSD-backed volumes are optimized for transactional workloads involving frequent read/write operations with small I/O size, where the dominant performance attribute is IOPS.</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HDD-backed volumes are optimized for large streaming workloads where throughput (measured in MiB/s) is a better performance measure than IOPS.</a:t>
            </a:r>
          </a:p>
          <a:p>
            <a:r>
              <a:rPr lang="en-US" kern="1200">
                <a:solidFill>
                  <a:schemeClr val="tx1"/>
                </a:solidFill>
                <a:effectLst/>
                <a:latin typeface="Calibri" panose="020F0502020204030204" pitchFamily="34" charset="0"/>
                <a:ea typeface="+mn-ea"/>
                <a:cs typeface="+mn-cs"/>
              </a:rPr>
              <a:t> </a:t>
            </a:r>
          </a:p>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Calibri" panose="020F0502020204030204" pitchFamily="34" charset="0"/>
                <a:ea typeface="+mn-ea"/>
                <a:cs typeface="+mn-cs"/>
              </a:rPr>
              <a:t>For more information about Amazon EBS volume</a:t>
            </a:r>
            <a:r>
              <a:rPr lang="en-US" kern="1200" baseline="0">
                <a:solidFill>
                  <a:schemeClr val="tx1"/>
                </a:solidFill>
                <a:effectLst/>
                <a:latin typeface="Calibri" panose="020F0502020204030204" pitchFamily="34" charset="0"/>
                <a:ea typeface="+mn-ea"/>
                <a:cs typeface="+mn-cs"/>
              </a:rPr>
              <a:t> types, see </a:t>
            </a:r>
            <a:r>
              <a:rPr lang="en-US">
                <a:latin typeface="Calibri" panose="020F0502020204030204" pitchFamily="34" charset="0"/>
                <a:hlinkClick r:id="rId3"/>
              </a:rPr>
              <a:t>https://docs.aws.amazon.com/AWSEC2/latest/UserGuide/EBSVolumeTypes.html</a:t>
            </a:r>
            <a:endParaRPr lang="en-US"/>
          </a:p>
          <a:p>
            <a:endParaRPr lang="en-US" kern="1200">
              <a:solidFill>
                <a:schemeClr val="tx1"/>
              </a:solidFill>
              <a:effectLst/>
              <a:latin typeface="Calibri" panose="020F0502020204030204" pitchFamily="34" charset="0"/>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98072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02081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Calibri" panose="020F0502020204030204" pitchFamily="34" charset="0"/>
                <a:ea typeface="+mn-ea"/>
                <a:cs typeface="+mn-cs"/>
              </a:rPr>
              <a:t>An instance optimized for Amazon EBS uses an optimized configuration stack and provides additional dedicated capacity for Amazon EBS I/O. This optimization provides the best performance for your EBS volumes by minimizing contention between Amazon EBS I/O and other traffic from your instance.</a:t>
            </a:r>
          </a:p>
          <a:p>
            <a:r>
              <a:rPr lang="en-US" b="0" i="0" kern="1200">
                <a:solidFill>
                  <a:schemeClr val="tx1"/>
                </a:solidFill>
                <a:effectLst/>
                <a:latin typeface="Calibri" panose="020F0502020204030204" pitchFamily="34" charset="0"/>
                <a:ea typeface="+mn-ea"/>
                <a:cs typeface="+mn-cs"/>
              </a:rPr>
              <a:t>EBS-optimized instances deliver dedicated bandwidth to Amazon EBS, with options between 425 Mbps and 14,000 Mbps, depending on the instance type you use.</a:t>
            </a:r>
          </a:p>
          <a:p>
            <a:endParaRPr lang="en-US" b="0" i="0" kern="1200">
              <a:solidFill>
                <a:schemeClr val="tx1"/>
              </a:solidFill>
              <a:effectLst/>
              <a:latin typeface="Calibri" panose="020F0502020204030204" pitchFamily="34" charset="0"/>
              <a:ea typeface="+mn-ea"/>
              <a:cs typeface="+mn-cs"/>
            </a:endParaRPr>
          </a:p>
          <a:p>
            <a:r>
              <a:rPr lang="en-US" b="0" i="0" kern="1200">
                <a:solidFill>
                  <a:schemeClr val="tx1"/>
                </a:solidFill>
                <a:effectLst/>
                <a:latin typeface="Calibri" panose="020F0502020204030204" pitchFamily="34" charset="0"/>
                <a:ea typeface="+mn-ea"/>
                <a:cs typeface="+mn-cs"/>
              </a:rPr>
              <a:t>For more information, see </a:t>
            </a:r>
            <a:r>
              <a:rPr lang="en-US">
                <a:latin typeface="Calibri" panose="020F0502020204030204" pitchFamily="34" charset="0"/>
                <a:hlinkClick r:id="rId3"/>
              </a:rPr>
              <a:t>https://docs.aws.amazon.com/AWSEC2/latest/UserGuide/EBSOptimized.html</a:t>
            </a:r>
            <a:endParaRPr lang="en-US"/>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If your EC2 instance is EBS-backed, you can put it into EC2 Hibernation. This keeps the in-memory storage, private IP, and elastic IP to remain the same, and allows you to pick up when the instance left off. It currently can only be enabled on Linux1 EC2 instances, with Linux2 support coming soon. When the instance is in hibernation, you pay only for the EBS volume attached, and the Elastic IP in your account.</a:t>
            </a:r>
          </a:p>
          <a:p>
            <a:r>
              <a:rPr lang="en-US" sz="1200" u="sng" kern="1200">
                <a:solidFill>
                  <a:schemeClr val="tx1"/>
                </a:solidFill>
                <a:effectLst/>
                <a:latin typeface="+mn-lt"/>
                <a:ea typeface="+mn-ea"/>
                <a:cs typeface="+mn-cs"/>
                <a:hlinkClick r:id="rId4"/>
              </a:rPr>
              <a:t>https://aws.amazon.com/blogs/aws/new-hibernate-your-ec2-instances/</a:t>
            </a:r>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 </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739185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Problem: </a:t>
            </a:r>
            <a:r>
              <a:rPr lang="en-US" b="0" i="0" kern="1200">
                <a:solidFill>
                  <a:schemeClr val="tx1"/>
                </a:solidFill>
                <a:effectLst/>
                <a:latin typeface="Calibri" panose="020F0502020204030204" pitchFamily="34" charset="0"/>
                <a:ea typeface="+mn-ea"/>
                <a:cs typeface="+mn-cs"/>
              </a:rPr>
              <a:t>How do we handle an application running on multiple instances that needs to use the same file system? Amazon S3 is one option, but what if you need the performance and read-write consistency of a network file system? </a:t>
            </a:r>
            <a:r>
              <a:rPr lang="sv-SE">
                <a:latin typeface="Calibri" panose="020F0502020204030204" pitchFamily="34" charset="0"/>
              </a:rPr>
              <a:t>Amazon Elastic File System (Amazon EFS) </a:t>
            </a:r>
            <a:r>
              <a:rPr lang="en-US" b="0" i="0" kern="1200">
                <a:solidFill>
                  <a:schemeClr val="tx1"/>
                </a:solidFill>
                <a:effectLst/>
                <a:latin typeface="Calibri" panose="020F0502020204030204" pitchFamily="34" charset="0"/>
                <a:ea typeface="+mn-ea"/>
                <a:cs typeface="+mn-cs"/>
              </a:rPr>
              <a:t>may be your best option.</a:t>
            </a:r>
          </a:p>
          <a:p>
            <a:endParaRPr lang="en-US" b="0" i="0" kern="1200">
              <a:solidFill>
                <a:schemeClr val="tx1"/>
              </a:solidFill>
              <a:effectLst/>
              <a:latin typeface="Calibri" panose="020F0502020204030204" pitchFamily="34" charset="0"/>
              <a:ea typeface="+mn-ea"/>
              <a:cs typeface="+mn-cs"/>
            </a:endParaRPr>
          </a:p>
          <a:p>
            <a:r>
              <a:rPr lang="en-US" b="0" i="0" kern="1200">
                <a:solidFill>
                  <a:schemeClr val="tx1"/>
                </a:solidFill>
                <a:effectLst/>
                <a:latin typeface="Calibri" panose="020F0502020204030204" pitchFamily="34" charset="0"/>
                <a:ea typeface="+mn-ea"/>
                <a:cs typeface="+mn-cs"/>
              </a:rPr>
              <a:t>S3 is an object store</a:t>
            </a:r>
            <a:r>
              <a:rPr lang="en-US" b="0" i="0" kern="1200" baseline="0">
                <a:solidFill>
                  <a:schemeClr val="tx1"/>
                </a:solidFill>
                <a:effectLst/>
                <a:latin typeface="Calibri" panose="020F0502020204030204" pitchFamily="34" charset="0"/>
                <a:ea typeface="+mn-ea"/>
                <a:cs typeface="+mn-cs"/>
              </a:rPr>
              <a:t> system, not a block store, so changes overwrite entire files, not blocks of characters within files.  For high throughput changes to files of varying sizes, a file system will be superior to an object store system for handling those changes.</a:t>
            </a:r>
            <a:endParaRPr lang="en-US" b="0" i="0" kern="1200">
              <a:solidFill>
                <a:schemeClr val="tx1"/>
              </a:solidFill>
              <a:effectLst/>
              <a:latin typeface="Calibri" panose="020F0502020204030204" pitchFamily="34" charset="0"/>
              <a:ea typeface="+mn-ea"/>
              <a:cs typeface="+mn-cs"/>
            </a:endParaRPr>
          </a:p>
          <a:p>
            <a:r>
              <a:rPr lang="en-US">
                <a:latin typeface="Calibri" panose="020F0502020204030204" pitchFamily="34" charset="0"/>
              </a:rPr>
              <a:t/>
            </a:r>
            <a:br>
              <a:rPr lang="en-US">
                <a:latin typeface="Calibri" panose="020F0502020204030204" pitchFamily="34" charset="0"/>
              </a:rPr>
            </a:br>
            <a:endParaRPr lang="en-US" kern="1200">
              <a:solidFill>
                <a:schemeClr val="tx1"/>
              </a:solidFill>
              <a:effectLst/>
              <a:latin typeface="Calibri" panose="020F0502020204030204" pitchFamily="34" charset="0"/>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36458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02431"/>
          </a:xfrm>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Amazon Elastic File System (Amazon EFS) provides a simple, scalable, elastic file system for Linux-based workloads for use with AWS Cloud services and on-premises resources. </a:t>
            </a:r>
            <a:r>
              <a:rPr lang="en-US" sz="1200" kern="1200">
                <a:solidFill>
                  <a:schemeClr val="tx1"/>
                </a:solidFill>
                <a:effectLst/>
                <a:latin typeface="+mn-lt"/>
                <a:ea typeface="+mn-ea"/>
                <a:cs typeface="+mn-cs"/>
              </a:rPr>
              <a:t>You’re able to access your file system across Availability Zones, AWS Regions, and VPCs while sharing files between thousands of EC2 instances and on-premises servers via AWS Direct Connect or AWS VPN. You can create a file system, mount the file system on an Amazon EC2 instance, and then read and write data to and from your file system.</a:t>
            </a:r>
            <a:r>
              <a:rPr lang="en-US">
                <a:effectLst/>
              </a:rPr>
              <a:t> </a:t>
            </a:r>
            <a:r>
              <a:rPr lang="en-US" sz="1200" kern="1200">
                <a:solidFill>
                  <a:schemeClr val="tx1"/>
                </a:solidFill>
                <a:effectLst/>
                <a:latin typeface="+mn-lt"/>
                <a:ea typeface="+mn-ea"/>
                <a:cs typeface="+mn-cs"/>
              </a:rPr>
              <a:t>You can mount an Amazon EFS file system in your VPC through the Network File System versions 4.0 and 4.1 (NFSv4) protocol.</a:t>
            </a:r>
            <a:r>
              <a:rPr lang="en-US">
                <a:effectLst/>
              </a:rPr>
              <a:t> </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a:effectLst/>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The Amazon EFS file system can be accessed concurrently from Amazon EC2 instances in your Amazon VPC, so applications that scale beyond a single connection can access a file system. Amazon EC2 instances running in multiple Availability Zones within the same region can access the file system, so that many users can access and share a common data source.</a:t>
            </a:r>
            <a:endParaRPr lang="en-US">
              <a:effectLst/>
            </a:endParaRPr>
          </a:p>
          <a:p>
            <a:pPr marL="0" marR="0" lvl="0" indent="0" algn="l" defTabSz="913395"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more information about access across accounts and VPCs, see </a:t>
            </a:r>
            <a:r>
              <a:rPr lang="en-US" sz="1200" u="sng" kern="1200">
                <a:solidFill>
                  <a:schemeClr val="tx1"/>
                </a:solidFill>
                <a:effectLst/>
                <a:latin typeface="+mn-lt"/>
                <a:ea typeface="+mn-ea"/>
                <a:cs typeface="+mn-cs"/>
                <a:hlinkClick r:id="rId3"/>
              </a:rPr>
              <a:t>Amazon EFS now Supports Access Across Accounts and VPCs</a:t>
            </a:r>
            <a:endParaRPr lang="en-US" sz="1200" kern="1200">
              <a:solidFill>
                <a:schemeClr val="tx1"/>
              </a:solidFill>
              <a:effectLst/>
              <a:latin typeface="+mn-lt"/>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more information about VPC peering, see </a:t>
            </a:r>
            <a:r>
              <a:rPr lang="en-US" sz="1200" b="0" u="sng" kern="1200">
                <a:solidFill>
                  <a:schemeClr val="tx1"/>
                </a:solidFill>
                <a:effectLst/>
                <a:latin typeface="+mn-lt"/>
                <a:ea typeface="+mn-ea"/>
                <a:cs typeface="+mn-cs"/>
                <a:hlinkClick r:id="rId4"/>
              </a:rPr>
              <a:t>Mounting EFS File Systems from Another Account or VPC</a:t>
            </a:r>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For a list of Amazon EC2 Linux Amazon Machine Images (AMIs) that support this protocol, see </a:t>
            </a:r>
            <a:r>
              <a:rPr lang="en-US" sz="1200" u="sng" kern="1200">
                <a:solidFill>
                  <a:schemeClr val="tx1"/>
                </a:solidFill>
                <a:effectLst/>
                <a:latin typeface="+mn-lt"/>
                <a:ea typeface="+mn-ea"/>
                <a:cs typeface="+mn-cs"/>
                <a:hlinkClick r:id="rId5"/>
              </a:rPr>
              <a:t>NFS Support</a:t>
            </a:r>
            <a:r>
              <a:rPr lang="en-US" sz="1200" kern="1200">
                <a:solidFill>
                  <a:schemeClr val="tx1"/>
                </a:solidFill>
                <a:effectLst/>
                <a:latin typeface="+mn-lt"/>
                <a:ea typeface="+mn-ea"/>
                <a:cs typeface="+mn-cs"/>
              </a:rPr>
              <a:t>. We recommend using a current generation Linux NFSv4.1 client, such as those found in Amazon Linux and Ubuntu AMIs. For some AMIs, you'll need to install an NFS client to mount your file system on your Amazon EC2 instance. For instructions, see </a:t>
            </a:r>
            <a:r>
              <a:rPr lang="en-US" sz="1200" u="sng" kern="1200">
                <a:solidFill>
                  <a:schemeClr val="tx1"/>
                </a:solidFill>
                <a:effectLst/>
                <a:latin typeface="+mn-lt"/>
                <a:ea typeface="+mn-ea"/>
                <a:cs typeface="+mn-cs"/>
                <a:hlinkClick r:id="rId5"/>
              </a:rPr>
              <a:t>Installing the NFS Client</a:t>
            </a:r>
            <a:r>
              <a:rPr lang="en-US" sz="1200" u="sng" kern="1200">
                <a:solidFill>
                  <a:schemeClr val="tx1"/>
                </a:solidFill>
                <a:effectLst/>
                <a:latin typeface="+mn-lt"/>
                <a:ea typeface="+mn-ea"/>
                <a:cs typeface="+mn-cs"/>
              </a:rPr>
              <a:t>.</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Note the following restrictions:</a:t>
            </a:r>
          </a:p>
          <a:p>
            <a:pPr marL="171450" lvl="0" indent="-171450">
              <a:buFont typeface="Arial" panose="020B0604020202020204" pitchFamily="34" charset="0"/>
              <a:buChar char="•"/>
            </a:pPr>
            <a:r>
              <a:rPr lang="en-US" sz="1200" kern="1200">
                <a:solidFill>
                  <a:schemeClr val="tx1"/>
                </a:solidFill>
                <a:effectLst/>
                <a:latin typeface="+mn-lt"/>
                <a:ea typeface="+mn-ea"/>
                <a:cs typeface="+mn-cs"/>
              </a:rPr>
              <a:t>You can mount an Amazon EFS file system on instances in only one VPC at a time.</a:t>
            </a:r>
          </a:p>
          <a:p>
            <a:pPr marL="171450" lvl="0" indent="-171450">
              <a:buFont typeface="Arial" panose="020B0604020202020204" pitchFamily="34" charset="0"/>
              <a:buChar char="•"/>
            </a:pPr>
            <a:r>
              <a:rPr lang="en-US" sz="1200" kern="1200">
                <a:solidFill>
                  <a:schemeClr val="tx1"/>
                </a:solidFill>
                <a:effectLst/>
                <a:latin typeface="+mn-lt"/>
                <a:ea typeface="+mn-ea"/>
                <a:cs typeface="+mn-cs"/>
              </a:rPr>
              <a:t>Both the file system and VPC must be in the same AWS Region.</a:t>
            </a:r>
          </a:p>
          <a:p>
            <a:pPr marL="171450" lvl="0" indent="-171450">
              <a:buFont typeface="Arial" panose="020B0604020202020204" pitchFamily="34" charset="0"/>
              <a:buChar char="•"/>
            </a:pPr>
            <a:endParaRPr lang="en-US" sz="120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How is File Storage Different?</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Although object storage solutions enable storage of files as objects, accessing with existing applications requires new code and the use of APIs and direct knowledge of naming semantics. File storage solutions that support existing file system semantics and permissions models have a distinct advantage in that they do not require new code to be written to integrate with applications that are easily configured to work with shared file storage.</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Block storage can be used as the underlying storage component of a self-managed file storage solution. However, the one-to-one relationship required between the host and volume makes it difficult to have the scalability, availability, and affordability of a fully managed file storage solution and would require additional budget and management resources to support. Using a fully managed cloud file storage solution removes complexities, reduces costs, and simplifies management.</a:t>
            </a:r>
          </a:p>
          <a:p>
            <a:pPr marL="171450" lvl="0" indent="-171450">
              <a:buFont typeface="Arial" panose="020B0604020202020204" pitchFamily="34" charset="0"/>
              <a:buChar cha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740501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30595318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When looking at an instance type, you will see that the model has a few parts to its name—as</a:t>
            </a:r>
            <a:r>
              <a:rPr lang="en-US" kern="1200" baseline="0">
                <a:solidFill>
                  <a:schemeClr val="tx1"/>
                </a:solidFill>
                <a:effectLst/>
                <a:latin typeface="Calibri" panose="020F0502020204030204" pitchFamily="34" charset="0"/>
                <a:ea typeface="+mn-ea"/>
                <a:cs typeface="+mn-cs"/>
              </a:rPr>
              <a:t> an example, take the M type. </a:t>
            </a:r>
          </a:p>
          <a:p>
            <a:endParaRPr lang="en-US" kern="1200">
              <a:solidFill>
                <a:schemeClr val="tx1"/>
              </a:solidFill>
              <a:effectLst/>
              <a:latin typeface="Calibri" panose="020F0502020204030204" pitchFamily="34" charset="0"/>
              <a:ea typeface="+mn-ea"/>
              <a:cs typeface="+mn-cs"/>
            </a:endParaRPr>
          </a:p>
          <a:p>
            <a:r>
              <a:rPr lang="en-US" i="1" kern="1200">
                <a:solidFill>
                  <a:schemeClr val="tx1"/>
                </a:solidFill>
                <a:effectLst/>
                <a:latin typeface="Calibri" panose="020F0502020204030204" pitchFamily="34" charset="0"/>
                <a:ea typeface="+mn-ea"/>
                <a:cs typeface="+mn-cs"/>
              </a:rPr>
              <a:t>M</a:t>
            </a:r>
            <a:r>
              <a:rPr lang="en-US" kern="1200">
                <a:solidFill>
                  <a:schemeClr val="tx1"/>
                </a:solidFill>
                <a:effectLst/>
                <a:latin typeface="Calibri" panose="020F0502020204030204" pitchFamily="34" charset="0"/>
                <a:ea typeface="+mn-ea"/>
                <a:cs typeface="+mn-cs"/>
              </a:rPr>
              <a:t> is the family name, which is then followed up by a number. Here, that number is 5. The number is the generation number of that type. So, an M5 instance is the 5</a:t>
            </a:r>
            <a:r>
              <a:rPr lang="en-US" kern="1200" baseline="30000">
                <a:solidFill>
                  <a:schemeClr val="tx1"/>
                </a:solidFill>
                <a:effectLst/>
                <a:latin typeface="Calibri" panose="020F0502020204030204" pitchFamily="34" charset="0"/>
                <a:ea typeface="+mn-ea"/>
                <a:cs typeface="+mn-cs"/>
              </a:rPr>
              <a:t>th</a:t>
            </a:r>
            <a:r>
              <a:rPr lang="en-US" kern="1200">
                <a:solidFill>
                  <a:schemeClr val="tx1"/>
                </a:solidFill>
                <a:effectLst/>
                <a:latin typeface="Calibri" panose="020F0502020204030204" pitchFamily="34" charset="0"/>
                <a:ea typeface="+mn-ea"/>
                <a:cs typeface="+mn-cs"/>
              </a:rPr>
              <a:t> generation of the M family.</a:t>
            </a:r>
            <a:r>
              <a:rPr lang="en-US" kern="1200" baseline="0">
                <a:solidFill>
                  <a:schemeClr val="tx1"/>
                </a:solidFill>
                <a:effectLst/>
                <a:latin typeface="Calibri" panose="020F0502020204030204" pitchFamily="34" charset="0"/>
                <a:ea typeface="+mn-ea"/>
                <a:cs typeface="+mn-cs"/>
              </a:rPr>
              <a:t> </a:t>
            </a:r>
            <a:r>
              <a:rPr lang="en-US" kern="1200">
                <a:solidFill>
                  <a:schemeClr val="tx1"/>
                </a:solidFill>
                <a:effectLst/>
                <a:latin typeface="Calibri" panose="020F0502020204030204" pitchFamily="34" charset="0"/>
                <a:ea typeface="+mn-ea"/>
                <a:cs typeface="+mn-cs"/>
              </a:rPr>
              <a:t>In general, instances of a higher generation are more powerful and provide a better value for the price.</a:t>
            </a:r>
          </a:p>
          <a:p>
            <a:r>
              <a:rPr lang="en-US" kern="1200">
                <a:solidFill>
                  <a:schemeClr val="tx1"/>
                </a:solidFill>
                <a:effectLst/>
                <a:latin typeface="Calibri" panose="020F0502020204030204" pitchFamily="34" charset="0"/>
                <a:ea typeface="+mn-ea"/>
                <a:cs typeface="+mn-cs"/>
              </a:rPr>
              <a:t> </a:t>
            </a:r>
          </a:p>
          <a:p>
            <a:endParaRPr lang="en-US"/>
          </a:p>
        </p:txBody>
      </p:sp>
    </p:spTree>
    <p:extLst>
      <p:ext uri="{BB962C8B-B14F-4D97-AF65-F5344CB8AC3E}">
        <p14:creationId xmlns:p14="http://schemas.microsoft.com/office/powerpoint/2010/main" val="2935537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The next part of the name is the size portion of the instance. When comparing sizes, it’s important to look at the coefficient portion of the size category.</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For example a m5.2xlarge is twice as big as a m5.xlarge. This m5.xlarge is in turn twice as big as the m5.large.</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You will notice later on in the chart there is a m5.12xlarge. This instance is 12 times as powerful as the m5.xlarge. </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It is also important to note that network bandwidth is also tied to the size of your ec2 instance. If you are performing a task that is very network intensive you might be required to increase your instance specs in order to meet those needs.</a:t>
            </a:r>
          </a:p>
          <a:p>
            <a:endParaRPr lang="en-US"/>
          </a:p>
        </p:txBody>
      </p:sp>
    </p:spTree>
    <p:extLst>
      <p:ext uri="{BB962C8B-B14F-4D97-AF65-F5344CB8AC3E}">
        <p14:creationId xmlns:p14="http://schemas.microsoft.com/office/powerpoint/2010/main" val="69719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Choosing the correct instance type is very important for reducing unneeded cost and increasing utilization of an instance.</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Each instance family has its own positives that need to be addressed when deciding how you are going to architect your solution. </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Let’s take a look at all of the instance families and see what their recommended workloads are.</a:t>
            </a:r>
          </a:p>
          <a:p>
            <a:endParaRPr lang="en-US"/>
          </a:p>
        </p:txBody>
      </p:sp>
    </p:spTree>
    <p:extLst>
      <p:ext uri="{BB962C8B-B14F-4D97-AF65-F5344CB8AC3E}">
        <p14:creationId xmlns:p14="http://schemas.microsoft.com/office/powerpoint/2010/main" val="4280030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more information about Instance types, see: </a:t>
            </a:r>
            <a:r>
              <a:rPr lang="en-US">
                <a:hlinkClick r:id="rId3"/>
              </a:rPr>
              <a:t>https://aws.amazon.com/ec2/instance-types/</a:t>
            </a:r>
            <a:endParaRPr lang="en-US"/>
          </a:p>
        </p:txBody>
      </p:sp>
    </p:spTree>
    <p:extLst>
      <p:ext uri="{BB962C8B-B14F-4D97-AF65-F5344CB8AC3E}">
        <p14:creationId xmlns:p14="http://schemas.microsoft.com/office/powerpoint/2010/main" val="11322548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T3 instances are designed to run the majority of general purpose workloads at a much lower cost. T3 instances work by providing a baseline level of CPU performance to address many common workloads while providing the ability to burst above the baseline for times when more performance is required. T3 instances makes use of credits to track how much CPU is used. T3 instances accumulate CPU credits when a workload is operating below the baseline threshold and uses credits when running above the baseline threshold. For example, one CPU credit is equal to one vCPU running at 100% utilization for one minute. </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Use cases for this type of instance include websites and web applications, development environments, build servers, code repositories, micro services, test and staging environments, and line of business applications.</a:t>
            </a:r>
          </a:p>
          <a:p>
            <a:endParaRPr lang="en-US"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For more information on T3 burstable instances, see: </a:t>
            </a:r>
            <a:r>
              <a:rPr lang="en-US">
                <a:hlinkClick r:id="rId3"/>
              </a:rPr>
              <a:t>https://aws.amazon.com/ec2/instance-types/t3/</a:t>
            </a:r>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8321793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a:solidFill>
                  <a:schemeClr val="tx1"/>
                </a:solidFill>
                <a:effectLst/>
                <a:latin typeface="Calibri" panose="020F0502020204030204" pitchFamily="34" charset="0"/>
                <a:ea typeface="+mn-ea"/>
                <a:cs typeface="+mn-cs"/>
              </a:rPr>
              <a:t>C5</a:t>
            </a:r>
            <a:r>
              <a:rPr lang="en-US" kern="1200">
                <a:solidFill>
                  <a:schemeClr val="tx1"/>
                </a:solidFill>
                <a:effectLst/>
                <a:latin typeface="Calibri" panose="020F0502020204030204" pitchFamily="34" charset="0"/>
                <a:ea typeface="+mn-ea"/>
                <a:cs typeface="+mn-cs"/>
              </a:rPr>
              <a:t> instances are optimized for compute-intensive workloads and deliver very cost-effective high performance at a low price per compute ratio.</a:t>
            </a:r>
            <a:r>
              <a:rPr lang="en-US" kern="1200" baseline="0">
                <a:solidFill>
                  <a:schemeClr val="tx1"/>
                </a:solidFill>
                <a:effectLst/>
                <a:latin typeface="Calibri" panose="020F0502020204030204" pitchFamily="34" charset="0"/>
                <a:ea typeface="+mn-ea"/>
                <a:cs typeface="+mn-cs"/>
              </a:rPr>
              <a:t> </a:t>
            </a:r>
          </a:p>
          <a:p>
            <a:endParaRPr lang="en-US" kern="1200" baseline="0">
              <a:solidFill>
                <a:schemeClr val="tx1"/>
              </a:solidFill>
              <a:effectLst/>
              <a:latin typeface="Calibri" panose="020F0502020204030204" pitchFamily="34" charset="0"/>
              <a:ea typeface="+mn-ea"/>
              <a:cs typeface="+mn-cs"/>
            </a:endParaRPr>
          </a:p>
          <a:p>
            <a:r>
              <a:rPr lang="en-US" kern="1200" baseline="0">
                <a:solidFill>
                  <a:schemeClr val="tx1"/>
                </a:solidFill>
                <a:effectLst/>
                <a:latin typeface="Calibri" panose="020F0502020204030204" pitchFamily="34" charset="0"/>
                <a:ea typeface="+mn-ea"/>
                <a:cs typeface="+mn-cs"/>
              </a:rPr>
              <a:t>Use cases include high-performance </a:t>
            </a:r>
            <a:r>
              <a:rPr lang="en-US" kern="1200">
                <a:solidFill>
                  <a:schemeClr val="tx1"/>
                </a:solidFill>
                <a:effectLst/>
                <a:latin typeface="Calibri" panose="020F0502020204030204" pitchFamily="34" charset="0"/>
                <a:ea typeface="+mn-ea"/>
                <a:cs typeface="+mn-cs"/>
              </a:rPr>
              <a:t>web servers, scientific modelling, batch processing, distributed analytics, high-performance computing (HPC), machine/deep learning inference, ad serving, highly scalable multiplayer gaming, and video encoding.</a:t>
            </a:r>
          </a:p>
          <a:p>
            <a:r>
              <a:rPr lang="en-US" kern="1200">
                <a:solidFill>
                  <a:schemeClr val="tx1"/>
                </a:solidFill>
                <a:effectLst/>
                <a:latin typeface="Calibri" panose="020F0502020204030204" pitchFamily="34" charset="0"/>
                <a:ea typeface="+mn-ea"/>
                <a:cs typeface="+mn-cs"/>
              </a:rPr>
              <a:t> </a:t>
            </a:r>
          </a:p>
          <a:p>
            <a:r>
              <a:rPr lang="en-US" sz="1200" b="0" i="0" u="none" strike="noStrike" kern="1200">
                <a:solidFill>
                  <a:schemeClr val="tx1"/>
                </a:solidFill>
                <a:effectLst/>
                <a:latin typeface="+mn-lt"/>
                <a:ea typeface="+mn-ea"/>
                <a:cs typeface="+mn-cs"/>
              </a:rPr>
              <a:t>Consider using the Elastic Fabric Adapter for your HPC workloads: </a:t>
            </a:r>
            <a:r>
              <a:rPr lang="en-US" sz="1200" b="0" i="0" u="sng" strike="noStrike" kern="1200">
                <a:solidFill>
                  <a:schemeClr val="tx1"/>
                </a:solidFill>
                <a:effectLst/>
                <a:latin typeface="+mn-lt"/>
                <a:ea typeface="+mn-ea"/>
                <a:cs typeface="+mn-cs"/>
                <a:hlinkClick r:id="rId3" tooltip="https://aws.amazon.com/about-aws/whats-new/2018/11/introducing-elastic-fabric-adapter/"/>
              </a:rPr>
              <a:t>https://aws.amazon.com/about-aws/whats-new/2018/11/introducing-elastic-fabric-adapter/</a:t>
            </a:r>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Elastic Fabric Adapter, or EFA, is a network adapter for Amazon EC2 instances that delivers the performance of on-premises HPC clusters with the elasticity and scalability of AWS. You can run HPC applications that require high levels of inter-instance communications, such as computational fluid dynamics, weather modeling, and reservoir simulation. In addition, HPC applications use popular HPC technologies, such as Message Passing Interface (MPI), which can scale to thousands of CPU cores. EFA supports industry-standard </a:t>
            </a:r>
            <a:r>
              <a:rPr lang="en-US" sz="1200" b="0" i="0" u="none" strike="noStrike" kern="1200" err="1">
                <a:solidFill>
                  <a:schemeClr val="tx1"/>
                </a:solidFill>
                <a:effectLst/>
                <a:latin typeface="+mn-lt"/>
                <a:ea typeface="+mn-ea"/>
                <a:cs typeface="+mn-cs"/>
              </a:rPr>
              <a:t>libfabric</a:t>
            </a:r>
            <a:r>
              <a:rPr lang="en-US" sz="1200" b="0" i="0" u="none" strike="noStrike" kern="1200">
                <a:solidFill>
                  <a:schemeClr val="tx1"/>
                </a:solidFill>
                <a:effectLst/>
                <a:latin typeface="+mn-lt"/>
                <a:ea typeface="+mn-ea"/>
                <a:cs typeface="+mn-cs"/>
              </a:rPr>
              <a:t> APIs, so applications that use a supported MPI library can be migrated to AWS with little or no modification.</a:t>
            </a:r>
          </a:p>
          <a:p>
            <a:r>
              <a:rPr lang="en-US" sz="1200" b="0" i="0" u="none" strike="noStrike" kern="1200">
                <a:solidFill>
                  <a:schemeClr val="tx1"/>
                </a:solidFill>
                <a:effectLst/>
                <a:latin typeface="+mn-lt"/>
                <a:ea typeface="+mn-ea"/>
                <a:cs typeface="+mn-cs"/>
              </a:rPr>
              <a:t>(Note: EFA is available as an optional Amazon EC2 networking feature that you can enable on C5n.9xl, C5n.18xl, and P3dn.24xl instances. Additional instance types will be supported in the coming months.)</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790403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a:solidFill>
                  <a:schemeClr val="tx1"/>
                </a:solidFill>
                <a:effectLst/>
                <a:latin typeface="Calibri" panose="020F0502020204030204" pitchFamily="34" charset="0"/>
                <a:ea typeface="+mn-ea"/>
                <a:cs typeface="+mn-cs"/>
              </a:rPr>
              <a:t>R4</a:t>
            </a:r>
            <a:r>
              <a:rPr lang="en-US" kern="1200">
                <a:solidFill>
                  <a:schemeClr val="tx1"/>
                </a:solidFill>
                <a:effectLst/>
                <a:latin typeface="Calibri" panose="020F0502020204030204" pitchFamily="34" charset="0"/>
                <a:ea typeface="+mn-ea"/>
                <a:cs typeface="+mn-cs"/>
              </a:rPr>
              <a:t> instances are optimized for memory-intensive applications.</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Use</a:t>
            </a:r>
            <a:r>
              <a:rPr lang="en-US" kern="1200" baseline="0">
                <a:solidFill>
                  <a:schemeClr val="tx1"/>
                </a:solidFill>
                <a:effectLst/>
                <a:latin typeface="Calibri" panose="020F0502020204030204" pitchFamily="34" charset="0"/>
                <a:ea typeface="+mn-ea"/>
                <a:cs typeface="+mn-cs"/>
              </a:rPr>
              <a:t> cases include high-</a:t>
            </a:r>
            <a:r>
              <a:rPr lang="en-US" kern="1200">
                <a:solidFill>
                  <a:schemeClr val="tx1"/>
                </a:solidFill>
                <a:effectLst/>
                <a:latin typeface="Calibri" panose="020F0502020204030204" pitchFamily="34" charset="0"/>
                <a:ea typeface="+mn-ea"/>
                <a:cs typeface="+mn-cs"/>
              </a:rPr>
              <a:t>performance databases, data mining and analysis, in-memory databases, distributed web scale in-memory caches, applications performing real-time processing of unstructured big data, Hadoop/Spark clusters, and other enterprise applications.</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877633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a:solidFill>
                  <a:schemeClr val="tx1"/>
                </a:solidFill>
                <a:effectLst/>
                <a:latin typeface="Calibri" panose="020F0502020204030204" pitchFamily="34" charset="0"/>
                <a:ea typeface="+mn-ea"/>
                <a:cs typeface="+mn-cs"/>
              </a:rPr>
              <a:t>P3 </a:t>
            </a:r>
            <a:r>
              <a:rPr lang="en-US" kern="1200">
                <a:solidFill>
                  <a:schemeClr val="tx1"/>
                </a:solidFill>
                <a:effectLst/>
                <a:latin typeface="Calibri" panose="020F0502020204030204" pitchFamily="34" charset="0"/>
                <a:ea typeface="+mn-ea"/>
                <a:cs typeface="+mn-cs"/>
              </a:rPr>
              <a:t>instances are intended for general-purpose GPU compute applications.</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Use</a:t>
            </a:r>
            <a:r>
              <a:rPr lang="en-US" kern="1200" baseline="0">
                <a:solidFill>
                  <a:schemeClr val="tx1"/>
                </a:solidFill>
                <a:effectLst/>
                <a:latin typeface="Calibri" panose="020F0502020204030204" pitchFamily="34" charset="0"/>
                <a:ea typeface="+mn-ea"/>
                <a:cs typeface="+mn-cs"/>
              </a:rPr>
              <a:t> cases include machine learning, deep learning, </a:t>
            </a:r>
            <a:r>
              <a:rPr lang="en-US" kern="1200">
                <a:solidFill>
                  <a:schemeClr val="tx1"/>
                </a:solidFill>
                <a:effectLst/>
                <a:latin typeface="Calibri" panose="020F0502020204030204" pitchFamily="34" charset="0"/>
                <a:ea typeface="+mn-ea"/>
                <a:cs typeface="+mn-cs"/>
              </a:rPr>
              <a:t>high-performance computing, computational fluid dynamics, computational finance, seismic analysis, speech recognition, autonomous vehicles, and drug discovery.</a:t>
            </a:r>
          </a:p>
          <a:p>
            <a:endParaRPr lang="en-US" kern="1200">
              <a:solidFill>
                <a:schemeClr val="tx1"/>
              </a:solidFill>
              <a:effectLst/>
              <a:latin typeface="Calibri" panose="020F0502020204030204" pitchFamily="34" charset="0"/>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550674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a:solidFill>
                  <a:schemeClr val="tx1"/>
                </a:solidFill>
                <a:effectLst/>
                <a:latin typeface="Calibri" panose="020F0502020204030204" pitchFamily="34" charset="0"/>
                <a:ea typeface="+mn-ea"/>
                <a:cs typeface="+mn-cs"/>
              </a:rPr>
              <a:t>H1</a:t>
            </a:r>
            <a:r>
              <a:rPr lang="en-US" kern="1200">
                <a:solidFill>
                  <a:schemeClr val="tx1"/>
                </a:solidFill>
                <a:effectLst/>
                <a:latin typeface="Calibri" panose="020F0502020204030204" pitchFamily="34" charset="0"/>
                <a:ea typeface="+mn-ea"/>
                <a:cs typeface="+mn-cs"/>
              </a:rPr>
              <a:t> instances feature up to 16 TB of HDD-based local storage, deliver high disk throughput, and a balance of compute and memory.</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Use cases include Amazon EMR-based workloads, distributed file systems such as HDFS and MapR-FS, network file systems, log or data processing applications such as Apache Kafka, and big data workload clusters.</a:t>
            </a:r>
          </a:p>
        </p:txBody>
      </p:sp>
    </p:spTree>
    <p:extLst>
      <p:ext uri="{BB962C8B-B14F-4D97-AF65-F5344CB8AC3E}">
        <p14:creationId xmlns:p14="http://schemas.microsoft.com/office/powerpoint/2010/main" val="17343337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53684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current EC2</a:t>
            </a:r>
            <a:r>
              <a:rPr lang="en-US" baseline="0"/>
              <a:t> instance types that use Intel processors include Intel's </a:t>
            </a:r>
            <a:r>
              <a:rPr lang="en-US" sz="1200" b="0" i="0" kern="1200">
                <a:solidFill>
                  <a:schemeClr val="tx1"/>
                </a:solidFill>
                <a:effectLst/>
                <a:latin typeface="+mn-lt"/>
                <a:ea typeface="+mn-ea"/>
                <a:cs typeface="+mn-cs"/>
              </a:rPr>
              <a:t>Advanced Encryption Standard New Instructions (AES-NI), which reduces the performance hit your processor takes when you enable encryption.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All instance types also include some form of</a:t>
            </a:r>
            <a:r>
              <a:rPr lang="en-US" sz="1200" b="0" i="0" kern="1200" baseline="0">
                <a:solidFill>
                  <a:schemeClr val="tx1"/>
                </a:solidFill>
                <a:effectLst/>
                <a:latin typeface="+mn-lt"/>
                <a:ea typeface="+mn-ea"/>
                <a:cs typeface="+mn-cs"/>
              </a:rPr>
              <a:t> Intel </a:t>
            </a:r>
            <a:r>
              <a:rPr lang="en-US" sz="1200" b="0" i="0" kern="1200">
                <a:solidFill>
                  <a:schemeClr val="tx1"/>
                </a:solidFill>
                <a:effectLst/>
                <a:latin typeface="+mn-lt"/>
                <a:ea typeface="+mn-ea"/>
                <a:cs typeface="+mn-cs"/>
              </a:rPr>
              <a:t>Advanced Vector Extension (AVX),</a:t>
            </a:r>
            <a:r>
              <a:rPr lang="en-US" sz="1200" b="0" i="0" kern="1200" baseline="0">
                <a:solidFill>
                  <a:schemeClr val="tx1"/>
                </a:solidFill>
                <a:effectLst/>
                <a:latin typeface="+mn-lt"/>
                <a:ea typeface="+mn-ea"/>
                <a:cs typeface="+mn-cs"/>
              </a:rPr>
              <a:t> which is Intel's instructions custom-built for floating-point intensive workloads. AVX2 provides twice the floating point performance of AVX, and AVX-512, available only on the new Intel Xeon Scalable Processor family of CPUs, doubles the performance of AVX2.</a:t>
            </a:r>
          </a:p>
          <a:p>
            <a:endParaRPr lang="en-US" sz="1200" b="0" i="0" kern="1200" baseline="0">
              <a:solidFill>
                <a:schemeClr val="tx1"/>
              </a:solidFill>
              <a:effectLst/>
              <a:latin typeface="+mn-lt"/>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Intel</a:t>
            </a:r>
            <a:r>
              <a:rPr lang="en-US" sz="1200" b="0" i="0" kern="1200" baseline="0">
                <a:solidFill>
                  <a:schemeClr val="tx1"/>
                </a:solidFill>
                <a:effectLst/>
                <a:latin typeface="+mn-lt"/>
                <a:ea typeface="+mn-ea"/>
                <a:cs typeface="+mn-cs"/>
              </a:rPr>
              <a:t> Transactional Synchronization Extensions (TSX): </a:t>
            </a:r>
            <a:r>
              <a:rPr lang="en-US" sz="1200">
                <a:solidFill>
                  <a:schemeClr val="tx2"/>
                </a:solidFill>
                <a:latin typeface="+mn-lt"/>
              </a:rPr>
              <a:t>Provides workload optimized performance specific to the applications, multi-threaded when needed and single threaded when needed</a:t>
            </a:r>
          </a:p>
          <a:p>
            <a:endParaRPr lang="en-US" sz="1200" b="0" i="0"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9032706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baseline="0">
                <a:solidFill>
                  <a:schemeClr val="tx1"/>
                </a:solidFill>
                <a:effectLst/>
                <a:latin typeface="+mn-lt"/>
                <a:ea typeface="+mn-ea"/>
                <a:cs typeface="+mn-cs"/>
              </a:rPr>
              <a:t>Some instance types also include Intel Turbo Boost, Intel TSX, and P State and C State control.</a:t>
            </a:r>
          </a:p>
          <a:p>
            <a:endParaRPr lang="en-US" sz="1200" b="0" i="0" kern="1200" baseline="0">
              <a:solidFill>
                <a:schemeClr val="tx1"/>
              </a:solidFill>
              <a:effectLst/>
              <a:latin typeface="+mn-lt"/>
              <a:ea typeface="+mn-ea"/>
              <a:cs typeface="+mn-cs"/>
            </a:endParaRPr>
          </a:p>
          <a:p>
            <a:r>
              <a:rPr lang="en-US" sz="1200" b="0" i="0" kern="1200" baseline="0">
                <a:solidFill>
                  <a:schemeClr val="tx1"/>
                </a:solidFill>
                <a:effectLst/>
                <a:latin typeface="+mn-lt"/>
                <a:ea typeface="+mn-ea"/>
                <a:cs typeface="+mn-cs"/>
              </a:rPr>
              <a:t>Intel Turbo Boost intelligently boosts the clock speed of cores based on need.</a:t>
            </a:r>
          </a:p>
          <a:p>
            <a:endParaRPr lang="en-US" sz="1200" b="0" i="0" kern="1200">
              <a:solidFill>
                <a:schemeClr val="tx1"/>
              </a:solidFill>
              <a:effectLst/>
              <a:latin typeface="+mn-lt"/>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Intel</a:t>
            </a:r>
            <a:r>
              <a:rPr lang="en-US" sz="1200" b="0" i="0" kern="1200" baseline="0">
                <a:solidFill>
                  <a:schemeClr val="tx1"/>
                </a:solidFill>
                <a:effectLst/>
                <a:latin typeface="+mn-lt"/>
                <a:ea typeface="+mn-ea"/>
                <a:cs typeface="+mn-cs"/>
              </a:rPr>
              <a:t> Transactional Synchronization Extensions (TSX): </a:t>
            </a:r>
            <a:r>
              <a:rPr lang="en-US" sz="1200">
                <a:solidFill>
                  <a:schemeClr val="tx2"/>
                </a:solidFill>
                <a:latin typeface="+mn-lt"/>
              </a:rPr>
              <a:t>Provides workload optimized performance specific to the applications, multi-threaded when needed and single threaded when needed.</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sz="1200">
              <a:solidFill>
                <a:schemeClr val="tx2"/>
              </a:solidFill>
              <a:latin typeface="+mn-lt"/>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a:solidFill>
                  <a:schemeClr val="tx2"/>
                </a:solidFill>
                <a:latin typeface="+mn-lt"/>
              </a:rPr>
              <a:t>P state and C state control allows you to tune the performance</a:t>
            </a:r>
            <a:r>
              <a:rPr lang="en-US" sz="1200" baseline="0">
                <a:solidFill>
                  <a:schemeClr val="tx2"/>
                </a:solidFill>
                <a:latin typeface="+mn-lt"/>
              </a:rPr>
              <a:t> and sleep state of each core to your own needs.</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sz="1200" baseline="0">
              <a:solidFill>
                <a:schemeClr val="tx2"/>
              </a:solidFill>
              <a:latin typeface="+mn-lt"/>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baseline="0">
                <a:solidFill>
                  <a:schemeClr val="tx2"/>
                </a:solidFill>
                <a:latin typeface="+mn-lt"/>
              </a:rPr>
              <a:t>To find out which instance types currently support these options, see the AWS instance types page: </a:t>
            </a:r>
            <a:r>
              <a:rPr lang="en-US" sz="1200">
                <a:latin typeface="Calibri" panose="020F0502020204030204" pitchFamily="34" charset="0"/>
                <a:hlinkClick r:id="rId3"/>
              </a:rPr>
              <a:t>https://aws.amazon.com/ec2/instance-types/</a:t>
            </a:r>
            <a:endParaRPr lang="en-US" sz="1200" b="0" i="0"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36081312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solidFill>
                  <a:schemeClr val="tx1"/>
                </a:solidFill>
                <a:latin typeface="+mn-lt"/>
                <a:ea typeface="Amazon Ember Light" panose="020B0403020204020204" pitchFamily="34" charset="0"/>
                <a:cs typeface="Amazon Ember Light" panose="020B0403020204020204" pitchFamily="34" charset="0"/>
              </a:rPr>
              <a:t>There are several different Intel processors to fit different workloads.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a:solidFill>
                <a:schemeClr val="tx1"/>
              </a:solidFill>
              <a:latin typeface="+mn-lt"/>
              <a:ea typeface="Amazon Ember Light" panose="020B0403020204020204" pitchFamily="34"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a:solidFill>
                  <a:schemeClr val="tx1"/>
                </a:solidFill>
                <a:latin typeface="+mn-lt"/>
                <a:ea typeface="Amazon Ember Light" panose="020B0403020204020204" pitchFamily="34" charset="0"/>
                <a:cs typeface="Amazon Ember Light" panose="020B0403020204020204" pitchFamily="34" charset="0"/>
              </a:rPr>
              <a:t>Intel® AVX 512:</a:t>
            </a:r>
            <a:r>
              <a:rPr lang="en-US" sz="1200" b="1" i="0" baseline="0">
                <a:solidFill>
                  <a:schemeClr val="tx1"/>
                </a:solidFill>
                <a:latin typeface="+mn-lt"/>
                <a:ea typeface="Amazon Ember Light" panose="020B0403020204020204" pitchFamily="34" charset="0"/>
                <a:cs typeface="Amazon Ember Light" panose="020B0403020204020204" pitchFamily="34" charset="0"/>
              </a:rPr>
              <a:t> </a:t>
            </a:r>
            <a:r>
              <a:rPr kumimoji="0" lang="en-US" sz="1200" b="0" i="0" u="none" strike="noStrike" kern="1200" cap="none" spc="0" normalizeH="0" baseline="0" noProof="0">
                <a:ln>
                  <a:noFill/>
                </a:ln>
                <a:solidFill>
                  <a:schemeClr val="tx1"/>
                </a:solidFill>
                <a:effectLst/>
                <a:uLnTx/>
                <a:uFillTx/>
                <a:latin typeface="+mn-lt"/>
                <a:ea typeface="Amazon Ember Light" panose="020B0403020204020204" pitchFamily="34" charset="0"/>
                <a:cs typeface="Amazon Ember Light" panose="020B0403020204020204" pitchFamily="34" charset="0"/>
              </a:rPr>
              <a:t>Optimized for: scientific simulations, financial analytics, artificial intelligence (AI)/deep learning, 3D modeling and analysis, image and audio/video processing, cryptography and data compression.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a:solidFill>
                  <a:schemeClr val="tx1"/>
                </a:solidFill>
                <a:latin typeface="+mn-lt"/>
                <a:ea typeface="Amazon Ember Light" panose="020B0403020204020204" pitchFamily="34" charset="0"/>
                <a:cs typeface="Amazon Ember Light" panose="020B0403020204020204" pitchFamily="34" charset="0"/>
              </a:rPr>
              <a:t>Intel® AES-NI:</a:t>
            </a:r>
            <a:r>
              <a:rPr lang="en-US" sz="1200" b="0" i="0">
                <a:solidFill>
                  <a:schemeClr val="tx1"/>
                </a:solidFill>
                <a:latin typeface="+mn-lt"/>
                <a:ea typeface="Amazon Ember Light" panose="020B0403020204020204" pitchFamily="34" charset="0"/>
                <a:cs typeface="Amazon Ember Light" panose="020B0403020204020204" pitchFamily="34" charset="0"/>
              </a:rPr>
              <a:t> </a:t>
            </a:r>
            <a:r>
              <a:rPr kumimoji="0" lang="en-US" sz="1200" b="0" i="0" u="none" strike="noStrike" kern="1200" cap="none" spc="0" normalizeH="0" baseline="0" noProof="0">
                <a:ln>
                  <a:noFill/>
                </a:ln>
                <a:solidFill>
                  <a:schemeClr val="tx1"/>
                </a:solidFill>
                <a:effectLst/>
                <a:uLnTx/>
                <a:uFillTx/>
                <a:latin typeface="+mn-lt"/>
                <a:ea typeface="Amazon Ember Light" panose="020B0403020204020204" pitchFamily="34" charset="0"/>
                <a:cs typeface="Amazon Ember Light" panose="020B0403020204020204" pitchFamily="34" charset="0"/>
              </a:rPr>
              <a:t>Intel® AES-NI provides faster data protection and greater security; making pervasive encryption feasible in areas where previously it was not.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chemeClr val="tx1"/>
                </a:solidFill>
                <a:effectLst/>
                <a:uLnTx/>
                <a:uFillTx/>
                <a:latin typeface="+mn-lt"/>
                <a:ea typeface="Amazon Ember Light" panose="020B0403020204020204" pitchFamily="34" charset="0"/>
                <a:cs typeface="Amazon Ember Light" panose="020B0403020204020204" pitchFamily="34" charset="0"/>
              </a:rPr>
              <a:t>Intel</a:t>
            </a:r>
            <a:r>
              <a:rPr lang="en-US" sz="1200" b="1" i="0">
                <a:solidFill>
                  <a:schemeClr val="tx1"/>
                </a:solidFill>
                <a:latin typeface="+mn-lt"/>
                <a:ea typeface="Amazon Ember Light" panose="020B0403020204020204" pitchFamily="34" charset="0"/>
                <a:cs typeface="Amazon Ember Light" panose="020B0403020204020204" pitchFamily="34" charset="0"/>
              </a:rPr>
              <a:t>® Threat Detection Technology (TDT): </a:t>
            </a:r>
            <a:r>
              <a:rPr lang="en-US" sz="1200" b="0" i="0">
                <a:solidFill>
                  <a:schemeClr val="tx1"/>
                </a:solidFill>
                <a:latin typeface="+mn-lt"/>
                <a:ea typeface="Amazon Ember Light" panose="020B0403020204020204" pitchFamily="34" charset="0"/>
                <a:cs typeface="Amazon Ember Light" panose="020B0403020204020204" pitchFamily="34" charset="0"/>
              </a:rPr>
              <a:t>Intel TDT enables</a:t>
            </a:r>
            <a:r>
              <a:rPr lang="en-US" sz="1200" b="0" i="0" baseline="0">
                <a:solidFill>
                  <a:schemeClr val="tx1"/>
                </a:solidFill>
                <a:latin typeface="+mn-lt"/>
                <a:ea typeface="Amazon Ember Light" panose="020B0403020204020204" pitchFamily="34" charset="0"/>
                <a:cs typeface="Amazon Ember Light" panose="020B0403020204020204" pitchFamily="34" charset="0"/>
              </a:rPr>
              <a:t> more accurate threat detection without impacting CPU performance by offloading certain threat scanning to the Intel integrated GPU.</a:t>
            </a:r>
            <a:endParaRPr kumimoji="0" lang="en-US" sz="1200" b="0" i="0" u="none" strike="noStrike" kern="1200" cap="none" spc="0" normalizeH="0" baseline="0" noProof="0">
              <a:ln>
                <a:noFill/>
              </a:ln>
              <a:solidFill>
                <a:schemeClr val="tx1"/>
              </a:solidFill>
              <a:effectLst/>
              <a:uLnTx/>
              <a:uFillTx/>
              <a:latin typeface="+mn-lt"/>
              <a:ea typeface="Amazon Ember Light" panose="020B0403020204020204" pitchFamily="34"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a:solidFill>
                  <a:schemeClr val="tx1"/>
                </a:solidFill>
                <a:latin typeface="+mn-lt"/>
                <a:ea typeface="Amazon Ember Light" panose="020B0403020204020204" pitchFamily="34" charset="0"/>
                <a:cs typeface="Amazon Ember Light" panose="020B0403020204020204" pitchFamily="34" charset="0"/>
              </a:rPr>
              <a:t>Intel® TSX:</a:t>
            </a:r>
            <a:r>
              <a:rPr lang="en-US" sz="1200" b="1" i="0" baseline="0">
                <a:solidFill>
                  <a:schemeClr val="tx1"/>
                </a:solidFill>
                <a:latin typeface="+mn-lt"/>
                <a:ea typeface="Amazon Ember Light" panose="020B0403020204020204" pitchFamily="34" charset="0"/>
                <a:cs typeface="Amazon Ember Light" panose="020B0403020204020204" pitchFamily="34" charset="0"/>
              </a:rPr>
              <a:t> </a:t>
            </a:r>
            <a:r>
              <a:rPr lang="en-US" sz="1200" b="0" i="0" kern="1200">
                <a:solidFill>
                  <a:schemeClr val="tx1"/>
                </a:solidFill>
                <a:effectLst/>
                <a:latin typeface="+mn-lt"/>
                <a:ea typeface="Amazon Ember Light" panose="020B0403020204020204" pitchFamily="34" charset="0"/>
                <a:cs typeface="Amazon Ember Light" panose="020B0403020204020204" pitchFamily="34" charset="0"/>
              </a:rPr>
              <a:t>Intel® Transactional Synchronization Extensions (Intel® TSX) allows the processor to determine dynamically whether threads need to serialize through lock-protected critical sections, and to perform serialization only when required. Optimizing compute</a:t>
            </a:r>
            <a:r>
              <a:rPr lang="en-US" sz="1200" b="0" i="0" kern="1200" baseline="0">
                <a:solidFill>
                  <a:schemeClr val="tx1"/>
                </a:solidFill>
                <a:effectLst/>
                <a:latin typeface="+mn-lt"/>
                <a:ea typeface="Amazon Ember Light" panose="020B0403020204020204" pitchFamily="34" charset="0"/>
                <a:cs typeface="Amazon Ember Light" panose="020B0403020204020204" pitchFamily="34" charset="0"/>
              </a:rPr>
              <a:t> performance for business applications dynamically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a:solidFill>
                  <a:schemeClr val="tx1"/>
                </a:solidFill>
                <a:latin typeface="+mn-lt"/>
                <a:ea typeface="Amazon Ember Light" panose="020B0403020204020204" pitchFamily="34" charset="0"/>
                <a:cs typeface="Amazon Ember Light" panose="020B0403020204020204" pitchFamily="34" charset="0"/>
              </a:rPr>
              <a:t>Intel® Turbo Boost: </a:t>
            </a:r>
            <a:r>
              <a:rPr lang="en-US" sz="1200" b="0" i="0" kern="1200">
                <a:solidFill>
                  <a:schemeClr val="tx1"/>
                </a:solidFill>
                <a:effectLst/>
                <a:latin typeface="+mn-lt"/>
                <a:ea typeface="Amazon Ember Light" panose="020B0403020204020204" pitchFamily="34" charset="0"/>
                <a:cs typeface="Amazon Ember Light" panose="020B0403020204020204" pitchFamily="34" charset="0"/>
              </a:rPr>
              <a:t>Intel® Turbo Boost Technology</a:t>
            </a:r>
            <a:r>
              <a:rPr lang="en-US" sz="1200" b="0" i="0" kern="1200" baseline="0">
                <a:solidFill>
                  <a:schemeClr val="tx1"/>
                </a:solidFill>
                <a:effectLst/>
                <a:latin typeface="+mn-lt"/>
                <a:ea typeface="Amazon Ember Light" panose="020B0403020204020204" pitchFamily="34" charset="0"/>
                <a:cs typeface="Amazon Ember Light" panose="020B0403020204020204" pitchFamily="34" charset="0"/>
              </a:rPr>
              <a:t> </a:t>
            </a:r>
            <a:r>
              <a:rPr lang="en-US" sz="1200" b="0" i="0" kern="1200">
                <a:solidFill>
                  <a:schemeClr val="tx1"/>
                </a:solidFill>
                <a:effectLst/>
                <a:latin typeface="+mn-lt"/>
                <a:ea typeface="Amazon Ember Light" panose="020B0403020204020204" pitchFamily="34" charset="0"/>
                <a:cs typeface="Amazon Ember Light" panose="020B0403020204020204" pitchFamily="34" charset="0"/>
              </a:rPr>
              <a:t>2.0 accelerates processor and graphics performance for peak loads, automatically allowing processor cores to run faster than the rated operating frequency if they’re operating below power, current, and temperature specification limits.</a:t>
            </a:r>
          </a:p>
        </p:txBody>
      </p:sp>
    </p:spTree>
    <p:extLst>
      <p:ext uri="{BB962C8B-B14F-4D97-AF65-F5344CB8AC3E}">
        <p14:creationId xmlns:p14="http://schemas.microsoft.com/office/powerpoint/2010/main" val="30095747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a:t>The latest</a:t>
            </a:r>
            <a:r>
              <a:rPr lang="en-US" baseline="0"/>
              <a:t> generation of Intel Xeon processors is the Intel Xeon Scalable Processor Family. This group provides substantial performance improvement over the prior generation, w</a:t>
            </a:r>
            <a:r>
              <a:rPr kumimoji="0" lang="en-US" sz="1200" b="0" i="0" u="none" strike="noStrike" kern="1200" cap="none" spc="0" normalizeH="0" baseline="0" noProof="0">
                <a:ln>
                  <a:noFill/>
                </a:ln>
                <a:effectLst/>
                <a:uLnTx/>
                <a:uFillTx/>
                <a:latin typeface="+mn-lt"/>
                <a:ea typeface="+mn-ea"/>
                <a:cs typeface="+mn-cs"/>
              </a:rPr>
              <a:t>ith up to 28 cores delivering enhanced per core performance, and significant increases in memory bandwidth (6 memory channels) and I/O bandwidth and throughput (48 PCIe lanes), your most data-hungry, latency-sensitive applications such as in-memory databases and high-performance computing will see notable improvements enabled by denser compute and faster access to large data volumes.</a:t>
            </a:r>
          </a:p>
          <a:p>
            <a:pPr marL="0" marR="0" lvl="0" indent="0" algn="l" defTabSz="91339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mn-lt"/>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mn-lt"/>
                <a:ea typeface="+mn-ea"/>
                <a:cs typeface="+mn-cs"/>
              </a:rPr>
              <a:t>This family also includes the latest version of Intel's AVX instructions, which double the floating point performance of processors using AVX2.</a:t>
            </a:r>
          </a:p>
          <a:p>
            <a:endParaRPr lang="en-US" sz="1200" b="0" i="0"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38171012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the most current (as of March 2019) EC2 instance types and their associated processor families. </a:t>
            </a:r>
          </a:p>
          <a:p>
            <a:r>
              <a:rPr lang="en-US" baseline="0" dirty="0"/>
              <a:t>For the latest list of EC2 instance types, see the AWS instance type information page: </a:t>
            </a:r>
            <a:r>
              <a:rPr lang="en-US" sz="1200" dirty="0">
                <a:latin typeface="Calibri" panose="020F0502020204030204" pitchFamily="34" charset="0"/>
                <a:hlinkClick r:id="rId3"/>
              </a:rPr>
              <a:t>https://aws.amazon.com/ec2/instance-types/</a:t>
            </a:r>
            <a:endParaRPr lang="en-US" baseline="0" dirty="0"/>
          </a:p>
          <a:p>
            <a:pPr marL="0" marR="0" lvl="0" indent="0" algn="l" defTabSz="913395" rtl="0" eaLnBrk="1" fontAlgn="auto" latinLnBrk="0" hangingPunct="1">
              <a:lnSpc>
                <a:spcPct val="100000"/>
              </a:lnSpc>
              <a:spcBef>
                <a:spcPts val="0"/>
              </a:spcBef>
              <a:spcAft>
                <a:spcPts val="0"/>
              </a:spcAft>
              <a:buClrTx/>
              <a:buSzTx/>
              <a:buFontTx/>
              <a:buNone/>
              <a:tabLst/>
              <a:defRPr/>
            </a:pPr>
            <a:endParaRPr lang="en-US" baseline="0" dirty="0"/>
          </a:p>
          <a:p>
            <a:endParaRPr lang="en-US" dirty="0"/>
          </a:p>
        </p:txBody>
      </p:sp>
    </p:spTree>
    <p:extLst>
      <p:ext uri="{BB962C8B-B14F-4D97-AF65-F5344CB8AC3E}">
        <p14:creationId xmlns:p14="http://schemas.microsoft.com/office/powerpoint/2010/main" val="37934890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Even if newer generation instances cost</a:t>
            </a:r>
            <a:r>
              <a:rPr lang="en-US" baseline="0"/>
              <a:t> more per hour/second than prior generation instances, the price to performance ratio of newer instances is typically higher than older generations. Here's one example of a test performed using </a:t>
            </a:r>
            <a:r>
              <a:rPr lang="en-US" baseline="0" err="1"/>
              <a:t>HammerDB</a:t>
            </a:r>
            <a:r>
              <a:rPr lang="en-US" baseline="0"/>
              <a:t> on several SQL Server deployments on m4.xlarge and m5.xlarge instances. In this test, they compared the number of transactions that could be performed per month by each instance based on a set number of users (from 3 to 233) with the monthly cost of operating the instances, and averaged all of the results for each instance type. You can read all the details in the link provided below.</a:t>
            </a:r>
            <a:endParaRPr lang="en-US"/>
          </a:p>
          <a:p>
            <a:endParaRPr lang="en-US"/>
          </a:p>
          <a:p>
            <a:r>
              <a:rPr lang="en-US"/>
              <a:t>Source: </a:t>
            </a:r>
            <a:r>
              <a:rPr lang="en-US">
                <a:latin typeface="Calibri" panose="020F0502020204030204" pitchFamily="34" charset="0"/>
                <a:hlinkClick r:id="rId3"/>
              </a:rPr>
              <a:t>https://www.dbbest.com/blog/validating-aws-ec2-sql-server-deployments-using-benchmark-tools/</a:t>
            </a:r>
            <a:endParaRPr lang="en-US">
              <a:solidFill>
                <a:schemeClr val="tx2"/>
              </a:solidFill>
            </a:endParaRPr>
          </a:p>
        </p:txBody>
      </p:sp>
    </p:spTree>
    <p:extLst>
      <p:ext uri="{BB962C8B-B14F-4D97-AF65-F5344CB8AC3E}">
        <p14:creationId xmlns:p14="http://schemas.microsoft.com/office/powerpoint/2010/main" val="12888725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13017553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pPr>
            <a:r>
              <a:rPr lang="en-US" kern="1200" dirty="0">
                <a:solidFill>
                  <a:schemeClr val="tx1"/>
                </a:solidFill>
                <a:effectLst/>
                <a:latin typeface="Calibri" panose="020F0502020204030204" pitchFamily="34" charset="0"/>
                <a:ea typeface="+mn-ea"/>
                <a:cs typeface="+mn-cs"/>
              </a:rPr>
              <a:t>As part of the Free Tier from AWS, new AWS customers can get started with Amazon EC2 t2.micro</a:t>
            </a:r>
            <a:r>
              <a:rPr lang="en-US" kern="1200" baseline="0" dirty="0">
                <a:solidFill>
                  <a:schemeClr val="tx1"/>
                </a:solidFill>
                <a:effectLst/>
                <a:latin typeface="Calibri" panose="020F0502020204030204" pitchFamily="34" charset="0"/>
                <a:ea typeface="+mn-ea"/>
                <a:cs typeface="+mn-cs"/>
              </a:rPr>
              <a:t> instances, S3 bucket capacity, </a:t>
            </a:r>
            <a:r>
              <a:rPr lang="en-US" kern="1200" dirty="0">
                <a:solidFill>
                  <a:schemeClr val="tx1"/>
                </a:solidFill>
                <a:effectLst/>
                <a:latin typeface="Calibri" panose="020F0502020204030204" pitchFamily="34" charset="0"/>
                <a:ea typeface="+mn-ea"/>
                <a:cs typeface="+mn-cs"/>
              </a:rPr>
              <a:t>and many other AWS service offerings for free for up to one year after sign-up. What’s available in the free tier varies from service to service.</a:t>
            </a:r>
            <a:r>
              <a:rPr lang="en-US" kern="1200" baseline="0" dirty="0">
                <a:solidFill>
                  <a:schemeClr val="tx1"/>
                </a:solidFill>
                <a:effectLst/>
                <a:latin typeface="Calibri" panose="020F0502020204030204" pitchFamily="34" charset="0"/>
                <a:ea typeface="+mn-ea"/>
                <a:cs typeface="+mn-cs"/>
              </a:rPr>
              <a:t> Please visit </a:t>
            </a:r>
            <a:r>
              <a:rPr lang="en-US" dirty="0">
                <a:latin typeface="Calibri" panose="020F0502020204030204" pitchFamily="34" charset="0"/>
                <a:hlinkClick r:id="rId3"/>
              </a:rPr>
              <a:t>https://aws.amazon.com/free/</a:t>
            </a:r>
            <a:r>
              <a:rPr lang="en-US" dirty="0">
                <a:solidFill>
                  <a:schemeClr val="tx2"/>
                </a:solidFill>
              </a:rPr>
              <a:t> </a:t>
            </a:r>
            <a:r>
              <a:rPr lang="en-US" kern="1200" baseline="0" dirty="0">
                <a:solidFill>
                  <a:schemeClr val="tx1"/>
                </a:solidFill>
                <a:effectLst/>
                <a:latin typeface="Calibri" panose="020F0502020204030204" pitchFamily="34" charset="0"/>
                <a:ea typeface="+mn-ea"/>
                <a:cs typeface="+mn-cs"/>
              </a:rPr>
              <a:t>for details</a:t>
            </a:r>
            <a:r>
              <a:rPr lang="en-US" kern="1200" dirty="0">
                <a:solidFill>
                  <a:schemeClr val="tx1"/>
                </a:solidFill>
                <a:effectLst/>
                <a:latin typeface="Calibri" panose="020F0502020204030204" pitchFamily="34" charset="0"/>
                <a:ea typeface="+mn-ea"/>
                <a:cs typeface="+mn-cs"/>
              </a:rPr>
              <a:t>. </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Amazon EC2 usage of Amazon Linux- and Ubuntu-based instances that are launched in On-Demand, Reserved and Spot form will be billed on one-second increments, with a minimum of 60 seconds. All other operating</a:t>
            </a:r>
            <a:r>
              <a:rPr lang="en-US" kern="1200" baseline="0" dirty="0">
                <a:solidFill>
                  <a:schemeClr val="tx1"/>
                </a:solidFill>
                <a:effectLst/>
                <a:latin typeface="Calibri" panose="020F0502020204030204" pitchFamily="34" charset="0"/>
                <a:ea typeface="+mn-ea"/>
                <a:cs typeface="+mn-cs"/>
              </a:rPr>
              <a:t> systems are billed in one-hour increments, and are billed hour forward, that is, billed at the start of the hour whether you use the full hour or not. Note that Reserved Instances are launched as, and indistinguishable from, On-Demand Instances until the bill is processed. </a:t>
            </a:r>
            <a:endParaRPr lang="en-US" kern="1200" dirty="0">
              <a:solidFill>
                <a:schemeClr val="tx1"/>
              </a:solidFill>
              <a:effectLst/>
              <a:latin typeface="Calibri" panose="020F0502020204030204" pitchFamily="34" charset="0"/>
              <a:ea typeface="+mn-ea"/>
              <a:cs typeface="+mn-cs"/>
            </a:endParaRPr>
          </a:p>
          <a:p>
            <a:endParaRPr lang="en-US" kern="1200" dirty="0">
              <a:solidFill>
                <a:schemeClr val="tx1"/>
              </a:solidFill>
              <a:effectLst/>
              <a:latin typeface="Calibri" panose="020F0502020204030204" pitchFamily="34" charset="0"/>
              <a:ea typeface="+mn-ea"/>
              <a:cs typeface="+mn-cs"/>
            </a:endParaRPr>
          </a:p>
          <a:p>
            <a:r>
              <a:rPr lang="en-US" sz="1200" b="0" i="0" kern="1200" dirty="0">
                <a:solidFill>
                  <a:schemeClr val="tx1"/>
                </a:solidFill>
                <a:effectLst/>
                <a:latin typeface="+mn-lt"/>
                <a:ea typeface="+mn-ea"/>
                <a:cs typeface="+mn-cs"/>
              </a:rPr>
              <a:t>Compute Savings Plans provide the most flexibility and help to reduce your costs by up to 66% (just like Convertible RIs). The plans automatically apply to any EC2 instance regardless of Region, instance family, operating system, or tenancy, including those that are part of EMR, ECS, or </a:t>
            </a:r>
            <a:r>
              <a:rPr lang="en-US" sz="1200" b="0" i="0" kern="1200" dirty="0" err="1">
                <a:solidFill>
                  <a:schemeClr val="tx1"/>
                </a:solidFill>
                <a:effectLst/>
                <a:latin typeface="+mn-lt"/>
                <a:ea typeface="+mn-ea"/>
                <a:cs typeface="+mn-cs"/>
              </a:rPr>
              <a:t>EKS</a:t>
            </a:r>
            <a:r>
              <a:rPr lang="en-US" sz="1200" b="0" i="0" kern="1200" dirty="0">
                <a:solidFill>
                  <a:schemeClr val="tx1"/>
                </a:solidFill>
                <a:effectLst/>
                <a:latin typeface="+mn-lt"/>
                <a:ea typeface="+mn-ea"/>
                <a:cs typeface="+mn-cs"/>
              </a:rPr>
              <a:t> clusters, or launched by Fargate. For example, you can shift from C4 to C5 instances, move a workload from Dublin to London, or migrate from EC2 to Fargate, benefiting from Savings Plan prices along the way, without having to do anything.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EC2 Instance Savings Plans apply to a specific instance family within a Region and provide the largest discount (up to 72%, just like Standard RIs). Just like with RIs, your Savings Plan covers usage of different sizes of the same instance type (such as a c5.4xlarge or c5.large) throughout a Region. You can even switch from Windows to Linux while continuing to benefit, without having to make any changes to your Savings Plan.</a:t>
            </a:r>
          </a:p>
          <a:p>
            <a:endParaRPr lang="en-US" kern="1200" dirty="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Calibri" panose="020F0502020204030204" pitchFamily="34" charset="0"/>
                <a:ea typeface="+mn-ea"/>
                <a:cs typeface="+mn-cs"/>
              </a:rPr>
              <a:t>For more information about how AWS pricing works, see </a:t>
            </a:r>
            <a:r>
              <a:rPr lang="en-US" dirty="0">
                <a:latin typeface="Calibri" panose="020F0502020204030204" pitchFamily="34" charset="0"/>
                <a:hlinkClick r:id="rId4"/>
              </a:rPr>
              <a:t>https://d0.awsstatic.com/whitepapers/aws_pricing_overview.pdf</a:t>
            </a:r>
            <a:r>
              <a:rPr lang="en-US" dirty="0">
                <a:latin typeface="Calibri" panose="020F0502020204030204" pitchFamily="34" charset="0"/>
              </a:rPr>
              <a:t>.</a:t>
            </a:r>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586245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11872707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24836"/>
          </a:xfrm>
        </p:spPr>
        <p:txBody>
          <a:bodyPr/>
          <a:lstStyle/>
          <a:p>
            <a:r>
              <a:rPr lang="en-US" kern="1200">
                <a:solidFill>
                  <a:schemeClr val="tx1"/>
                </a:solidFill>
                <a:effectLst/>
                <a:latin typeface="Calibri" panose="020F0502020204030204" pitchFamily="34" charset="0"/>
                <a:ea typeface="+mn-ea"/>
                <a:cs typeface="+mn-cs"/>
              </a:rPr>
              <a:t>Reserve Instances (RI) are a great tool to help reduce cost in your architecture. If you know what the baseline level of usage is going to be for your EC2 instances, an RI can provide significant discounts.</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You can set up an RI in multiple ways: </a:t>
            </a:r>
          </a:p>
          <a:p>
            <a:r>
              <a:rPr lang="en-US" kern="1200">
                <a:solidFill>
                  <a:schemeClr val="tx1"/>
                </a:solidFill>
                <a:effectLst/>
                <a:latin typeface="Calibri" panose="020F0502020204030204" pitchFamily="34" charset="0"/>
                <a:ea typeface="+mn-ea"/>
                <a:cs typeface="+mn-cs"/>
              </a:rPr>
              <a:t> </a:t>
            </a:r>
          </a:p>
          <a:p>
            <a:pPr marL="171450" indent="-171450">
              <a:buFont typeface="Arial" panose="020B0604020202020204" pitchFamily="34" charset="0"/>
              <a:buChar char="•"/>
            </a:pPr>
            <a:r>
              <a:rPr lang="en-US" kern="1200">
                <a:solidFill>
                  <a:schemeClr val="tx1"/>
                </a:solidFill>
                <a:effectLst/>
                <a:latin typeface="Calibri" panose="020F0502020204030204" pitchFamily="34" charset="0"/>
                <a:ea typeface="+mn-ea"/>
                <a:cs typeface="+mn-cs"/>
              </a:rPr>
              <a:t>Standard RIs: Provide the most significant discount (up to 75% off the On-Demand price) and are best suited for ready state usage</a:t>
            </a:r>
          </a:p>
          <a:p>
            <a:pPr marL="171450" indent="-171450">
              <a:buFont typeface="Arial" panose="020B0604020202020204" pitchFamily="34" charset="0"/>
              <a:buChar char="•"/>
            </a:pPr>
            <a:r>
              <a:rPr lang="en-US" kern="1200">
                <a:solidFill>
                  <a:schemeClr val="tx1"/>
                </a:solidFill>
                <a:effectLst/>
                <a:latin typeface="Calibri" panose="020F0502020204030204" pitchFamily="34" charset="0"/>
                <a:ea typeface="+mn-ea"/>
                <a:cs typeface="+mn-cs"/>
              </a:rPr>
              <a:t>Convertible RIs: Provide a discount (up to 54% off On-Demand price) and are able to change the attributes of the RI as long as the change results  in the creation of Ris of equal or greater value</a:t>
            </a:r>
          </a:p>
          <a:p>
            <a:pPr marL="171450" indent="-171450">
              <a:buFont typeface="Arial" panose="020B0604020202020204" pitchFamily="34" charset="0"/>
              <a:buChar char="•"/>
            </a:pPr>
            <a:r>
              <a:rPr lang="en-US" kern="1200">
                <a:solidFill>
                  <a:schemeClr val="tx1"/>
                </a:solidFill>
                <a:effectLst/>
                <a:latin typeface="Calibri" panose="020F0502020204030204" pitchFamily="34" charset="0"/>
                <a:ea typeface="+mn-ea"/>
                <a:cs typeface="+mn-cs"/>
              </a:rPr>
              <a:t>Schedule RIs: These RIs launch in</a:t>
            </a:r>
            <a:r>
              <a:rPr lang="en-US" kern="1200" baseline="0">
                <a:solidFill>
                  <a:schemeClr val="tx1"/>
                </a:solidFill>
                <a:effectLst/>
                <a:latin typeface="Calibri" panose="020F0502020204030204" pitchFamily="34" charset="0"/>
                <a:ea typeface="+mn-ea"/>
                <a:cs typeface="+mn-cs"/>
              </a:rPr>
              <a:t> the</a:t>
            </a:r>
            <a:r>
              <a:rPr lang="en-US" kern="1200">
                <a:solidFill>
                  <a:schemeClr val="tx1"/>
                </a:solidFill>
                <a:effectLst/>
                <a:latin typeface="Calibri" panose="020F0502020204030204" pitchFamily="34" charset="0"/>
                <a:ea typeface="+mn-ea"/>
                <a:cs typeface="+mn-cs"/>
              </a:rPr>
              <a:t> time window of your choice, allowing you to match your capacity needs. </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Term: AWS offers Standard RIs for 1-year or 3-year terms. Reserved Instance Marketplace sellers also offer RIs with shorter terms. AWS offers Convertible RIs for 1-year or 3-year terms.</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Payment option: You can choose between three payment options: All Upfront, Partial Upfront, and No Upfront. If you choose the Partial or No Upfront payment option, the remaining balance will be due in monthly increments over the term.</a:t>
            </a:r>
          </a:p>
          <a:p>
            <a:endParaRPr lang="en-US" kern="1200">
              <a:solidFill>
                <a:schemeClr val="tx1"/>
              </a:solidFill>
              <a:effectLst/>
              <a:latin typeface="Calibri" panose="020F0502020204030204" pitchFamily="34" charset="0"/>
              <a:ea typeface="+mn-ea"/>
              <a:cs typeface="+mn-cs"/>
            </a:endParaRPr>
          </a:p>
          <a:p>
            <a:endParaRPr lang="en-US" kern="120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Calibri" panose="020F0502020204030204" pitchFamily="34" charset="0"/>
                <a:ea typeface="+mn-ea"/>
                <a:cs typeface="+mn-cs"/>
              </a:rPr>
              <a:t>For more information, see  </a:t>
            </a:r>
            <a:r>
              <a:rPr lang="en-US" u="sng">
                <a:latin typeface="Calibri" panose="020F0502020204030204" pitchFamily="34" charset="0"/>
                <a:hlinkClick r:id="rId3"/>
              </a:rPr>
              <a:t>https://docs.aws.amazon.com/aws-technical-content/latest/cost-</a:t>
            </a:r>
            <a:r>
              <a:rPr lang="en-US">
                <a:latin typeface="Calibri" panose="020F0502020204030204" pitchFamily="34" charset="0"/>
                <a:hlinkClick r:id="rId3"/>
              </a:rPr>
              <a:t>optimization-reservation-models/introduction.html</a:t>
            </a:r>
            <a:endParaRPr lang="en-US"/>
          </a:p>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7252720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24836"/>
          </a:xfrm>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902348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AWS</a:t>
            </a:r>
            <a:r>
              <a:rPr lang="en-US" kern="1200" baseline="0">
                <a:solidFill>
                  <a:schemeClr val="tx1"/>
                </a:solidFill>
                <a:effectLst/>
                <a:latin typeface="Calibri" panose="020F0502020204030204" pitchFamily="34" charset="0"/>
                <a:ea typeface="+mn-ea"/>
                <a:cs typeface="+mn-cs"/>
              </a:rPr>
              <a:t> builds compute capacity for peak volumes of on-demand use.  The unused capacity is available to users at a discount of up to 90% off on-demand as Spot instances.</a:t>
            </a:r>
            <a:endParaRPr lang="en-US" kern="1200">
              <a:solidFill>
                <a:schemeClr val="tx1"/>
              </a:solidFill>
              <a:effectLst/>
              <a:latin typeface="Calibri" panose="020F0502020204030204" pitchFamily="34" charset="0"/>
              <a:ea typeface="+mn-ea"/>
              <a:cs typeface="+mn-cs"/>
            </a:endParaRP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With Amazon EC2 Spot Instances, </a:t>
            </a:r>
            <a:r>
              <a:rPr lang="en-US" sz="1200" b="0" i="0" kern="1200">
                <a:solidFill>
                  <a:schemeClr val="tx1"/>
                </a:solidFill>
                <a:effectLst/>
                <a:latin typeface="+mn-lt"/>
                <a:ea typeface="+mn-ea"/>
                <a:cs typeface="+mn-cs"/>
              </a:rPr>
              <a:t>you don’t have to bid for Spot Instances. In the new pricing model, and you just pay the Spot price that’s in effect for the current hour for the instances that you launch. You can request Spot capacity just like you would request On-Demand capacity, without having to spend time analyzing market prices or setting a maximum bid price.</a:t>
            </a:r>
          </a:p>
          <a:p>
            <a:r>
              <a:rPr lang="en-US"/>
              <a:t/>
            </a:r>
            <a:br>
              <a:rPr lang="en-US"/>
            </a:br>
            <a:r>
              <a:rPr lang="en-US"/>
              <a:t>At</a:t>
            </a:r>
            <a:r>
              <a:rPr lang="en-US" baseline="0"/>
              <a:t> times, AWS needs to reclaim Spot capacity to serve our on-demand customers.  In this situation, we issue a 2 minute interruption notice to allow users to take action (check-pointing, connection draining). The instance termination notice is delivered via the instance metadata and in </a:t>
            </a:r>
            <a:r>
              <a:rPr lang="en-US" baseline="0" err="1"/>
              <a:t>Cloudwatch</a:t>
            </a:r>
            <a:r>
              <a:rPr lang="en-US" baseline="0"/>
              <a:t> Events.</a:t>
            </a:r>
          </a:p>
          <a:p>
            <a:endParaRPr lang="en-US" sz="1200" kern="1200" baseline="0">
              <a:solidFill>
                <a:schemeClr val="tx1"/>
              </a:solidFill>
              <a:effectLst/>
              <a:latin typeface="+mn-lt"/>
              <a:ea typeface="+mn-ea"/>
              <a:cs typeface="+mn-cs"/>
            </a:endParaRPr>
          </a:p>
          <a:p>
            <a:r>
              <a:rPr lang="en-US" sz="1200" kern="1200" baseline="0">
                <a:solidFill>
                  <a:schemeClr val="tx1"/>
                </a:solidFill>
                <a:effectLst/>
                <a:latin typeface="+mn-lt"/>
                <a:ea typeface="+mn-ea"/>
                <a:cs typeface="+mn-cs"/>
              </a:rPr>
              <a:t>Workloads that are flexible to utilize a variety of instance-types, location flexible (region and/or AZ), and time flexible (off-peak hours) are good targets.  Popular use cases include containers (ECS/EKS/Kubernetes), big data processing (EMR – Hadoop), and HPC (High performance compute) among others.</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881976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In addition to these dedicated options, you might want to consider AWS License Manger for your license requirements: </a:t>
            </a:r>
          </a:p>
          <a:p>
            <a:endParaRPr lang="en-US" kern="1200">
              <a:solidFill>
                <a:schemeClr val="tx1"/>
              </a:solidFill>
              <a:effectLst/>
              <a:latin typeface="Calibri" panose="020F0502020204030204" pitchFamily="34" charset="0"/>
              <a:ea typeface="+mn-ea"/>
              <a:cs typeface="+mn-cs"/>
            </a:endParaRPr>
          </a:p>
          <a:p>
            <a:r>
              <a:rPr lang="en-US" sz="1200" kern="1200">
                <a:solidFill>
                  <a:schemeClr val="tx1"/>
                </a:solidFill>
                <a:effectLst/>
                <a:latin typeface="+mn-lt"/>
                <a:ea typeface="+mn-ea"/>
                <a:cs typeface="+mn-cs"/>
              </a:rPr>
              <a:t>AWS License Manager makes it easier for users to manage licenses in AWS and on-premises servers from various different software vendors (Microsoft, SAP, Oracle, etc...) It will let admins create customized licensing rules when an EC2 instance gets launched, and can use these rules to limit licensing violations such as using more licenses than an agreement allows or being able to reassign licenses to different servers on a short-term basis.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Admins gain control and visibility of all their licenses with the AWS License Manager dashboard.</a:t>
            </a:r>
          </a:p>
          <a:p>
            <a:r>
              <a:rPr lang="en-US">
                <a:hlinkClick r:id="rId3"/>
              </a:rPr>
              <a:t>https://aws.amazon.com/about-aws/whats-new/2018/11/announcing-aws-license-manager/</a:t>
            </a:r>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6199664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Calibri" panose="020F0502020204030204" pitchFamily="34" charset="0"/>
                <a:ea typeface="+mn-ea"/>
                <a:cs typeface="+mn-cs"/>
              </a:rPr>
              <a:t>Dedicated Instances are Amazon EC2 instances that run in a VPC on hardware that's dedicated to a single customer. Your Dedicated Instances are physically isolated at the host hardware level from instances that belong to other AWS accounts. Dedicated Instance pricing has two components: </a:t>
            </a:r>
          </a:p>
          <a:p>
            <a:pPr marL="171450" marR="0" lvl="0" indent="-171450" algn="l" defTabSz="91339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a:solidFill>
                  <a:schemeClr val="tx1"/>
                </a:solidFill>
                <a:effectLst/>
                <a:latin typeface="Calibri" panose="020F0502020204030204" pitchFamily="34" charset="0"/>
                <a:ea typeface="+mn-ea"/>
                <a:cs typeface="+mn-cs"/>
              </a:rPr>
              <a:t>An hourly per instance usage fee </a:t>
            </a:r>
          </a:p>
          <a:p>
            <a:pPr marL="171450" marR="0" lvl="0" indent="-171450" algn="l" defTabSz="91339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a:solidFill>
                  <a:schemeClr val="tx1"/>
                </a:solidFill>
                <a:effectLst/>
                <a:latin typeface="Calibri" panose="020F0502020204030204" pitchFamily="34" charset="0"/>
                <a:ea typeface="+mn-ea"/>
                <a:cs typeface="+mn-cs"/>
              </a:rPr>
              <a:t>A dedicated per-region fee (note that you pay this once per hour, regardless of how many Dedicated Instances you're running)</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666345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A Dedicated Host is a physical EC2 server with instance capacity fully dedicated for your use. Dedicated Hosts can help you reduce costs by allowing you to use your existing server-bound software licenses, including Windows Server, SQL Server, and SUSE Linux Enterprise Server (subject to your license terms), and can also help you meet compliance requirements. Dedicated Hosts can be purchased On-Demand (hourly). Reservations can provide up to a 70% discount compared to the On-Demand price.</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Dedicated Host benefits:</a:t>
            </a:r>
          </a:p>
          <a:p>
            <a:pPr marL="171450" indent="-171450">
              <a:buFont typeface="Arial" panose="020B0604020202020204" pitchFamily="34" charset="0"/>
              <a:buChar char="•"/>
            </a:pPr>
            <a:r>
              <a:rPr lang="en-US" b="1" kern="1200">
                <a:solidFill>
                  <a:schemeClr val="tx1"/>
                </a:solidFill>
                <a:effectLst/>
                <a:latin typeface="Calibri" panose="020F0502020204030204" pitchFamily="34" charset="0"/>
                <a:ea typeface="+mn-ea"/>
                <a:cs typeface="+mn-cs"/>
              </a:rPr>
              <a:t>Save money</a:t>
            </a:r>
            <a:r>
              <a:rPr lang="en-US" b="1" kern="1200" baseline="0">
                <a:solidFill>
                  <a:schemeClr val="tx1"/>
                </a:solidFill>
                <a:effectLst/>
                <a:latin typeface="Calibri" panose="020F0502020204030204" pitchFamily="34" charset="0"/>
                <a:ea typeface="+mn-ea"/>
                <a:cs typeface="+mn-cs"/>
              </a:rPr>
              <a:t> on licensing costs</a:t>
            </a:r>
            <a:r>
              <a:rPr lang="en-US" kern="1200">
                <a:solidFill>
                  <a:schemeClr val="tx1"/>
                </a:solidFill>
                <a:effectLst/>
                <a:latin typeface="Calibri" panose="020F0502020204030204" pitchFamily="34" charset="0"/>
                <a:ea typeface="+mn-ea"/>
                <a:cs typeface="+mn-cs"/>
              </a:rPr>
              <a:t>: Dedicated Hosts can enable you to save money by using your own per-socket or per-core software licenses in Amazon EC2.</a:t>
            </a:r>
          </a:p>
          <a:p>
            <a:pPr marL="171450" indent="-171450">
              <a:buFont typeface="Arial" panose="020B0604020202020204" pitchFamily="34" charset="0"/>
              <a:buChar char="•"/>
            </a:pPr>
            <a:r>
              <a:rPr lang="en-US" b="1" kern="1200">
                <a:solidFill>
                  <a:schemeClr val="tx1"/>
                </a:solidFill>
                <a:effectLst/>
                <a:latin typeface="Calibri" panose="020F0502020204030204" pitchFamily="34" charset="0"/>
                <a:ea typeface="+mn-ea"/>
                <a:cs typeface="+mn-cs"/>
              </a:rPr>
              <a:t>Help meet compliance and regulatory requirements</a:t>
            </a:r>
            <a:r>
              <a:rPr lang="en-US" kern="1200">
                <a:solidFill>
                  <a:schemeClr val="tx1"/>
                </a:solidFill>
                <a:effectLst/>
                <a:latin typeface="Calibri" panose="020F0502020204030204" pitchFamily="34" charset="0"/>
                <a:ea typeface="+mn-ea"/>
                <a:cs typeface="+mn-cs"/>
              </a:rPr>
              <a:t>: Dedicated Hosts allow you to place your instances in a VPC on a specific, physical server. This enables you to deploy instances using configurations that help address corporate compliance and regulatory requirements</a:t>
            </a:r>
          </a:p>
          <a:p>
            <a:r>
              <a:rPr lang="en-US" kern="1200">
                <a:solidFill>
                  <a:schemeClr val="tx1"/>
                </a:solidFill>
                <a:effectLst/>
                <a:latin typeface="Calibri" panose="020F0502020204030204" pitchFamily="34" charset="0"/>
                <a:ea typeface="+mn-ea"/>
                <a:cs typeface="+mn-cs"/>
              </a:rPr>
              <a:t> </a:t>
            </a:r>
          </a:p>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Calibri" panose="020F0502020204030204" pitchFamily="34" charset="0"/>
                <a:ea typeface="+mn-ea"/>
                <a:cs typeface="+mn-cs"/>
              </a:rPr>
              <a:t>For more information about Dedicated Hosts, see </a:t>
            </a:r>
            <a:r>
              <a:rPr lang="en-US">
                <a:latin typeface="Calibri" panose="020F0502020204030204" pitchFamily="34" charset="0"/>
                <a:hlinkClick r:id="rId3"/>
              </a:rPr>
              <a:t>https://aws.amazon.com/ec2/dedicated-hosts/</a:t>
            </a:r>
            <a:endParaRPr lang="en-US"/>
          </a:p>
          <a:p>
            <a:endParaRPr lang="en-US" kern="1200">
              <a:solidFill>
                <a:schemeClr val="tx1"/>
              </a:solidFill>
              <a:effectLst/>
              <a:latin typeface="Calibri" panose="020F0502020204030204" pitchFamily="34" charset="0"/>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461086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Calibri" panose="020F0502020204030204" pitchFamily="34" charset="0"/>
                <a:ea typeface="+mn-ea"/>
                <a:cs typeface="+mn-cs"/>
              </a:rPr>
              <a:t>After you launch an instance, there are some limitations to changing its tenancy.</a:t>
            </a:r>
          </a:p>
          <a:p>
            <a:pPr marL="171450" indent="-171450">
              <a:buFont typeface="Arial" panose="020B0604020202020204" pitchFamily="34" charset="0"/>
              <a:buChar char="•"/>
            </a:pPr>
            <a:r>
              <a:rPr lang="en-US" b="0" i="0" kern="1200">
                <a:solidFill>
                  <a:schemeClr val="tx1"/>
                </a:solidFill>
                <a:effectLst/>
                <a:latin typeface="Calibri" panose="020F0502020204030204" pitchFamily="34" charset="0"/>
                <a:ea typeface="+mn-ea"/>
                <a:cs typeface="+mn-cs"/>
              </a:rPr>
              <a:t>You cannot change the tenancy of an instance from default to dedicated or host after you've launched it.</a:t>
            </a:r>
          </a:p>
          <a:p>
            <a:pPr marL="171450" indent="-171450">
              <a:buFont typeface="Arial" panose="020B0604020202020204" pitchFamily="34" charset="0"/>
              <a:buChar char="•"/>
            </a:pPr>
            <a:r>
              <a:rPr lang="en-US" b="0" i="0" kern="1200">
                <a:solidFill>
                  <a:schemeClr val="tx1"/>
                </a:solidFill>
                <a:effectLst/>
                <a:latin typeface="Calibri" panose="020F0502020204030204" pitchFamily="34" charset="0"/>
                <a:ea typeface="+mn-ea"/>
                <a:cs typeface="+mn-cs"/>
              </a:rPr>
              <a:t>You cannot change the tenancy of an instance from dedicated or host to default after you've launched it.</a:t>
            </a:r>
          </a:p>
          <a:p>
            <a:pPr marL="171450" indent="-171450">
              <a:buFont typeface="Arial" panose="020B0604020202020204" pitchFamily="34" charset="0"/>
              <a:buChar char="•"/>
            </a:pPr>
            <a:r>
              <a:rPr lang="en-US" b="0" i="0" kern="1200">
                <a:solidFill>
                  <a:schemeClr val="tx1"/>
                </a:solidFill>
                <a:effectLst/>
                <a:latin typeface="Calibri" panose="020F0502020204030204" pitchFamily="34" charset="0"/>
                <a:ea typeface="+mn-ea"/>
                <a:cs typeface="+mn-cs"/>
              </a:rPr>
              <a:t>You </a:t>
            </a:r>
            <a:r>
              <a:rPr lang="en-US" b="0" i="1" kern="1200">
                <a:solidFill>
                  <a:schemeClr val="tx1"/>
                </a:solidFill>
                <a:effectLst/>
                <a:latin typeface="Calibri" panose="020F0502020204030204" pitchFamily="34" charset="0"/>
                <a:ea typeface="+mn-ea"/>
                <a:cs typeface="+mn-cs"/>
              </a:rPr>
              <a:t>can</a:t>
            </a:r>
            <a:r>
              <a:rPr lang="en-US" b="0" i="0" kern="1200">
                <a:solidFill>
                  <a:schemeClr val="tx1"/>
                </a:solidFill>
                <a:effectLst/>
                <a:latin typeface="Calibri" panose="020F0502020204030204" pitchFamily="34" charset="0"/>
                <a:ea typeface="+mn-ea"/>
                <a:cs typeface="+mn-cs"/>
              </a:rPr>
              <a:t> change the tenancy of an instance from dedicated to host, or from host to dedicated, after you've launched it. </a:t>
            </a:r>
          </a:p>
          <a:p>
            <a:pPr marL="171450" indent="-171450">
              <a:buFont typeface="Arial" panose="020B0604020202020204" pitchFamily="34" charset="0"/>
              <a:buChar char="•"/>
            </a:pPr>
            <a:endParaRPr lang="en-US" b="0" i="0" kern="120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b="0" i="0" kern="1200">
                <a:solidFill>
                  <a:schemeClr val="tx1"/>
                </a:solidFill>
                <a:effectLst/>
                <a:latin typeface="Calibri" panose="020F0502020204030204" pitchFamily="34" charset="0"/>
                <a:ea typeface="+mn-ea"/>
                <a:cs typeface="+mn-cs"/>
              </a:rPr>
              <a:t>For more information, see </a:t>
            </a:r>
            <a:r>
              <a:rPr lang="en-US" b="0" i="0" u="none" strike="noStrike" kern="1200">
                <a:solidFill>
                  <a:schemeClr val="tx1"/>
                </a:solidFill>
                <a:effectLst/>
                <a:latin typeface="Calibri" panose="020F0502020204030204" pitchFamily="34" charset="0"/>
                <a:ea typeface="+mn-ea"/>
                <a:cs typeface="+mn-cs"/>
                <a:hlinkClick r:id="rId3"/>
              </a:rPr>
              <a:t>Changing the Tenancy of an Instance</a:t>
            </a:r>
            <a:r>
              <a:rPr lang="en-US" b="0" i="0" kern="1200">
                <a:solidFill>
                  <a:schemeClr val="tx1"/>
                </a:solidFill>
                <a:effectLst/>
                <a:latin typeface="Calibri" panose="020F0502020204030204" pitchFamily="34" charset="0"/>
                <a:ea typeface="+mn-ea"/>
                <a:cs typeface="+mn-cs"/>
              </a:rPr>
              <a:t>.</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678329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AWS allows customers to assign metadata to their AWS resources in the form of </a:t>
            </a:r>
            <a:r>
              <a:rPr lang="en-US" i="1" kern="1200">
                <a:solidFill>
                  <a:schemeClr val="tx1"/>
                </a:solidFill>
                <a:effectLst/>
                <a:latin typeface="Calibri" panose="020F0502020204030204" pitchFamily="34" charset="0"/>
                <a:ea typeface="+mn-ea"/>
                <a:cs typeface="+mn-cs"/>
              </a:rPr>
              <a:t>tags</a:t>
            </a:r>
            <a:r>
              <a:rPr lang="en-US" kern="1200">
                <a:solidFill>
                  <a:schemeClr val="tx1"/>
                </a:solidFill>
                <a:effectLst/>
                <a:latin typeface="Calibri" panose="020F0502020204030204" pitchFamily="34" charset="0"/>
                <a:ea typeface="+mn-ea"/>
                <a:cs typeface="+mn-cs"/>
              </a:rPr>
              <a:t>. Each tag is a simple label consisting of a customer-defined key and an optional value that can make it easier to manage, search for, and filter resources. </a:t>
            </a:r>
          </a:p>
          <a:p>
            <a:endParaRPr lang="en-US" kern="1200">
              <a:solidFill>
                <a:schemeClr val="tx1"/>
              </a:solidFill>
              <a:effectLst/>
              <a:latin typeface="Calibri" panose="020F0502020204030204" pitchFamily="34" charset="0"/>
              <a:ea typeface="+mn-ea"/>
              <a:cs typeface="+mn-cs"/>
            </a:endParaRPr>
          </a:p>
          <a:p>
            <a:r>
              <a:rPr lang="en-US" kern="1200">
                <a:solidFill>
                  <a:schemeClr val="tx1"/>
                </a:solidFill>
                <a:effectLst/>
                <a:latin typeface="Calibri" panose="020F0502020204030204" pitchFamily="34" charset="0"/>
                <a:ea typeface="+mn-ea"/>
                <a:cs typeface="+mn-cs"/>
              </a:rPr>
              <a:t>Although there are no inherent types of tags, they enable customers to categorize resources by purpose, owner, environment, or other criteria. This webpage describes commonly used tagging categories and strategies to help AWS customers implement a consistent and effective tagging strategy. The following sections assume basic knowledge of AWS resources, tagging, detailed billing, and IAM.</a:t>
            </a:r>
          </a:p>
          <a:p>
            <a:r>
              <a:rPr lang="en-US" u="none" strike="noStrike" kern="1200">
                <a:solidFill>
                  <a:schemeClr val="tx1"/>
                </a:solidFill>
                <a:effectLst/>
                <a:latin typeface="Calibri" panose="020F0502020204030204" pitchFamily="34" charset="0"/>
                <a:ea typeface="+mn-ea"/>
                <a:cs typeface="+mn-cs"/>
              </a:rPr>
              <a:t> </a:t>
            </a:r>
            <a:endParaRPr lang="en-US" kern="1200">
              <a:solidFill>
                <a:schemeClr val="tx1"/>
              </a:solidFill>
              <a:effectLst/>
              <a:latin typeface="Calibri" panose="020F0502020204030204" pitchFamily="34" charset="0"/>
              <a:ea typeface="+mn-ea"/>
              <a:cs typeface="+mn-cs"/>
            </a:endParaRPr>
          </a:p>
          <a:p>
            <a:r>
              <a:rPr lang="en-US" u="none" strike="noStrike" kern="1200">
                <a:solidFill>
                  <a:schemeClr val="tx1"/>
                </a:solidFill>
                <a:effectLst/>
                <a:latin typeface="Calibri" panose="020F0502020204030204" pitchFamily="34" charset="0"/>
                <a:ea typeface="+mn-ea"/>
                <a:cs typeface="+mn-cs"/>
              </a:rPr>
              <a:t>For more information about AWS tagging strategies, see </a:t>
            </a:r>
            <a:r>
              <a:rPr lang="en-US" u="sng" kern="1200">
                <a:solidFill>
                  <a:schemeClr val="tx1"/>
                </a:solidFill>
                <a:effectLst/>
                <a:latin typeface="Calibri" panose="020F0502020204030204" pitchFamily="34" charset="0"/>
                <a:ea typeface="+mn-ea"/>
                <a:cs typeface="+mn-cs"/>
                <a:hlinkClick r:id="rId3"/>
              </a:rPr>
              <a:t>https://aws.amazon.com/answers/account-management/aws-tagging-strategies/</a:t>
            </a:r>
            <a:r>
              <a:rPr lang="en-US" u="sng" kern="1200">
                <a:solidFill>
                  <a:schemeClr val="tx1"/>
                </a:solidFill>
                <a:effectLst/>
                <a:latin typeface="Calibri" panose="020F0502020204030204" pitchFamily="34" charset="0"/>
                <a:ea typeface="+mn-ea"/>
                <a:cs typeface="+mn-cs"/>
              </a:rPr>
              <a:t>.</a:t>
            </a:r>
            <a:endParaRPr lang="en-US" kern="1200">
              <a:solidFill>
                <a:schemeClr val="tx1"/>
              </a:solidFill>
              <a:effectLst/>
              <a:latin typeface="Calibri" panose="020F0502020204030204" pitchFamily="34" charset="0"/>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623424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Calibri" panose="020F0502020204030204" pitchFamily="34" charset="0"/>
                <a:ea typeface="+mn-ea"/>
                <a:cs typeface="+mn-cs"/>
              </a:rPr>
              <a:t>Always use a standardized, case-sensitive format for tags, and implement it consistently across all resource types.</a:t>
            </a:r>
          </a:p>
          <a:p>
            <a:r>
              <a:rPr lang="en-US" b="0" i="0" kern="1200">
                <a:solidFill>
                  <a:schemeClr val="tx1"/>
                </a:solidFill>
                <a:effectLst/>
                <a:latin typeface="Calibri" panose="020F0502020204030204" pitchFamily="34" charset="0"/>
                <a:ea typeface="+mn-ea"/>
                <a:cs typeface="+mn-cs"/>
              </a:rPr>
              <a:t>Consider tag dimensions that support the ability to manage resource access control, cost tracking, automation, and organization.</a:t>
            </a:r>
          </a:p>
          <a:p>
            <a:endParaRPr lang="en-US" b="0" i="0" kern="1200">
              <a:solidFill>
                <a:schemeClr val="tx1"/>
              </a:solidFill>
              <a:effectLst/>
              <a:latin typeface="Calibri" panose="020F0502020204030204" pitchFamily="34" charset="0"/>
              <a:ea typeface="+mn-ea"/>
              <a:cs typeface="+mn-cs"/>
            </a:endParaRPr>
          </a:p>
          <a:p>
            <a:r>
              <a:rPr lang="en-US" b="0" i="0" kern="1200">
                <a:solidFill>
                  <a:schemeClr val="tx1"/>
                </a:solidFill>
                <a:effectLst/>
                <a:latin typeface="Calibri" panose="020F0502020204030204" pitchFamily="34" charset="0"/>
                <a:ea typeface="+mn-ea"/>
                <a:cs typeface="+mn-cs"/>
              </a:rPr>
              <a:t>Implement automated tools to help manage resource tags. The </a:t>
            </a:r>
            <a:r>
              <a:rPr lang="en-US" b="0" i="0" u="none" strike="noStrike" kern="1200">
                <a:solidFill>
                  <a:schemeClr val="tx1"/>
                </a:solidFill>
                <a:effectLst/>
                <a:latin typeface="Calibri" panose="020F0502020204030204" pitchFamily="34" charset="0"/>
                <a:ea typeface="+mn-ea"/>
                <a:cs typeface="+mn-cs"/>
                <a:hlinkClick r:id="rId3"/>
              </a:rPr>
              <a:t>Resource Groups Tagging API</a:t>
            </a:r>
            <a:r>
              <a:rPr lang="en-US" b="0" i="0" kern="1200">
                <a:solidFill>
                  <a:schemeClr val="tx1"/>
                </a:solidFill>
                <a:effectLst/>
                <a:latin typeface="Calibri" panose="020F0502020204030204" pitchFamily="34" charset="0"/>
                <a:ea typeface="+mn-ea"/>
                <a:cs typeface="+mn-cs"/>
              </a:rPr>
              <a:t> enables programmatic control of tags, making it easier to automatically manage, search, and filter tags and resources. It also simplifies backups of tag data across all supported services with a single API call per AWS Region.</a:t>
            </a:r>
          </a:p>
          <a:p>
            <a:r>
              <a:rPr lang="en-US" b="0" i="0" kern="1200">
                <a:solidFill>
                  <a:schemeClr val="tx1"/>
                </a:solidFill>
                <a:effectLst/>
                <a:latin typeface="Calibri" panose="020F0502020204030204" pitchFamily="34" charset="0"/>
                <a:ea typeface="+mn-ea"/>
                <a:cs typeface="+mn-cs"/>
              </a:rPr>
              <a:t>Err on the side of using too many tags rather than too few tags.</a:t>
            </a:r>
          </a:p>
          <a:p>
            <a:endParaRPr lang="en-US" b="0" i="0" kern="1200">
              <a:solidFill>
                <a:schemeClr val="tx1"/>
              </a:solidFill>
              <a:effectLst/>
              <a:latin typeface="Calibri" panose="020F0502020204030204" pitchFamily="34" charset="0"/>
              <a:ea typeface="+mn-ea"/>
              <a:cs typeface="+mn-cs"/>
            </a:endParaRPr>
          </a:p>
          <a:p>
            <a:r>
              <a:rPr lang="en-US" b="0" i="0" kern="1200">
                <a:solidFill>
                  <a:schemeClr val="tx1"/>
                </a:solidFill>
                <a:effectLst/>
                <a:latin typeface="Calibri" panose="020F0502020204030204" pitchFamily="34" charset="0"/>
                <a:ea typeface="+mn-ea"/>
                <a:cs typeface="+mn-cs"/>
              </a:rPr>
              <a:t>Remember that it is easy to modify tags to accommodate changing business requirements, but</a:t>
            </a:r>
            <a:r>
              <a:rPr lang="en-US" b="0" i="0" kern="1200" baseline="0">
                <a:solidFill>
                  <a:schemeClr val="tx1"/>
                </a:solidFill>
                <a:effectLst/>
                <a:latin typeface="Calibri" panose="020F0502020204030204" pitchFamily="34" charset="0"/>
                <a:ea typeface="+mn-ea"/>
                <a:cs typeface="+mn-cs"/>
              </a:rPr>
              <a:t> make sure to</a:t>
            </a:r>
            <a:r>
              <a:rPr lang="en-US" b="0" i="0" kern="1200">
                <a:solidFill>
                  <a:schemeClr val="tx1"/>
                </a:solidFill>
                <a:effectLst/>
                <a:latin typeface="Calibri" panose="020F0502020204030204" pitchFamily="34" charset="0"/>
                <a:ea typeface="+mn-ea"/>
                <a:cs typeface="+mn-cs"/>
              </a:rPr>
              <a:t> consider the ramifications of future changes, especially in relation to tag-based access control, automation, or upstream billing reports.</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001783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17193424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The cluster placement group is a logical grouping of instances within a single Availability</a:t>
            </a:r>
            <a:r>
              <a:rPr lang="en-US" kern="1200" baseline="0">
                <a:solidFill>
                  <a:schemeClr val="tx1"/>
                </a:solidFill>
                <a:effectLst/>
                <a:latin typeface="Calibri" panose="020F0502020204030204" pitchFamily="34" charset="0"/>
                <a:ea typeface="+mn-ea"/>
                <a:cs typeface="+mn-cs"/>
              </a:rPr>
              <a:t> Zone</a:t>
            </a:r>
            <a:r>
              <a:rPr lang="en-US" kern="1200">
                <a:solidFill>
                  <a:schemeClr val="tx1"/>
                </a:solidFill>
                <a:effectLst/>
                <a:latin typeface="Calibri" panose="020F0502020204030204" pitchFamily="34" charset="0"/>
                <a:ea typeface="+mn-ea"/>
                <a:cs typeface="+mn-cs"/>
              </a:rPr>
              <a:t>. This grouping provides the lowest latency and highest packet per second network performance possible.</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We recommend that you launch all the instances you will need in this grouping</a:t>
            </a:r>
            <a:r>
              <a:rPr lang="en-US" kern="1200" baseline="0">
                <a:solidFill>
                  <a:schemeClr val="tx1"/>
                </a:solidFill>
                <a:effectLst/>
                <a:latin typeface="Calibri" panose="020F0502020204030204" pitchFamily="34" charset="0"/>
                <a:ea typeface="+mn-ea"/>
                <a:cs typeface="+mn-cs"/>
              </a:rPr>
              <a:t> </a:t>
            </a:r>
            <a:r>
              <a:rPr lang="en-US" i="1" kern="1200">
                <a:solidFill>
                  <a:schemeClr val="tx1"/>
                </a:solidFill>
                <a:effectLst/>
                <a:latin typeface="Calibri" panose="020F0502020204030204" pitchFamily="34" charset="0"/>
                <a:ea typeface="+mn-ea"/>
                <a:cs typeface="+mn-cs"/>
              </a:rPr>
              <a:t>at one time</a:t>
            </a:r>
            <a:r>
              <a:rPr lang="en-US" kern="1200">
                <a:solidFill>
                  <a:schemeClr val="tx1"/>
                </a:solidFill>
                <a:effectLst/>
                <a:latin typeface="Calibri" panose="020F0502020204030204" pitchFamily="34" charset="0"/>
                <a:ea typeface="+mn-ea"/>
                <a:cs typeface="+mn-cs"/>
              </a:rPr>
              <a:t>. If you try to add more instances into the group later, you will increase your chance of receiving an insufficient capacity error.</a:t>
            </a:r>
          </a:p>
          <a:p>
            <a:endParaRPr lang="en-US" sz="1200" kern="1200">
              <a:solidFill>
                <a:schemeClr val="tx1"/>
              </a:solidFill>
              <a:effectLst/>
              <a:latin typeface="+mn-lt"/>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37183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Calibri" panose="020F0502020204030204" pitchFamily="34" charset="0"/>
                <a:ea typeface="+mn-ea"/>
                <a:cs typeface="+mn-cs"/>
              </a:rPr>
              <a:t>A </a:t>
            </a:r>
            <a:r>
              <a:rPr lang="en-US" i="1" kern="1200">
                <a:solidFill>
                  <a:schemeClr val="tx1"/>
                </a:solidFill>
                <a:effectLst/>
                <a:latin typeface="Calibri" panose="020F0502020204030204" pitchFamily="34" charset="0"/>
                <a:ea typeface="+mn-ea"/>
                <a:cs typeface="+mn-cs"/>
              </a:rPr>
              <a:t>spread placement group </a:t>
            </a:r>
            <a:r>
              <a:rPr lang="en-US" kern="1200">
                <a:solidFill>
                  <a:schemeClr val="tx1"/>
                </a:solidFill>
                <a:effectLst/>
                <a:latin typeface="Calibri" panose="020F0502020204030204" pitchFamily="34" charset="0"/>
                <a:ea typeface="+mn-ea"/>
                <a:cs typeface="+mn-cs"/>
              </a:rPr>
              <a:t>is a grouping of instances that are purposely positioned on distinct underlying hardware. This grouping reduces the risk of simultaneous failures that could occur if instances were sharing underlying hardware.</a:t>
            </a:r>
          </a:p>
          <a:p>
            <a:r>
              <a:rPr lang="en-US" kern="1200">
                <a:solidFill>
                  <a:schemeClr val="tx1"/>
                </a:solidFill>
                <a:effectLst/>
                <a:latin typeface="Calibri" panose="020F0502020204030204" pitchFamily="34" charset="0"/>
                <a:ea typeface="+mn-ea"/>
                <a:cs typeface="+mn-cs"/>
              </a:rPr>
              <a:t> </a:t>
            </a:r>
          </a:p>
          <a:p>
            <a:r>
              <a:rPr lang="en-US" kern="1200">
                <a:solidFill>
                  <a:schemeClr val="tx1"/>
                </a:solidFill>
                <a:effectLst/>
                <a:latin typeface="Calibri" panose="020F0502020204030204" pitchFamily="34" charset="0"/>
                <a:ea typeface="+mn-ea"/>
                <a:cs typeface="+mn-cs"/>
              </a:rPr>
              <a:t>This type of group can span multiple Availability Zones, up to a maximum of seven instances per Availability Zone per group.</a:t>
            </a:r>
          </a:p>
        </p:txBody>
      </p:sp>
    </p:spTree>
    <p:extLst>
      <p:ext uri="{BB962C8B-B14F-4D97-AF65-F5344CB8AC3E}">
        <p14:creationId xmlns:p14="http://schemas.microsoft.com/office/powerpoint/2010/main" val="39278849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Partition placement groups spread EC2 instances across logical partitions and ensure that instances in different partitions do not share the same underlying hardware, thus containing the impact of hardware failure to a single partition.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In addition, partition placement groups offer visibility into the partitions and allow topology aware applications to use this information to make intelligent data replication decisions, increasing data availability and durability.</a:t>
            </a:r>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4061343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38401149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0416135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6174625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11306925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51006341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0028543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13890271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panose="020F0502020204030204" pitchFamily="34" charset="0"/>
            </a:endParaRPr>
          </a:p>
        </p:txBody>
      </p:sp>
    </p:spTree>
    <p:extLst>
      <p:ext uri="{BB962C8B-B14F-4D97-AF65-F5344CB8AC3E}">
        <p14:creationId xmlns:p14="http://schemas.microsoft.com/office/powerpoint/2010/main" val="12801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6/7/2022</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2453810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04E3476-397E-624A-B458-5B1C64DADFC8}"/>
              </a:ext>
            </a:extLst>
          </p:cNvPr>
          <p:cNvPicPr>
            <a:picLocks noChangeAspect="1"/>
          </p:cNvPicPr>
          <p:nvPr userDrawn="1"/>
        </p:nvPicPr>
        <p:blipFill>
          <a:blip r:embed="rId2"/>
          <a:stretch>
            <a:fillRect/>
          </a:stretch>
        </p:blipFill>
        <p:spPr>
          <a:xfrm>
            <a:off x="880" y="0"/>
            <a:ext cx="12187065" cy="6858000"/>
          </a:xfrm>
          <a:prstGeom prst="rect">
            <a:avLst/>
          </a:prstGeom>
        </p:spPr>
      </p:pic>
      <p:sp>
        <p:nvSpPr>
          <p:cNvPr id="3" name="Title 1">
            <a:extLst>
              <a:ext uri="{FF2B5EF4-FFF2-40B4-BE49-F238E27FC236}">
                <a16:creationId xmlns:a16="http://schemas.microsoft.com/office/drawing/2014/main" xmlns="" id="{9304F276-C0B8-FF45-ACF7-F1815F42AF04}"/>
              </a:ext>
            </a:extLst>
          </p:cNvPr>
          <p:cNvSpPr>
            <a:spLocks noGrp="1"/>
          </p:cNvSpPr>
          <p:nvPr>
            <p:ph type="ctrTitle"/>
          </p:nvPr>
        </p:nvSpPr>
        <p:spPr>
          <a:xfrm>
            <a:off x="921674" y="2688719"/>
            <a:ext cx="6607772" cy="834496"/>
          </a:xfrm>
        </p:spPr>
        <p:txBody>
          <a:bodyPr anchor="b">
            <a:noAutofit/>
          </a:bodyPr>
          <a:lstStyle>
            <a:lvl1pPr algn="l">
              <a:defRPr sz="3999"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4" name="Subtitle 2">
            <a:extLst>
              <a:ext uri="{FF2B5EF4-FFF2-40B4-BE49-F238E27FC236}">
                <a16:creationId xmlns:a16="http://schemas.microsoft.com/office/drawing/2014/main" xmlns="" id="{A77C0C6E-7E06-8049-9CC9-26EAA81B8174}"/>
              </a:ext>
            </a:extLst>
          </p:cNvPr>
          <p:cNvSpPr>
            <a:spLocks noGrp="1"/>
          </p:cNvSpPr>
          <p:nvPr>
            <p:ph type="subTitle" idx="1" hasCustomPrompt="1"/>
          </p:nvPr>
        </p:nvSpPr>
        <p:spPr>
          <a:xfrm>
            <a:off x="921677" y="3523215"/>
            <a:ext cx="6607771" cy="418570"/>
          </a:xfrm>
        </p:spPr>
        <p:txBody>
          <a:bodyPr>
            <a:noAutofit/>
          </a:bodyPr>
          <a:lstStyle>
            <a:lvl1pPr marL="0" indent="0" algn="l">
              <a:buNone/>
              <a:defRPr sz="2000" b="1" i="0" spc="300">
                <a:solidFill>
                  <a:schemeClr val="bg1"/>
                </a:solidFill>
                <a:latin typeface="Amazon Ember Light" charset="0"/>
                <a:ea typeface="Amazon Ember Light" charset="0"/>
                <a:cs typeface="Amazon Ember Light" charset="0"/>
              </a:defRPr>
            </a:lvl1pPr>
            <a:lvl2pPr marL="457127" indent="0" algn="ctr">
              <a:buNone/>
              <a:defRPr sz="2000"/>
            </a:lvl2pPr>
            <a:lvl3pPr marL="914254" indent="0" algn="ctr">
              <a:buNone/>
              <a:defRPr sz="1800"/>
            </a:lvl3pPr>
            <a:lvl4pPr marL="1371381" indent="0" algn="ctr">
              <a:buNone/>
              <a:defRPr sz="1600"/>
            </a:lvl4pPr>
            <a:lvl5pPr marL="1828507" indent="0" algn="ctr">
              <a:buNone/>
              <a:defRPr sz="1600"/>
            </a:lvl5pPr>
            <a:lvl6pPr marL="2285634" indent="0" algn="ctr">
              <a:buNone/>
              <a:defRPr sz="1600"/>
            </a:lvl6pPr>
            <a:lvl7pPr marL="2742760" indent="0" algn="ctr">
              <a:buNone/>
              <a:defRPr sz="1600"/>
            </a:lvl7pPr>
            <a:lvl8pPr marL="3199888" indent="0" algn="ctr">
              <a:buNone/>
              <a:defRPr sz="1600"/>
            </a:lvl8pPr>
            <a:lvl9pPr marL="3657015" indent="0" algn="ctr">
              <a:buNone/>
              <a:defRPr sz="1600"/>
            </a:lvl9pPr>
          </a:lstStyle>
          <a:p>
            <a:r>
              <a:rPr lang="en-US"/>
              <a:t>CLICK TO EDIT MASTER SUBTITLE STYLE</a:t>
            </a:r>
          </a:p>
        </p:txBody>
      </p:sp>
    </p:spTree>
    <p:extLst>
      <p:ext uri="{BB962C8B-B14F-4D97-AF65-F5344CB8AC3E}">
        <p14:creationId xmlns:p14="http://schemas.microsoft.com/office/powerpoint/2010/main" val="33760383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guide id="3" pos="7414" userDrawn="1">
          <p15:clr>
            <a:srgbClr val="FBAE40"/>
          </p15:clr>
        </p15:guide>
        <p15:guide id="4" pos="2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D64E9DE3-85AE-154A-AE06-268FDFDB63C8}"/>
              </a:ext>
            </a:extLst>
          </p:cNvPr>
          <p:cNvPicPr>
            <a:picLocks noChangeAspect="1"/>
          </p:cNvPicPr>
          <p:nvPr userDrawn="1"/>
        </p:nvPicPr>
        <p:blipFill>
          <a:blip r:embed="rId2"/>
          <a:stretch>
            <a:fillRect/>
          </a:stretch>
        </p:blipFill>
        <p:spPr>
          <a:xfrm>
            <a:off x="2470" y="894"/>
            <a:ext cx="12183891" cy="6856213"/>
          </a:xfrm>
          <a:prstGeom prst="rect">
            <a:avLst/>
          </a:prstGeom>
        </p:spPr>
      </p:pic>
      <p:sp>
        <p:nvSpPr>
          <p:cNvPr id="2" name="Title 1"/>
          <p:cNvSpPr>
            <a:spLocks noGrp="1"/>
          </p:cNvSpPr>
          <p:nvPr>
            <p:ph type="title"/>
          </p:nvPr>
        </p:nvSpPr>
        <p:spPr>
          <a:xfrm>
            <a:off x="914162" y="2770247"/>
            <a:ext cx="11355811" cy="779463"/>
          </a:xfrm>
        </p:spPr>
        <p:txBody>
          <a:bodyPr>
            <a:noAutofit/>
          </a:bodyPr>
          <a:lstStyle>
            <a:lvl1pPr>
              <a:defRPr sz="3999"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5" name="TextBox 4">
            <a:extLst>
              <a:ext uri="{FF2B5EF4-FFF2-40B4-BE49-F238E27FC236}">
                <a16:creationId xmlns:a16="http://schemas.microsoft.com/office/drawing/2014/main" xmlns="" id="{9ABBDC7B-FB40-384B-8E30-B1408FF5C90E}"/>
              </a:ext>
            </a:extLst>
          </p:cNvPr>
          <p:cNvSpPr txBox="1"/>
          <p:nvPr userDrawn="1"/>
        </p:nvSpPr>
        <p:spPr>
          <a:xfrm>
            <a:off x="418991" y="6480313"/>
            <a:ext cx="4107104" cy="230832"/>
          </a:xfrm>
          <a:prstGeom prst="rect">
            <a:avLst/>
          </a:prstGeom>
          <a:noFill/>
        </p:spPr>
        <p:txBody>
          <a:bodyPr wrap="square" rtlCol="0">
            <a:spAutoFit/>
          </a:bodyPr>
          <a:lstStyle/>
          <a:p>
            <a:r>
              <a:rPr lang="en-US" sz="900" b="0" i="0">
                <a:solidFill>
                  <a:schemeClr val="bg1"/>
                </a:solidFill>
                <a:latin typeface="Amazon Ember Light" charset="0"/>
                <a:ea typeface="Amazon Ember Light" charset="0"/>
                <a:cs typeface="Amazon Ember Light" charset="0"/>
              </a:rPr>
              <a:t>© 2020, Amazon Web Services, Inc. or its Affiliates. All rights reserved.</a:t>
            </a:r>
          </a:p>
        </p:txBody>
      </p:sp>
    </p:spTree>
    <p:extLst>
      <p:ext uri="{BB962C8B-B14F-4D97-AF65-F5344CB8AC3E}">
        <p14:creationId xmlns:p14="http://schemas.microsoft.com/office/powerpoint/2010/main" val="632646150"/>
      </p:ext>
    </p:extLst>
  </p:cSld>
  <p:clrMapOvr>
    <a:masterClrMapping/>
  </p:clrMapOvr>
  <p:extLst>
    <p:ext uri="{DCECCB84-F9BA-43D5-87BE-67443E8EF086}">
      <p15:sldGuideLst xmlns:p15="http://schemas.microsoft.com/office/powerpoint/2012/main">
        <p15:guide id="1" pos="576" userDrawn="1">
          <p15:clr>
            <a:srgbClr val="FBAE40"/>
          </p15:clr>
        </p15:guide>
        <p15:guide id="2" pos="7414" userDrawn="1">
          <p15:clr>
            <a:srgbClr val="FBAE40"/>
          </p15:clr>
        </p15:guide>
        <p15:guide id="3" orient="horz" pos="417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8C85D7E4-B6B6-1943-8262-63D8CB9E7680}"/>
              </a:ext>
            </a:extLst>
          </p:cNvPr>
          <p:cNvPicPr>
            <a:picLocks noChangeAspect="1"/>
          </p:cNvPicPr>
          <p:nvPr userDrawn="1"/>
        </p:nvPicPr>
        <p:blipFill>
          <a:blip r:embed="rId2"/>
          <a:stretch>
            <a:fillRect/>
          </a:stretch>
        </p:blipFill>
        <p:spPr>
          <a:xfrm>
            <a:off x="2470" y="894"/>
            <a:ext cx="12183891" cy="6856213"/>
          </a:xfrm>
          <a:prstGeom prst="rect">
            <a:avLst/>
          </a:prstGeom>
        </p:spPr>
      </p:pic>
      <p:sp>
        <p:nvSpPr>
          <p:cNvPr id="2" name="Title 1"/>
          <p:cNvSpPr>
            <a:spLocks noGrp="1"/>
          </p:cNvSpPr>
          <p:nvPr userDrawn="1">
            <p:ph type="title"/>
          </p:nvPr>
        </p:nvSpPr>
        <p:spPr>
          <a:xfrm>
            <a:off x="418991" y="263531"/>
            <a:ext cx="9090394"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3" name="Content Placeholder 2"/>
          <p:cNvSpPr>
            <a:spLocks noGrp="1" noChangeAspect="1"/>
          </p:cNvSpPr>
          <p:nvPr userDrawn="1">
            <p:ph idx="1" hasCustomPrompt="1"/>
          </p:nvPr>
        </p:nvSpPr>
        <p:spPr>
          <a:xfrm>
            <a:off x="418991" y="1440305"/>
            <a:ext cx="11350578"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
        <p:nvSpPr>
          <p:cNvPr id="12" name="TextBox 11"/>
          <p:cNvSpPr txBox="1"/>
          <p:nvPr userDrawn="1"/>
        </p:nvSpPr>
        <p:spPr>
          <a:xfrm>
            <a:off x="418991" y="6480313"/>
            <a:ext cx="4107104" cy="230832"/>
          </a:xfrm>
          <a:prstGeom prst="rect">
            <a:avLst/>
          </a:prstGeom>
          <a:noFill/>
        </p:spPr>
        <p:txBody>
          <a:bodyPr wrap="square" rtlCol="0">
            <a:spAutoFit/>
          </a:bodyPr>
          <a:lstStyle/>
          <a:p>
            <a:r>
              <a:rPr lang="en-US" sz="900" b="0" i="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Tree>
    <p:extLst>
      <p:ext uri="{BB962C8B-B14F-4D97-AF65-F5344CB8AC3E}">
        <p14:creationId xmlns:p14="http://schemas.microsoft.com/office/powerpoint/2010/main" val="2480136496"/>
      </p:ext>
    </p:extLst>
  </p:cSld>
  <p:clrMapOvr>
    <a:masterClrMapping/>
  </p:clrMapOvr>
  <p:extLst>
    <p:ext uri="{DCECCB84-F9BA-43D5-87BE-67443E8EF086}">
      <p15:sldGuideLst xmlns:p15="http://schemas.microsoft.com/office/powerpoint/2012/main">
        <p15:guide id="1" pos="264" userDrawn="1">
          <p15:clr>
            <a:srgbClr val="FBAE40"/>
          </p15:clr>
        </p15:guide>
        <p15:guide id="2" pos="7414" userDrawn="1">
          <p15:clr>
            <a:srgbClr val="FBAE40"/>
          </p15:clr>
        </p15:guide>
        <p15:guide id="3" orient="horz" pos="417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4F80413-7930-7741-B00C-D03C048F29CC}"/>
              </a:ext>
            </a:extLst>
          </p:cNvPr>
          <p:cNvPicPr>
            <a:picLocks noChangeAspect="1"/>
          </p:cNvPicPr>
          <p:nvPr userDrawn="1"/>
        </p:nvPicPr>
        <p:blipFill>
          <a:blip r:embed="rId2"/>
          <a:stretch>
            <a:fillRect/>
          </a:stretch>
        </p:blipFill>
        <p:spPr>
          <a:xfrm>
            <a:off x="879" y="0"/>
            <a:ext cx="12187066" cy="6858000"/>
          </a:xfrm>
          <a:prstGeom prst="rect">
            <a:avLst/>
          </a:prstGeom>
        </p:spPr>
      </p:pic>
      <p:sp>
        <p:nvSpPr>
          <p:cNvPr id="2" name="Title 1"/>
          <p:cNvSpPr>
            <a:spLocks noGrp="1"/>
          </p:cNvSpPr>
          <p:nvPr userDrawn="1">
            <p:ph type="title"/>
          </p:nvPr>
        </p:nvSpPr>
        <p:spPr>
          <a:xfrm>
            <a:off x="418991" y="263531"/>
            <a:ext cx="9090394"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3" name="Content Placeholder 2"/>
          <p:cNvSpPr>
            <a:spLocks noGrp="1"/>
          </p:cNvSpPr>
          <p:nvPr userDrawn="1">
            <p:ph idx="1" hasCustomPrompt="1"/>
          </p:nvPr>
        </p:nvSpPr>
        <p:spPr>
          <a:xfrm>
            <a:off x="418991" y="1440305"/>
            <a:ext cx="3594916"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
        <p:nvSpPr>
          <p:cNvPr id="12" name="TextBox 11"/>
          <p:cNvSpPr txBox="1"/>
          <p:nvPr userDrawn="1"/>
        </p:nvSpPr>
        <p:spPr>
          <a:xfrm>
            <a:off x="418991" y="6480313"/>
            <a:ext cx="4107104" cy="230832"/>
          </a:xfrm>
          <a:prstGeom prst="rect">
            <a:avLst/>
          </a:prstGeom>
          <a:noFill/>
        </p:spPr>
        <p:txBody>
          <a:bodyPr wrap="square" rtlCol="0">
            <a:spAutoFit/>
          </a:bodyPr>
          <a:lstStyle/>
          <a:p>
            <a:r>
              <a:rPr lang="en-US" sz="900" b="0" i="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
        <p:nvSpPr>
          <p:cNvPr id="15" name="Content Placeholder 2">
            <a:extLst>
              <a:ext uri="{FF2B5EF4-FFF2-40B4-BE49-F238E27FC236}">
                <a16:creationId xmlns:a16="http://schemas.microsoft.com/office/drawing/2014/main" xmlns="" id="{F368BCE3-B485-3C45-924E-36E71CEA90C5}"/>
              </a:ext>
            </a:extLst>
          </p:cNvPr>
          <p:cNvSpPr>
            <a:spLocks noGrp="1"/>
          </p:cNvSpPr>
          <p:nvPr>
            <p:ph idx="10" hasCustomPrompt="1"/>
          </p:nvPr>
        </p:nvSpPr>
        <p:spPr>
          <a:xfrm>
            <a:off x="8173606" y="1440305"/>
            <a:ext cx="3594916"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xmlns="" id="{C6141B5D-7BD9-A047-8497-729C66548A46}"/>
              </a:ext>
            </a:extLst>
          </p:cNvPr>
          <p:cNvSpPr>
            <a:spLocks noGrp="1"/>
          </p:cNvSpPr>
          <p:nvPr>
            <p:ph idx="11" hasCustomPrompt="1"/>
          </p:nvPr>
        </p:nvSpPr>
        <p:spPr>
          <a:xfrm>
            <a:off x="4317315" y="1440305"/>
            <a:ext cx="3594916"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37612997"/>
      </p:ext>
    </p:extLst>
  </p:cSld>
  <p:clrMapOvr>
    <a:masterClrMapping/>
  </p:clrMapOvr>
  <p:extLst>
    <p:ext uri="{DCECCB84-F9BA-43D5-87BE-67443E8EF086}">
      <p15:sldGuideLst xmlns:p15="http://schemas.microsoft.com/office/powerpoint/2012/main">
        <p15:guide id="1" pos="264" userDrawn="1">
          <p15:clr>
            <a:srgbClr val="FBAE40"/>
          </p15:clr>
        </p15:guide>
        <p15:guide id="2" pos="741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hank You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2B419C8C-A013-7440-B7D3-2A7CE6316ECE}"/>
              </a:ext>
            </a:extLst>
          </p:cNvPr>
          <p:cNvPicPr>
            <a:picLocks noChangeAspect="1"/>
          </p:cNvPicPr>
          <p:nvPr userDrawn="1"/>
        </p:nvPicPr>
        <p:blipFill>
          <a:blip r:embed="rId2"/>
          <a:stretch>
            <a:fillRect/>
          </a:stretch>
        </p:blipFill>
        <p:spPr>
          <a:xfrm>
            <a:off x="880" y="0"/>
            <a:ext cx="12187065" cy="6858000"/>
          </a:xfrm>
          <a:prstGeom prst="rect">
            <a:avLst/>
          </a:prstGeom>
        </p:spPr>
      </p:pic>
      <p:sp>
        <p:nvSpPr>
          <p:cNvPr id="5" name="TextBox 4">
            <a:extLst>
              <a:ext uri="{FF2B5EF4-FFF2-40B4-BE49-F238E27FC236}">
                <a16:creationId xmlns:a16="http://schemas.microsoft.com/office/drawing/2014/main" xmlns="" id="{5BA964E9-A14E-CF49-9636-1249BDF047DA}"/>
              </a:ext>
            </a:extLst>
          </p:cNvPr>
          <p:cNvSpPr txBox="1"/>
          <p:nvPr userDrawn="1"/>
        </p:nvSpPr>
        <p:spPr>
          <a:xfrm>
            <a:off x="934604" y="5903956"/>
            <a:ext cx="8351919" cy="553998"/>
          </a:xfrm>
          <a:prstGeom prst="rect">
            <a:avLst/>
          </a:prstGeom>
          <a:noFill/>
        </p:spPr>
        <p:txBody>
          <a:bodyPr wrap="square" rtlCol="0">
            <a:spAutoFit/>
          </a:bodyPr>
          <a:lstStyle/>
          <a:p>
            <a:pPr algn="just"/>
            <a:r>
              <a:rPr lang="en-US" sz="1000" dirty="0" smtClean="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feedback, or other questions? Contact us at </a:t>
            </a:r>
            <a:r>
              <a:rPr lang="en-US" sz="1000" u="sng" dirty="0" smtClean="0">
                <a:solidFill>
                  <a:schemeClr val="bg1"/>
                </a:solidFill>
                <a:latin typeface="Amazon Ember Light" charset="0"/>
                <a:ea typeface="Amazon Ember Light" charset="0"/>
                <a:cs typeface="Amazon Ember Light" charset="0"/>
              </a:rPr>
              <a:t>https://support.aws.amazon.com/#/contacts/aws-training</a:t>
            </a:r>
            <a:r>
              <a:rPr lang="en-US" sz="1000" dirty="0" smtClean="0">
                <a:solidFill>
                  <a:schemeClr val="bg1"/>
                </a:solidFill>
                <a:latin typeface="Amazon Ember Light" charset="0"/>
                <a:ea typeface="Amazon Ember Light" charset="0"/>
                <a:cs typeface="Amazon Ember Light" charset="0"/>
              </a:rPr>
              <a:t>. All trademarks are the property of their owners.</a:t>
            </a:r>
            <a:endParaRPr lang="en-US" sz="1000" dirty="0"/>
          </a:p>
        </p:txBody>
      </p:sp>
      <p:sp>
        <p:nvSpPr>
          <p:cNvPr id="7" name="Title 1">
            <a:extLst>
              <a:ext uri="{FF2B5EF4-FFF2-40B4-BE49-F238E27FC236}">
                <a16:creationId xmlns:a16="http://schemas.microsoft.com/office/drawing/2014/main" xmlns="" id="{14998C28-E327-E344-81F1-B8A3E863820C}"/>
              </a:ext>
            </a:extLst>
          </p:cNvPr>
          <p:cNvSpPr>
            <a:spLocks noGrp="1"/>
          </p:cNvSpPr>
          <p:nvPr>
            <p:ph type="ctrTitle"/>
          </p:nvPr>
        </p:nvSpPr>
        <p:spPr>
          <a:xfrm>
            <a:off x="921725" y="2688719"/>
            <a:ext cx="6607772" cy="834496"/>
          </a:xfrm>
        </p:spPr>
        <p:txBody>
          <a:bodyPr anchor="b">
            <a:noAutofit/>
          </a:bodyPr>
          <a:lstStyle>
            <a:lvl1pPr algn="l">
              <a:defRPr sz="3999"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8" name="Subtitle 2">
            <a:extLst>
              <a:ext uri="{FF2B5EF4-FFF2-40B4-BE49-F238E27FC236}">
                <a16:creationId xmlns:a16="http://schemas.microsoft.com/office/drawing/2014/main" xmlns="" id="{AC7A01D6-41FD-0845-95DC-F56C211D50DA}"/>
              </a:ext>
            </a:extLst>
          </p:cNvPr>
          <p:cNvSpPr>
            <a:spLocks noGrp="1"/>
          </p:cNvSpPr>
          <p:nvPr>
            <p:ph type="subTitle" idx="1" hasCustomPrompt="1"/>
          </p:nvPr>
        </p:nvSpPr>
        <p:spPr>
          <a:xfrm>
            <a:off x="921728" y="3523215"/>
            <a:ext cx="6607771" cy="418570"/>
          </a:xfrm>
        </p:spPr>
        <p:txBody>
          <a:bodyPr>
            <a:noAutofit/>
          </a:bodyPr>
          <a:lstStyle>
            <a:lvl1pPr marL="0" indent="0" algn="l">
              <a:buNone/>
              <a:defRPr sz="2000" b="1" i="0" spc="300">
                <a:solidFill>
                  <a:schemeClr val="bg1"/>
                </a:solidFill>
                <a:latin typeface="Amazon Ember Light" charset="0"/>
                <a:ea typeface="Amazon Ember Light" charset="0"/>
                <a:cs typeface="Amazon Ember Light" charset="0"/>
              </a:defRPr>
            </a:lvl1pPr>
            <a:lvl2pPr marL="457127" indent="0" algn="ctr">
              <a:buNone/>
              <a:defRPr sz="2000"/>
            </a:lvl2pPr>
            <a:lvl3pPr marL="914254" indent="0" algn="ctr">
              <a:buNone/>
              <a:defRPr sz="1800"/>
            </a:lvl3pPr>
            <a:lvl4pPr marL="1371381" indent="0" algn="ctr">
              <a:buNone/>
              <a:defRPr sz="1600"/>
            </a:lvl4pPr>
            <a:lvl5pPr marL="1828507" indent="0" algn="ctr">
              <a:buNone/>
              <a:defRPr sz="1600"/>
            </a:lvl5pPr>
            <a:lvl6pPr marL="2285634" indent="0" algn="ctr">
              <a:buNone/>
              <a:defRPr sz="1600"/>
            </a:lvl6pPr>
            <a:lvl7pPr marL="2742760" indent="0" algn="ctr">
              <a:buNone/>
              <a:defRPr sz="1600"/>
            </a:lvl7pPr>
            <a:lvl8pPr marL="3199888" indent="0" algn="ctr">
              <a:buNone/>
              <a:defRPr sz="1600"/>
            </a:lvl8pPr>
            <a:lvl9pPr marL="3657015" indent="0" algn="ctr">
              <a:buNone/>
              <a:defRPr sz="1600"/>
            </a:lvl9pPr>
          </a:lstStyle>
          <a:p>
            <a:r>
              <a:rPr lang="en-US"/>
              <a:t>CLICK TO EDIT MASTER SUBTITLE STYLE</a:t>
            </a:r>
          </a:p>
        </p:txBody>
      </p:sp>
    </p:spTree>
    <p:extLst>
      <p:ext uri="{BB962C8B-B14F-4D97-AF65-F5344CB8AC3E}">
        <p14:creationId xmlns:p14="http://schemas.microsoft.com/office/powerpoint/2010/main" val="276745906"/>
      </p:ext>
    </p:extLst>
  </p:cSld>
  <p:clrMapOvr>
    <a:masterClrMapping/>
  </p:clrMapOvr>
  <p:extLst mod="1">
    <p:ext uri="{DCECCB84-F9BA-43D5-87BE-67443E8EF086}">
      <p15:sldGuideLst xmlns:p15="http://schemas.microsoft.com/office/powerpoint/2012/main">
        <p15:guide id="1" orient="horz" pos="2808">
          <p15:clr>
            <a:srgbClr val="FBAE40"/>
          </p15:clr>
        </p15:guide>
        <p15:guide id="2" pos="3839">
          <p15:clr>
            <a:srgbClr val="FBAE40"/>
          </p15:clr>
        </p15:guide>
        <p15:guide id="3" pos="7414">
          <p15:clr>
            <a:srgbClr val="FBAE40"/>
          </p15:clr>
        </p15:guide>
        <p15:guide id="4" pos="57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65127"/>
            <a:ext cx="1051286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7982" y="6356352"/>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6/7/2022</a:t>
            </a:fld>
            <a:endParaRPr lang="en-US"/>
          </a:p>
        </p:txBody>
      </p:sp>
      <p:sp>
        <p:nvSpPr>
          <p:cNvPr id="5" name="Footer Placeholder 4"/>
          <p:cNvSpPr>
            <a:spLocks noGrp="1"/>
          </p:cNvSpPr>
          <p:nvPr>
            <p:ph type="ftr" sz="quarter" idx="3"/>
          </p:nvPr>
        </p:nvSpPr>
        <p:spPr>
          <a:xfrm>
            <a:off x="4037549" y="6356352"/>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063466796"/>
      </p:ext>
    </p:extLst>
  </p:cSld>
  <p:clrMap bg1="lt1" tx1="dk1" bg2="lt2" tx2="dk2" accent1="accent1" accent2="accent2" accent3="accent3" accent4="accent4" accent5="accent5" accent6="accent6" hlink="hlink" folHlink="folHlink"/>
  <p:sldLayoutIdLst>
    <p:sldLayoutId id="2147483857" r:id="rId1"/>
    <p:sldLayoutId id="2147483867" r:id="rId2"/>
    <p:sldLayoutId id="2147483868" r:id="rId3"/>
    <p:sldLayoutId id="2147483870" r:id="rId4"/>
    <p:sldLayoutId id="2147483677" r:id="rId5"/>
    <p:sldLayoutId id="2147483871" r:id="rId6"/>
  </p:sldLayoutIdLst>
  <p:hf hdr="0" ftr="0" dt="0"/>
  <p:txStyles>
    <p:titleStyle>
      <a:lvl1pPr algn="l" defTabSz="914199" rtl="0" eaLnBrk="1" latinLnBrk="0" hangingPunct="1">
        <a:lnSpc>
          <a:spcPct val="90000"/>
        </a:lnSpc>
        <a:spcBef>
          <a:spcPct val="0"/>
        </a:spcBef>
        <a:buNone/>
        <a:defRPr sz="4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549" indent="-228549" algn="l" defTabSz="914199" rtl="0" eaLnBrk="1" latinLnBrk="0" hangingPunct="1">
        <a:lnSpc>
          <a:spcPct val="90000"/>
        </a:lnSpc>
        <a:spcBef>
          <a:spcPts val="1000"/>
        </a:spcBef>
        <a:buFont typeface="Arial" panose="020B0604020202020204" pitchFamily="34" charset="0"/>
        <a:buChar char="•"/>
        <a:defRPr sz="27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649" indent="-228549" algn="l" defTabSz="914199" rtl="0" eaLnBrk="1" latinLnBrk="0" hangingPunct="1">
        <a:lnSpc>
          <a:spcPct val="90000"/>
        </a:lnSpc>
        <a:spcBef>
          <a:spcPts val="500"/>
        </a:spcBef>
        <a:buFont typeface="Arial" panose="020B0604020202020204" pitchFamily="34" charset="0"/>
        <a:buChar char="•"/>
        <a:defRPr sz="23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2748" indent="-228549" algn="l" defTabSz="914199" rtl="0" eaLnBrk="1" latinLnBrk="0" hangingPunct="1">
        <a:lnSpc>
          <a:spcPct val="90000"/>
        </a:lnSpc>
        <a:spcBef>
          <a:spcPts val="500"/>
        </a:spcBef>
        <a:buFont typeface="Arial" panose="020B0604020202020204" pitchFamily="34" charset="0"/>
        <a:buChar char="•"/>
        <a:defRPr sz="19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599848" indent="-228549" algn="l" defTabSz="914199" rtl="0" eaLnBrk="1" latinLnBrk="0" hangingPunct="1">
        <a:lnSpc>
          <a:spcPct val="90000"/>
        </a:lnSpc>
        <a:spcBef>
          <a:spcPts val="500"/>
        </a:spcBef>
        <a:buFont typeface="Arial" panose="020B0604020202020204" pitchFamily="34" charset="0"/>
        <a:buChar char="•"/>
        <a:defRPr sz="17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6947" indent="-228549" algn="l" defTabSz="914199" rtl="0" eaLnBrk="1" latinLnBrk="0" hangingPunct="1">
        <a:lnSpc>
          <a:spcPct val="90000"/>
        </a:lnSpc>
        <a:spcBef>
          <a:spcPts val="500"/>
        </a:spcBef>
        <a:buFont typeface="Arial" panose="020B0604020202020204" pitchFamily="34" charset="0"/>
        <a:buChar char="•"/>
        <a:defRPr sz="17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99" rtl="0" eaLnBrk="1" latinLnBrk="0" hangingPunct="1">
        <a:defRPr sz="1799" kern="1200">
          <a:solidFill>
            <a:schemeClr val="tx1"/>
          </a:solidFill>
          <a:latin typeface="+mn-lt"/>
          <a:ea typeface="+mn-ea"/>
          <a:cs typeface="+mn-cs"/>
        </a:defRPr>
      </a:lvl1pPr>
      <a:lvl2pPr marL="457099" algn="l" defTabSz="914199" rtl="0" eaLnBrk="1" latinLnBrk="0" hangingPunct="1">
        <a:defRPr sz="1799" kern="1200">
          <a:solidFill>
            <a:schemeClr val="tx1"/>
          </a:solidFill>
          <a:latin typeface="+mn-lt"/>
          <a:ea typeface="+mn-ea"/>
          <a:cs typeface="+mn-cs"/>
        </a:defRPr>
      </a:lvl2pPr>
      <a:lvl3pPr marL="914199" algn="l" defTabSz="914199" rtl="0" eaLnBrk="1" latinLnBrk="0" hangingPunct="1">
        <a:defRPr sz="1799" kern="1200">
          <a:solidFill>
            <a:schemeClr val="tx1"/>
          </a:solidFill>
          <a:latin typeface="+mn-lt"/>
          <a:ea typeface="+mn-ea"/>
          <a:cs typeface="+mn-cs"/>
        </a:defRPr>
      </a:lvl3pPr>
      <a:lvl4pPr marL="1371299" algn="l" defTabSz="914199" rtl="0" eaLnBrk="1" latinLnBrk="0" hangingPunct="1">
        <a:defRPr sz="1799" kern="1200">
          <a:solidFill>
            <a:schemeClr val="tx1"/>
          </a:solidFill>
          <a:latin typeface="+mn-lt"/>
          <a:ea typeface="+mn-ea"/>
          <a:cs typeface="+mn-cs"/>
        </a:defRPr>
      </a:lvl4pPr>
      <a:lvl5pPr marL="1828397" algn="l" defTabSz="914199" rtl="0" eaLnBrk="1" latinLnBrk="0" hangingPunct="1">
        <a:defRPr sz="1799" kern="1200">
          <a:solidFill>
            <a:schemeClr val="tx1"/>
          </a:solidFill>
          <a:latin typeface="+mn-lt"/>
          <a:ea typeface="+mn-ea"/>
          <a:cs typeface="+mn-cs"/>
        </a:defRPr>
      </a:lvl5pPr>
      <a:lvl6pPr marL="2285497" algn="l" defTabSz="914199" rtl="0" eaLnBrk="1" latinLnBrk="0" hangingPunct="1">
        <a:defRPr sz="1799" kern="1200">
          <a:solidFill>
            <a:schemeClr val="tx1"/>
          </a:solidFill>
          <a:latin typeface="+mn-lt"/>
          <a:ea typeface="+mn-ea"/>
          <a:cs typeface="+mn-cs"/>
        </a:defRPr>
      </a:lvl6pPr>
      <a:lvl7pPr marL="2742596" algn="l" defTabSz="914199" rtl="0" eaLnBrk="1" latinLnBrk="0" hangingPunct="1">
        <a:defRPr sz="1799" kern="1200">
          <a:solidFill>
            <a:schemeClr val="tx1"/>
          </a:solidFill>
          <a:latin typeface="+mn-lt"/>
          <a:ea typeface="+mn-ea"/>
          <a:cs typeface="+mn-cs"/>
        </a:defRPr>
      </a:lvl7pPr>
      <a:lvl8pPr marL="3199696" algn="l" defTabSz="914199" rtl="0" eaLnBrk="1" latinLnBrk="0" hangingPunct="1">
        <a:defRPr sz="1799" kern="1200">
          <a:solidFill>
            <a:schemeClr val="tx1"/>
          </a:solidFill>
          <a:latin typeface="+mn-lt"/>
          <a:ea typeface="+mn-ea"/>
          <a:cs typeface="+mn-cs"/>
        </a:defRPr>
      </a:lvl8pPr>
      <a:lvl9pPr marL="3656795" algn="l" defTabSz="91419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emf"/><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73.png"/></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3.xml"/><Relationship Id="rId1" Type="http://schemas.openxmlformats.org/officeDocument/2006/relationships/slideLayout" Target="../slideLayouts/slideLayout4.xml"/><Relationship Id="rId5" Type="http://schemas.openxmlformats.org/officeDocument/2006/relationships/image" Target="../media/image78.png"/><Relationship Id="rId4" Type="http://schemas.openxmlformats.org/officeDocument/2006/relationships/image" Target="../media/image77.png"/></Relationships>
</file>

<file path=ppt/slides/_rels/slide56.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6859A4E-4743-E04D-A3D3-FD9B8E3B4065}"/>
              </a:ext>
            </a:extLst>
          </p:cNvPr>
          <p:cNvSpPr>
            <a:spLocks noGrp="1"/>
          </p:cNvSpPr>
          <p:nvPr>
            <p:ph type="ctrTitle"/>
          </p:nvPr>
        </p:nvSpPr>
        <p:spPr>
          <a:xfrm>
            <a:off x="921676" y="2688719"/>
            <a:ext cx="6607772" cy="834496"/>
          </a:xfrm>
        </p:spPr>
        <p:txBody>
          <a:bodyPr/>
          <a:lstStyle/>
          <a:p>
            <a:r>
              <a:rPr lang="en-US"/>
              <a:t>Adding a Compute Layer</a:t>
            </a:r>
          </a:p>
        </p:txBody>
      </p:sp>
      <p:sp>
        <p:nvSpPr>
          <p:cNvPr id="3" name="Subtitle 2">
            <a:extLst>
              <a:ext uri="{FF2B5EF4-FFF2-40B4-BE49-F238E27FC236}">
                <a16:creationId xmlns:a16="http://schemas.microsoft.com/office/drawing/2014/main" xmlns="" id="{A5FC99F1-C650-C941-BC62-4D2C75E4EBA3}"/>
              </a:ext>
            </a:extLst>
          </p:cNvPr>
          <p:cNvSpPr>
            <a:spLocks noGrp="1"/>
          </p:cNvSpPr>
          <p:nvPr>
            <p:ph type="subTitle" idx="1"/>
          </p:nvPr>
        </p:nvSpPr>
        <p:spPr>
          <a:xfrm>
            <a:off x="921677" y="3523215"/>
            <a:ext cx="6607771" cy="418570"/>
          </a:xfrm>
        </p:spPr>
        <p:txBody>
          <a:bodyPr/>
          <a:lstStyle/>
          <a:p>
            <a:r>
              <a:rPr lang="en-US"/>
              <a:t>Module 3</a:t>
            </a:r>
          </a:p>
        </p:txBody>
      </p:sp>
    </p:spTree>
    <p:extLst>
      <p:ext uri="{BB962C8B-B14F-4D97-AF65-F5344CB8AC3E}">
        <p14:creationId xmlns:p14="http://schemas.microsoft.com/office/powerpoint/2010/main" val="13728168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68">
            <a:extLst>
              <a:ext uri="{FF2B5EF4-FFF2-40B4-BE49-F238E27FC236}">
                <a16:creationId xmlns:a16="http://schemas.microsoft.com/office/drawing/2014/main" xmlns="" id="{7EDDDBAE-3DE6-E84D-8317-1A525483C0B2}"/>
              </a:ext>
            </a:extLst>
          </p:cNvPr>
          <p:cNvSpPr txBox="1"/>
          <p:nvPr/>
        </p:nvSpPr>
        <p:spPr>
          <a:xfrm>
            <a:off x="-21130" y="4414867"/>
            <a:ext cx="1051832" cy="461665"/>
          </a:xfrm>
          <a:prstGeom prst="rect">
            <a:avLst/>
          </a:prstGeom>
          <a:noFill/>
        </p:spPr>
        <p:txBody>
          <a:bodyPr wrap="square" rtlCol="0">
            <a:spAutoFit/>
          </a:bodyPr>
          <a:lstStyle>
            <a:defPPr>
              <a:defRPr lang="en-US"/>
            </a:defPPr>
            <a:lvl1pPr algn="ctr">
              <a:defRPr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Amazon Route 53</a:t>
            </a:r>
          </a:p>
        </p:txBody>
      </p:sp>
      <p:sp>
        <p:nvSpPr>
          <p:cNvPr id="142" name="Rectangle 141">
            <a:extLst>
              <a:ext uri="{FF2B5EF4-FFF2-40B4-BE49-F238E27FC236}">
                <a16:creationId xmlns:a16="http://schemas.microsoft.com/office/drawing/2014/main" xmlns="" id="{40DAAFD1-6719-D446-85C6-A154E592D787}"/>
              </a:ext>
            </a:extLst>
          </p:cNvPr>
          <p:cNvSpPr/>
          <p:nvPr/>
        </p:nvSpPr>
        <p:spPr>
          <a:xfrm>
            <a:off x="313010" y="6343650"/>
            <a:ext cx="3987528"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ounded Rectangle 113">
            <a:extLst>
              <a:ext uri="{FF2B5EF4-FFF2-40B4-BE49-F238E27FC236}">
                <a16:creationId xmlns:a16="http://schemas.microsoft.com/office/drawing/2014/main" xmlns="" id="{E42E2BDE-02EF-FE4B-AE3B-6EB88CA5A501}"/>
              </a:ext>
            </a:extLst>
          </p:cNvPr>
          <p:cNvSpPr/>
          <p:nvPr/>
        </p:nvSpPr>
        <p:spPr>
          <a:xfrm>
            <a:off x="2269677" y="1433585"/>
            <a:ext cx="9666460" cy="528154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Arial"/>
              <a:cs typeface="Arial"/>
            </a:endParaRPr>
          </a:p>
        </p:txBody>
      </p:sp>
      <p:sp>
        <p:nvSpPr>
          <p:cNvPr id="233" name="Rounded Rectangle 232">
            <a:extLst>
              <a:ext uri="{FF2B5EF4-FFF2-40B4-BE49-F238E27FC236}">
                <a16:creationId xmlns:a16="http://schemas.microsoft.com/office/drawing/2014/main" xmlns="" id="{03DF7305-478D-0E4F-AFC4-F41E32353972}"/>
              </a:ext>
            </a:extLst>
          </p:cNvPr>
          <p:cNvSpPr/>
          <p:nvPr/>
        </p:nvSpPr>
        <p:spPr>
          <a:xfrm>
            <a:off x="916262" y="1360159"/>
            <a:ext cx="11170597" cy="538354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Arial"/>
              <a:cs typeface="Arial"/>
            </a:endParaRPr>
          </a:p>
        </p:txBody>
      </p:sp>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Adding the Compute Layer</a:t>
            </a:r>
          </a:p>
        </p:txBody>
      </p:sp>
      <p:pic>
        <p:nvPicPr>
          <p:cNvPr id="168" name="Picture 167">
            <a:extLst>
              <a:ext uri="{FF2B5EF4-FFF2-40B4-BE49-F238E27FC236}">
                <a16:creationId xmlns:a16="http://schemas.microsoft.com/office/drawing/2014/main" xmlns="" id="{EDC44A11-0B6E-0B45-9A8D-94EA8897F080}"/>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544689" y="2389192"/>
            <a:ext cx="494088" cy="512387"/>
          </a:xfrm>
          <a:prstGeom prst="rect">
            <a:avLst/>
          </a:prstGeom>
        </p:spPr>
      </p:pic>
      <p:pic>
        <p:nvPicPr>
          <p:cNvPr id="169" name="Picture 168">
            <a:extLst>
              <a:ext uri="{FF2B5EF4-FFF2-40B4-BE49-F238E27FC236}">
                <a16:creationId xmlns:a16="http://schemas.microsoft.com/office/drawing/2014/main" xmlns="" id="{6D62B072-F9FB-2942-9927-CD0C1359B34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544689" y="5219367"/>
            <a:ext cx="494088" cy="512387"/>
          </a:xfrm>
          <a:prstGeom prst="rect">
            <a:avLst/>
          </a:prstGeom>
        </p:spPr>
      </p:pic>
      <p:sp>
        <p:nvSpPr>
          <p:cNvPr id="179" name="TextBox 178">
            <a:extLst>
              <a:ext uri="{FF2B5EF4-FFF2-40B4-BE49-F238E27FC236}">
                <a16:creationId xmlns:a16="http://schemas.microsoft.com/office/drawing/2014/main" xmlns="" id="{25B71536-C79E-E144-9104-28653AD3DEAB}"/>
              </a:ext>
            </a:extLst>
          </p:cNvPr>
          <p:cNvSpPr txBox="1"/>
          <p:nvPr/>
        </p:nvSpPr>
        <p:spPr>
          <a:xfrm>
            <a:off x="7053506" y="1932851"/>
            <a:ext cx="1476454" cy="276999"/>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Memcached</a:t>
            </a:r>
          </a:p>
        </p:txBody>
      </p:sp>
      <p:sp>
        <p:nvSpPr>
          <p:cNvPr id="180" name="Rounded Rectangle 179">
            <a:extLst>
              <a:ext uri="{FF2B5EF4-FFF2-40B4-BE49-F238E27FC236}">
                <a16:creationId xmlns:a16="http://schemas.microsoft.com/office/drawing/2014/main" xmlns="" id="{A200C75D-0AB5-0D40-BCD0-639600AA4B91}"/>
              </a:ext>
            </a:extLst>
          </p:cNvPr>
          <p:cNvSpPr/>
          <p:nvPr/>
        </p:nvSpPr>
        <p:spPr>
          <a:xfrm>
            <a:off x="6791922" y="1704748"/>
            <a:ext cx="3819370"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pic>
        <p:nvPicPr>
          <p:cNvPr id="181" name="Picture 180">
            <a:extLst>
              <a:ext uri="{FF2B5EF4-FFF2-40B4-BE49-F238E27FC236}">
                <a16:creationId xmlns:a16="http://schemas.microsoft.com/office/drawing/2014/main" xmlns="" id="{0FB6E82E-46C8-B840-B9B3-A15117F40622}"/>
              </a:ext>
            </a:extLst>
          </p:cNvPr>
          <p:cNvPicPr>
            <a:picLocks noChangeAspect="1"/>
          </p:cNvPicPr>
          <p:nvPr/>
        </p:nvPicPr>
        <p:blipFill>
          <a:blip r:embed="rId4">
            <a:lum bright="70000" contrast="-70000"/>
          </a:blip>
          <a:stretch>
            <a:fillRect/>
          </a:stretch>
        </p:blipFill>
        <p:spPr>
          <a:xfrm>
            <a:off x="6945556" y="1560166"/>
            <a:ext cx="215900" cy="241300"/>
          </a:xfrm>
          <a:prstGeom prst="rect">
            <a:avLst/>
          </a:prstGeom>
        </p:spPr>
      </p:pic>
      <p:sp>
        <p:nvSpPr>
          <p:cNvPr id="182" name="Rounded Rectangle 181">
            <a:extLst>
              <a:ext uri="{FF2B5EF4-FFF2-40B4-BE49-F238E27FC236}">
                <a16:creationId xmlns:a16="http://schemas.microsoft.com/office/drawing/2014/main" xmlns="" id="{9EEEC5F2-2684-E54A-8BBD-9DCA8904A13E}"/>
              </a:ext>
            </a:extLst>
          </p:cNvPr>
          <p:cNvSpPr/>
          <p:nvPr/>
        </p:nvSpPr>
        <p:spPr>
          <a:xfrm>
            <a:off x="6791922" y="4756531"/>
            <a:ext cx="3819370"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pic>
        <p:nvPicPr>
          <p:cNvPr id="183" name="Picture 182">
            <a:extLst>
              <a:ext uri="{FF2B5EF4-FFF2-40B4-BE49-F238E27FC236}">
                <a16:creationId xmlns:a16="http://schemas.microsoft.com/office/drawing/2014/main" xmlns="" id="{D623273A-DCC3-B041-98AD-CBABE7E6E1E5}"/>
              </a:ext>
            </a:extLst>
          </p:cNvPr>
          <p:cNvPicPr>
            <a:picLocks noChangeAspect="1"/>
          </p:cNvPicPr>
          <p:nvPr/>
        </p:nvPicPr>
        <p:blipFill>
          <a:blip r:embed="rId4">
            <a:lum bright="70000" contrast="-70000"/>
          </a:blip>
          <a:stretch>
            <a:fillRect/>
          </a:stretch>
        </p:blipFill>
        <p:spPr>
          <a:xfrm>
            <a:off x="6945556" y="4611949"/>
            <a:ext cx="215900" cy="241300"/>
          </a:xfrm>
          <a:prstGeom prst="rect">
            <a:avLst/>
          </a:prstGeom>
        </p:spPr>
      </p:pic>
      <p:sp>
        <p:nvSpPr>
          <p:cNvPr id="184" name="TextBox 183">
            <a:extLst>
              <a:ext uri="{FF2B5EF4-FFF2-40B4-BE49-F238E27FC236}">
                <a16:creationId xmlns:a16="http://schemas.microsoft.com/office/drawing/2014/main" xmlns="" id="{15C22611-FB66-DC40-A671-51C1E2F6251B}"/>
              </a:ext>
            </a:extLst>
          </p:cNvPr>
          <p:cNvSpPr txBox="1"/>
          <p:nvPr/>
        </p:nvSpPr>
        <p:spPr>
          <a:xfrm>
            <a:off x="7053506" y="5928453"/>
            <a:ext cx="1476454" cy="276999"/>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Memcached</a:t>
            </a:r>
          </a:p>
        </p:txBody>
      </p:sp>
      <p:pic>
        <p:nvPicPr>
          <p:cNvPr id="187" name="Picture 186">
            <a:extLst>
              <a:ext uri="{FF2B5EF4-FFF2-40B4-BE49-F238E27FC236}">
                <a16:creationId xmlns:a16="http://schemas.microsoft.com/office/drawing/2014/main" xmlns="" id="{4BD76DC8-0B7A-1746-B7C3-A73E6D12A336}"/>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425669" y="2363268"/>
            <a:ext cx="544781" cy="564959"/>
          </a:xfrm>
          <a:prstGeom prst="rect">
            <a:avLst/>
          </a:prstGeom>
        </p:spPr>
      </p:pic>
      <p:pic>
        <p:nvPicPr>
          <p:cNvPr id="188" name="Picture 187">
            <a:extLst>
              <a:ext uri="{FF2B5EF4-FFF2-40B4-BE49-F238E27FC236}">
                <a16:creationId xmlns:a16="http://schemas.microsoft.com/office/drawing/2014/main" xmlns="" id="{A64F8E1B-CD0C-F445-A02A-E837F2D0C2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5668" y="5190305"/>
            <a:ext cx="544781" cy="564959"/>
          </a:xfrm>
          <a:prstGeom prst="rect">
            <a:avLst/>
          </a:prstGeom>
        </p:spPr>
      </p:pic>
      <p:sp>
        <p:nvSpPr>
          <p:cNvPr id="189" name="TextBox 188">
            <a:extLst>
              <a:ext uri="{FF2B5EF4-FFF2-40B4-BE49-F238E27FC236}">
                <a16:creationId xmlns:a16="http://schemas.microsoft.com/office/drawing/2014/main" xmlns="" id="{33BF5A5E-FE2D-1549-B329-3D3E9E2680F3}"/>
              </a:ext>
            </a:extLst>
          </p:cNvPr>
          <p:cNvSpPr txBox="1"/>
          <p:nvPr/>
        </p:nvSpPr>
        <p:spPr>
          <a:xfrm>
            <a:off x="4954781" y="1733707"/>
            <a:ext cx="1476454" cy="461665"/>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EC2</a:t>
            </a:r>
          </a:p>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sp>
        <p:nvSpPr>
          <p:cNvPr id="190" name="TextBox 189">
            <a:extLst>
              <a:ext uri="{FF2B5EF4-FFF2-40B4-BE49-F238E27FC236}">
                <a16:creationId xmlns:a16="http://schemas.microsoft.com/office/drawing/2014/main" xmlns="" id="{EE77B8BF-5354-464E-936F-F029D3480315}"/>
              </a:ext>
            </a:extLst>
          </p:cNvPr>
          <p:cNvSpPr txBox="1"/>
          <p:nvPr/>
        </p:nvSpPr>
        <p:spPr>
          <a:xfrm>
            <a:off x="4967819" y="5772580"/>
            <a:ext cx="1476454" cy="523220"/>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Amazon EC2</a:t>
            </a:r>
          </a:p>
          <a:p>
            <a:pPr algn="ctr"/>
            <a:r>
              <a:rPr lang="en-US" sz="1400" dirty="0" smtClean="0">
                <a:latin typeface="Amazon Ember" panose="020B0603020204020204" pitchFamily="34" charset="0"/>
                <a:ea typeface="Amazon Ember" panose="020B0603020204020204" pitchFamily="34" charset="0"/>
                <a:cs typeface="Amazon Ember" panose="020B0603020204020204" pitchFamily="34" charset="0"/>
              </a:rPr>
              <a:t>Instance</a:t>
            </a:r>
            <a:endParaRPr lang="en-US" sz="14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91" name="Picture 190">
            <a:extLst>
              <a:ext uri="{FF2B5EF4-FFF2-40B4-BE49-F238E27FC236}">
                <a16:creationId xmlns:a16="http://schemas.microsoft.com/office/drawing/2014/main" xmlns="" id="{47F6AA44-4DEF-6B44-B0E9-598E1D874B60}"/>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5341775" y="3722094"/>
            <a:ext cx="712565" cy="692773"/>
          </a:xfrm>
          <a:prstGeom prst="rect">
            <a:avLst/>
          </a:prstGeom>
        </p:spPr>
      </p:pic>
      <p:pic>
        <p:nvPicPr>
          <p:cNvPr id="193" name="Picture 192">
            <a:extLst>
              <a:ext uri="{FF2B5EF4-FFF2-40B4-BE49-F238E27FC236}">
                <a16:creationId xmlns:a16="http://schemas.microsoft.com/office/drawing/2014/main" xmlns="" id="{9EA3BBDB-0C73-5746-8335-6807E8387E70}"/>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3626158" y="2391242"/>
            <a:ext cx="538195" cy="555557"/>
          </a:xfrm>
          <a:prstGeom prst="rect">
            <a:avLst/>
          </a:prstGeom>
        </p:spPr>
      </p:pic>
      <p:pic>
        <p:nvPicPr>
          <p:cNvPr id="194" name="Picture 193">
            <a:extLst>
              <a:ext uri="{FF2B5EF4-FFF2-40B4-BE49-F238E27FC236}">
                <a16:creationId xmlns:a16="http://schemas.microsoft.com/office/drawing/2014/main" xmlns="" id="{DD8AFE7B-EB7F-9940-B2A1-81FF62E7F656}"/>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3626158" y="5169205"/>
            <a:ext cx="538195" cy="555557"/>
          </a:xfrm>
          <a:prstGeom prst="rect">
            <a:avLst/>
          </a:prstGeom>
        </p:spPr>
      </p:pic>
      <p:sp>
        <p:nvSpPr>
          <p:cNvPr id="195" name="TextBox 194">
            <a:extLst>
              <a:ext uri="{FF2B5EF4-FFF2-40B4-BE49-F238E27FC236}">
                <a16:creationId xmlns:a16="http://schemas.microsoft.com/office/drawing/2014/main" xmlns="" id="{5367E616-8E81-1946-92F4-149C1F0E473A}"/>
              </a:ext>
            </a:extLst>
          </p:cNvPr>
          <p:cNvSpPr txBox="1"/>
          <p:nvPr/>
        </p:nvSpPr>
        <p:spPr>
          <a:xfrm>
            <a:off x="3157028" y="1920191"/>
            <a:ext cx="1476454" cy="276999"/>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NAT Gateway</a:t>
            </a:r>
          </a:p>
        </p:txBody>
      </p:sp>
      <p:sp>
        <p:nvSpPr>
          <p:cNvPr id="196" name="TextBox 195">
            <a:extLst>
              <a:ext uri="{FF2B5EF4-FFF2-40B4-BE49-F238E27FC236}">
                <a16:creationId xmlns:a16="http://schemas.microsoft.com/office/drawing/2014/main" xmlns="" id="{A87B1465-94C4-5641-A3E0-1858D7371E87}"/>
              </a:ext>
            </a:extLst>
          </p:cNvPr>
          <p:cNvSpPr txBox="1"/>
          <p:nvPr/>
        </p:nvSpPr>
        <p:spPr>
          <a:xfrm>
            <a:off x="3157028" y="5923305"/>
            <a:ext cx="1476454" cy="276999"/>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NAT Gateway</a:t>
            </a:r>
          </a:p>
        </p:txBody>
      </p:sp>
      <p:pic>
        <p:nvPicPr>
          <p:cNvPr id="197" name="Picture 196">
            <a:extLst>
              <a:ext uri="{FF2B5EF4-FFF2-40B4-BE49-F238E27FC236}">
                <a16:creationId xmlns:a16="http://schemas.microsoft.com/office/drawing/2014/main" xmlns="" id="{04FF5F7B-71E6-1547-BCB2-4AF02A2CB227}"/>
              </a:ext>
            </a:extLst>
          </p:cNvPr>
          <p:cNvPicPr>
            <a:picLocks noChangeAspect="1"/>
          </p:cNvPicPr>
          <p:nvPr/>
        </p:nvPicPr>
        <p:blipFill>
          <a:blip r:embed="rId8">
            <a:lum bright="70000" contrast="-70000"/>
            <a:extLst>
              <a:ext uri="{28A0092B-C50C-407E-A947-70E740481C1C}">
                <a14:useLocalDpi xmlns:a14="http://schemas.microsoft.com/office/drawing/2010/main" val="0"/>
              </a:ext>
            </a:extLst>
          </a:blip>
          <a:stretch>
            <a:fillRect/>
          </a:stretch>
        </p:blipFill>
        <p:spPr>
          <a:xfrm>
            <a:off x="3134822" y="3786000"/>
            <a:ext cx="543639" cy="564959"/>
          </a:xfrm>
          <a:prstGeom prst="rect">
            <a:avLst/>
          </a:prstGeom>
        </p:spPr>
      </p:pic>
      <p:pic>
        <p:nvPicPr>
          <p:cNvPr id="199" name="Picture 198">
            <a:extLst>
              <a:ext uri="{FF2B5EF4-FFF2-40B4-BE49-F238E27FC236}">
                <a16:creationId xmlns:a16="http://schemas.microsoft.com/office/drawing/2014/main" xmlns="" id="{3BCFF205-F556-794B-BD2F-46D720B6BBA5}"/>
              </a:ext>
            </a:extLst>
          </p:cNvPr>
          <p:cNvPicPr>
            <a:picLocks noChangeAspect="1"/>
          </p:cNvPicPr>
          <p:nvPr/>
        </p:nvPicPr>
        <p:blipFill>
          <a:blip r:embed="rId9">
            <a:lum bright="70000" contrast="-70000"/>
            <a:extLst>
              <a:ext uri="{28A0092B-C50C-407E-A947-70E740481C1C}">
                <a14:useLocalDpi xmlns:a14="http://schemas.microsoft.com/office/drawing/2010/main" val="0"/>
              </a:ext>
            </a:extLst>
          </a:blip>
          <a:stretch>
            <a:fillRect/>
          </a:stretch>
        </p:blipFill>
        <p:spPr>
          <a:xfrm>
            <a:off x="2032463" y="3811331"/>
            <a:ext cx="538196" cy="564237"/>
          </a:xfrm>
          <a:prstGeom prst="rect">
            <a:avLst/>
          </a:prstGeom>
        </p:spPr>
      </p:pic>
      <p:sp>
        <p:nvSpPr>
          <p:cNvPr id="207" name="Rounded Rectangle 206">
            <a:extLst>
              <a:ext uri="{FF2B5EF4-FFF2-40B4-BE49-F238E27FC236}">
                <a16:creationId xmlns:a16="http://schemas.microsoft.com/office/drawing/2014/main" xmlns="" id="{B0FF9D53-C6A5-3A4E-8FA3-B6248DDAD62E}"/>
              </a:ext>
            </a:extLst>
          </p:cNvPr>
          <p:cNvSpPr/>
          <p:nvPr/>
        </p:nvSpPr>
        <p:spPr>
          <a:xfrm>
            <a:off x="4886439" y="1713848"/>
            <a:ext cx="1681318"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pic>
        <p:nvPicPr>
          <p:cNvPr id="208" name="Picture 207">
            <a:extLst>
              <a:ext uri="{FF2B5EF4-FFF2-40B4-BE49-F238E27FC236}">
                <a16:creationId xmlns:a16="http://schemas.microsoft.com/office/drawing/2014/main" xmlns="" id="{6718DBC8-4C86-BC46-BD6F-066BF1DD3458}"/>
              </a:ext>
            </a:extLst>
          </p:cNvPr>
          <p:cNvPicPr>
            <a:picLocks noChangeAspect="1"/>
          </p:cNvPicPr>
          <p:nvPr/>
        </p:nvPicPr>
        <p:blipFill>
          <a:blip r:embed="rId4">
            <a:lum bright="70000" contrast="-70000"/>
          </a:blip>
          <a:stretch>
            <a:fillRect/>
          </a:stretch>
        </p:blipFill>
        <p:spPr>
          <a:xfrm>
            <a:off x="5040073" y="1569266"/>
            <a:ext cx="215900" cy="241300"/>
          </a:xfrm>
          <a:prstGeom prst="rect">
            <a:avLst/>
          </a:prstGeom>
        </p:spPr>
      </p:pic>
      <p:sp>
        <p:nvSpPr>
          <p:cNvPr id="209" name="Rounded Rectangle 208">
            <a:extLst>
              <a:ext uri="{FF2B5EF4-FFF2-40B4-BE49-F238E27FC236}">
                <a16:creationId xmlns:a16="http://schemas.microsoft.com/office/drawing/2014/main" xmlns="" id="{F042507F-2223-D74C-970A-054219A72B97}"/>
              </a:ext>
            </a:extLst>
          </p:cNvPr>
          <p:cNvSpPr/>
          <p:nvPr/>
        </p:nvSpPr>
        <p:spPr>
          <a:xfrm>
            <a:off x="4926278" y="4746893"/>
            <a:ext cx="1681318" cy="1733550"/>
          </a:xfrm>
          <a:prstGeom prst="roundRect">
            <a:avLst>
              <a:gd name="adj" fmla="val 9818"/>
            </a:avLst>
          </a:prstGeom>
          <a:noFill/>
          <a:ln w="6350">
            <a:solidFill>
              <a:srgbClr val="C5C5C5"/>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sp>
        <p:nvSpPr>
          <p:cNvPr id="211" name="Rounded Rectangle 210">
            <a:extLst>
              <a:ext uri="{FF2B5EF4-FFF2-40B4-BE49-F238E27FC236}">
                <a16:creationId xmlns:a16="http://schemas.microsoft.com/office/drawing/2014/main" xmlns="" id="{6C7B14B3-5D11-DD43-A01A-863A8C83074A}"/>
              </a:ext>
            </a:extLst>
          </p:cNvPr>
          <p:cNvSpPr/>
          <p:nvPr/>
        </p:nvSpPr>
        <p:spPr>
          <a:xfrm>
            <a:off x="3022646" y="4737075"/>
            <a:ext cx="1681318"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sp>
        <p:nvSpPr>
          <p:cNvPr id="214" name="Rounded Rectangle 213">
            <a:extLst>
              <a:ext uri="{FF2B5EF4-FFF2-40B4-BE49-F238E27FC236}">
                <a16:creationId xmlns:a16="http://schemas.microsoft.com/office/drawing/2014/main" xmlns="" id="{8553472C-A861-F047-8698-182E6F5C7F16}"/>
              </a:ext>
            </a:extLst>
          </p:cNvPr>
          <p:cNvSpPr/>
          <p:nvPr/>
        </p:nvSpPr>
        <p:spPr>
          <a:xfrm>
            <a:off x="3019221" y="1725317"/>
            <a:ext cx="1681318"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sp>
        <p:nvSpPr>
          <p:cNvPr id="215" name="TextBox 214">
            <a:extLst>
              <a:ext uri="{FF2B5EF4-FFF2-40B4-BE49-F238E27FC236}">
                <a16:creationId xmlns:a16="http://schemas.microsoft.com/office/drawing/2014/main" xmlns="" id="{C4F9EDD6-6495-BA45-B9A4-5AB39E1B8A17}"/>
              </a:ext>
            </a:extLst>
          </p:cNvPr>
          <p:cNvSpPr txBox="1"/>
          <p:nvPr/>
        </p:nvSpPr>
        <p:spPr>
          <a:xfrm>
            <a:off x="3259354" y="3335947"/>
            <a:ext cx="1201052" cy="246221"/>
          </a:xfrm>
          <a:prstGeom prst="rect">
            <a:avLst/>
          </a:prstGeom>
          <a:solidFill>
            <a:schemeClr val="bg1"/>
          </a:solidFill>
        </p:spPr>
        <p:txBody>
          <a:bodyPr wrap="square" rtlCol="0">
            <a:spAutoFit/>
          </a:bodyPr>
          <a:lstStyle/>
          <a:p>
            <a:pPr algn="ctr"/>
            <a:r>
              <a:rPr lang="en-US" sz="10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216" name="TextBox 215">
            <a:extLst>
              <a:ext uri="{FF2B5EF4-FFF2-40B4-BE49-F238E27FC236}">
                <a16:creationId xmlns:a16="http://schemas.microsoft.com/office/drawing/2014/main" xmlns="" id="{FBEA9A4C-7A4D-A242-8CC5-72C7684A976B}"/>
              </a:ext>
            </a:extLst>
          </p:cNvPr>
          <p:cNvSpPr txBox="1"/>
          <p:nvPr/>
        </p:nvSpPr>
        <p:spPr>
          <a:xfrm>
            <a:off x="3254533" y="4657544"/>
            <a:ext cx="1201052" cy="246221"/>
          </a:xfrm>
          <a:prstGeom prst="rect">
            <a:avLst/>
          </a:prstGeom>
          <a:solidFill>
            <a:schemeClr val="bg1"/>
          </a:solidFill>
        </p:spPr>
        <p:txBody>
          <a:bodyPr wrap="square" rtlCol="0">
            <a:spAutoFit/>
          </a:bodyPr>
          <a:lstStyle/>
          <a:p>
            <a:pPr algn="ctr"/>
            <a:r>
              <a:rPr lang="en-US" sz="100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217" name="TextBox 216">
            <a:extLst>
              <a:ext uri="{FF2B5EF4-FFF2-40B4-BE49-F238E27FC236}">
                <a16:creationId xmlns:a16="http://schemas.microsoft.com/office/drawing/2014/main" xmlns="" id="{E3E68619-B43C-2844-9E3E-F2F49D1D9B38}"/>
              </a:ext>
            </a:extLst>
          </p:cNvPr>
          <p:cNvSpPr txBox="1"/>
          <p:nvPr/>
        </p:nvSpPr>
        <p:spPr>
          <a:xfrm>
            <a:off x="5219152" y="4632622"/>
            <a:ext cx="1201052" cy="246221"/>
          </a:xfrm>
          <a:prstGeom prst="rect">
            <a:avLst/>
          </a:prstGeom>
          <a:solidFill>
            <a:schemeClr val="bg1"/>
          </a:solidFill>
        </p:spPr>
        <p:txBody>
          <a:bodyPr wrap="square" rtlCol="0">
            <a:spAutoFit/>
          </a:bodyPr>
          <a:lstStyle/>
          <a:p>
            <a:pPr algn="ctr"/>
            <a:r>
              <a:rPr lang="en-US" sz="100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App Subnet</a:t>
            </a:r>
          </a:p>
        </p:txBody>
      </p:sp>
      <p:pic>
        <p:nvPicPr>
          <p:cNvPr id="210" name="Picture 209">
            <a:extLst>
              <a:ext uri="{FF2B5EF4-FFF2-40B4-BE49-F238E27FC236}">
                <a16:creationId xmlns:a16="http://schemas.microsoft.com/office/drawing/2014/main" xmlns="" id="{116418A5-E250-D446-B493-E378217E8E07}"/>
              </a:ext>
            </a:extLst>
          </p:cNvPr>
          <p:cNvPicPr>
            <a:picLocks noChangeAspect="1"/>
          </p:cNvPicPr>
          <p:nvPr/>
        </p:nvPicPr>
        <p:blipFill>
          <a:blip r:embed="rId4">
            <a:lum bright="70000" contrast="-70000"/>
          </a:blip>
          <a:stretch>
            <a:fillRect/>
          </a:stretch>
        </p:blipFill>
        <p:spPr>
          <a:xfrm>
            <a:off x="5079912" y="4602311"/>
            <a:ext cx="215900" cy="241300"/>
          </a:xfrm>
          <a:prstGeom prst="rect">
            <a:avLst/>
          </a:prstGeom>
        </p:spPr>
      </p:pic>
      <p:sp>
        <p:nvSpPr>
          <p:cNvPr id="218" name="TextBox 217">
            <a:extLst>
              <a:ext uri="{FF2B5EF4-FFF2-40B4-BE49-F238E27FC236}">
                <a16:creationId xmlns:a16="http://schemas.microsoft.com/office/drawing/2014/main" xmlns="" id="{84F7307E-58F9-E842-A665-2CC123F8F349}"/>
              </a:ext>
            </a:extLst>
          </p:cNvPr>
          <p:cNvSpPr txBox="1"/>
          <p:nvPr/>
        </p:nvSpPr>
        <p:spPr>
          <a:xfrm>
            <a:off x="5105520" y="3293103"/>
            <a:ext cx="1201052" cy="246221"/>
          </a:xfrm>
          <a:prstGeom prst="rect">
            <a:avLst/>
          </a:prstGeom>
          <a:solidFill>
            <a:schemeClr val="bg1"/>
          </a:solidFill>
        </p:spPr>
        <p:txBody>
          <a:bodyPr wrap="square" rtlCol="0">
            <a:spAutoFit/>
          </a:bodyPr>
          <a:lstStyle/>
          <a:p>
            <a:pPr algn="ctr"/>
            <a:r>
              <a:rPr lang="en-US" sz="10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App Subnet</a:t>
            </a:r>
          </a:p>
        </p:txBody>
      </p:sp>
      <p:sp>
        <p:nvSpPr>
          <p:cNvPr id="219" name="TextBox 218">
            <a:extLst>
              <a:ext uri="{FF2B5EF4-FFF2-40B4-BE49-F238E27FC236}">
                <a16:creationId xmlns:a16="http://schemas.microsoft.com/office/drawing/2014/main" xmlns="" id="{2336FFA4-8C98-C042-8B3E-49A568F0F865}"/>
              </a:ext>
            </a:extLst>
          </p:cNvPr>
          <p:cNvSpPr txBox="1"/>
          <p:nvPr/>
        </p:nvSpPr>
        <p:spPr>
          <a:xfrm>
            <a:off x="7140826" y="3347627"/>
            <a:ext cx="1201052" cy="246221"/>
          </a:xfrm>
          <a:prstGeom prst="rect">
            <a:avLst/>
          </a:prstGeom>
          <a:solidFill>
            <a:schemeClr val="bg1"/>
          </a:solidFill>
        </p:spPr>
        <p:txBody>
          <a:bodyPr wrap="square" rtlCol="0">
            <a:spAutoFit/>
          </a:bodyPr>
          <a:lstStyle/>
          <a:p>
            <a:pPr algn="ctr"/>
            <a:r>
              <a:rPr lang="en-US" sz="10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Data Subnet</a:t>
            </a:r>
          </a:p>
        </p:txBody>
      </p:sp>
      <p:sp>
        <p:nvSpPr>
          <p:cNvPr id="220" name="TextBox 219">
            <a:extLst>
              <a:ext uri="{FF2B5EF4-FFF2-40B4-BE49-F238E27FC236}">
                <a16:creationId xmlns:a16="http://schemas.microsoft.com/office/drawing/2014/main" xmlns="" id="{439D7E5C-35BD-204B-A4DA-62338A0F5335}"/>
              </a:ext>
            </a:extLst>
          </p:cNvPr>
          <p:cNvSpPr txBox="1"/>
          <p:nvPr/>
        </p:nvSpPr>
        <p:spPr>
          <a:xfrm>
            <a:off x="7161456" y="4642659"/>
            <a:ext cx="1201052" cy="246221"/>
          </a:xfrm>
          <a:prstGeom prst="rect">
            <a:avLst/>
          </a:prstGeom>
          <a:solidFill>
            <a:schemeClr val="bg1"/>
          </a:solidFill>
        </p:spPr>
        <p:txBody>
          <a:bodyPr wrap="square" rtlCol="0">
            <a:spAutoFit/>
          </a:bodyPr>
          <a:lstStyle/>
          <a:p>
            <a:pPr algn="ctr"/>
            <a:r>
              <a:rPr lang="en-US" sz="100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Data Subnet</a:t>
            </a:r>
          </a:p>
        </p:txBody>
      </p:sp>
      <p:pic>
        <p:nvPicPr>
          <p:cNvPr id="234" name="Picture 233">
            <a:extLst>
              <a:ext uri="{FF2B5EF4-FFF2-40B4-BE49-F238E27FC236}">
                <a16:creationId xmlns:a16="http://schemas.microsoft.com/office/drawing/2014/main" xmlns="" id="{9A91D431-1A5E-574C-A3D3-62AA0FE60E7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82612" y="1233880"/>
            <a:ext cx="399410" cy="399410"/>
          </a:xfrm>
          <a:prstGeom prst="rect">
            <a:avLst/>
          </a:prstGeom>
        </p:spPr>
      </p:pic>
      <p:pic>
        <p:nvPicPr>
          <p:cNvPr id="206" name="Picture 205">
            <a:extLst>
              <a:ext uri="{FF2B5EF4-FFF2-40B4-BE49-F238E27FC236}">
                <a16:creationId xmlns:a16="http://schemas.microsoft.com/office/drawing/2014/main" xmlns="" id="{88ACCD8C-34D6-7A48-BA70-1E4768667959}"/>
              </a:ext>
            </a:extLst>
          </p:cNvPr>
          <p:cNvPicPr>
            <a:picLocks noChangeAspect="1"/>
          </p:cNvPicPr>
          <p:nvPr/>
        </p:nvPicPr>
        <p:blipFill>
          <a:blip r:embed="rId11">
            <a:lum bright="70000" contrast="-70000"/>
            <a:extLst>
              <a:ext uri="{28A0092B-C50C-407E-A947-70E740481C1C}">
                <a14:useLocalDpi xmlns:a14="http://schemas.microsoft.com/office/drawing/2010/main" val="0"/>
              </a:ext>
            </a:extLst>
          </a:blip>
          <a:stretch>
            <a:fillRect/>
          </a:stretch>
        </p:blipFill>
        <p:spPr>
          <a:xfrm>
            <a:off x="2301561" y="1244469"/>
            <a:ext cx="599170" cy="391125"/>
          </a:xfrm>
          <a:prstGeom prst="rect">
            <a:avLst/>
          </a:prstGeom>
        </p:spPr>
      </p:pic>
      <p:sp>
        <p:nvSpPr>
          <p:cNvPr id="235" name="Rounded Rectangle 234">
            <a:extLst>
              <a:ext uri="{FF2B5EF4-FFF2-40B4-BE49-F238E27FC236}">
                <a16:creationId xmlns:a16="http://schemas.microsoft.com/office/drawing/2014/main" xmlns="" id="{ABAB2F05-889A-6D41-9ADE-46179AB874EB}"/>
              </a:ext>
            </a:extLst>
          </p:cNvPr>
          <p:cNvSpPr/>
          <p:nvPr/>
        </p:nvSpPr>
        <p:spPr>
          <a:xfrm>
            <a:off x="2777628" y="1636318"/>
            <a:ext cx="8093493" cy="2023239"/>
          </a:xfrm>
          <a:prstGeom prst="roundRect">
            <a:avLst>
              <a:gd name="adj" fmla="val 9818"/>
            </a:avLst>
          </a:prstGeom>
          <a:noFill/>
          <a:ln w="19050">
            <a:solidFill>
              <a:srgbClr val="FDE1BB"/>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sp>
        <p:nvSpPr>
          <p:cNvPr id="237" name="Rounded Rectangle 236">
            <a:extLst>
              <a:ext uri="{FF2B5EF4-FFF2-40B4-BE49-F238E27FC236}">
                <a16:creationId xmlns:a16="http://schemas.microsoft.com/office/drawing/2014/main" xmlns="" id="{35474BD4-2254-544A-8594-2EA95C27B9CE}"/>
              </a:ext>
            </a:extLst>
          </p:cNvPr>
          <p:cNvSpPr/>
          <p:nvPr/>
        </p:nvSpPr>
        <p:spPr>
          <a:xfrm>
            <a:off x="2777628" y="4602311"/>
            <a:ext cx="8093493" cy="2023239"/>
          </a:xfrm>
          <a:prstGeom prst="roundRect">
            <a:avLst>
              <a:gd name="adj" fmla="val 9818"/>
            </a:avLst>
          </a:prstGeom>
          <a:noFill/>
          <a:ln w="19050">
            <a:solidFill>
              <a:srgbClr val="FDE1BB"/>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Helvetica Neue"/>
              <a:cs typeface="Helvetica Neue"/>
            </a:endParaRPr>
          </a:p>
        </p:txBody>
      </p:sp>
      <p:sp>
        <p:nvSpPr>
          <p:cNvPr id="238" name="TextBox 237">
            <a:extLst>
              <a:ext uri="{FF2B5EF4-FFF2-40B4-BE49-F238E27FC236}">
                <a16:creationId xmlns:a16="http://schemas.microsoft.com/office/drawing/2014/main" xmlns="" id="{6F09F501-7DB3-6A4E-8DF8-173CBD964307}"/>
              </a:ext>
            </a:extLst>
          </p:cNvPr>
          <p:cNvSpPr txBox="1"/>
          <p:nvPr/>
        </p:nvSpPr>
        <p:spPr>
          <a:xfrm rot="5400000">
            <a:off x="10378007" y="5465351"/>
            <a:ext cx="1354850" cy="276999"/>
          </a:xfrm>
          <a:prstGeom prst="rect">
            <a:avLst/>
          </a:prstGeom>
          <a:solidFill>
            <a:schemeClr val="bg1"/>
          </a:solidFill>
        </p:spPr>
        <p:txBody>
          <a:bodyPr wrap="square" rtlCol="0">
            <a:spAutoFit/>
          </a:bodyPr>
          <a:lstStyle/>
          <a:p>
            <a:pPr algn="ctr"/>
            <a:r>
              <a:rPr lang="en-US" sz="1200">
                <a:solidFill>
                  <a:srgbClr val="F6C09C"/>
                </a:solidFill>
                <a:latin typeface="Amazon Ember Light" panose="020B0403020204020204" pitchFamily="34" charset="0"/>
                <a:ea typeface="Amazon Ember Light" panose="020B0403020204020204" pitchFamily="34" charset="0"/>
                <a:cs typeface="Amazon Ember Light" panose="020B0403020204020204" pitchFamily="34" charset="0"/>
              </a:rPr>
              <a:t>Availability Zone</a:t>
            </a:r>
          </a:p>
        </p:txBody>
      </p:sp>
      <p:sp>
        <p:nvSpPr>
          <p:cNvPr id="239" name="TextBox 238">
            <a:extLst>
              <a:ext uri="{FF2B5EF4-FFF2-40B4-BE49-F238E27FC236}">
                <a16:creationId xmlns:a16="http://schemas.microsoft.com/office/drawing/2014/main" xmlns="" id="{C0B7B032-FCDF-8C46-857F-FA9EDDCE37AB}"/>
              </a:ext>
            </a:extLst>
          </p:cNvPr>
          <p:cNvSpPr txBox="1"/>
          <p:nvPr/>
        </p:nvSpPr>
        <p:spPr>
          <a:xfrm rot="5400000">
            <a:off x="10378007" y="2433024"/>
            <a:ext cx="1354850" cy="276999"/>
          </a:xfrm>
          <a:prstGeom prst="rect">
            <a:avLst/>
          </a:prstGeom>
          <a:solidFill>
            <a:schemeClr val="bg1"/>
          </a:solidFill>
        </p:spPr>
        <p:txBody>
          <a:bodyPr wrap="square" rtlCol="0">
            <a:spAutoFit/>
          </a:bodyPr>
          <a:lstStyle/>
          <a:p>
            <a:pPr algn="ctr"/>
            <a:r>
              <a:rPr lang="en-US" sz="1200">
                <a:solidFill>
                  <a:srgbClr val="F6C09C"/>
                </a:solidFill>
                <a:latin typeface="Amazon Ember Light" panose="020B0403020204020204" pitchFamily="34" charset="0"/>
                <a:ea typeface="Amazon Ember Light" panose="020B0403020204020204" pitchFamily="34" charset="0"/>
                <a:cs typeface="Amazon Ember Light" panose="020B0403020204020204" pitchFamily="34" charset="0"/>
              </a:rPr>
              <a:t>Availability Zone</a:t>
            </a:r>
          </a:p>
        </p:txBody>
      </p:sp>
      <p:sp>
        <p:nvSpPr>
          <p:cNvPr id="213" name="TextBox 212">
            <a:extLst>
              <a:ext uri="{FF2B5EF4-FFF2-40B4-BE49-F238E27FC236}">
                <a16:creationId xmlns:a16="http://schemas.microsoft.com/office/drawing/2014/main" xmlns="" id="{4711E6A8-CC47-264E-9BA1-41707478329F}"/>
              </a:ext>
            </a:extLst>
          </p:cNvPr>
          <p:cNvSpPr txBox="1"/>
          <p:nvPr/>
        </p:nvSpPr>
        <p:spPr>
          <a:xfrm>
            <a:off x="3900775" y="3800217"/>
            <a:ext cx="1132536" cy="461665"/>
          </a:xfrm>
          <a:prstGeom prst="rect">
            <a:avLst/>
          </a:prstGeom>
          <a:solidFill>
            <a:schemeClr val="bg1"/>
          </a:solid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Application Load Balancer</a:t>
            </a:r>
          </a:p>
        </p:txBody>
      </p:sp>
      <p:sp>
        <p:nvSpPr>
          <p:cNvPr id="261" name="TextBox 260">
            <a:extLst>
              <a:ext uri="{FF2B5EF4-FFF2-40B4-BE49-F238E27FC236}">
                <a16:creationId xmlns:a16="http://schemas.microsoft.com/office/drawing/2014/main" xmlns="" id="{F3B4EF36-EA44-F84C-B12B-6461406D86C2}"/>
              </a:ext>
            </a:extLst>
          </p:cNvPr>
          <p:cNvSpPr txBox="1"/>
          <p:nvPr/>
        </p:nvSpPr>
        <p:spPr>
          <a:xfrm>
            <a:off x="6097985" y="3949429"/>
            <a:ext cx="1201052" cy="276999"/>
          </a:xfrm>
          <a:prstGeom prst="rect">
            <a:avLst/>
          </a:prstGeom>
          <a:solidFill>
            <a:schemeClr val="bg1"/>
          </a:solid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Auto Scaling</a:t>
            </a:r>
          </a:p>
        </p:txBody>
      </p:sp>
      <p:pic>
        <p:nvPicPr>
          <p:cNvPr id="89" name="Picture 88">
            <a:extLst>
              <a:ext uri="{FF2B5EF4-FFF2-40B4-BE49-F238E27FC236}">
                <a16:creationId xmlns:a16="http://schemas.microsoft.com/office/drawing/2014/main" xmlns="" id="{2FAC9A5B-A94B-A546-B512-69AD4C7DA05F}"/>
              </a:ext>
            </a:extLst>
          </p:cNvPr>
          <p:cNvPicPr>
            <a:picLocks noChangeAspect="1"/>
          </p:cNvPicPr>
          <p:nvPr/>
        </p:nvPicPr>
        <p:blipFill>
          <a:blip r:embed="rId12">
            <a:lum bright="70000" contrast="-70000"/>
            <a:extLst>
              <a:ext uri="{28A0092B-C50C-407E-A947-70E740481C1C}">
                <a14:useLocalDpi xmlns:a14="http://schemas.microsoft.com/office/drawing/2010/main" val="0"/>
              </a:ext>
            </a:extLst>
          </a:blip>
          <a:stretch>
            <a:fillRect/>
          </a:stretch>
        </p:blipFill>
        <p:spPr>
          <a:xfrm>
            <a:off x="277120" y="2666717"/>
            <a:ext cx="544780" cy="653098"/>
          </a:xfrm>
          <a:prstGeom prst="rect">
            <a:avLst/>
          </a:prstGeom>
        </p:spPr>
      </p:pic>
      <p:sp>
        <p:nvSpPr>
          <p:cNvPr id="90" name="TextBox 89">
            <a:extLst>
              <a:ext uri="{FF2B5EF4-FFF2-40B4-BE49-F238E27FC236}">
                <a16:creationId xmlns:a16="http://schemas.microsoft.com/office/drawing/2014/main" xmlns="" id="{24009059-D79B-AA40-8BDB-75C27780DCFF}"/>
              </a:ext>
            </a:extLst>
          </p:cNvPr>
          <p:cNvSpPr txBox="1"/>
          <p:nvPr/>
        </p:nvSpPr>
        <p:spPr>
          <a:xfrm>
            <a:off x="-112618" y="2232959"/>
            <a:ext cx="1234808" cy="461665"/>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CloudFront</a:t>
            </a:r>
          </a:p>
        </p:txBody>
      </p:sp>
      <p:pic>
        <p:nvPicPr>
          <p:cNvPr id="92" name="Picture 91">
            <a:extLst>
              <a:ext uri="{FF2B5EF4-FFF2-40B4-BE49-F238E27FC236}">
                <a16:creationId xmlns:a16="http://schemas.microsoft.com/office/drawing/2014/main" xmlns="" id="{EE64C927-8D69-C143-9965-8B27EA34B197}"/>
              </a:ext>
            </a:extLst>
          </p:cNvPr>
          <p:cNvPicPr>
            <a:picLocks noChangeAspect="1"/>
          </p:cNvPicPr>
          <p:nvPr/>
        </p:nvPicPr>
        <p:blipFill>
          <a:blip r:embed="rId13">
            <a:lum bright="70000" contrast="-70000"/>
            <a:extLst>
              <a:ext uri="{28A0092B-C50C-407E-A947-70E740481C1C}">
                <a14:useLocalDpi xmlns:a14="http://schemas.microsoft.com/office/drawing/2010/main" val="0"/>
              </a:ext>
            </a:extLst>
          </a:blip>
          <a:stretch>
            <a:fillRect/>
          </a:stretch>
        </p:blipFill>
        <p:spPr>
          <a:xfrm>
            <a:off x="277120" y="3786000"/>
            <a:ext cx="537317" cy="638065"/>
          </a:xfrm>
          <a:prstGeom prst="rect">
            <a:avLst/>
          </a:prstGeom>
        </p:spPr>
      </p:pic>
      <p:pic>
        <p:nvPicPr>
          <p:cNvPr id="94" name="Picture 93">
            <a:extLst>
              <a:ext uri="{FF2B5EF4-FFF2-40B4-BE49-F238E27FC236}">
                <a16:creationId xmlns:a16="http://schemas.microsoft.com/office/drawing/2014/main" xmlns="" id="{21AC7EA6-D66D-DA45-B6FF-6EF6268B2C0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54092" y="5168231"/>
            <a:ext cx="543745" cy="563883"/>
          </a:xfrm>
          <a:prstGeom prst="rect">
            <a:avLst/>
          </a:prstGeom>
        </p:spPr>
      </p:pic>
      <p:sp>
        <p:nvSpPr>
          <p:cNvPr id="95" name="TextBox 94">
            <a:extLst>
              <a:ext uri="{FF2B5EF4-FFF2-40B4-BE49-F238E27FC236}">
                <a16:creationId xmlns:a16="http://schemas.microsoft.com/office/drawing/2014/main" xmlns="" id="{01DBD565-6701-E349-B7C9-824935FA6FFC}"/>
              </a:ext>
            </a:extLst>
          </p:cNvPr>
          <p:cNvSpPr txBox="1"/>
          <p:nvPr/>
        </p:nvSpPr>
        <p:spPr>
          <a:xfrm>
            <a:off x="909448" y="5795254"/>
            <a:ext cx="1234808" cy="523220"/>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Static </a:t>
            </a:r>
            <a:br>
              <a:rPr lang="en-US" sz="1400" dirty="0">
                <a:latin typeface="Amazon Ember" panose="020B0603020204020204" pitchFamily="34" charset="0"/>
                <a:ea typeface="Amazon Ember" panose="020B0603020204020204" pitchFamily="34" charset="0"/>
                <a:cs typeface="Amazon Ember" panose="020B0603020204020204" pitchFamily="34" charset="0"/>
              </a:rPr>
            </a:br>
            <a:r>
              <a:rPr lang="en-US" sz="1400" dirty="0" smtClean="0">
                <a:latin typeface="Amazon Ember" panose="020B0603020204020204" pitchFamily="34" charset="0"/>
                <a:ea typeface="Amazon Ember" panose="020B0603020204020204" pitchFamily="34" charset="0"/>
                <a:cs typeface="Amazon Ember" panose="020B0603020204020204" pitchFamily="34" charset="0"/>
              </a:rPr>
              <a:t>Assets</a:t>
            </a:r>
            <a:endParaRPr lang="en-US" sz="14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03" name="Picture 10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772858" y="5269734"/>
            <a:ext cx="503781" cy="455028"/>
          </a:xfrm>
          <a:prstGeom prst="rect">
            <a:avLst/>
          </a:prstGeom>
        </p:spPr>
      </p:pic>
      <p:cxnSp>
        <p:nvCxnSpPr>
          <p:cNvPr id="104" name="Elbow Connector 103">
            <a:extLst>
              <a:ext uri="{FF2B5EF4-FFF2-40B4-BE49-F238E27FC236}">
                <a16:creationId xmlns:a16="http://schemas.microsoft.com/office/drawing/2014/main" xmlns="" id="{084F7952-5B9E-0E48-83F3-7003F88E4127}"/>
              </a:ext>
            </a:extLst>
          </p:cNvPr>
          <p:cNvCxnSpPr>
            <a:cxnSpLocks/>
            <a:stCxn id="105" idx="0"/>
          </p:cNvCxnSpPr>
          <p:nvPr/>
        </p:nvCxnSpPr>
        <p:spPr>
          <a:xfrm rot="5400000" flipH="1" flipV="1">
            <a:off x="617380" y="5308827"/>
            <a:ext cx="495366" cy="778058"/>
          </a:xfrm>
          <a:prstGeom prst="bentConnector2">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5" name="Picture 104">
            <a:extLst>
              <a:ext uri="{FF2B5EF4-FFF2-40B4-BE49-F238E27FC236}">
                <a16:creationId xmlns:a16="http://schemas.microsoft.com/office/drawing/2014/main" xmlns="" id="{5B0B2400-5C47-0549-ADDC-EEB2D6BCA3D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58824" y="5945539"/>
            <a:ext cx="634419" cy="613272"/>
          </a:xfrm>
          <a:prstGeom prst="rect">
            <a:avLst/>
          </a:prstGeom>
        </p:spPr>
      </p:pic>
      <p:cxnSp>
        <p:nvCxnSpPr>
          <p:cNvPr id="106" name="Elbow Connector 105">
            <a:extLst>
              <a:ext uri="{FF2B5EF4-FFF2-40B4-BE49-F238E27FC236}">
                <a16:creationId xmlns:a16="http://schemas.microsoft.com/office/drawing/2014/main" xmlns="" id="{3A641206-9121-E540-A024-FED7F767BF1F}"/>
              </a:ext>
            </a:extLst>
          </p:cNvPr>
          <p:cNvCxnSpPr>
            <a:endCxn id="105" idx="0"/>
          </p:cNvCxnSpPr>
          <p:nvPr/>
        </p:nvCxnSpPr>
        <p:spPr>
          <a:xfrm rot="16200000" flipH="1" flipV="1">
            <a:off x="2707413" y="2954892"/>
            <a:ext cx="759268" cy="5222025"/>
          </a:xfrm>
          <a:prstGeom prst="bentConnector3">
            <a:avLst>
              <a:gd name="adj1" fmla="val -141728"/>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9" name="Elbow Connector 108">
            <a:extLst>
              <a:ext uri="{FF2B5EF4-FFF2-40B4-BE49-F238E27FC236}">
                <a16:creationId xmlns:a16="http://schemas.microsoft.com/office/drawing/2014/main" xmlns="" id="{3A641206-9121-E540-A024-FED7F767BF1F}"/>
              </a:ext>
            </a:extLst>
          </p:cNvPr>
          <p:cNvCxnSpPr/>
          <p:nvPr/>
        </p:nvCxnSpPr>
        <p:spPr>
          <a:xfrm rot="16200000" flipV="1">
            <a:off x="7825176" y="3059155"/>
            <a:ext cx="65079" cy="4319311"/>
          </a:xfrm>
          <a:prstGeom prst="bentConnector3">
            <a:avLst>
              <a:gd name="adj1" fmla="val 43348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xmlns="" id="{64C13120-1C04-684F-9D88-7186678FCDBA}"/>
              </a:ext>
            </a:extLst>
          </p:cNvPr>
          <p:cNvSpPr txBox="1"/>
          <p:nvPr/>
        </p:nvSpPr>
        <p:spPr>
          <a:xfrm>
            <a:off x="9544016" y="1734482"/>
            <a:ext cx="934560" cy="646331"/>
          </a:xfrm>
          <a:prstGeom prst="rect">
            <a:avLst/>
          </a:prstGeom>
          <a:noFill/>
        </p:spPr>
        <p:txBody>
          <a:bodyPr wrap="square" rtlCol="0">
            <a:spAutoFit/>
          </a:bodyPr>
          <a:lstStyle/>
          <a:p>
            <a:pPr algn="ctr"/>
            <a:r>
              <a:rPr lang="en-US"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EFS Mount Target</a:t>
            </a:r>
          </a:p>
        </p:txBody>
      </p:sp>
      <p:pic>
        <p:nvPicPr>
          <p:cNvPr id="111" name="Picture 110"/>
          <p:cNvPicPr>
            <a:picLocks noChangeAspect="1"/>
          </p:cNvPicPr>
          <p:nvPr/>
        </p:nvPicPr>
        <p:blipFill>
          <a:blip r:embed="rId15">
            <a:lum bright="70000" contrast="-70000"/>
            <a:extLst>
              <a:ext uri="{28A0092B-C50C-407E-A947-70E740481C1C}">
                <a14:useLocalDpi xmlns:a14="http://schemas.microsoft.com/office/drawing/2010/main" val="0"/>
              </a:ext>
            </a:extLst>
          </a:blip>
          <a:stretch>
            <a:fillRect/>
          </a:stretch>
        </p:blipFill>
        <p:spPr>
          <a:xfrm>
            <a:off x="9772858" y="2415674"/>
            <a:ext cx="503781" cy="455028"/>
          </a:xfrm>
          <a:prstGeom prst="rect">
            <a:avLst/>
          </a:prstGeom>
        </p:spPr>
      </p:pic>
      <p:cxnSp>
        <p:nvCxnSpPr>
          <p:cNvPr id="113" name="Elbow Connector 112">
            <a:extLst>
              <a:ext uri="{FF2B5EF4-FFF2-40B4-BE49-F238E27FC236}">
                <a16:creationId xmlns:a16="http://schemas.microsoft.com/office/drawing/2014/main" xmlns="" id="{51292986-E163-9A4E-833A-63E93CB74151}"/>
              </a:ext>
            </a:extLst>
          </p:cNvPr>
          <p:cNvCxnSpPr>
            <a:cxnSpLocks/>
            <a:stCxn id="115" idx="1"/>
          </p:cNvCxnSpPr>
          <p:nvPr/>
        </p:nvCxnSpPr>
        <p:spPr>
          <a:xfrm rot="10800000" flipV="1">
            <a:off x="10269260" y="3886334"/>
            <a:ext cx="919192" cy="1592529"/>
          </a:xfrm>
          <a:prstGeom prst="bentConnector3">
            <a:avLst>
              <a:gd name="adj1" fmla="val 48741"/>
            </a:avLst>
          </a:prstGeom>
          <a:ln w="254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5" name="Picture 114">
            <a:extLst>
              <a:ext uri="{FF2B5EF4-FFF2-40B4-BE49-F238E27FC236}">
                <a16:creationId xmlns:a16="http://schemas.microsoft.com/office/drawing/2014/main" xmlns="" id="{C2B8F773-09B7-4442-8A1A-A5A3246572D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188452" y="3560360"/>
            <a:ext cx="543292" cy="651950"/>
          </a:xfrm>
          <a:prstGeom prst="rect">
            <a:avLst/>
          </a:prstGeom>
        </p:spPr>
      </p:pic>
      <p:sp>
        <p:nvSpPr>
          <p:cNvPr id="116" name="TextBox 115">
            <a:extLst>
              <a:ext uri="{FF2B5EF4-FFF2-40B4-BE49-F238E27FC236}">
                <a16:creationId xmlns:a16="http://schemas.microsoft.com/office/drawing/2014/main" xmlns="" id="{4A896416-5751-1A48-B2EB-3FA32BBE76B4}"/>
              </a:ext>
            </a:extLst>
          </p:cNvPr>
          <p:cNvSpPr txBox="1"/>
          <p:nvPr/>
        </p:nvSpPr>
        <p:spPr>
          <a:xfrm>
            <a:off x="11005365" y="4275978"/>
            <a:ext cx="911533" cy="523220"/>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Amazon</a:t>
            </a:r>
            <a:r>
              <a:rPr lang="en-US" sz="1400" dirty="0">
                <a:solidFill>
                  <a:srgbClr val="C5C5C5"/>
                </a:solidFill>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panose="020B0603020204020204" pitchFamily="34" charset="0"/>
                <a:ea typeface="Amazon Ember" panose="020B0603020204020204" pitchFamily="34" charset="0"/>
                <a:cs typeface="Amazon Ember" panose="020B0603020204020204" pitchFamily="34" charset="0"/>
              </a:rPr>
              <a:t>EFS</a:t>
            </a:r>
          </a:p>
        </p:txBody>
      </p:sp>
      <p:sp>
        <p:nvSpPr>
          <p:cNvPr id="117" name="TextBox 116">
            <a:extLst>
              <a:ext uri="{FF2B5EF4-FFF2-40B4-BE49-F238E27FC236}">
                <a16:creationId xmlns:a16="http://schemas.microsoft.com/office/drawing/2014/main" xmlns="" id="{4EB8C904-9C4F-0348-B5C8-3C3688B65D5C}"/>
              </a:ext>
            </a:extLst>
          </p:cNvPr>
          <p:cNvSpPr txBox="1"/>
          <p:nvPr/>
        </p:nvSpPr>
        <p:spPr>
          <a:xfrm>
            <a:off x="9486268" y="5760921"/>
            <a:ext cx="1075473" cy="738664"/>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Amazon EFS </a:t>
            </a:r>
            <a:r>
              <a:rPr lang="en-US" sz="1400" dirty="0" smtClean="0">
                <a:latin typeface="Amazon Ember" panose="020B0603020204020204" pitchFamily="34" charset="0"/>
                <a:ea typeface="Amazon Ember" panose="020B0603020204020204" pitchFamily="34" charset="0"/>
                <a:cs typeface="Amazon Ember" panose="020B0603020204020204" pitchFamily="34" charset="0"/>
              </a:rPr>
              <a:t>Mount Target</a:t>
            </a:r>
            <a:endParaRPr lang="en-US" sz="1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8" name="TextBox 117">
            <a:extLst>
              <a:ext uri="{FF2B5EF4-FFF2-40B4-BE49-F238E27FC236}">
                <a16:creationId xmlns:a16="http://schemas.microsoft.com/office/drawing/2014/main" xmlns="" id="{4C44697B-A627-D84E-A05F-5E63130A576B}"/>
              </a:ext>
            </a:extLst>
          </p:cNvPr>
          <p:cNvSpPr txBox="1"/>
          <p:nvPr/>
        </p:nvSpPr>
        <p:spPr>
          <a:xfrm>
            <a:off x="1820925" y="3224972"/>
            <a:ext cx="886849" cy="461665"/>
          </a:xfrm>
          <a:prstGeom prst="rect">
            <a:avLst/>
          </a:prstGeom>
          <a:solidFill>
            <a:schemeClr val="bg1"/>
          </a:solidFill>
        </p:spPr>
        <p:txBody>
          <a:bodyPr wrap="square" rtlCol="0">
            <a:spAutoFit/>
          </a:bodyPr>
          <a:lstStyle>
            <a:defPPr>
              <a:defRPr lang="en-US"/>
            </a:defPPr>
            <a:lvl1pPr algn="ctr">
              <a:defRPr sz="1200">
                <a:solidFill>
                  <a:schemeClr val="bg2">
                    <a:lumMod val="90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Internet Gateway</a:t>
            </a:r>
          </a:p>
        </p:txBody>
      </p:sp>
      <p:sp>
        <p:nvSpPr>
          <p:cNvPr id="70" name="TextBox 69">
            <a:extLst>
              <a:ext uri="{FF2B5EF4-FFF2-40B4-BE49-F238E27FC236}">
                <a16:creationId xmlns:a16="http://schemas.microsoft.com/office/drawing/2014/main" xmlns="" id="{65F86807-C350-1340-A041-C071F56E1EE7}"/>
              </a:ext>
            </a:extLst>
          </p:cNvPr>
          <p:cNvSpPr txBox="1"/>
          <p:nvPr/>
        </p:nvSpPr>
        <p:spPr>
          <a:xfrm>
            <a:off x="1385107" y="1252483"/>
            <a:ext cx="849602" cy="338554"/>
          </a:xfrm>
          <a:prstGeom prst="rect">
            <a:avLst/>
          </a:prstGeom>
          <a:solidFill>
            <a:schemeClr val="bg1"/>
          </a:solid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Region</a:t>
            </a:r>
          </a:p>
        </p:txBody>
      </p:sp>
      <p:sp>
        <p:nvSpPr>
          <p:cNvPr id="71" name="TextBox 70">
            <a:extLst>
              <a:ext uri="{FF2B5EF4-FFF2-40B4-BE49-F238E27FC236}">
                <a16:creationId xmlns:a16="http://schemas.microsoft.com/office/drawing/2014/main" xmlns="" id="{DCFAB2B6-8432-0F49-992D-3EE74F8E993F}"/>
              </a:ext>
            </a:extLst>
          </p:cNvPr>
          <p:cNvSpPr txBox="1"/>
          <p:nvPr/>
        </p:nvSpPr>
        <p:spPr>
          <a:xfrm>
            <a:off x="8460615" y="5870732"/>
            <a:ext cx="1089890" cy="461665"/>
          </a:xfrm>
          <a:prstGeom prst="rect">
            <a:avLst/>
          </a:prstGeom>
          <a:noFill/>
        </p:spPr>
        <p:txBody>
          <a:bodyPr wrap="square" rtlCol="0">
            <a:spAutoFit/>
          </a:bodyPr>
          <a:lstStyle/>
          <a:p>
            <a:pPr algn="ctr"/>
            <a:r>
              <a:rPr lang="en-US" sz="12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RDS </a:t>
            </a:r>
            <a:r>
              <a:rPr lang="en-US" sz="1200" dirty="0" smtClean="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Primary</a:t>
            </a:r>
            <a:endParaRPr lang="en-US" sz="12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TextBox 71">
            <a:extLst>
              <a:ext uri="{FF2B5EF4-FFF2-40B4-BE49-F238E27FC236}">
                <a16:creationId xmlns:a16="http://schemas.microsoft.com/office/drawing/2014/main" xmlns="" id="{495F980D-B9DC-3940-9521-35612544E286}"/>
              </a:ext>
            </a:extLst>
          </p:cNvPr>
          <p:cNvSpPr txBox="1"/>
          <p:nvPr/>
        </p:nvSpPr>
        <p:spPr>
          <a:xfrm>
            <a:off x="8354338" y="1758997"/>
            <a:ext cx="1239990" cy="646331"/>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RDS </a:t>
            </a:r>
            <a:r>
              <a:rPr lang="en-US" sz="1200" dirty="0" smtClean="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Standby Replica</a:t>
            </a:r>
            <a:endPar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3" name="Picture 72"/>
          <p:cNvPicPr>
            <a:picLocks noChangeAspect="1"/>
          </p:cNvPicPr>
          <p:nvPr/>
        </p:nvPicPr>
        <p:blipFill>
          <a:blip r:embed="rId18">
            <a:lum bright="70000" contrast="-70000"/>
            <a:extLst>
              <a:ext uri="{28A0092B-C50C-407E-A947-70E740481C1C}">
                <a14:useLocalDpi xmlns:a14="http://schemas.microsoft.com/office/drawing/2010/main" val="0"/>
              </a:ext>
            </a:extLst>
          </a:blip>
          <a:stretch>
            <a:fillRect/>
          </a:stretch>
        </p:blipFill>
        <p:spPr>
          <a:xfrm>
            <a:off x="8778240" y="2386584"/>
            <a:ext cx="457200" cy="602672"/>
          </a:xfrm>
          <a:prstGeom prst="rect">
            <a:avLst/>
          </a:prstGeom>
        </p:spPr>
      </p:pic>
      <p:pic>
        <p:nvPicPr>
          <p:cNvPr id="74" name="Picture 73"/>
          <p:cNvPicPr>
            <a:picLocks noChangeAspect="1"/>
          </p:cNvPicPr>
          <p:nvPr/>
        </p:nvPicPr>
        <p:blipFill>
          <a:blip r:embed="rId18">
            <a:lum bright="70000" contrast="-70000"/>
            <a:extLst>
              <a:ext uri="{28A0092B-C50C-407E-A947-70E740481C1C}">
                <a14:useLocalDpi xmlns:a14="http://schemas.microsoft.com/office/drawing/2010/main" val="0"/>
              </a:ext>
            </a:extLst>
          </a:blip>
          <a:stretch>
            <a:fillRect/>
          </a:stretch>
        </p:blipFill>
        <p:spPr>
          <a:xfrm>
            <a:off x="8778240" y="5166360"/>
            <a:ext cx="457200" cy="602672"/>
          </a:xfrm>
          <a:prstGeom prst="rect">
            <a:avLst/>
          </a:prstGeom>
        </p:spPr>
      </p:pic>
    </p:spTree>
    <p:extLst>
      <p:ext uri="{BB962C8B-B14F-4D97-AF65-F5344CB8AC3E}">
        <p14:creationId xmlns:p14="http://schemas.microsoft.com/office/powerpoint/2010/main" val="29329505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Module 3</a:t>
            </a:r>
          </a:p>
        </p:txBody>
      </p:sp>
      <p:sp>
        <p:nvSpPr>
          <p:cNvPr id="3" name="Content Placeholder 2">
            <a:extLst>
              <a:ext uri="{FF2B5EF4-FFF2-40B4-BE49-F238E27FC236}">
                <a16:creationId xmlns:a16="http://schemas.microsoft.com/office/drawing/2014/main" xmlns="" id="{4125A2CB-555F-8149-A98E-EC7B83CC0412}"/>
              </a:ext>
            </a:extLst>
          </p:cNvPr>
          <p:cNvSpPr>
            <a:spLocks noGrp="1" noChangeAspect="1"/>
          </p:cNvSpPr>
          <p:nvPr>
            <p:ph idx="1"/>
          </p:nvPr>
        </p:nvSpPr>
        <p:spPr>
          <a:xfrm>
            <a:off x="637279" y="2322397"/>
            <a:ext cx="10975840" cy="1125416"/>
          </a:xfrm>
        </p:spPr>
        <p:txBody>
          <a:bodyPr anchor="ctr" anchorCtr="0">
            <a:normAutofit/>
          </a:bodyPr>
          <a:lstStyle/>
          <a:p>
            <a:pPr marL="0" indent="0">
              <a:buNone/>
            </a:pPr>
            <a:r>
              <a:rPr lang="en-US" sz="2400"/>
              <a:t>You need to run applications that are going to be used by a consistent, but small number of users.</a:t>
            </a:r>
          </a:p>
        </p:txBody>
      </p:sp>
      <p:sp>
        <p:nvSpPr>
          <p:cNvPr id="5" name="Rectangle 4">
            <a:extLst>
              <a:ext uri="{FF2B5EF4-FFF2-40B4-BE49-F238E27FC236}">
                <a16:creationId xmlns:a16="http://schemas.microsoft.com/office/drawing/2014/main" xmlns="" id="{81DEC70D-8A08-3640-BE12-11E9E6A5CB07}"/>
              </a:ext>
            </a:extLst>
          </p:cNvPr>
          <p:cNvSpPr/>
          <p:nvPr/>
        </p:nvSpPr>
        <p:spPr>
          <a:xfrm>
            <a:off x="418991" y="2322397"/>
            <a:ext cx="11412416" cy="1125415"/>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xmlns="" id="{345952D5-B215-5243-9570-2C52E40FF5F2}"/>
              </a:ext>
            </a:extLst>
          </p:cNvPr>
          <p:cNvSpPr/>
          <p:nvPr/>
        </p:nvSpPr>
        <p:spPr>
          <a:xfrm>
            <a:off x="637279" y="4727215"/>
            <a:ext cx="8767834" cy="1323439"/>
          </a:xfrm>
          <a:prstGeom prst="rect">
            <a:avLst/>
          </a:prstGeom>
        </p:spPr>
        <p:txBody>
          <a:bodyPr wrap="square">
            <a:spAutoFit/>
          </a:bodyPr>
          <a:lstStyle/>
          <a:p>
            <a:pPr marL="799596" lvl="1" indent="-342900">
              <a:buFont typeface="Arial" panose="020B0604020202020204" pitchFamily="34" charset="0"/>
              <a:buChar char="•"/>
            </a:pPr>
            <a:r>
              <a:rPr lang="en-US" sz="20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Amazon Elastic Compute Cloud (Amazon EC2)</a:t>
            </a:r>
          </a:p>
          <a:p>
            <a:pPr marL="799596" lvl="1" indent="-342900">
              <a:buFont typeface="Arial" panose="020B0604020202020204" pitchFamily="34" charset="0"/>
              <a:buChar char="•"/>
            </a:pPr>
            <a:r>
              <a:rPr lang="en-US" sz="20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Instance types and families</a:t>
            </a:r>
          </a:p>
          <a:p>
            <a:pPr marL="799596" lvl="1" indent="-342900">
              <a:buFont typeface="Arial" panose="020B0604020202020204" pitchFamily="34" charset="0"/>
              <a:buChar char="•"/>
            </a:pPr>
            <a:r>
              <a:rPr lang="sv-SE" sz="20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Amazon Elastic Block Store (Amazon EBS) </a:t>
            </a:r>
            <a:r>
              <a:rPr lang="en-US" sz="20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volumes</a:t>
            </a:r>
          </a:p>
          <a:p>
            <a:pPr marL="799596" lvl="1" indent="-342900">
              <a:buFont typeface="Arial" panose="020B0604020202020204" pitchFamily="34" charset="0"/>
              <a:buChar char="•"/>
            </a:pPr>
            <a:r>
              <a:rPr lang="en-US" sz="20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Compliance options</a:t>
            </a:r>
          </a:p>
        </p:txBody>
      </p:sp>
      <p:sp>
        <p:nvSpPr>
          <p:cNvPr id="9" name="TextBox 8">
            <a:extLst>
              <a:ext uri="{FF2B5EF4-FFF2-40B4-BE49-F238E27FC236}">
                <a16:creationId xmlns:a16="http://schemas.microsoft.com/office/drawing/2014/main" xmlns="" id="{293FCA96-1F65-7E46-83B0-70D1DE35E58F}"/>
              </a:ext>
            </a:extLst>
          </p:cNvPr>
          <p:cNvSpPr txBox="1"/>
          <p:nvPr/>
        </p:nvSpPr>
        <p:spPr>
          <a:xfrm>
            <a:off x="637279" y="1703601"/>
            <a:ext cx="6301371" cy="461665"/>
          </a:xfrm>
          <a:prstGeom prst="rect">
            <a:avLst/>
          </a:prstGeom>
          <a:noFill/>
        </p:spPr>
        <p:txBody>
          <a:bodyPr wrap="square" rtlCol="0">
            <a:spAutoFit/>
          </a:bodyPr>
          <a:lstStyle/>
          <a:p>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The architectural need</a:t>
            </a:r>
          </a:p>
        </p:txBody>
      </p:sp>
      <p:sp>
        <p:nvSpPr>
          <p:cNvPr id="10" name="Rectangle 9">
            <a:extLst>
              <a:ext uri="{FF2B5EF4-FFF2-40B4-BE49-F238E27FC236}">
                <a16:creationId xmlns:a16="http://schemas.microsoft.com/office/drawing/2014/main" xmlns="" id="{0E3335A6-F866-B44A-A394-404C1DDE13E6}"/>
              </a:ext>
            </a:extLst>
          </p:cNvPr>
          <p:cNvSpPr/>
          <p:nvPr/>
        </p:nvSpPr>
        <p:spPr>
          <a:xfrm>
            <a:off x="637279" y="4100592"/>
            <a:ext cx="2299027" cy="400110"/>
          </a:xfrm>
          <a:prstGeom prst="rect">
            <a:avLst/>
          </a:prstGeom>
        </p:spPr>
        <p:txBody>
          <a:bodyPr wrap="none">
            <a:spAutoFit/>
          </a:bodyPr>
          <a:lstStyle/>
          <a:p>
            <a:r>
              <a:rPr lang="en-US" sz="20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Module Overview</a:t>
            </a:r>
          </a:p>
        </p:txBody>
      </p:sp>
    </p:spTree>
    <p:extLst>
      <p:ext uri="{BB962C8B-B14F-4D97-AF65-F5344CB8AC3E}">
        <p14:creationId xmlns:p14="http://schemas.microsoft.com/office/powerpoint/2010/main" val="32070050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a:t>Adding Compute with Amazon EC2</a:t>
            </a:r>
          </a:p>
        </p:txBody>
      </p:sp>
    </p:spTree>
    <p:extLst>
      <p:ext uri="{BB962C8B-B14F-4D97-AF65-F5344CB8AC3E}">
        <p14:creationId xmlns:p14="http://schemas.microsoft.com/office/powerpoint/2010/main" val="190812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xmlns="" id="{0423496D-F121-604A-88B1-3E6829867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6143" y="2776285"/>
            <a:ext cx="1196081" cy="1435298"/>
          </a:xfrm>
          <a:prstGeom prst="rect">
            <a:avLst/>
          </a:prstGeom>
        </p:spPr>
      </p:pic>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fontScale="90000"/>
          </a:bodyPr>
          <a:lstStyle/>
          <a:p>
            <a:r>
              <a:rPr lang="en-US"/>
              <a:t>What Needs Can Amazon EC2 Address?</a:t>
            </a:r>
          </a:p>
        </p:txBody>
      </p:sp>
      <p:pic>
        <p:nvPicPr>
          <p:cNvPr id="24" name="Picture 23">
            <a:extLst>
              <a:ext uri="{FF2B5EF4-FFF2-40B4-BE49-F238E27FC236}">
                <a16:creationId xmlns:a16="http://schemas.microsoft.com/office/drawing/2014/main" xmlns="" id="{82561315-D78D-C848-A6C3-67BB255A2BC7}"/>
              </a:ext>
            </a:extLst>
          </p:cNvPr>
          <p:cNvPicPr>
            <a:picLocks noChangeAspect="1"/>
          </p:cNvPicPr>
          <p:nvPr/>
        </p:nvPicPr>
        <p:blipFill>
          <a:blip r:embed="rId4"/>
          <a:stretch>
            <a:fillRect/>
          </a:stretch>
        </p:blipFill>
        <p:spPr>
          <a:xfrm>
            <a:off x="4421409" y="1489929"/>
            <a:ext cx="1224236" cy="1224234"/>
          </a:xfrm>
          <a:prstGeom prst="rect">
            <a:avLst/>
          </a:prstGeom>
        </p:spPr>
      </p:pic>
      <p:pic>
        <p:nvPicPr>
          <p:cNvPr id="26" name="Picture 25">
            <a:extLst>
              <a:ext uri="{FF2B5EF4-FFF2-40B4-BE49-F238E27FC236}">
                <a16:creationId xmlns:a16="http://schemas.microsoft.com/office/drawing/2014/main" xmlns="" id="{33DFEA0C-321A-BB48-929A-C22C656481AD}"/>
              </a:ext>
            </a:extLst>
          </p:cNvPr>
          <p:cNvPicPr>
            <a:picLocks noChangeAspect="1"/>
          </p:cNvPicPr>
          <p:nvPr/>
        </p:nvPicPr>
        <p:blipFill>
          <a:blip r:embed="rId5"/>
          <a:stretch>
            <a:fillRect/>
          </a:stretch>
        </p:blipFill>
        <p:spPr>
          <a:xfrm>
            <a:off x="4543465" y="2821474"/>
            <a:ext cx="980124" cy="980122"/>
          </a:xfrm>
          <a:prstGeom prst="rect">
            <a:avLst/>
          </a:prstGeom>
        </p:spPr>
      </p:pic>
      <p:pic>
        <p:nvPicPr>
          <p:cNvPr id="28" name="Picture 27">
            <a:extLst>
              <a:ext uri="{FF2B5EF4-FFF2-40B4-BE49-F238E27FC236}">
                <a16:creationId xmlns:a16="http://schemas.microsoft.com/office/drawing/2014/main" xmlns="" id="{688E3596-0177-814A-861B-081B9560D065}"/>
              </a:ext>
            </a:extLst>
          </p:cNvPr>
          <p:cNvPicPr>
            <a:picLocks noChangeAspect="1"/>
          </p:cNvPicPr>
          <p:nvPr/>
        </p:nvPicPr>
        <p:blipFill>
          <a:blip r:embed="rId6"/>
          <a:stretch>
            <a:fillRect/>
          </a:stretch>
        </p:blipFill>
        <p:spPr>
          <a:xfrm>
            <a:off x="4521793" y="5132046"/>
            <a:ext cx="1023466" cy="1023466"/>
          </a:xfrm>
          <a:prstGeom prst="rect">
            <a:avLst/>
          </a:prstGeom>
        </p:spPr>
      </p:pic>
      <p:sp>
        <p:nvSpPr>
          <p:cNvPr id="29" name="Rectangle 28">
            <a:extLst>
              <a:ext uri="{FF2B5EF4-FFF2-40B4-BE49-F238E27FC236}">
                <a16:creationId xmlns:a16="http://schemas.microsoft.com/office/drawing/2014/main" xmlns="" id="{01CC07DD-0E33-6E4E-839C-5B790F2421A9}"/>
              </a:ext>
            </a:extLst>
          </p:cNvPr>
          <p:cNvSpPr/>
          <p:nvPr/>
        </p:nvSpPr>
        <p:spPr>
          <a:xfrm>
            <a:off x="6176039" y="1871212"/>
            <a:ext cx="2405787" cy="461665"/>
          </a:xfrm>
          <a:prstGeom prst="rect">
            <a:avLst/>
          </a:prstGeom>
        </p:spPr>
        <p:txBody>
          <a:bodyPr wrap="none">
            <a:spAutoFit/>
          </a:bodyPr>
          <a:lstStyle/>
          <a:p>
            <a:pPr lvl="1">
              <a:buClr>
                <a:schemeClr val="accent2"/>
              </a:buClr>
            </a:pP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Web hosting</a:t>
            </a:r>
          </a:p>
        </p:txBody>
      </p:sp>
      <p:sp>
        <p:nvSpPr>
          <p:cNvPr id="30" name="Rectangle 29">
            <a:extLst>
              <a:ext uri="{FF2B5EF4-FFF2-40B4-BE49-F238E27FC236}">
                <a16:creationId xmlns:a16="http://schemas.microsoft.com/office/drawing/2014/main" xmlns="" id="{8DBDB391-42FF-C74D-8475-81AEFEB920C3}"/>
              </a:ext>
            </a:extLst>
          </p:cNvPr>
          <p:cNvSpPr/>
          <p:nvPr/>
        </p:nvSpPr>
        <p:spPr>
          <a:xfrm>
            <a:off x="6176039" y="3010227"/>
            <a:ext cx="2073966" cy="461665"/>
          </a:xfrm>
          <a:prstGeom prst="rect">
            <a:avLst/>
          </a:prstGeom>
        </p:spPr>
        <p:txBody>
          <a:bodyPr wrap="none">
            <a:spAutoFit/>
          </a:bodyPr>
          <a:lstStyle/>
          <a:p>
            <a:pPr lvl="1">
              <a:buClr>
                <a:schemeClr val="accent2"/>
              </a:buClr>
            </a:pP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Databases</a:t>
            </a:r>
          </a:p>
        </p:txBody>
      </p:sp>
      <p:sp>
        <p:nvSpPr>
          <p:cNvPr id="31" name="Rectangle 30">
            <a:extLst>
              <a:ext uri="{FF2B5EF4-FFF2-40B4-BE49-F238E27FC236}">
                <a16:creationId xmlns:a16="http://schemas.microsoft.com/office/drawing/2014/main" xmlns="" id="{11BF17B8-FA56-5E43-9B4C-F8B4CDB413E6}"/>
              </a:ext>
            </a:extLst>
          </p:cNvPr>
          <p:cNvSpPr/>
          <p:nvPr/>
        </p:nvSpPr>
        <p:spPr>
          <a:xfrm>
            <a:off x="6176039" y="4202216"/>
            <a:ext cx="2828980" cy="461665"/>
          </a:xfrm>
          <a:prstGeom prst="rect">
            <a:avLst/>
          </a:prstGeom>
        </p:spPr>
        <p:txBody>
          <a:bodyPr wrap="none">
            <a:spAutoFit/>
          </a:bodyPr>
          <a:lstStyle/>
          <a:p>
            <a:pPr lvl="1">
              <a:buClr>
                <a:schemeClr val="accent2"/>
              </a:buClr>
            </a:pP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Authentication</a:t>
            </a:r>
          </a:p>
        </p:txBody>
      </p:sp>
      <p:sp>
        <p:nvSpPr>
          <p:cNvPr id="32" name="Rectangle 31">
            <a:extLst>
              <a:ext uri="{FF2B5EF4-FFF2-40B4-BE49-F238E27FC236}">
                <a16:creationId xmlns:a16="http://schemas.microsoft.com/office/drawing/2014/main" xmlns="" id="{1358930E-2382-BA49-925C-F1BE495E6CB3}"/>
              </a:ext>
            </a:extLst>
          </p:cNvPr>
          <p:cNvSpPr/>
          <p:nvPr/>
        </p:nvSpPr>
        <p:spPr>
          <a:xfrm>
            <a:off x="6176039" y="5412947"/>
            <a:ext cx="4093749" cy="461665"/>
          </a:xfrm>
          <a:prstGeom prst="rect">
            <a:avLst/>
          </a:prstGeom>
        </p:spPr>
        <p:txBody>
          <a:bodyPr wrap="none">
            <a:spAutoFit/>
          </a:bodyPr>
          <a:lstStyle/>
          <a:p>
            <a:pPr lvl="1">
              <a:buClr>
                <a:schemeClr val="accent2"/>
              </a:buClr>
            </a:pP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Anything a server can do</a:t>
            </a:r>
          </a:p>
        </p:txBody>
      </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70887" y="3899253"/>
            <a:ext cx="1125280" cy="1130664"/>
          </a:xfrm>
          <a:prstGeom prst="rect">
            <a:avLst/>
          </a:prstGeom>
        </p:spPr>
      </p:pic>
      <p:sp>
        <p:nvSpPr>
          <p:cNvPr id="15" name="TextBox 14">
            <a:extLst>
              <a:ext uri="{FF2B5EF4-FFF2-40B4-BE49-F238E27FC236}">
                <a16:creationId xmlns:a16="http://schemas.microsoft.com/office/drawing/2014/main" xmlns="" id="{99A4BF27-93DF-324D-8BF1-E28BC2FC3CDF}"/>
              </a:ext>
            </a:extLst>
          </p:cNvPr>
          <p:cNvSpPr txBox="1"/>
          <p:nvPr/>
        </p:nvSpPr>
        <p:spPr>
          <a:xfrm>
            <a:off x="1207470" y="4331526"/>
            <a:ext cx="1813430" cy="892552"/>
          </a:xfrm>
          <a:prstGeom prst="rect">
            <a:avLst/>
          </a:prstGeom>
          <a:noFill/>
        </p:spPr>
        <p:txBody>
          <a:bodyPr wrap="square" rtlCol="0">
            <a:spAutoFit/>
          </a:bodyPr>
          <a:lstStyle/>
          <a:p>
            <a:pPr algn="ctr"/>
            <a:r>
              <a:rPr lang="en-US" sz="260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16" name="Rectangle 15">
            <a:extLst>
              <a:ext uri="{FF2B5EF4-FFF2-40B4-BE49-F238E27FC236}">
                <a16:creationId xmlns:a16="http://schemas.microsoft.com/office/drawing/2014/main" xmlns="" id="{F2F6A0A9-365C-804B-8E06-018F31980CA7}"/>
              </a:ext>
            </a:extLst>
          </p:cNvPr>
          <p:cNvSpPr/>
          <p:nvPr/>
        </p:nvSpPr>
        <p:spPr>
          <a:xfrm>
            <a:off x="675663" y="1916492"/>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1023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1A154395-A53B-AB47-A9AB-ACD13FD21429}"/>
              </a:ext>
            </a:extLst>
          </p:cNvPr>
          <p:cNvPicPr>
            <a:picLocks noChangeAspect="1"/>
          </p:cNvPicPr>
          <p:nvPr/>
        </p:nvPicPr>
        <p:blipFill>
          <a:blip r:embed="rId3"/>
          <a:stretch>
            <a:fillRect/>
          </a:stretch>
        </p:blipFill>
        <p:spPr>
          <a:xfrm>
            <a:off x="2305799" y="4115815"/>
            <a:ext cx="994048" cy="994048"/>
          </a:xfrm>
          <a:prstGeom prst="rect">
            <a:avLst/>
          </a:prstGeom>
        </p:spPr>
      </p:pic>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fontScale="90000"/>
          </a:bodyPr>
          <a:lstStyle/>
          <a:p>
            <a:r>
              <a:rPr lang="en-US"/>
              <a:t>Virtual Machines vs. Physical Servers</a:t>
            </a:r>
          </a:p>
        </p:txBody>
      </p:sp>
      <p:sp>
        <p:nvSpPr>
          <p:cNvPr id="7" name="Content Placeholder 6">
            <a:extLst>
              <a:ext uri="{FF2B5EF4-FFF2-40B4-BE49-F238E27FC236}">
                <a16:creationId xmlns:a16="http://schemas.microsoft.com/office/drawing/2014/main" xmlns="" id="{5772A13F-4072-F447-91B6-59E6E9EB6073}"/>
              </a:ext>
            </a:extLst>
          </p:cNvPr>
          <p:cNvSpPr>
            <a:spLocks noGrp="1"/>
          </p:cNvSpPr>
          <p:nvPr>
            <p:ph idx="1"/>
          </p:nvPr>
        </p:nvSpPr>
        <p:spPr>
          <a:xfrm>
            <a:off x="2158887" y="1696016"/>
            <a:ext cx="9520145" cy="977137"/>
          </a:xfrm>
        </p:spPr>
        <p:txBody>
          <a:bodyPr/>
          <a:lstStyle/>
          <a:p>
            <a:pPr marL="0" indent="0">
              <a:buNone/>
            </a:pPr>
            <a:r>
              <a:rPr lang="en-US"/>
              <a:t>Amazon EC2 can solve some problems that are more difficult with an on-premises server.</a:t>
            </a:r>
          </a:p>
        </p:txBody>
      </p:sp>
      <p:pic>
        <p:nvPicPr>
          <p:cNvPr id="5" name="Picture 4">
            <a:extLst>
              <a:ext uri="{FF2B5EF4-FFF2-40B4-BE49-F238E27FC236}">
                <a16:creationId xmlns:a16="http://schemas.microsoft.com/office/drawing/2014/main" xmlns="" id="{0C12D62F-207F-D047-8CCC-BD484D294E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943" y="1536502"/>
            <a:ext cx="947209" cy="1136651"/>
          </a:xfrm>
          <a:prstGeom prst="rect">
            <a:avLst/>
          </a:prstGeom>
        </p:spPr>
      </p:pic>
      <p:sp>
        <p:nvSpPr>
          <p:cNvPr id="10" name="TextBox 9">
            <a:extLst>
              <a:ext uri="{FF2B5EF4-FFF2-40B4-BE49-F238E27FC236}">
                <a16:creationId xmlns:a16="http://schemas.microsoft.com/office/drawing/2014/main" xmlns="" id="{E7F79F15-E148-E64D-B5AC-11CB2A3E9AF5}"/>
              </a:ext>
            </a:extLst>
          </p:cNvPr>
          <p:cNvSpPr txBox="1"/>
          <p:nvPr/>
        </p:nvSpPr>
        <p:spPr>
          <a:xfrm>
            <a:off x="2360460" y="3118684"/>
            <a:ext cx="7879512" cy="461665"/>
          </a:xfrm>
          <a:prstGeom prst="rect">
            <a:avLst/>
          </a:prstGeom>
          <a:noFill/>
        </p:spPr>
        <p:txBody>
          <a:bodyPr wrap="square" rtlCol="0">
            <a:spAutoFit/>
          </a:bodyPr>
          <a:lstStyle/>
          <a:p>
            <a:pPr algn="ctr"/>
            <a:r>
              <a:rPr lang="en-US" sz="2400">
                <a:latin typeface="Amazon Ember" panose="020B0603020204020204" pitchFamily="34" charset="0"/>
                <a:ea typeface="Amazon Ember" panose="020B0603020204020204" pitchFamily="34" charset="0"/>
                <a:cs typeface="Amazon Ember" panose="020B0603020204020204" pitchFamily="34" charset="0"/>
              </a:rPr>
              <a:t>When using </a:t>
            </a:r>
            <a:r>
              <a:rPr lang="en-US" sz="240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disposable</a:t>
            </a:r>
            <a:r>
              <a:rPr lang="en-US" sz="2400">
                <a:latin typeface="Amazon Ember" panose="020B0603020204020204" pitchFamily="34" charset="0"/>
                <a:ea typeface="Amazon Ember" panose="020B0603020204020204" pitchFamily="34" charset="0"/>
                <a:cs typeface="Amazon Ember" panose="020B0603020204020204" pitchFamily="34" charset="0"/>
              </a:rPr>
              <a:t> resources</a:t>
            </a:r>
          </a:p>
        </p:txBody>
      </p:sp>
      <p:grpSp>
        <p:nvGrpSpPr>
          <p:cNvPr id="21" name="Group 20">
            <a:extLst>
              <a:ext uri="{FF2B5EF4-FFF2-40B4-BE49-F238E27FC236}">
                <a16:creationId xmlns:a16="http://schemas.microsoft.com/office/drawing/2014/main" xmlns="" id="{608D29D1-4117-7C45-A93C-BAB32736D028}"/>
              </a:ext>
            </a:extLst>
          </p:cNvPr>
          <p:cNvGrpSpPr/>
          <p:nvPr/>
        </p:nvGrpSpPr>
        <p:grpSpPr>
          <a:xfrm>
            <a:off x="1225296" y="3670284"/>
            <a:ext cx="10149840" cy="2602499"/>
            <a:chOff x="1225296" y="3670284"/>
            <a:chExt cx="10149840" cy="2602499"/>
          </a:xfrm>
        </p:grpSpPr>
        <p:sp>
          <p:nvSpPr>
            <p:cNvPr id="6" name="Rectangle 5">
              <a:extLst>
                <a:ext uri="{FF2B5EF4-FFF2-40B4-BE49-F238E27FC236}">
                  <a16:creationId xmlns:a16="http://schemas.microsoft.com/office/drawing/2014/main" xmlns="" id="{2A0A35E5-3A48-CD4A-842D-A1569EC1835E}"/>
                </a:ext>
              </a:extLst>
            </p:cNvPr>
            <p:cNvSpPr/>
            <p:nvPr/>
          </p:nvSpPr>
          <p:spPr>
            <a:xfrm>
              <a:off x="1225296" y="3670284"/>
              <a:ext cx="10149840" cy="26024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xmlns="" id="{524EB0E4-5C64-654D-A573-856EF78BCA49}"/>
                </a:ext>
              </a:extLst>
            </p:cNvPr>
            <p:cNvGrpSpPr/>
            <p:nvPr/>
          </p:nvGrpSpPr>
          <p:grpSpPr>
            <a:xfrm>
              <a:off x="1806127" y="4106718"/>
              <a:ext cx="8988178" cy="1881541"/>
              <a:chOff x="1853148" y="4072328"/>
              <a:chExt cx="8988178" cy="1881541"/>
            </a:xfrm>
          </p:grpSpPr>
          <p:sp>
            <p:nvSpPr>
              <p:cNvPr id="3" name="TextBox 2">
                <a:extLst>
                  <a:ext uri="{FF2B5EF4-FFF2-40B4-BE49-F238E27FC236}">
                    <a16:creationId xmlns:a16="http://schemas.microsoft.com/office/drawing/2014/main" xmlns="" id="{87B85BF0-D84A-A648-86A4-F81FCAC8F2CF}"/>
                  </a:ext>
                </a:extLst>
              </p:cNvPr>
              <p:cNvSpPr txBox="1"/>
              <p:nvPr/>
            </p:nvSpPr>
            <p:spPr>
              <a:xfrm>
                <a:off x="1853148" y="5245983"/>
                <a:ext cx="1993393" cy="707886"/>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Data-driven decisions</a:t>
                </a:r>
              </a:p>
            </p:txBody>
          </p:sp>
          <p:grpSp>
            <p:nvGrpSpPr>
              <p:cNvPr id="18" name="Group 17">
                <a:extLst>
                  <a:ext uri="{FF2B5EF4-FFF2-40B4-BE49-F238E27FC236}">
                    <a16:creationId xmlns:a16="http://schemas.microsoft.com/office/drawing/2014/main" xmlns="" id="{685F4DE1-F700-4348-9A27-48B0E6DE1184}"/>
                  </a:ext>
                </a:extLst>
              </p:cNvPr>
              <p:cNvGrpSpPr/>
              <p:nvPr/>
            </p:nvGrpSpPr>
            <p:grpSpPr>
              <a:xfrm>
                <a:off x="5350541" y="4072328"/>
                <a:ext cx="1993393" cy="1881541"/>
                <a:chOff x="5015296" y="4182056"/>
                <a:chExt cx="1993393" cy="1881541"/>
              </a:xfrm>
            </p:grpSpPr>
            <p:sp>
              <p:nvSpPr>
                <p:cNvPr id="8" name="TextBox 7">
                  <a:extLst>
                    <a:ext uri="{FF2B5EF4-FFF2-40B4-BE49-F238E27FC236}">
                      <a16:creationId xmlns:a16="http://schemas.microsoft.com/office/drawing/2014/main" xmlns="" id="{CC9F7D63-FEBD-324C-943A-74EF194316BB}"/>
                    </a:ext>
                  </a:extLst>
                </p:cNvPr>
                <p:cNvSpPr txBox="1"/>
                <p:nvPr/>
              </p:nvSpPr>
              <p:spPr>
                <a:xfrm>
                  <a:off x="5015296" y="5355711"/>
                  <a:ext cx="1993393" cy="707886"/>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Quick iterations</a:t>
                  </a:r>
                </a:p>
              </p:txBody>
            </p:sp>
            <p:pic>
              <p:nvPicPr>
                <p:cNvPr id="14" name="Picture 13">
                  <a:extLst>
                    <a:ext uri="{FF2B5EF4-FFF2-40B4-BE49-F238E27FC236}">
                      <a16:creationId xmlns:a16="http://schemas.microsoft.com/office/drawing/2014/main" xmlns="" id="{2A5DC850-61A2-2849-BADC-C88F879220F4}"/>
                    </a:ext>
                  </a:extLst>
                </p:cNvPr>
                <p:cNvPicPr>
                  <a:picLocks noChangeAspect="1"/>
                </p:cNvPicPr>
                <p:nvPr/>
              </p:nvPicPr>
              <p:blipFill>
                <a:blip r:embed="rId5"/>
                <a:stretch>
                  <a:fillRect/>
                </a:stretch>
              </p:blipFill>
              <p:spPr>
                <a:xfrm>
                  <a:off x="5512320" y="4182056"/>
                  <a:ext cx="999343" cy="999343"/>
                </a:xfrm>
                <a:prstGeom prst="rect">
                  <a:avLst/>
                </a:prstGeom>
              </p:spPr>
            </p:pic>
          </p:grpSp>
          <p:grpSp>
            <p:nvGrpSpPr>
              <p:cNvPr id="19" name="Group 18">
                <a:extLst>
                  <a:ext uri="{FF2B5EF4-FFF2-40B4-BE49-F238E27FC236}">
                    <a16:creationId xmlns:a16="http://schemas.microsoft.com/office/drawing/2014/main" xmlns="" id="{33FD83AE-635E-7E42-80DB-DA76EDB52565}"/>
                  </a:ext>
                </a:extLst>
              </p:cNvPr>
              <p:cNvGrpSpPr/>
              <p:nvPr/>
            </p:nvGrpSpPr>
            <p:grpSpPr>
              <a:xfrm>
                <a:off x="8847933" y="4081425"/>
                <a:ext cx="1993393" cy="1872444"/>
                <a:chOff x="8512688" y="4191153"/>
                <a:chExt cx="1993393" cy="1872444"/>
              </a:xfrm>
            </p:grpSpPr>
            <p:sp>
              <p:nvSpPr>
                <p:cNvPr id="9" name="TextBox 8">
                  <a:extLst>
                    <a:ext uri="{FF2B5EF4-FFF2-40B4-BE49-F238E27FC236}">
                      <a16:creationId xmlns:a16="http://schemas.microsoft.com/office/drawing/2014/main" xmlns="" id="{192718C7-EB77-2448-A17B-14098B7029FF}"/>
                    </a:ext>
                  </a:extLst>
                </p:cNvPr>
                <p:cNvSpPr txBox="1"/>
                <p:nvPr/>
              </p:nvSpPr>
              <p:spPr>
                <a:xfrm>
                  <a:off x="8512688" y="5355711"/>
                  <a:ext cx="1993393" cy="707886"/>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Free to make mistakes</a:t>
                  </a:r>
                </a:p>
              </p:txBody>
            </p:sp>
            <p:pic>
              <p:nvPicPr>
                <p:cNvPr id="16" name="Picture 15">
                  <a:extLst>
                    <a:ext uri="{FF2B5EF4-FFF2-40B4-BE49-F238E27FC236}">
                      <a16:creationId xmlns:a16="http://schemas.microsoft.com/office/drawing/2014/main" xmlns="" id="{8F2D905C-1B30-624B-8BF8-7D7F995F06EF}"/>
                    </a:ext>
                  </a:extLst>
                </p:cNvPr>
                <p:cNvPicPr>
                  <a:picLocks noChangeAspect="1"/>
                </p:cNvPicPr>
                <p:nvPr/>
              </p:nvPicPr>
              <p:blipFill>
                <a:blip r:embed="rId6"/>
                <a:stretch>
                  <a:fillRect/>
                </a:stretch>
              </p:blipFill>
              <p:spPr>
                <a:xfrm>
                  <a:off x="9014262" y="4191153"/>
                  <a:ext cx="990246" cy="990246"/>
                </a:xfrm>
                <a:prstGeom prst="rect">
                  <a:avLst/>
                </a:prstGeom>
              </p:spPr>
            </p:pic>
          </p:grpSp>
        </p:grpSp>
      </p:grpSp>
    </p:spTree>
    <p:extLst>
      <p:ext uri="{BB962C8B-B14F-4D97-AF65-F5344CB8AC3E}">
        <p14:creationId xmlns:p14="http://schemas.microsoft.com/office/powerpoint/2010/main" val="28923652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163" y="2770247"/>
            <a:ext cx="9969428" cy="1154982"/>
          </a:xfrm>
        </p:spPr>
        <p:txBody>
          <a:bodyPr/>
          <a:lstStyle/>
          <a:p>
            <a:r>
              <a:rPr lang="en-US"/>
              <a:t>Launching Amazon EC2 Instances with Amazon Machine Images (AMIs)</a:t>
            </a:r>
          </a:p>
        </p:txBody>
      </p:sp>
    </p:spTree>
    <p:extLst>
      <p:ext uri="{BB962C8B-B14F-4D97-AF65-F5344CB8AC3E}">
        <p14:creationId xmlns:p14="http://schemas.microsoft.com/office/powerpoint/2010/main" val="1731894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EC2 and AMIs</a:t>
            </a:r>
          </a:p>
        </p:txBody>
      </p:sp>
      <p:pic>
        <p:nvPicPr>
          <p:cNvPr id="10" name="Picture 9">
            <a:extLst>
              <a:ext uri="{FF2B5EF4-FFF2-40B4-BE49-F238E27FC236}">
                <a16:creationId xmlns:a16="http://schemas.microsoft.com/office/drawing/2014/main" xmlns="" id="{D2DBD646-F76D-7148-9D00-8E6C090DF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716" y="2399474"/>
            <a:ext cx="842379" cy="873580"/>
          </a:xfrm>
          <a:prstGeom prst="rect">
            <a:avLst/>
          </a:prstGeom>
        </p:spPr>
      </p:pic>
      <p:pic>
        <p:nvPicPr>
          <p:cNvPr id="22" name="Picture 21">
            <a:extLst>
              <a:ext uri="{FF2B5EF4-FFF2-40B4-BE49-F238E27FC236}">
                <a16:creationId xmlns:a16="http://schemas.microsoft.com/office/drawing/2014/main" xmlns="" id="{88C4CBA3-E3E5-B24F-9E6B-4B3AC52301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716" y="3478053"/>
            <a:ext cx="842379" cy="873580"/>
          </a:xfrm>
          <a:prstGeom prst="rect">
            <a:avLst/>
          </a:prstGeom>
        </p:spPr>
      </p:pic>
      <p:pic>
        <p:nvPicPr>
          <p:cNvPr id="23" name="Picture 22">
            <a:extLst>
              <a:ext uri="{FF2B5EF4-FFF2-40B4-BE49-F238E27FC236}">
                <a16:creationId xmlns:a16="http://schemas.microsoft.com/office/drawing/2014/main" xmlns="" id="{5F7561AB-6871-5E43-BC9A-D515A596ED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716" y="4556631"/>
            <a:ext cx="842379" cy="873580"/>
          </a:xfrm>
          <a:prstGeom prst="rect">
            <a:avLst/>
          </a:prstGeom>
        </p:spPr>
      </p:pic>
      <p:pic>
        <p:nvPicPr>
          <p:cNvPr id="9" name="Picture 8">
            <a:extLst>
              <a:ext uri="{FF2B5EF4-FFF2-40B4-BE49-F238E27FC236}">
                <a16:creationId xmlns:a16="http://schemas.microsoft.com/office/drawing/2014/main" xmlns="" id="{29962968-8000-2843-A1FA-2BED14E4D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3685" y="3485956"/>
            <a:ext cx="744107" cy="771668"/>
          </a:xfrm>
          <a:prstGeom prst="rect">
            <a:avLst/>
          </a:prstGeom>
        </p:spPr>
      </p:pic>
      <p:sp>
        <p:nvSpPr>
          <p:cNvPr id="14" name="Rectangle 13">
            <a:extLst>
              <a:ext uri="{FF2B5EF4-FFF2-40B4-BE49-F238E27FC236}">
                <a16:creationId xmlns:a16="http://schemas.microsoft.com/office/drawing/2014/main" xmlns="" id="{5F46003E-B3AB-A24F-A0AD-6EAA9F3A42D8}"/>
              </a:ext>
            </a:extLst>
          </p:cNvPr>
          <p:cNvSpPr/>
          <p:nvPr/>
        </p:nvSpPr>
        <p:spPr>
          <a:xfrm>
            <a:off x="4315754" y="4284601"/>
            <a:ext cx="1519968" cy="461665"/>
          </a:xfrm>
          <a:prstGeom prst="rect">
            <a:avLst/>
          </a:prstGeom>
        </p:spPr>
        <p:txBody>
          <a:bodyPr wrap="none">
            <a:spAutoFit/>
          </a:bodyPr>
          <a:lstStyle/>
          <a:p>
            <a:r>
              <a:rPr lang="en-US" sz="24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Your </a:t>
            </a:r>
            <a:r>
              <a:rPr lang="en-US" sz="2400" b="1">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AMI</a:t>
            </a:r>
          </a:p>
        </p:txBody>
      </p:sp>
      <p:sp>
        <p:nvSpPr>
          <p:cNvPr id="21" name="Right Arrow 20">
            <a:extLst>
              <a:ext uri="{FF2B5EF4-FFF2-40B4-BE49-F238E27FC236}">
                <a16:creationId xmlns:a16="http://schemas.microsoft.com/office/drawing/2014/main" xmlns="" id="{39F306A4-78C8-7642-BEC4-30FB24F9790A}"/>
              </a:ext>
            </a:extLst>
          </p:cNvPr>
          <p:cNvSpPr/>
          <p:nvPr/>
        </p:nvSpPr>
        <p:spPr>
          <a:xfrm>
            <a:off x="5859327" y="3668334"/>
            <a:ext cx="1436017" cy="433594"/>
          </a:xfrm>
          <a:prstGeom prst="rightArrow">
            <a:avLst/>
          </a:prstGeom>
          <a:solidFill>
            <a:schemeClr val="accent3">
              <a:lumMod val="20000"/>
              <a:lumOff val="80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xmlns="" id="{6A493E80-C52A-4143-8EF9-7E3AE5BAA4C0}"/>
              </a:ext>
            </a:extLst>
          </p:cNvPr>
          <p:cNvSpPr/>
          <p:nvPr/>
        </p:nvSpPr>
        <p:spPr>
          <a:xfrm>
            <a:off x="4650489" y="1496166"/>
            <a:ext cx="3020379" cy="461665"/>
          </a:xfrm>
          <a:prstGeom prst="rect">
            <a:avLst/>
          </a:prstGeom>
        </p:spPr>
        <p:txBody>
          <a:bodyPr wrap="none">
            <a:spAutoFit/>
          </a:bodyPr>
          <a:lstStyle/>
          <a:p>
            <a:pPr algn="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Amazon EC2 Service</a:t>
            </a:r>
          </a:p>
        </p:txBody>
      </p:sp>
      <p:sp>
        <p:nvSpPr>
          <p:cNvPr id="26" name="Rounded Rectangle 25"/>
          <p:cNvSpPr/>
          <p:nvPr/>
        </p:nvSpPr>
        <p:spPr>
          <a:xfrm>
            <a:off x="3620041" y="1973490"/>
            <a:ext cx="5681272" cy="4152276"/>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Arial"/>
              <a:cs typeface="Arial"/>
            </a:endParaRPr>
          </a:p>
        </p:txBody>
      </p:sp>
      <p:pic>
        <p:nvPicPr>
          <p:cNvPr id="8" name="Picture 7">
            <a:extLst>
              <a:ext uri="{FF2B5EF4-FFF2-40B4-BE49-F238E27FC236}">
                <a16:creationId xmlns:a16="http://schemas.microsoft.com/office/drawing/2014/main" xmlns="" id="{F3E69D06-096C-8647-B542-871FC4D45D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0516" y="1547506"/>
            <a:ext cx="709973" cy="851968"/>
          </a:xfrm>
          <a:prstGeom prst="rect">
            <a:avLst/>
          </a:prstGeom>
        </p:spPr>
      </p:pic>
      <p:sp>
        <p:nvSpPr>
          <p:cNvPr id="27" name="Right Arrow 26">
            <a:extLst>
              <a:ext uri="{FF2B5EF4-FFF2-40B4-BE49-F238E27FC236}">
                <a16:creationId xmlns:a16="http://schemas.microsoft.com/office/drawing/2014/main" xmlns="" id="{39F306A4-78C8-7642-BEC4-30FB24F9790A}"/>
              </a:ext>
            </a:extLst>
          </p:cNvPr>
          <p:cNvSpPr/>
          <p:nvPr/>
        </p:nvSpPr>
        <p:spPr>
          <a:xfrm rot="1800000">
            <a:off x="5821980" y="4495755"/>
            <a:ext cx="1444513" cy="364726"/>
          </a:xfrm>
          <a:prstGeom prst="rightArrow">
            <a:avLst/>
          </a:prstGeom>
          <a:solidFill>
            <a:schemeClr val="accent3">
              <a:lumMod val="20000"/>
              <a:lumOff val="80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ight Arrow 31">
            <a:extLst>
              <a:ext uri="{FF2B5EF4-FFF2-40B4-BE49-F238E27FC236}">
                <a16:creationId xmlns:a16="http://schemas.microsoft.com/office/drawing/2014/main" xmlns="" id="{39F306A4-78C8-7642-BEC4-30FB24F9790A}"/>
              </a:ext>
            </a:extLst>
          </p:cNvPr>
          <p:cNvSpPr/>
          <p:nvPr/>
        </p:nvSpPr>
        <p:spPr>
          <a:xfrm rot="19800000" flipV="1">
            <a:off x="5839197" y="2889168"/>
            <a:ext cx="1444513" cy="433594"/>
          </a:xfrm>
          <a:prstGeom prst="rightArrow">
            <a:avLst/>
          </a:prstGeom>
          <a:solidFill>
            <a:schemeClr val="accent3">
              <a:lumMod val="20000"/>
              <a:lumOff val="80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xmlns="" id="{93AD7D86-3456-1A43-8865-9C96B7B2DF59}"/>
              </a:ext>
            </a:extLst>
          </p:cNvPr>
          <p:cNvSpPr/>
          <p:nvPr/>
        </p:nvSpPr>
        <p:spPr>
          <a:xfrm>
            <a:off x="6817777" y="5547156"/>
            <a:ext cx="2100255" cy="461665"/>
          </a:xfrm>
          <a:prstGeom prst="rect">
            <a:avLst/>
          </a:prstGeom>
        </p:spPr>
        <p:txBody>
          <a:bodyPr wrap="none">
            <a:spAutoFit/>
          </a:bodyPr>
          <a:lstStyle/>
          <a:p>
            <a:pPr algn="ct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EC2 instances</a:t>
            </a:r>
          </a:p>
        </p:txBody>
      </p:sp>
    </p:spTree>
    <p:extLst>
      <p:ext uri="{BB962C8B-B14F-4D97-AF65-F5344CB8AC3E}">
        <p14:creationId xmlns:p14="http://schemas.microsoft.com/office/powerpoint/2010/main" val="2200313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EC2 and AMIs</a:t>
            </a:r>
          </a:p>
        </p:txBody>
      </p:sp>
      <p:pic>
        <p:nvPicPr>
          <p:cNvPr id="10" name="Picture 9">
            <a:extLst>
              <a:ext uri="{FF2B5EF4-FFF2-40B4-BE49-F238E27FC236}">
                <a16:creationId xmlns:a16="http://schemas.microsoft.com/office/drawing/2014/main" xmlns="" id="{D2DBD646-F76D-7148-9D00-8E6C090DF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716" y="2399474"/>
            <a:ext cx="842379" cy="873580"/>
          </a:xfrm>
          <a:prstGeom prst="rect">
            <a:avLst/>
          </a:prstGeom>
        </p:spPr>
      </p:pic>
      <p:pic>
        <p:nvPicPr>
          <p:cNvPr id="22" name="Picture 21">
            <a:extLst>
              <a:ext uri="{FF2B5EF4-FFF2-40B4-BE49-F238E27FC236}">
                <a16:creationId xmlns:a16="http://schemas.microsoft.com/office/drawing/2014/main" xmlns="" id="{88C4CBA3-E3E5-B24F-9E6B-4B3AC52301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716" y="3478053"/>
            <a:ext cx="842379" cy="873580"/>
          </a:xfrm>
          <a:prstGeom prst="rect">
            <a:avLst/>
          </a:prstGeom>
        </p:spPr>
      </p:pic>
      <p:pic>
        <p:nvPicPr>
          <p:cNvPr id="23" name="Picture 22">
            <a:extLst>
              <a:ext uri="{FF2B5EF4-FFF2-40B4-BE49-F238E27FC236}">
                <a16:creationId xmlns:a16="http://schemas.microsoft.com/office/drawing/2014/main" xmlns="" id="{5F7561AB-6871-5E43-BC9A-D515A596ED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716" y="4556631"/>
            <a:ext cx="842379" cy="873580"/>
          </a:xfrm>
          <a:prstGeom prst="rect">
            <a:avLst/>
          </a:prstGeom>
        </p:spPr>
      </p:pic>
      <p:pic>
        <p:nvPicPr>
          <p:cNvPr id="9" name="Picture 8">
            <a:extLst>
              <a:ext uri="{FF2B5EF4-FFF2-40B4-BE49-F238E27FC236}">
                <a16:creationId xmlns:a16="http://schemas.microsoft.com/office/drawing/2014/main" xmlns="" id="{29962968-8000-2843-A1FA-2BED14E4D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3685" y="3485956"/>
            <a:ext cx="744107" cy="771668"/>
          </a:xfrm>
          <a:prstGeom prst="rect">
            <a:avLst/>
          </a:prstGeom>
        </p:spPr>
      </p:pic>
      <p:sp>
        <p:nvSpPr>
          <p:cNvPr id="14" name="Rectangle 13">
            <a:extLst>
              <a:ext uri="{FF2B5EF4-FFF2-40B4-BE49-F238E27FC236}">
                <a16:creationId xmlns:a16="http://schemas.microsoft.com/office/drawing/2014/main" xmlns="" id="{5F46003E-B3AB-A24F-A0AD-6EAA9F3A42D8}"/>
              </a:ext>
            </a:extLst>
          </p:cNvPr>
          <p:cNvSpPr/>
          <p:nvPr/>
        </p:nvSpPr>
        <p:spPr>
          <a:xfrm>
            <a:off x="4315754" y="4284601"/>
            <a:ext cx="1519968" cy="461665"/>
          </a:xfrm>
          <a:prstGeom prst="rect">
            <a:avLst/>
          </a:prstGeom>
        </p:spPr>
        <p:txBody>
          <a:bodyPr wrap="none">
            <a:spAutoFit/>
          </a:bodyPr>
          <a:lstStyle/>
          <a:p>
            <a:r>
              <a:rPr lang="en-US" sz="24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Your </a:t>
            </a:r>
            <a:r>
              <a:rPr lang="en-US" sz="2400" b="1">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AMI</a:t>
            </a:r>
          </a:p>
        </p:txBody>
      </p:sp>
      <p:sp>
        <p:nvSpPr>
          <p:cNvPr id="21" name="Right Arrow 20">
            <a:extLst>
              <a:ext uri="{FF2B5EF4-FFF2-40B4-BE49-F238E27FC236}">
                <a16:creationId xmlns:a16="http://schemas.microsoft.com/office/drawing/2014/main" xmlns="" id="{39F306A4-78C8-7642-BEC4-30FB24F9790A}"/>
              </a:ext>
            </a:extLst>
          </p:cNvPr>
          <p:cNvSpPr/>
          <p:nvPr/>
        </p:nvSpPr>
        <p:spPr>
          <a:xfrm>
            <a:off x="5859327" y="3668334"/>
            <a:ext cx="1436017" cy="433594"/>
          </a:xfrm>
          <a:prstGeom prst="rightArrow">
            <a:avLst/>
          </a:prstGeom>
          <a:solidFill>
            <a:schemeClr val="accent3">
              <a:lumMod val="20000"/>
              <a:lumOff val="80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xmlns="" id="{6A493E80-C52A-4143-8EF9-7E3AE5BAA4C0}"/>
              </a:ext>
            </a:extLst>
          </p:cNvPr>
          <p:cNvSpPr/>
          <p:nvPr/>
        </p:nvSpPr>
        <p:spPr>
          <a:xfrm>
            <a:off x="4650489" y="1496166"/>
            <a:ext cx="3020379" cy="461665"/>
          </a:xfrm>
          <a:prstGeom prst="rect">
            <a:avLst/>
          </a:prstGeom>
        </p:spPr>
        <p:txBody>
          <a:bodyPr wrap="none">
            <a:spAutoFit/>
          </a:bodyPr>
          <a:lstStyle/>
          <a:p>
            <a:pPr algn="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Amazon EC2 Service</a:t>
            </a:r>
          </a:p>
        </p:txBody>
      </p:sp>
      <p:sp>
        <p:nvSpPr>
          <p:cNvPr id="28" name="Rectangle 27">
            <a:extLst>
              <a:ext uri="{FF2B5EF4-FFF2-40B4-BE49-F238E27FC236}">
                <a16:creationId xmlns:a16="http://schemas.microsoft.com/office/drawing/2014/main" xmlns="" id="{93AD7D86-3456-1A43-8865-9C96B7B2DF59}"/>
              </a:ext>
            </a:extLst>
          </p:cNvPr>
          <p:cNvSpPr/>
          <p:nvPr/>
        </p:nvSpPr>
        <p:spPr>
          <a:xfrm>
            <a:off x="1172786" y="2562990"/>
            <a:ext cx="2026517" cy="461665"/>
          </a:xfrm>
          <a:prstGeom prst="rect">
            <a:avLst/>
          </a:prstGeom>
        </p:spPr>
        <p:txBody>
          <a:bodyPr wrap="none">
            <a:spAutoFit/>
          </a:bodyPr>
          <a:lstStyle/>
          <a:p>
            <a:pPr algn="ct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AMIs include:</a:t>
            </a:r>
          </a:p>
        </p:txBody>
      </p:sp>
      <p:sp>
        <p:nvSpPr>
          <p:cNvPr id="26" name="Rounded Rectangle 25"/>
          <p:cNvSpPr/>
          <p:nvPr/>
        </p:nvSpPr>
        <p:spPr>
          <a:xfrm>
            <a:off x="3620041" y="1973490"/>
            <a:ext cx="5681272" cy="4152276"/>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Arial"/>
              <a:cs typeface="Arial"/>
            </a:endParaRPr>
          </a:p>
        </p:txBody>
      </p:sp>
      <p:pic>
        <p:nvPicPr>
          <p:cNvPr id="8" name="Picture 7">
            <a:extLst>
              <a:ext uri="{FF2B5EF4-FFF2-40B4-BE49-F238E27FC236}">
                <a16:creationId xmlns:a16="http://schemas.microsoft.com/office/drawing/2014/main" xmlns="" id="{F3E69D06-096C-8647-B542-871FC4D45D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0516" y="1547506"/>
            <a:ext cx="709973" cy="851968"/>
          </a:xfrm>
          <a:prstGeom prst="rect">
            <a:avLst/>
          </a:prstGeom>
        </p:spPr>
      </p:pic>
      <p:sp>
        <p:nvSpPr>
          <p:cNvPr id="27" name="Right Arrow 26">
            <a:extLst>
              <a:ext uri="{FF2B5EF4-FFF2-40B4-BE49-F238E27FC236}">
                <a16:creationId xmlns:a16="http://schemas.microsoft.com/office/drawing/2014/main" xmlns="" id="{39F306A4-78C8-7642-BEC4-30FB24F9790A}"/>
              </a:ext>
            </a:extLst>
          </p:cNvPr>
          <p:cNvSpPr/>
          <p:nvPr/>
        </p:nvSpPr>
        <p:spPr>
          <a:xfrm rot="1800000">
            <a:off x="5821980" y="4495755"/>
            <a:ext cx="1444513" cy="364726"/>
          </a:xfrm>
          <a:prstGeom prst="rightArrow">
            <a:avLst/>
          </a:prstGeom>
          <a:solidFill>
            <a:schemeClr val="accent3">
              <a:lumMod val="20000"/>
              <a:lumOff val="80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ight Arrow 31">
            <a:extLst>
              <a:ext uri="{FF2B5EF4-FFF2-40B4-BE49-F238E27FC236}">
                <a16:creationId xmlns:a16="http://schemas.microsoft.com/office/drawing/2014/main" xmlns="" id="{39F306A4-78C8-7642-BEC4-30FB24F9790A}"/>
              </a:ext>
            </a:extLst>
          </p:cNvPr>
          <p:cNvSpPr/>
          <p:nvPr/>
        </p:nvSpPr>
        <p:spPr>
          <a:xfrm rot="19800000" flipV="1">
            <a:off x="5839197" y="2889168"/>
            <a:ext cx="1444513" cy="433594"/>
          </a:xfrm>
          <a:prstGeom prst="rightArrow">
            <a:avLst/>
          </a:prstGeom>
          <a:solidFill>
            <a:schemeClr val="accent3">
              <a:lumMod val="20000"/>
              <a:lumOff val="80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xmlns="" id="{E2D0EBD4-6CBF-404E-885F-DB9590B5930D}"/>
              </a:ext>
            </a:extLst>
          </p:cNvPr>
          <p:cNvSpPr/>
          <p:nvPr/>
        </p:nvSpPr>
        <p:spPr>
          <a:xfrm>
            <a:off x="253871" y="3024655"/>
            <a:ext cx="3970129" cy="2172523"/>
          </a:xfrm>
          <a:prstGeom prst="rect">
            <a:avLst/>
          </a:prstGeom>
          <a:solidFill>
            <a:srgbClr val="E7E5E8"/>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xmlns="" id="{DA9BE7B6-C7D1-5B42-A0D0-F9FB22044839}"/>
              </a:ext>
            </a:extLst>
          </p:cNvPr>
          <p:cNvSpPr/>
          <p:nvPr/>
        </p:nvSpPr>
        <p:spPr>
          <a:xfrm>
            <a:off x="369887" y="3646869"/>
            <a:ext cx="3829895" cy="400110"/>
          </a:xfrm>
          <a:prstGeom prst="rect">
            <a:avLst/>
          </a:prstGeom>
        </p:spPr>
        <p:txBody>
          <a:bodyPr wrap="none">
            <a:spAutoFit/>
          </a:bodyPr>
          <a:lstStyle/>
          <a:p>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template for the root volume</a:t>
            </a:r>
          </a:p>
        </p:txBody>
      </p:sp>
      <p:sp>
        <p:nvSpPr>
          <p:cNvPr id="19" name="Rectangle 18">
            <a:extLst>
              <a:ext uri="{FF2B5EF4-FFF2-40B4-BE49-F238E27FC236}">
                <a16:creationId xmlns:a16="http://schemas.microsoft.com/office/drawing/2014/main" xmlns="" id="{D22E5B51-4382-1F47-B5F7-76C26EC31747}"/>
              </a:ext>
            </a:extLst>
          </p:cNvPr>
          <p:cNvSpPr/>
          <p:nvPr/>
        </p:nvSpPr>
        <p:spPr>
          <a:xfrm>
            <a:off x="369887" y="4173308"/>
            <a:ext cx="2465740" cy="400110"/>
          </a:xfrm>
          <a:prstGeom prst="rect">
            <a:avLst/>
          </a:prstGeom>
        </p:spPr>
        <p:txBody>
          <a:bodyPr wrap="none">
            <a:spAutoFit/>
          </a:bodyPr>
          <a:lstStyle/>
          <a:p>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Launch permissions</a:t>
            </a:r>
          </a:p>
        </p:txBody>
      </p:sp>
      <p:sp>
        <p:nvSpPr>
          <p:cNvPr id="20" name="Rectangle 19">
            <a:extLst>
              <a:ext uri="{FF2B5EF4-FFF2-40B4-BE49-F238E27FC236}">
                <a16:creationId xmlns:a16="http://schemas.microsoft.com/office/drawing/2014/main" xmlns="" id="{C349CA65-B4D7-1E46-840B-5BC64D2AED0B}"/>
              </a:ext>
            </a:extLst>
          </p:cNvPr>
          <p:cNvSpPr/>
          <p:nvPr/>
        </p:nvSpPr>
        <p:spPr>
          <a:xfrm>
            <a:off x="369887" y="4699635"/>
            <a:ext cx="3020379" cy="400110"/>
          </a:xfrm>
          <a:prstGeom prst="rect">
            <a:avLst/>
          </a:prstGeom>
        </p:spPr>
        <p:txBody>
          <a:bodyPr wrap="none">
            <a:spAutoFit/>
          </a:bodyPr>
          <a:lstStyle/>
          <a:p>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block device mapping </a:t>
            </a:r>
          </a:p>
        </p:txBody>
      </p:sp>
      <p:sp>
        <p:nvSpPr>
          <p:cNvPr id="29" name="Rectangle 28">
            <a:extLst>
              <a:ext uri="{FF2B5EF4-FFF2-40B4-BE49-F238E27FC236}">
                <a16:creationId xmlns:a16="http://schemas.microsoft.com/office/drawing/2014/main" xmlns="" id="{93AD7D86-3456-1A43-8865-9C96B7B2DF59}"/>
              </a:ext>
            </a:extLst>
          </p:cNvPr>
          <p:cNvSpPr/>
          <p:nvPr/>
        </p:nvSpPr>
        <p:spPr>
          <a:xfrm>
            <a:off x="6817777" y="5547156"/>
            <a:ext cx="2100255" cy="461665"/>
          </a:xfrm>
          <a:prstGeom prst="rect">
            <a:avLst/>
          </a:prstGeom>
        </p:spPr>
        <p:txBody>
          <a:bodyPr wrap="none">
            <a:spAutoFit/>
          </a:bodyPr>
          <a:lstStyle/>
          <a:p>
            <a:pPr algn="ctr"/>
            <a:r>
              <a:rPr lang="en-US" sz="24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EC2 instances</a:t>
            </a:r>
          </a:p>
        </p:txBody>
      </p:sp>
      <p:sp>
        <p:nvSpPr>
          <p:cNvPr id="25" name="Rectangle 24">
            <a:extLst>
              <a:ext uri="{FF2B5EF4-FFF2-40B4-BE49-F238E27FC236}">
                <a16:creationId xmlns:a16="http://schemas.microsoft.com/office/drawing/2014/main" xmlns="" id="{2B018294-18E4-7D4F-819D-8023797D6529}"/>
              </a:ext>
            </a:extLst>
          </p:cNvPr>
          <p:cNvSpPr/>
          <p:nvPr/>
        </p:nvSpPr>
        <p:spPr>
          <a:xfrm>
            <a:off x="369886" y="3120430"/>
            <a:ext cx="3220753" cy="400110"/>
          </a:xfrm>
          <a:prstGeom prst="rect">
            <a:avLst/>
          </a:prstGeom>
        </p:spPr>
        <p:txBody>
          <a:bodyPr wrap="none">
            <a:spAutoFit/>
          </a:bodyPr>
          <a:lstStyle/>
          <a:p>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One or more EBS volumes</a:t>
            </a:r>
          </a:p>
        </p:txBody>
      </p:sp>
    </p:spTree>
    <p:extLst>
      <p:ext uri="{BB962C8B-B14F-4D97-AF65-F5344CB8AC3E}">
        <p14:creationId xmlns:p14="http://schemas.microsoft.com/office/powerpoint/2010/main" val="3969557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Where Do You Get an AMI?</a:t>
            </a:r>
          </a:p>
        </p:txBody>
      </p:sp>
      <p:grpSp>
        <p:nvGrpSpPr>
          <p:cNvPr id="34" name="Group 33">
            <a:extLst>
              <a:ext uri="{FF2B5EF4-FFF2-40B4-BE49-F238E27FC236}">
                <a16:creationId xmlns:a16="http://schemas.microsoft.com/office/drawing/2014/main" xmlns="" id="{C7D5DF35-083A-C849-9962-9215B96BFD02}"/>
              </a:ext>
            </a:extLst>
          </p:cNvPr>
          <p:cNvGrpSpPr/>
          <p:nvPr/>
        </p:nvGrpSpPr>
        <p:grpSpPr>
          <a:xfrm>
            <a:off x="934278" y="2006092"/>
            <a:ext cx="10336696" cy="3937510"/>
            <a:chOff x="934278" y="2145238"/>
            <a:chExt cx="10336696" cy="3937510"/>
          </a:xfrm>
        </p:grpSpPr>
        <p:sp>
          <p:nvSpPr>
            <p:cNvPr id="31" name="Rectangle 30">
              <a:extLst>
                <a:ext uri="{FF2B5EF4-FFF2-40B4-BE49-F238E27FC236}">
                  <a16:creationId xmlns:a16="http://schemas.microsoft.com/office/drawing/2014/main" xmlns="" id="{7CCCB67F-5E85-104B-9011-A94B43BF86E8}"/>
                </a:ext>
              </a:extLst>
            </p:cNvPr>
            <p:cNvSpPr/>
            <p:nvPr/>
          </p:nvSpPr>
          <p:spPr>
            <a:xfrm>
              <a:off x="934278" y="2365513"/>
              <a:ext cx="10336696" cy="3717235"/>
            </a:xfrm>
            <a:prstGeom prst="rect">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xmlns="" id="{A67A89B0-36E3-164C-AFA8-4EEC5DF72E5F}"/>
                </a:ext>
              </a:extLst>
            </p:cNvPr>
            <p:cNvSpPr/>
            <p:nvPr/>
          </p:nvSpPr>
          <p:spPr>
            <a:xfrm>
              <a:off x="3717235" y="2187925"/>
              <a:ext cx="4850295" cy="4189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xmlns="" id="{268C9A2C-32D4-9446-A871-98B4F5711FA0}"/>
                </a:ext>
              </a:extLst>
            </p:cNvPr>
            <p:cNvGrpSpPr/>
            <p:nvPr/>
          </p:nvGrpSpPr>
          <p:grpSpPr>
            <a:xfrm>
              <a:off x="1103989" y="3392977"/>
              <a:ext cx="9906945" cy="2088676"/>
              <a:chOff x="1004597" y="3268258"/>
              <a:chExt cx="9906945" cy="2088676"/>
            </a:xfrm>
          </p:grpSpPr>
          <p:grpSp>
            <p:nvGrpSpPr>
              <p:cNvPr id="24" name="Group 23">
                <a:extLst>
                  <a:ext uri="{FF2B5EF4-FFF2-40B4-BE49-F238E27FC236}">
                    <a16:creationId xmlns:a16="http://schemas.microsoft.com/office/drawing/2014/main" xmlns="" id="{573F082A-AB02-CF4A-918E-776328DB5CC4}"/>
                  </a:ext>
                </a:extLst>
              </p:cNvPr>
              <p:cNvGrpSpPr/>
              <p:nvPr/>
            </p:nvGrpSpPr>
            <p:grpSpPr>
              <a:xfrm>
                <a:off x="4546713" y="3268258"/>
                <a:ext cx="2822713" cy="2088676"/>
                <a:chOff x="4546713" y="3268258"/>
                <a:chExt cx="2822713" cy="2088676"/>
              </a:xfrm>
            </p:grpSpPr>
            <p:sp>
              <p:nvSpPr>
                <p:cNvPr id="14" name="TextBox 13">
                  <a:extLst>
                    <a:ext uri="{FF2B5EF4-FFF2-40B4-BE49-F238E27FC236}">
                      <a16:creationId xmlns:a16="http://schemas.microsoft.com/office/drawing/2014/main" xmlns="" id="{40033062-7D05-5541-A5EF-6EEB8F294C20}"/>
                    </a:ext>
                  </a:extLst>
                </p:cNvPr>
                <p:cNvSpPr txBox="1"/>
                <p:nvPr/>
              </p:nvSpPr>
              <p:spPr>
                <a:xfrm>
                  <a:off x="4546713" y="4956824"/>
                  <a:ext cx="2822713"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AWS Marketplace</a:t>
                  </a:r>
                </a:p>
              </p:txBody>
            </p:sp>
            <p:pic>
              <p:nvPicPr>
                <p:cNvPr id="17" name="Picture 16">
                  <a:extLst>
                    <a:ext uri="{FF2B5EF4-FFF2-40B4-BE49-F238E27FC236}">
                      <a16:creationId xmlns:a16="http://schemas.microsoft.com/office/drawing/2014/main" xmlns="" id="{AC14F73C-0C62-0848-89D1-47C175CE442B}"/>
                    </a:ext>
                  </a:extLst>
                </p:cNvPr>
                <p:cNvPicPr>
                  <a:picLocks noChangeAspect="1"/>
                </p:cNvPicPr>
                <p:nvPr/>
              </p:nvPicPr>
              <p:blipFill>
                <a:blip r:embed="rId3"/>
                <a:stretch>
                  <a:fillRect/>
                </a:stretch>
              </p:blipFill>
              <p:spPr>
                <a:xfrm>
                  <a:off x="4964188" y="3268258"/>
                  <a:ext cx="1788981" cy="1788981"/>
                </a:xfrm>
                <a:prstGeom prst="rect">
                  <a:avLst/>
                </a:prstGeom>
              </p:spPr>
            </p:pic>
          </p:grpSp>
          <p:grpSp>
            <p:nvGrpSpPr>
              <p:cNvPr id="23" name="Group 22">
                <a:extLst>
                  <a:ext uri="{FF2B5EF4-FFF2-40B4-BE49-F238E27FC236}">
                    <a16:creationId xmlns:a16="http://schemas.microsoft.com/office/drawing/2014/main" xmlns="" id="{8B3DFBAF-DB0F-AB47-A691-114BE7142338}"/>
                  </a:ext>
                </a:extLst>
              </p:cNvPr>
              <p:cNvGrpSpPr/>
              <p:nvPr/>
            </p:nvGrpSpPr>
            <p:grpSpPr>
              <a:xfrm>
                <a:off x="1004597" y="3690842"/>
                <a:ext cx="2822713" cy="1666092"/>
                <a:chOff x="1004597" y="3690842"/>
                <a:chExt cx="2822713" cy="1666092"/>
              </a:xfrm>
            </p:grpSpPr>
            <p:sp>
              <p:nvSpPr>
                <p:cNvPr id="13" name="TextBox 12">
                  <a:extLst>
                    <a:ext uri="{FF2B5EF4-FFF2-40B4-BE49-F238E27FC236}">
                      <a16:creationId xmlns:a16="http://schemas.microsoft.com/office/drawing/2014/main" xmlns="" id="{73CA76FE-A1EB-7244-A559-D22217A2C13D}"/>
                    </a:ext>
                  </a:extLst>
                </p:cNvPr>
                <p:cNvSpPr txBox="1"/>
                <p:nvPr/>
              </p:nvSpPr>
              <p:spPr>
                <a:xfrm>
                  <a:off x="1004597" y="4956824"/>
                  <a:ext cx="2822713"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Pre-Built</a:t>
                  </a:r>
                </a:p>
              </p:txBody>
            </p:sp>
            <p:pic>
              <p:nvPicPr>
                <p:cNvPr id="19" name="Picture 18">
                  <a:extLst>
                    <a:ext uri="{FF2B5EF4-FFF2-40B4-BE49-F238E27FC236}">
                      <a16:creationId xmlns:a16="http://schemas.microsoft.com/office/drawing/2014/main" xmlns="" id="{6135A2A9-488C-3645-89AE-E6C6DC3118B4}"/>
                    </a:ext>
                  </a:extLst>
                </p:cNvPr>
                <p:cNvPicPr>
                  <a:picLocks noChangeAspect="1"/>
                </p:cNvPicPr>
                <p:nvPr/>
              </p:nvPicPr>
              <p:blipFill>
                <a:blip r:embed="rId4"/>
                <a:stretch>
                  <a:fillRect/>
                </a:stretch>
              </p:blipFill>
              <p:spPr>
                <a:xfrm>
                  <a:off x="1815825" y="3690842"/>
                  <a:ext cx="1200256" cy="1050224"/>
                </a:xfrm>
                <a:prstGeom prst="rect">
                  <a:avLst/>
                </a:prstGeom>
              </p:spPr>
            </p:pic>
          </p:grpSp>
          <p:grpSp>
            <p:nvGrpSpPr>
              <p:cNvPr id="25" name="Group 24">
                <a:extLst>
                  <a:ext uri="{FF2B5EF4-FFF2-40B4-BE49-F238E27FC236}">
                    <a16:creationId xmlns:a16="http://schemas.microsoft.com/office/drawing/2014/main" xmlns="" id="{6D1D4DFD-23CB-EE4E-999C-94284C3DE599}"/>
                  </a:ext>
                </a:extLst>
              </p:cNvPr>
              <p:cNvGrpSpPr/>
              <p:nvPr/>
            </p:nvGrpSpPr>
            <p:grpSpPr>
              <a:xfrm>
                <a:off x="8088829" y="3584428"/>
                <a:ext cx="2822713" cy="1772506"/>
                <a:chOff x="8088829" y="3584428"/>
                <a:chExt cx="2822713" cy="1772506"/>
              </a:xfrm>
            </p:grpSpPr>
            <p:sp>
              <p:nvSpPr>
                <p:cNvPr id="15" name="TextBox 14">
                  <a:extLst>
                    <a:ext uri="{FF2B5EF4-FFF2-40B4-BE49-F238E27FC236}">
                      <a16:creationId xmlns:a16="http://schemas.microsoft.com/office/drawing/2014/main" xmlns="" id="{C89496B4-9D39-534F-B2E5-6B065735219D}"/>
                    </a:ext>
                  </a:extLst>
                </p:cNvPr>
                <p:cNvSpPr txBox="1"/>
                <p:nvPr/>
              </p:nvSpPr>
              <p:spPr>
                <a:xfrm>
                  <a:off x="8088829" y="4956824"/>
                  <a:ext cx="2822713"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Create your own</a:t>
                  </a:r>
                </a:p>
              </p:txBody>
            </p:sp>
            <p:pic>
              <p:nvPicPr>
                <p:cNvPr id="21" name="Picture 20">
                  <a:extLst>
                    <a:ext uri="{FF2B5EF4-FFF2-40B4-BE49-F238E27FC236}">
                      <a16:creationId xmlns:a16="http://schemas.microsoft.com/office/drawing/2014/main" xmlns="" id="{A9E83788-2C03-5E4B-9650-98AC005EE11B}"/>
                    </a:ext>
                  </a:extLst>
                </p:cNvPr>
                <p:cNvPicPr>
                  <a:picLocks noChangeAspect="1"/>
                </p:cNvPicPr>
                <p:nvPr/>
              </p:nvPicPr>
              <p:blipFill>
                <a:blip r:embed="rId5"/>
                <a:stretch>
                  <a:fillRect/>
                </a:stretch>
              </p:blipFill>
              <p:spPr>
                <a:xfrm>
                  <a:off x="8925545" y="3584428"/>
                  <a:ext cx="1149279" cy="1156638"/>
                </a:xfrm>
                <a:prstGeom prst="rect">
                  <a:avLst/>
                </a:prstGeom>
              </p:spPr>
            </p:pic>
          </p:grpSp>
        </p:grpSp>
        <p:grpSp>
          <p:nvGrpSpPr>
            <p:cNvPr id="30" name="Group 29">
              <a:extLst>
                <a:ext uri="{FF2B5EF4-FFF2-40B4-BE49-F238E27FC236}">
                  <a16:creationId xmlns:a16="http://schemas.microsoft.com/office/drawing/2014/main" xmlns="" id="{D2250B16-A0FE-EC42-BDA1-E9B0F5CBF36A}"/>
                </a:ext>
              </a:extLst>
            </p:cNvPr>
            <p:cNvGrpSpPr/>
            <p:nvPr/>
          </p:nvGrpSpPr>
          <p:grpSpPr>
            <a:xfrm>
              <a:off x="1546291" y="2145238"/>
              <a:ext cx="7768342" cy="461665"/>
              <a:chOff x="1446899" y="1997622"/>
              <a:chExt cx="7768342" cy="461665"/>
            </a:xfrm>
            <a:noFill/>
          </p:grpSpPr>
          <p:sp>
            <p:nvSpPr>
              <p:cNvPr id="27" name="TextBox 26">
                <a:extLst>
                  <a:ext uri="{FF2B5EF4-FFF2-40B4-BE49-F238E27FC236}">
                    <a16:creationId xmlns:a16="http://schemas.microsoft.com/office/drawing/2014/main" xmlns="" id="{5E638849-6F81-3045-8381-5BCCC2CE6FF1}"/>
                  </a:ext>
                </a:extLst>
              </p:cNvPr>
              <p:cNvSpPr txBox="1"/>
              <p:nvPr/>
            </p:nvSpPr>
            <p:spPr>
              <a:xfrm>
                <a:off x="1446899" y="1997622"/>
                <a:ext cx="7768342" cy="461665"/>
              </a:xfrm>
              <a:prstGeom prst="rect">
                <a:avLst/>
              </a:prstGeom>
              <a:grpFill/>
            </p:spPr>
            <p:txBody>
              <a:bodyPr wrap="square" rtlCol="0">
                <a:spAutoFit/>
              </a:bodyPr>
              <a:lstStyle/>
              <a:p>
                <a:pPr algn="ctr"/>
                <a:r>
                  <a:rPr lang="en-US" sz="2400">
                    <a:latin typeface="Amazon Ember" panose="020B0603020204020204" pitchFamily="34" charset="0"/>
                    <a:ea typeface="Amazon Ember" panose="020B0603020204020204" pitchFamily="34" charset="0"/>
                    <a:cs typeface="Amazon Ember" panose="020B0603020204020204" pitchFamily="34" charset="0"/>
                  </a:rPr>
                  <a:t>Three ways to get your</a:t>
                </a:r>
              </a:p>
            </p:txBody>
          </p:sp>
          <p:pic>
            <p:nvPicPr>
              <p:cNvPr id="28" name="Picture 27">
                <a:extLst>
                  <a:ext uri="{FF2B5EF4-FFF2-40B4-BE49-F238E27FC236}">
                    <a16:creationId xmlns:a16="http://schemas.microsoft.com/office/drawing/2014/main" xmlns="" id="{EEB057AC-FDF2-4646-8C79-A0754F9D34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27506" y="2040309"/>
                <a:ext cx="362850" cy="376290"/>
              </a:xfrm>
              <a:prstGeom prst="rect">
                <a:avLst/>
              </a:prstGeom>
              <a:grpFill/>
            </p:spPr>
          </p:pic>
          <p:sp>
            <p:nvSpPr>
              <p:cNvPr id="29" name="Rectangle 28">
                <a:extLst>
                  <a:ext uri="{FF2B5EF4-FFF2-40B4-BE49-F238E27FC236}">
                    <a16:creationId xmlns:a16="http://schemas.microsoft.com/office/drawing/2014/main" xmlns="" id="{F5B12B6F-8DDC-294D-81C4-8A8AFC501F15}"/>
                  </a:ext>
                </a:extLst>
              </p:cNvPr>
              <p:cNvSpPr/>
              <p:nvPr/>
            </p:nvSpPr>
            <p:spPr>
              <a:xfrm>
                <a:off x="7050152" y="1997622"/>
                <a:ext cx="753732" cy="461665"/>
              </a:xfrm>
              <a:prstGeom prst="rect">
                <a:avLst/>
              </a:prstGeom>
              <a:grpFill/>
            </p:spPr>
            <p:txBody>
              <a:bodyPr wrap="square">
                <a:spAutoFit/>
              </a:bodyPr>
              <a:lstStyle/>
              <a:p>
                <a:r>
                  <a:rPr lang="en-US" sz="24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AMI</a:t>
                </a:r>
              </a:p>
            </p:txBody>
          </p:sp>
        </p:grpSp>
      </p:grpSp>
    </p:spTree>
    <p:extLst>
      <p:ext uri="{BB962C8B-B14F-4D97-AF65-F5344CB8AC3E}">
        <p14:creationId xmlns:p14="http://schemas.microsoft.com/office/powerpoint/2010/main" val="27752684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How Do AMIs Help?</a:t>
            </a:r>
          </a:p>
        </p:txBody>
      </p:sp>
      <p:grpSp>
        <p:nvGrpSpPr>
          <p:cNvPr id="9" name="Group 8"/>
          <p:cNvGrpSpPr/>
          <p:nvPr/>
        </p:nvGrpSpPr>
        <p:grpSpPr>
          <a:xfrm>
            <a:off x="751790" y="1455818"/>
            <a:ext cx="4916160" cy="913768"/>
            <a:chOff x="827557" y="547849"/>
            <a:chExt cx="4916160" cy="913768"/>
          </a:xfrm>
        </p:grpSpPr>
        <p:pic>
          <p:nvPicPr>
            <p:cNvPr id="13" name="Picture 12">
              <a:extLst>
                <a:ext uri="{FF2B5EF4-FFF2-40B4-BE49-F238E27FC236}">
                  <a16:creationId xmlns:a16="http://schemas.microsoft.com/office/drawing/2014/main" xmlns="" id="{26E7E0F9-73B1-EF43-AC96-FD556B956954}"/>
                </a:ext>
              </a:extLst>
            </p:cNvPr>
            <p:cNvPicPr>
              <a:picLocks noChangeAspect="1"/>
            </p:cNvPicPr>
            <p:nvPr/>
          </p:nvPicPr>
          <p:blipFill>
            <a:blip r:embed="rId3"/>
            <a:stretch>
              <a:fillRect/>
            </a:stretch>
          </p:blipFill>
          <p:spPr>
            <a:xfrm>
              <a:off x="827557" y="547849"/>
              <a:ext cx="913768" cy="913768"/>
            </a:xfrm>
            <a:prstGeom prst="rect">
              <a:avLst/>
            </a:prstGeom>
          </p:spPr>
        </p:pic>
        <p:sp>
          <p:nvSpPr>
            <p:cNvPr id="19" name="TextBox 18">
              <a:extLst>
                <a:ext uri="{FF2B5EF4-FFF2-40B4-BE49-F238E27FC236}">
                  <a16:creationId xmlns:a16="http://schemas.microsoft.com/office/drawing/2014/main" xmlns="" id="{50A138B0-DC4E-D74C-A9A3-E3BB85D2B192}"/>
                </a:ext>
              </a:extLst>
            </p:cNvPr>
            <p:cNvSpPr txBox="1"/>
            <p:nvPr/>
          </p:nvSpPr>
          <p:spPr>
            <a:xfrm>
              <a:off x="2517113" y="743123"/>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Repeatability</a:t>
              </a:r>
            </a:p>
          </p:txBody>
        </p:sp>
      </p:grpSp>
    </p:spTree>
    <p:extLst>
      <p:ext uri="{BB962C8B-B14F-4D97-AF65-F5344CB8AC3E}">
        <p14:creationId xmlns:p14="http://schemas.microsoft.com/office/powerpoint/2010/main" val="21111657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How Do AMIs Help?</a:t>
            </a:r>
          </a:p>
        </p:txBody>
      </p:sp>
      <p:grpSp>
        <p:nvGrpSpPr>
          <p:cNvPr id="9" name="Group 8"/>
          <p:cNvGrpSpPr/>
          <p:nvPr/>
        </p:nvGrpSpPr>
        <p:grpSpPr>
          <a:xfrm>
            <a:off x="751790" y="1455818"/>
            <a:ext cx="4916160" cy="913768"/>
            <a:chOff x="827557" y="547849"/>
            <a:chExt cx="4916160" cy="913768"/>
          </a:xfrm>
        </p:grpSpPr>
        <p:pic>
          <p:nvPicPr>
            <p:cNvPr id="13" name="Picture 12">
              <a:extLst>
                <a:ext uri="{FF2B5EF4-FFF2-40B4-BE49-F238E27FC236}">
                  <a16:creationId xmlns:a16="http://schemas.microsoft.com/office/drawing/2014/main" xmlns="" id="{26E7E0F9-73B1-EF43-AC96-FD556B956954}"/>
                </a:ext>
              </a:extLst>
            </p:cNvPr>
            <p:cNvPicPr>
              <a:picLocks noChangeAspect="1"/>
            </p:cNvPicPr>
            <p:nvPr/>
          </p:nvPicPr>
          <p:blipFill>
            <a:blip r:embed="rId3"/>
            <a:stretch>
              <a:fillRect/>
            </a:stretch>
          </p:blipFill>
          <p:spPr>
            <a:xfrm>
              <a:off x="827557" y="547849"/>
              <a:ext cx="913768" cy="913768"/>
            </a:xfrm>
            <a:prstGeom prst="rect">
              <a:avLst/>
            </a:prstGeom>
          </p:spPr>
        </p:pic>
        <p:sp>
          <p:nvSpPr>
            <p:cNvPr id="19" name="TextBox 18">
              <a:extLst>
                <a:ext uri="{FF2B5EF4-FFF2-40B4-BE49-F238E27FC236}">
                  <a16:creationId xmlns:a16="http://schemas.microsoft.com/office/drawing/2014/main" xmlns="" id="{50A138B0-DC4E-D74C-A9A3-E3BB85D2B192}"/>
                </a:ext>
              </a:extLst>
            </p:cNvPr>
            <p:cNvSpPr txBox="1"/>
            <p:nvPr/>
          </p:nvSpPr>
          <p:spPr>
            <a:xfrm>
              <a:off x="2517113" y="743123"/>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Repeatability</a:t>
              </a:r>
            </a:p>
          </p:txBody>
        </p:sp>
      </p:grpSp>
      <p:grpSp>
        <p:nvGrpSpPr>
          <p:cNvPr id="7" name="Group 6"/>
          <p:cNvGrpSpPr/>
          <p:nvPr/>
        </p:nvGrpSpPr>
        <p:grpSpPr>
          <a:xfrm>
            <a:off x="779490" y="2472305"/>
            <a:ext cx="4888460" cy="897482"/>
            <a:chOff x="851986" y="1725771"/>
            <a:chExt cx="4888460" cy="897482"/>
          </a:xfrm>
        </p:grpSpPr>
        <p:pic>
          <p:nvPicPr>
            <p:cNvPr id="8" name="Picture 7">
              <a:extLst>
                <a:ext uri="{FF2B5EF4-FFF2-40B4-BE49-F238E27FC236}">
                  <a16:creationId xmlns:a16="http://schemas.microsoft.com/office/drawing/2014/main" xmlns="" id="{57DB90B1-FCC9-5441-8F5F-2D2CEF9EA34C}"/>
                </a:ext>
              </a:extLst>
            </p:cNvPr>
            <p:cNvPicPr>
              <a:picLocks noChangeAspect="1"/>
            </p:cNvPicPr>
            <p:nvPr/>
          </p:nvPicPr>
          <p:blipFill>
            <a:blip r:embed="rId4"/>
            <a:stretch>
              <a:fillRect/>
            </a:stretch>
          </p:blipFill>
          <p:spPr>
            <a:xfrm>
              <a:off x="851986" y="1725771"/>
              <a:ext cx="897482" cy="897482"/>
            </a:xfrm>
            <a:prstGeom prst="rect">
              <a:avLst/>
            </a:prstGeom>
          </p:spPr>
        </p:pic>
        <p:sp>
          <p:nvSpPr>
            <p:cNvPr id="21" name="TextBox 20">
              <a:extLst>
                <a:ext uri="{FF2B5EF4-FFF2-40B4-BE49-F238E27FC236}">
                  <a16:creationId xmlns:a16="http://schemas.microsoft.com/office/drawing/2014/main" xmlns="" id="{1CA9EB8A-D15E-0947-AF79-59535F8F5861}"/>
                </a:ext>
              </a:extLst>
            </p:cNvPr>
            <p:cNvSpPr txBox="1"/>
            <p:nvPr/>
          </p:nvSpPr>
          <p:spPr>
            <a:xfrm>
              <a:off x="2513842" y="1912902"/>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Reusability</a:t>
              </a:r>
            </a:p>
          </p:txBody>
        </p:sp>
      </p:grpSp>
    </p:spTree>
    <p:extLst>
      <p:ext uri="{BB962C8B-B14F-4D97-AF65-F5344CB8AC3E}">
        <p14:creationId xmlns:p14="http://schemas.microsoft.com/office/powerpoint/2010/main" val="20007202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How Do AMIs Help?</a:t>
            </a:r>
          </a:p>
        </p:txBody>
      </p:sp>
      <p:grpSp>
        <p:nvGrpSpPr>
          <p:cNvPr id="9" name="Group 8"/>
          <p:cNvGrpSpPr/>
          <p:nvPr/>
        </p:nvGrpSpPr>
        <p:grpSpPr>
          <a:xfrm>
            <a:off x="751790" y="1455818"/>
            <a:ext cx="4916160" cy="913768"/>
            <a:chOff x="827557" y="547849"/>
            <a:chExt cx="4916160" cy="913768"/>
          </a:xfrm>
        </p:grpSpPr>
        <p:pic>
          <p:nvPicPr>
            <p:cNvPr id="13" name="Picture 12">
              <a:extLst>
                <a:ext uri="{FF2B5EF4-FFF2-40B4-BE49-F238E27FC236}">
                  <a16:creationId xmlns:a16="http://schemas.microsoft.com/office/drawing/2014/main" xmlns="" id="{26E7E0F9-73B1-EF43-AC96-FD556B956954}"/>
                </a:ext>
              </a:extLst>
            </p:cNvPr>
            <p:cNvPicPr>
              <a:picLocks noChangeAspect="1"/>
            </p:cNvPicPr>
            <p:nvPr/>
          </p:nvPicPr>
          <p:blipFill>
            <a:blip r:embed="rId3"/>
            <a:stretch>
              <a:fillRect/>
            </a:stretch>
          </p:blipFill>
          <p:spPr>
            <a:xfrm>
              <a:off x="827557" y="547849"/>
              <a:ext cx="913768" cy="913768"/>
            </a:xfrm>
            <a:prstGeom prst="rect">
              <a:avLst/>
            </a:prstGeom>
          </p:spPr>
        </p:pic>
        <p:sp>
          <p:nvSpPr>
            <p:cNvPr id="19" name="TextBox 18">
              <a:extLst>
                <a:ext uri="{FF2B5EF4-FFF2-40B4-BE49-F238E27FC236}">
                  <a16:creationId xmlns:a16="http://schemas.microsoft.com/office/drawing/2014/main" xmlns="" id="{50A138B0-DC4E-D74C-A9A3-E3BB85D2B192}"/>
                </a:ext>
              </a:extLst>
            </p:cNvPr>
            <p:cNvSpPr txBox="1"/>
            <p:nvPr/>
          </p:nvSpPr>
          <p:spPr>
            <a:xfrm>
              <a:off x="2517113" y="743123"/>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Repeatability</a:t>
              </a:r>
            </a:p>
          </p:txBody>
        </p:sp>
      </p:grpSp>
      <p:grpSp>
        <p:nvGrpSpPr>
          <p:cNvPr id="7" name="Group 6"/>
          <p:cNvGrpSpPr/>
          <p:nvPr/>
        </p:nvGrpSpPr>
        <p:grpSpPr>
          <a:xfrm>
            <a:off x="779490" y="2472305"/>
            <a:ext cx="4888460" cy="897482"/>
            <a:chOff x="851986" y="1725771"/>
            <a:chExt cx="4888460" cy="897482"/>
          </a:xfrm>
        </p:grpSpPr>
        <p:pic>
          <p:nvPicPr>
            <p:cNvPr id="8" name="Picture 7">
              <a:extLst>
                <a:ext uri="{FF2B5EF4-FFF2-40B4-BE49-F238E27FC236}">
                  <a16:creationId xmlns:a16="http://schemas.microsoft.com/office/drawing/2014/main" xmlns="" id="{57DB90B1-FCC9-5441-8F5F-2D2CEF9EA34C}"/>
                </a:ext>
              </a:extLst>
            </p:cNvPr>
            <p:cNvPicPr>
              <a:picLocks noChangeAspect="1"/>
            </p:cNvPicPr>
            <p:nvPr/>
          </p:nvPicPr>
          <p:blipFill>
            <a:blip r:embed="rId4"/>
            <a:stretch>
              <a:fillRect/>
            </a:stretch>
          </p:blipFill>
          <p:spPr>
            <a:xfrm>
              <a:off x="851986" y="1725771"/>
              <a:ext cx="897482" cy="897482"/>
            </a:xfrm>
            <a:prstGeom prst="rect">
              <a:avLst/>
            </a:prstGeom>
          </p:spPr>
        </p:pic>
        <p:sp>
          <p:nvSpPr>
            <p:cNvPr id="21" name="TextBox 20">
              <a:extLst>
                <a:ext uri="{FF2B5EF4-FFF2-40B4-BE49-F238E27FC236}">
                  <a16:creationId xmlns:a16="http://schemas.microsoft.com/office/drawing/2014/main" xmlns="" id="{1CA9EB8A-D15E-0947-AF79-59535F8F5861}"/>
                </a:ext>
              </a:extLst>
            </p:cNvPr>
            <p:cNvSpPr txBox="1"/>
            <p:nvPr/>
          </p:nvSpPr>
          <p:spPr>
            <a:xfrm>
              <a:off x="2513842" y="1912902"/>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Reusability</a:t>
              </a:r>
            </a:p>
          </p:txBody>
        </p:sp>
      </p:grpSp>
      <p:grpSp>
        <p:nvGrpSpPr>
          <p:cNvPr id="6" name="Group 5"/>
          <p:cNvGrpSpPr/>
          <p:nvPr/>
        </p:nvGrpSpPr>
        <p:grpSpPr>
          <a:xfrm>
            <a:off x="736800" y="3380026"/>
            <a:ext cx="4931150" cy="966576"/>
            <a:chOff x="774749" y="2843819"/>
            <a:chExt cx="4931150" cy="966576"/>
          </a:xfrm>
        </p:grpSpPr>
        <p:pic>
          <p:nvPicPr>
            <p:cNvPr id="15" name="Picture 14">
              <a:extLst>
                <a:ext uri="{FF2B5EF4-FFF2-40B4-BE49-F238E27FC236}">
                  <a16:creationId xmlns:a16="http://schemas.microsoft.com/office/drawing/2014/main" xmlns="" id="{96F4682C-347B-1843-859F-F180EC2FE420}"/>
                </a:ext>
              </a:extLst>
            </p:cNvPr>
            <p:cNvPicPr>
              <a:picLocks noChangeAspect="1"/>
            </p:cNvPicPr>
            <p:nvPr/>
          </p:nvPicPr>
          <p:blipFill>
            <a:blip r:embed="rId5"/>
            <a:stretch>
              <a:fillRect/>
            </a:stretch>
          </p:blipFill>
          <p:spPr>
            <a:xfrm>
              <a:off x="774749" y="2843819"/>
              <a:ext cx="966576" cy="966576"/>
            </a:xfrm>
            <a:prstGeom prst="rect">
              <a:avLst/>
            </a:prstGeom>
          </p:spPr>
        </p:pic>
        <p:sp>
          <p:nvSpPr>
            <p:cNvPr id="22" name="TextBox 21">
              <a:extLst>
                <a:ext uri="{FF2B5EF4-FFF2-40B4-BE49-F238E27FC236}">
                  <a16:creationId xmlns:a16="http://schemas.microsoft.com/office/drawing/2014/main" xmlns="" id="{D9826058-D96B-6B49-8C4C-398604D8B3D2}"/>
                </a:ext>
              </a:extLst>
            </p:cNvPr>
            <p:cNvSpPr txBox="1"/>
            <p:nvPr/>
          </p:nvSpPr>
          <p:spPr>
            <a:xfrm>
              <a:off x="2479295" y="3065497"/>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Recoverability</a:t>
              </a:r>
            </a:p>
          </p:txBody>
        </p:sp>
      </p:grpSp>
    </p:spTree>
    <p:extLst>
      <p:ext uri="{BB962C8B-B14F-4D97-AF65-F5344CB8AC3E}">
        <p14:creationId xmlns:p14="http://schemas.microsoft.com/office/powerpoint/2010/main" val="6772947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How Do AMIs Help?</a:t>
            </a:r>
          </a:p>
        </p:txBody>
      </p:sp>
      <p:grpSp>
        <p:nvGrpSpPr>
          <p:cNvPr id="9" name="Group 8"/>
          <p:cNvGrpSpPr/>
          <p:nvPr/>
        </p:nvGrpSpPr>
        <p:grpSpPr>
          <a:xfrm>
            <a:off x="751790" y="1455818"/>
            <a:ext cx="4916160" cy="913768"/>
            <a:chOff x="827557" y="547849"/>
            <a:chExt cx="4916160" cy="913768"/>
          </a:xfrm>
        </p:grpSpPr>
        <p:pic>
          <p:nvPicPr>
            <p:cNvPr id="13" name="Picture 12">
              <a:extLst>
                <a:ext uri="{FF2B5EF4-FFF2-40B4-BE49-F238E27FC236}">
                  <a16:creationId xmlns:a16="http://schemas.microsoft.com/office/drawing/2014/main" xmlns="" id="{26E7E0F9-73B1-EF43-AC96-FD556B956954}"/>
                </a:ext>
              </a:extLst>
            </p:cNvPr>
            <p:cNvPicPr>
              <a:picLocks noChangeAspect="1"/>
            </p:cNvPicPr>
            <p:nvPr/>
          </p:nvPicPr>
          <p:blipFill>
            <a:blip r:embed="rId3"/>
            <a:stretch>
              <a:fillRect/>
            </a:stretch>
          </p:blipFill>
          <p:spPr>
            <a:xfrm>
              <a:off x="827557" y="547849"/>
              <a:ext cx="913768" cy="913768"/>
            </a:xfrm>
            <a:prstGeom prst="rect">
              <a:avLst/>
            </a:prstGeom>
          </p:spPr>
        </p:pic>
        <p:sp>
          <p:nvSpPr>
            <p:cNvPr id="19" name="TextBox 18">
              <a:extLst>
                <a:ext uri="{FF2B5EF4-FFF2-40B4-BE49-F238E27FC236}">
                  <a16:creationId xmlns:a16="http://schemas.microsoft.com/office/drawing/2014/main" xmlns="" id="{50A138B0-DC4E-D74C-A9A3-E3BB85D2B192}"/>
                </a:ext>
              </a:extLst>
            </p:cNvPr>
            <p:cNvSpPr txBox="1"/>
            <p:nvPr/>
          </p:nvSpPr>
          <p:spPr>
            <a:xfrm>
              <a:off x="2517113" y="743123"/>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Repeatability</a:t>
              </a:r>
            </a:p>
          </p:txBody>
        </p:sp>
      </p:grpSp>
      <p:grpSp>
        <p:nvGrpSpPr>
          <p:cNvPr id="7" name="Group 6"/>
          <p:cNvGrpSpPr/>
          <p:nvPr/>
        </p:nvGrpSpPr>
        <p:grpSpPr>
          <a:xfrm>
            <a:off x="779490" y="2472305"/>
            <a:ext cx="4888460" cy="897482"/>
            <a:chOff x="851986" y="1725771"/>
            <a:chExt cx="4888460" cy="897482"/>
          </a:xfrm>
        </p:grpSpPr>
        <p:pic>
          <p:nvPicPr>
            <p:cNvPr id="8" name="Picture 7">
              <a:extLst>
                <a:ext uri="{FF2B5EF4-FFF2-40B4-BE49-F238E27FC236}">
                  <a16:creationId xmlns:a16="http://schemas.microsoft.com/office/drawing/2014/main" xmlns="" id="{57DB90B1-FCC9-5441-8F5F-2D2CEF9EA34C}"/>
                </a:ext>
              </a:extLst>
            </p:cNvPr>
            <p:cNvPicPr>
              <a:picLocks noChangeAspect="1"/>
            </p:cNvPicPr>
            <p:nvPr/>
          </p:nvPicPr>
          <p:blipFill>
            <a:blip r:embed="rId4"/>
            <a:stretch>
              <a:fillRect/>
            </a:stretch>
          </p:blipFill>
          <p:spPr>
            <a:xfrm>
              <a:off x="851986" y="1725771"/>
              <a:ext cx="897482" cy="897482"/>
            </a:xfrm>
            <a:prstGeom prst="rect">
              <a:avLst/>
            </a:prstGeom>
          </p:spPr>
        </p:pic>
        <p:sp>
          <p:nvSpPr>
            <p:cNvPr id="21" name="TextBox 20">
              <a:extLst>
                <a:ext uri="{FF2B5EF4-FFF2-40B4-BE49-F238E27FC236}">
                  <a16:creationId xmlns:a16="http://schemas.microsoft.com/office/drawing/2014/main" xmlns="" id="{1CA9EB8A-D15E-0947-AF79-59535F8F5861}"/>
                </a:ext>
              </a:extLst>
            </p:cNvPr>
            <p:cNvSpPr txBox="1"/>
            <p:nvPr/>
          </p:nvSpPr>
          <p:spPr>
            <a:xfrm>
              <a:off x="2513842" y="1912902"/>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Reusability</a:t>
              </a:r>
            </a:p>
          </p:txBody>
        </p:sp>
      </p:grpSp>
      <p:grpSp>
        <p:nvGrpSpPr>
          <p:cNvPr id="6" name="Group 5"/>
          <p:cNvGrpSpPr/>
          <p:nvPr/>
        </p:nvGrpSpPr>
        <p:grpSpPr>
          <a:xfrm>
            <a:off x="736800" y="3380026"/>
            <a:ext cx="4931150" cy="966576"/>
            <a:chOff x="774749" y="2843819"/>
            <a:chExt cx="4931150" cy="966576"/>
          </a:xfrm>
        </p:grpSpPr>
        <p:pic>
          <p:nvPicPr>
            <p:cNvPr id="15" name="Picture 14">
              <a:extLst>
                <a:ext uri="{FF2B5EF4-FFF2-40B4-BE49-F238E27FC236}">
                  <a16:creationId xmlns:a16="http://schemas.microsoft.com/office/drawing/2014/main" xmlns="" id="{96F4682C-347B-1843-859F-F180EC2FE420}"/>
                </a:ext>
              </a:extLst>
            </p:cNvPr>
            <p:cNvPicPr>
              <a:picLocks noChangeAspect="1"/>
            </p:cNvPicPr>
            <p:nvPr/>
          </p:nvPicPr>
          <p:blipFill>
            <a:blip r:embed="rId5"/>
            <a:stretch>
              <a:fillRect/>
            </a:stretch>
          </p:blipFill>
          <p:spPr>
            <a:xfrm>
              <a:off x="774749" y="2843819"/>
              <a:ext cx="966576" cy="966576"/>
            </a:xfrm>
            <a:prstGeom prst="rect">
              <a:avLst/>
            </a:prstGeom>
          </p:spPr>
        </p:pic>
        <p:sp>
          <p:nvSpPr>
            <p:cNvPr id="22" name="TextBox 21">
              <a:extLst>
                <a:ext uri="{FF2B5EF4-FFF2-40B4-BE49-F238E27FC236}">
                  <a16:creationId xmlns:a16="http://schemas.microsoft.com/office/drawing/2014/main" xmlns="" id="{D9826058-D96B-6B49-8C4C-398604D8B3D2}"/>
                </a:ext>
              </a:extLst>
            </p:cNvPr>
            <p:cNvSpPr txBox="1"/>
            <p:nvPr/>
          </p:nvSpPr>
          <p:spPr>
            <a:xfrm>
              <a:off x="2479295" y="3065497"/>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Recoverability</a:t>
              </a:r>
            </a:p>
          </p:txBody>
        </p:sp>
      </p:grpSp>
      <p:grpSp>
        <p:nvGrpSpPr>
          <p:cNvPr id="3" name="Group 2"/>
          <p:cNvGrpSpPr/>
          <p:nvPr/>
        </p:nvGrpSpPr>
        <p:grpSpPr>
          <a:xfrm>
            <a:off x="725822" y="4287856"/>
            <a:ext cx="5974780" cy="1002895"/>
            <a:chOff x="799280" y="3907311"/>
            <a:chExt cx="5974780" cy="1002895"/>
          </a:xfrm>
        </p:grpSpPr>
        <p:pic>
          <p:nvPicPr>
            <p:cNvPr id="11" name="Picture 10">
              <a:extLst>
                <a:ext uri="{FF2B5EF4-FFF2-40B4-BE49-F238E27FC236}">
                  <a16:creationId xmlns:a16="http://schemas.microsoft.com/office/drawing/2014/main" xmlns="" id="{B165D247-8568-2846-9846-2B4CD404D552}"/>
                </a:ext>
              </a:extLst>
            </p:cNvPr>
            <p:cNvPicPr>
              <a:picLocks noChangeAspect="1"/>
            </p:cNvPicPr>
            <p:nvPr/>
          </p:nvPicPr>
          <p:blipFill>
            <a:blip r:embed="rId6"/>
            <a:stretch>
              <a:fillRect/>
            </a:stretch>
          </p:blipFill>
          <p:spPr>
            <a:xfrm>
              <a:off x="799280" y="3907311"/>
              <a:ext cx="1002895" cy="1002895"/>
            </a:xfrm>
            <a:prstGeom prst="rect">
              <a:avLst/>
            </a:prstGeom>
          </p:spPr>
        </p:pic>
        <p:sp>
          <p:nvSpPr>
            <p:cNvPr id="23" name="TextBox 22">
              <a:extLst>
                <a:ext uri="{FF2B5EF4-FFF2-40B4-BE49-F238E27FC236}">
                  <a16:creationId xmlns:a16="http://schemas.microsoft.com/office/drawing/2014/main" xmlns="" id="{DA2EF784-E64D-1549-9244-2C3F433D8B78}"/>
                </a:ext>
              </a:extLst>
            </p:cNvPr>
            <p:cNvSpPr txBox="1"/>
            <p:nvPr/>
          </p:nvSpPr>
          <p:spPr>
            <a:xfrm>
              <a:off x="2513841" y="4147148"/>
              <a:ext cx="4260219"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Marketplace Solutions</a:t>
              </a:r>
            </a:p>
          </p:txBody>
        </p:sp>
      </p:grpSp>
    </p:spTree>
    <p:extLst>
      <p:ext uri="{BB962C8B-B14F-4D97-AF65-F5344CB8AC3E}">
        <p14:creationId xmlns:p14="http://schemas.microsoft.com/office/powerpoint/2010/main" val="18078247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How Do AMIs Help?</a:t>
            </a:r>
          </a:p>
        </p:txBody>
      </p:sp>
      <p:grpSp>
        <p:nvGrpSpPr>
          <p:cNvPr id="9" name="Group 8"/>
          <p:cNvGrpSpPr/>
          <p:nvPr/>
        </p:nvGrpSpPr>
        <p:grpSpPr>
          <a:xfrm>
            <a:off x="751790" y="1455818"/>
            <a:ext cx="4916160" cy="913768"/>
            <a:chOff x="827557" y="547849"/>
            <a:chExt cx="4916160" cy="913768"/>
          </a:xfrm>
        </p:grpSpPr>
        <p:pic>
          <p:nvPicPr>
            <p:cNvPr id="13" name="Picture 12">
              <a:extLst>
                <a:ext uri="{FF2B5EF4-FFF2-40B4-BE49-F238E27FC236}">
                  <a16:creationId xmlns:a16="http://schemas.microsoft.com/office/drawing/2014/main" xmlns="" id="{26E7E0F9-73B1-EF43-AC96-FD556B956954}"/>
                </a:ext>
              </a:extLst>
            </p:cNvPr>
            <p:cNvPicPr>
              <a:picLocks noChangeAspect="1"/>
            </p:cNvPicPr>
            <p:nvPr/>
          </p:nvPicPr>
          <p:blipFill>
            <a:blip r:embed="rId3"/>
            <a:stretch>
              <a:fillRect/>
            </a:stretch>
          </p:blipFill>
          <p:spPr>
            <a:xfrm>
              <a:off x="827557" y="547849"/>
              <a:ext cx="913768" cy="913768"/>
            </a:xfrm>
            <a:prstGeom prst="rect">
              <a:avLst/>
            </a:prstGeom>
          </p:spPr>
        </p:pic>
        <p:sp>
          <p:nvSpPr>
            <p:cNvPr id="19" name="TextBox 18">
              <a:extLst>
                <a:ext uri="{FF2B5EF4-FFF2-40B4-BE49-F238E27FC236}">
                  <a16:creationId xmlns:a16="http://schemas.microsoft.com/office/drawing/2014/main" xmlns="" id="{50A138B0-DC4E-D74C-A9A3-E3BB85D2B192}"/>
                </a:ext>
              </a:extLst>
            </p:cNvPr>
            <p:cNvSpPr txBox="1"/>
            <p:nvPr/>
          </p:nvSpPr>
          <p:spPr>
            <a:xfrm>
              <a:off x="2517113" y="743123"/>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Repeatability</a:t>
              </a:r>
            </a:p>
          </p:txBody>
        </p:sp>
      </p:grpSp>
      <p:grpSp>
        <p:nvGrpSpPr>
          <p:cNvPr id="7" name="Group 6"/>
          <p:cNvGrpSpPr/>
          <p:nvPr/>
        </p:nvGrpSpPr>
        <p:grpSpPr>
          <a:xfrm>
            <a:off x="779490" y="2472305"/>
            <a:ext cx="4888460" cy="897482"/>
            <a:chOff x="851986" y="1725771"/>
            <a:chExt cx="4888460" cy="897482"/>
          </a:xfrm>
        </p:grpSpPr>
        <p:pic>
          <p:nvPicPr>
            <p:cNvPr id="8" name="Picture 7">
              <a:extLst>
                <a:ext uri="{FF2B5EF4-FFF2-40B4-BE49-F238E27FC236}">
                  <a16:creationId xmlns:a16="http://schemas.microsoft.com/office/drawing/2014/main" xmlns="" id="{57DB90B1-FCC9-5441-8F5F-2D2CEF9EA34C}"/>
                </a:ext>
              </a:extLst>
            </p:cNvPr>
            <p:cNvPicPr>
              <a:picLocks noChangeAspect="1"/>
            </p:cNvPicPr>
            <p:nvPr/>
          </p:nvPicPr>
          <p:blipFill>
            <a:blip r:embed="rId4"/>
            <a:stretch>
              <a:fillRect/>
            </a:stretch>
          </p:blipFill>
          <p:spPr>
            <a:xfrm>
              <a:off x="851986" y="1725771"/>
              <a:ext cx="897482" cy="897482"/>
            </a:xfrm>
            <a:prstGeom prst="rect">
              <a:avLst/>
            </a:prstGeom>
          </p:spPr>
        </p:pic>
        <p:sp>
          <p:nvSpPr>
            <p:cNvPr id="21" name="TextBox 20">
              <a:extLst>
                <a:ext uri="{FF2B5EF4-FFF2-40B4-BE49-F238E27FC236}">
                  <a16:creationId xmlns:a16="http://schemas.microsoft.com/office/drawing/2014/main" xmlns="" id="{1CA9EB8A-D15E-0947-AF79-59535F8F5861}"/>
                </a:ext>
              </a:extLst>
            </p:cNvPr>
            <p:cNvSpPr txBox="1"/>
            <p:nvPr/>
          </p:nvSpPr>
          <p:spPr>
            <a:xfrm>
              <a:off x="2513842" y="1912902"/>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Reusability</a:t>
              </a:r>
            </a:p>
          </p:txBody>
        </p:sp>
      </p:grpSp>
      <p:grpSp>
        <p:nvGrpSpPr>
          <p:cNvPr id="6" name="Group 5"/>
          <p:cNvGrpSpPr/>
          <p:nvPr/>
        </p:nvGrpSpPr>
        <p:grpSpPr>
          <a:xfrm>
            <a:off x="736800" y="3380026"/>
            <a:ext cx="4931150" cy="966576"/>
            <a:chOff x="774749" y="2843819"/>
            <a:chExt cx="4931150" cy="966576"/>
          </a:xfrm>
        </p:grpSpPr>
        <p:pic>
          <p:nvPicPr>
            <p:cNvPr id="15" name="Picture 14">
              <a:extLst>
                <a:ext uri="{FF2B5EF4-FFF2-40B4-BE49-F238E27FC236}">
                  <a16:creationId xmlns:a16="http://schemas.microsoft.com/office/drawing/2014/main" xmlns="" id="{96F4682C-347B-1843-859F-F180EC2FE420}"/>
                </a:ext>
              </a:extLst>
            </p:cNvPr>
            <p:cNvPicPr>
              <a:picLocks noChangeAspect="1"/>
            </p:cNvPicPr>
            <p:nvPr/>
          </p:nvPicPr>
          <p:blipFill>
            <a:blip r:embed="rId5"/>
            <a:stretch>
              <a:fillRect/>
            </a:stretch>
          </p:blipFill>
          <p:spPr>
            <a:xfrm>
              <a:off x="774749" y="2843819"/>
              <a:ext cx="966576" cy="966576"/>
            </a:xfrm>
            <a:prstGeom prst="rect">
              <a:avLst/>
            </a:prstGeom>
          </p:spPr>
        </p:pic>
        <p:sp>
          <p:nvSpPr>
            <p:cNvPr id="22" name="TextBox 21">
              <a:extLst>
                <a:ext uri="{FF2B5EF4-FFF2-40B4-BE49-F238E27FC236}">
                  <a16:creationId xmlns:a16="http://schemas.microsoft.com/office/drawing/2014/main" xmlns="" id="{D9826058-D96B-6B49-8C4C-398604D8B3D2}"/>
                </a:ext>
              </a:extLst>
            </p:cNvPr>
            <p:cNvSpPr txBox="1"/>
            <p:nvPr/>
          </p:nvSpPr>
          <p:spPr>
            <a:xfrm>
              <a:off x="2479295" y="3065497"/>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Recoverability</a:t>
              </a:r>
            </a:p>
          </p:txBody>
        </p:sp>
      </p:grpSp>
      <p:grpSp>
        <p:nvGrpSpPr>
          <p:cNvPr id="3" name="Group 2"/>
          <p:cNvGrpSpPr/>
          <p:nvPr/>
        </p:nvGrpSpPr>
        <p:grpSpPr>
          <a:xfrm>
            <a:off x="725822" y="4287856"/>
            <a:ext cx="5974780" cy="1002895"/>
            <a:chOff x="799280" y="3907311"/>
            <a:chExt cx="5974780" cy="1002895"/>
          </a:xfrm>
        </p:grpSpPr>
        <p:pic>
          <p:nvPicPr>
            <p:cNvPr id="11" name="Picture 10">
              <a:extLst>
                <a:ext uri="{FF2B5EF4-FFF2-40B4-BE49-F238E27FC236}">
                  <a16:creationId xmlns:a16="http://schemas.microsoft.com/office/drawing/2014/main" xmlns="" id="{B165D247-8568-2846-9846-2B4CD404D552}"/>
                </a:ext>
              </a:extLst>
            </p:cNvPr>
            <p:cNvPicPr>
              <a:picLocks noChangeAspect="1"/>
            </p:cNvPicPr>
            <p:nvPr/>
          </p:nvPicPr>
          <p:blipFill>
            <a:blip r:embed="rId6"/>
            <a:stretch>
              <a:fillRect/>
            </a:stretch>
          </p:blipFill>
          <p:spPr>
            <a:xfrm>
              <a:off x="799280" y="3907311"/>
              <a:ext cx="1002895" cy="1002895"/>
            </a:xfrm>
            <a:prstGeom prst="rect">
              <a:avLst/>
            </a:prstGeom>
          </p:spPr>
        </p:pic>
        <p:sp>
          <p:nvSpPr>
            <p:cNvPr id="23" name="TextBox 22">
              <a:extLst>
                <a:ext uri="{FF2B5EF4-FFF2-40B4-BE49-F238E27FC236}">
                  <a16:creationId xmlns:a16="http://schemas.microsoft.com/office/drawing/2014/main" xmlns="" id="{DA2EF784-E64D-1549-9244-2C3F433D8B78}"/>
                </a:ext>
              </a:extLst>
            </p:cNvPr>
            <p:cNvSpPr txBox="1"/>
            <p:nvPr/>
          </p:nvSpPr>
          <p:spPr>
            <a:xfrm>
              <a:off x="2513841" y="4147148"/>
              <a:ext cx="4260219"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Marketplace Solutions</a:t>
              </a:r>
            </a:p>
          </p:txBody>
        </p:sp>
      </p:grpSp>
      <p:grpSp>
        <p:nvGrpSpPr>
          <p:cNvPr id="5" name="Group 4"/>
          <p:cNvGrpSpPr/>
          <p:nvPr/>
        </p:nvGrpSpPr>
        <p:grpSpPr>
          <a:xfrm>
            <a:off x="741541" y="5295663"/>
            <a:ext cx="4926409" cy="1042473"/>
            <a:chOff x="779490" y="5068947"/>
            <a:chExt cx="4926409" cy="1042473"/>
          </a:xfrm>
        </p:grpSpPr>
        <p:pic>
          <p:nvPicPr>
            <p:cNvPr id="17" name="Picture 16">
              <a:extLst>
                <a:ext uri="{FF2B5EF4-FFF2-40B4-BE49-F238E27FC236}">
                  <a16:creationId xmlns:a16="http://schemas.microsoft.com/office/drawing/2014/main" xmlns="" id="{7E9B2203-1093-FE45-B604-79D5F850EB60}"/>
                </a:ext>
              </a:extLst>
            </p:cNvPr>
            <p:cNvPicPr>
              <a:picLocks noChangeAspect="1"/>
            </p:cNvPicPr>
            <p:nvPr/>
          </p:nvPicPr>
          <p:blipFill>
            <a:blip r:embed="rId7"/>
            <a:stretch>
              <a:fillRect/>
            </a:stretch>
          </p:blipFill>
          <p:spPr>
            <a:xfrm>
              <a:off x="779490" y="5068947"/>
              <a:ext cx="1042473" cy="1042473"/>
            </a:xfrm>
            <a:prstGeom prst="rect">
              <a:avLst/>
            </a:prstGeom>
          </p:spPr>
        </p:pic>
        <p:sp>
          <p:nvSpPr>
            <p:cNvPr id="24" name="TextBox 23">
              <a:extLst>
                <a:ext uri="{FF2B5EF4-FFF2-40B4-BE49-F238E27FC236}">
                  <a16:creationId xmlns:a16="http://schemas.microsoft.com/office/drawing/2014/main" xmlns="" id="{0804AEA1-5CD2-9245-8A42-C2085AECAF92}"/>
                </a:ext>
              </a:extLst>
            </p:cNvPr>
            <p:cNvSpPr txBox="1"/>
            <p:nvPr/>
          </p:nvSpPr>
          <p:spPr>
            <a:xfrm>
              <a:off x="2479295" y="5328573"/>
              <a:ext cx="3226604" cy="523220"/>
            </a:xfrm>
            <a:prstGeom prst="rect">
              <a:avLst/>
            </a:prstGeom>
            <a:noFill/>
          </p:spPr>
          <p:txBody>
            <a:bodyPr wrap="squar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Backups</a:t>
              </a:r>
            </a:p>
          </p:txBody>
        </p:sp>
      </p:grpSp>
    </p:spTree>
    <p:extLst>
      <p:ext uri="{BB962C8B-B14F-4D97-AF65-F5344CB8AC3E}">
        <p14:creationId xmlns:p14="http://schemas.microsoft.com/office/powerpoint/2010/main" val="8067884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EC2 Image Builder</a:t>
            </a:r>
          </a:p>
        </p:txBody>
      </p:sp>
      <p:grpSp>
        <p:nvGrpSpPr>
          <p:cNvPr id="5" name="Group 4"/>
          <p:cNvGrpSpPr/>
          <p:nvPr/>
        </p:nvGrpSpPr>
        <p:grpSpPr>
          <a:xfrm>
            <a:off x="418991" y="1932877"/>
            <a:ext cx="10449731" cy="973137"/>
            <a:chOff x="418991" y="1932877"/>
            <a:chExt cx="10449731" cy="973137"/>
          </a:xfrm>
        </p:grpSpPr>
        <p:sp>
          <p:nvSpPr>
            <p:cNvPr id="4" name="Rectangle 3"/>
            <p:cNvSpPr/>
            <p:nvPr/>
          </p:nvSpPr>
          <p:spPr>
            <a:xfrm>
              <a:off x="2557424" y="2200217"/>
              <a:ext cx="8311298" cy="646331"/>
            </a:xfrm>
            <a:prstGeom prst="rect">
              <a:avLst/>
            </a:prstGeom>
          </p:spPr>
          <p:txBody>
            <a:bodyPr wrap="square">
              <a:spAutoFit/>
            </a:bodyPr>
            <a:lstStyle/>
            <a:p>
              <a:r>
                <a:rPr lang="en-US" sz="18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EC2 Image Builder simplifies the creation, maintenance, validation, sharing, and deployment of Linux or Windows Server images.</a:t>
              </a:r>
              <a:endParaRPr lang="en-US" sz="180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026" name="Picture 2" descr="SiteMerch_Image-Factory_Edi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991" y="1932877"/>
              <a:ext cx="1982315" cy="9731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p:cNvGrpSpPr/>
          <p:nvPr/>
        </p:nvGrpSpPr>
        <p:grpSpPr>
          <a:xfrm>
            <a:off x="319920" y="3930966"/>
            <a:ext cx="11548985" cy="1834780"/>
            <a:chOff x="260195" y="3930966"/>
            <a:chExt cx="11548985" cy="1834780"/>
          </a:xfrm>
        </p:grpSpPr>
        <p:sp>
          <p:nvSpPr>
            <p:cNvPr id="13" name="TextBox 12"/>
            <p:cNvSpPr txBox="1"/>
            <p:nvPr/>
          </p:nvSpPr>
          <p:spPr>
            <a:xfrm>
              <a:off x="260195" y="4934749"/>
              <a:ext cx="1469962" cy="338554"/>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Source image</a:t>
              </a:r>
            </a:p>
          </p:txBody>
        </p:sp>
        <p:grpSp>
          <p:nvGrpSpPr>
            <p:cNvPr id="15" name="Group 14"/>
            <p:cNvGrpSpPr/>
            <p:nvPr/>
          </p:nvGrpSpPr>
          <p:grpSpPr>
            <a:xfrm>
              <a:off x="597449" y="3930966"/>
              <a:ext cx="11211731" cy="1834780"/>
              <a:chOff x="597449" y="3930966"/>
              <a:chExt cx="11211731" cy="1834780"/>
            </a:xfrm>
          </p:grpSpPr>
          <p:grpSp>
            <p:nvGrpSpPr>
              <p:cNvPr id="14" name="Group 13"/>
              <p:cNvGrpSpPr/>
              <p:nvPr/>
            </p:nvGrpSpPr>
            <p:grpSpPr>
              <a:xfrm>
                <a:off x="597449" y="3999626"/>
                <a:ext cx="795453" cy="760983"/>
                <a:chOff x="394010" y="4036741"/>
                <a:chExt cx="1115123" cy="1066800"/>
              </a:xfrm>
            </p:grpSpPr>
            <p:sp>
              <p:nvSpPr>
                <p:cNvPr id="6" name="Rectangle 5"/>
                <p:cNvSpPr/>
                <p:nvPr/>
              </p:nvSpPr>
              <p:spPr>
                <a:xfrm>
                  <a:off x="394010" y="4036741"/>
                  <a:ext cx="490654" cy="490654"/>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18479" y="4036741"/>
                  <a:ext cx="490654" cy="490654"/>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94010" y="4612887"/>
                  <a:ext cx="490654" cy="490654"/>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018479" y="4612887"/>
                  <a:ext cx="490654" cy="490654"/>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 name="Straight Arrow Connector 7"/>
              <p:cNvCxnSpPr/>
              <p:nvPr/>
            </p:nvCxnSpPr>
            <p:spPr>
              <a:xfrm>
                <a:off x="1648055" y="4380117"/>
                <a:ext cx="5872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237003" y="4934749"/>
                <a:ext cx="1880916" cy="830997"/>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Customize software installed on the image</a:t>
                </a:r>
              </a:p>
            </p:txBody>
          </p:sp>
          <p:sp>
            <p:nvSpPr>
              <p:cNvPr id="17" name="TextBox 16"/>
              <p:cNvSpPr txBox="1"/>
              <p:nvPr/>
            </p:nvSpPr>
            <p:spPr>
              <a:xfrm>
                <a:off x="2265480" y="4934749"/>
                <a:ext cx="1587190" cy="584775"/>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EC2 Image Builder</a:t>
                </a:r>
              </a:p>
            </p:txBody>
          </p:sp>
          <p:sp>
            <p:nvSpPr>
              <p:cNvPr id="18" name="TextBox 17"/>
              <p:cNvSpPr txBox="1"/>
              <p:nvPr/>
            </p:nvSpPr>
            <p:spPr>
              <a:xfrm>
                <a:off x="8106199" y="4934749"/>
                <a:ext cx="1880916" cy="338554"/>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Test images</a:t>
                </a:r>
              </a:p>
            </p:txBody>
          </p:sp>
          <p:sp>
            <p:nvSpPr>
              <p:cNvPr id="19" name="TextBox 18"/>
              <p:cNvSpPr txBox="1"/>
              <p:nvPr/>
            </p:nvSpPr>
            <p:spPr>
              <a:xfrm>
                <a:off x="6195019" y="4934749"/>
                <a:ext cx="1880916" cy="830997"/>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Source image with AWS provided or custom templates</a:t>
                </a:r>
              </a:p>
            </p:txBody>
          </p:sp>
          <p:sp>
            <p:nvSpPr>
              <p:cNvPr id="20" name="TextBox 19"/>
              <p:cNvSpPr txBox="1"/>
              <p:nvPr/>
            </p:nvSpPr>
            <p:spPr>
              <a:xfrm>
                <a:off x="9928264" y="4934749"/>
                <a:ext cx="1880916" cy="584775"/>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Distribute golden images</a:t>
                </a:r>
              </a:p>
            </p:txBody>
          </p:sp>
          <p:pic>
            <p:nvPicPr>
              <p:cNvPr id="22" name="Picture 2" descr="SiteMerch_Image-Factory_Edi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0506" y="4101001"/>
                <a:ext cx="1137138" cy="55823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xmlns="" id="{E8348D78-E2EC-A149-AF3E-82F8DF30E8F3}"/>
                  </a:ext>
                </a:extLst>
              </p:cNvPr>
              <p:cNvPicPr>
                <a:picLocks noChangeAspect="1"/>
              </p:cNvPicPr>
              <p:nvPr/>
            </p:nvPicPr>
            <p:blipFill>
              <a:blip r:embed="rId3"/>
              <a:stretch>
                <a:fillRect/>
              </a:stretch>
            </p:blipFill>
            <p:spPr>
              <a:xfrm>
                <a:off x="4725248" y="3930966"/>
                <a:ext cx="898303" cy="898303"/>
              </a:xfrm>
              <a:prstGeom prst="rect">
                <a:avLst/>
              </a:prstGeom>
            </p:spPr>
          </p:pic>
          <p:cxnSp>
            <p:nvCxnSpPr>
              <p:cNvPr id="24" name="Straight Arrow Connector 23"/>
              <p:cNvCxnSpPr/>
              <p:nvPr/>
            </p:nvCxnSpPr>
            <p:spPr>
              <a:xfrm>
                <a:off x="3882797" y="4380117"/>
                <a:ext cx="5872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xmlns="" id="{D5E8B037-C372-B648-93E1-5C25DA697766}"/>
                  </a:ext>
                </a:extLst>
              </p:cNvPr>
              <p:cNvPicPr>
                <a:picLocks noChangeAspect="1"/>
              </p:cNvPicPr>
              <p:nvPr/>
            </p:nvPicPr>
            <p:blipFill>
              <a:blip r:embed="rId4"/>
              <a:stretch>
                <a:fillRect/>
              </a:stretch>
            </p:blipFill>
            <p:spPr>
              <a:xfrm>
                <a:off x="8643626" y="3977087"/>
                <a:ext cx="806062" cy="806060"/>
              </a:xfrm>
              <a:prstGeom prst="rect">
                <a:avLst/>
              </a:prstGeom>
            </p:spPr>
          </p:pic>
          <p:pic>
            <p:nvPicPr>
              <p:cNvPr id="26" name="Picture 25">
                <a:extLst>
                  <a:ext uri="{FF2B5EF4-FFF2-40B4-BE49-F238E27FC236}">
                    <a16:creationId xmlns:a16="http://schemas.microsoft.com/office/drawing/2014/main" xmlns="" id="{3D279264-BCCC-1040-9040-ED698ECBB7EB}"/>
                  </a:ext>
                </a:extLst>
              </p:cNvPr>
              <p:cNvPicPr>
                <a:picLocks noChangeAspect="1"/>
              </p:cNvPicPr>
              <p:nvPr/>
            </p:nvPicPr>
            <p:blipFill>
              <a:blip r:embed="rId5"/>
              <a:stretch>
                <a:fillRect/>
              </a:stretch>
            </p:blipFill>
            <p:spPr>
              <a:xfrm>
                <a:off x="6721155" y="3967684"/>
                <a:ext cx="824867" cy="824867"/>
              </a:xfrm>
              <a:prstGeom prst="rect">
                <a:avLst/>
              </a:prstGeom>
            </p:spPr>
          </p:pic>
          <p:pic>
            <p:nvPicPr>
              <p:cNvPr id="27" name="Picture 26">
                <a:extLst>
                  <a:ext uri="{FF2B5EF4-FFF2-40B4-BE49-F238E27FC236}">
                    <a16:creationId xmlns:a16="http://schemas.microsoft.com/office/drawing/2014/main" xmlns="" id="{74F63BDD-B1FA-BB46-BEB2-2D0002236C80}"/>
                  </a:ext>
                </a:extLst>
              </p:cNvPr>
              <p:cNvPicPr>
                <a:picLocks noChangeAspect="1"/>
              </p:cNvPicPr>
              <p:nvPr/>
            </p:nvPicPr>
            <p:blipFill>
              <a:blip r:embed="rId6"/>
              <a:stretch>
                <a:fillRect/>
              </a:stretch>
            </p:blipFill>
            <p:spPr>
              <a:xfrm>
                <a:off x="10547293" y="4018281"/>
                <a:ext cx="642858" cy="723673"/>
              </a:xfrm>
              <a:prstGeom prst="rect">
                <a:avLst/>
              </a:prstGeom>
            </p:spPr>
          </p:pic>
          <p:cxnSp>
            <p:nvCxnSpPr>
              <p:cNvPr id="29" name="Straight Arrow Connector 28"/>
              <p:cNvCxnSpPr/>
              <p:nvPr/>
            </p:nvCxnSpPr>
            <p:spPr>
              <a:xfrm>
                <a:off x="5878704" y="4380117"/>
                <a:ext cx="5872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7801175" y="4380117"/>
                <a:ext cx="5872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9704841" y="4380117"/>
                <a:ext cx="5872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637756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163" y="2770247"/>
            <a:ext cx="8454690" cy="779463"/>
          </a:xfrm>
        </p:spPr>
        <p:txBody>
          <a:bodyPr/>
          <a:lstStyle/>
          <a:p>
            <a:r>
              <a:rPr lang="en-US"/>
              <a:t>Launching Amazon EC2 Instances with User Data</a:t>
            </a:r>
          </a:p>
        </p:txBody>
      </p:sp>
    </p:spTree>
    <p:extLst>
      <p:ext uri="{BB962C8B-B14F-4D97-AF65-F5344CB8AC3E}">
        <p14:creationId xmlns:p14="http://schemas.microsoft.com/office/powerpoint/2010/main" val="38750581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a:xfrm>
            <a:off x="418991" y="263531"/>
            <a:ext cx="6383253" cy="779463"/>
          </a:xfrm>
        </p:spPr>
        <p:txBody>
          <a:bodyPr>
            <a:normAutofit fontScale="90000"/>
          </a:bodyPr>
          <a:lstStyle/>
          <a:p>
            <a:r>
              <a:rPr lang="en-US"/>
              <a:t>Launching EC2 Instances with User Data</a:t>
            </a:r>
          </a:p>
        </p:txBody>
      </p:sp>
      <p:grpSp>
        <p:nvGrpSpPr>
          <p:cNvPr id="14" name="Group 13">
            <a:extLst>
              <a:ext uri="{FF2B5EF4-FFF2-40B4-BE49-F238E27FC236}">
                <a16:creationId xmlns:a16="http://schemas.microsoft.com/office/drawing/2014/main" xmlns="" id="{18A2879A-664F-8144-861E-1123A1C5BD4B}"/>
              </a:ext>
            </a:extLst>
          </p:cNvPr>
          <p:cNvGrpSpPr/>
          <p:nvPr/>
        </p:nvGrpSpPr>
        <p:grpSpPr>
          <a:xfrm>
            <a:off x="855933" y="2382181"/>
            <a:ext cx="9789704" cy="2738871"/>
            <a:chOff x="753031" y="1811514"/>
            <a:chExt cx="9789704" cy="2738871"/>
          </a:xfrm>
        </p:grpSpPr>
        <p:sp>
          <p:nvSpPr>
            <p:cNvPr id="25" name="TextBox 24">
              <a:extLst>
                <a:ext uri="{FF2B5EF4-FFF2-40B4-BE49-F238E27FC236}">
                  <a16:creationId xmlns:a16="http://schemas.microsoft.com/office/drawing/2014/main" xmlns="" id="{2D51974D-CF09-D14A-9E28-964E7DFA28F2}"/>
                </a:ext>
              </a:extLst>
            </p:cNvPr>
            <p:cNvSpPr txBox="1"/>
            <p:nvPr/>
          </p:nvSpPr>
          <p:spPr>
            <a:xfrm>
              <a:off x="753031" y="3875473"/>
              <a:ext cx="2318928"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Your AMI</a:t>
              </a:r>
            </a:p>
          </p:txBody>
        </p:sp>
        <p:grpSp>
          <p:nvGrpSpPr>
            <p:cNvPr id="10" name="Group 9">
              <a:extLst>
                <a:ext uri="{FF2B5EF4-FFF2-40B4-BE49-F238E27FC236}">
                  <a16:creationId xmlns:a16="http://schemas.microsoft.com/office/drawing/2014/main" xmlns="" id="{DFE6BD66-08CF-D749-9A25-4A874E11268A}"/>
                </a:ext>
              </a:extLst>
            </p:cNvPr>
            <p:cNvGrpSpPr/>
            <p:nvPr/>
          </p:nvGrpSpPr>
          <p:grpSpPr>
            <a:xfrm>
              <a:off x="8223807" y="2374493"/>
              <a:ext cx="2318928" cy="2175892"/>
              <a:chOff x="8223807" y="2374493"/>
              <a:chExt cx="2318928" cy="2175892"/>
            </a:xfrm>
          </p:grpSpPr>
          <p:pic>
            <p:nvPicPr>
              <p:cNvPr id="16" name="Picture 15">
                <a:extLst>
                  <a:ext uri="{FF2B5EF4-FFF2-40B4-BE49-F238E27FC236}">
                    <a16:creationId xmlns:a16="http://schemas.microsoft.com/office/drawing/2014/main" xmlns="" id="{9A976B16-743E-624C-B984-ABEA5B29A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6151" y="2374493"/>
                <a:ext cx="1214241" cy="1259215"/>
              </a:xfrm>
              <a:prstGeom prst="rect">
                <a:avLst/>
              </a:prstGeom>
            </p:spPr>
          </p:pic>
          <p:sp>
            <p:nvSpPr>
              <p:cNvPr id="26" name="TextBox 25">
                <a:extLst>
                  <a:ext uri="{FF2B5EF4-FFF2-40B4-BE49-F238E27FC236}">
                    <a16:creationId xmlns:a16="http://schemas.microsoft.com/office/drawing/2014/main" xmlns="" id="{8239E68F-AA0C-0349-8091-CA99E83DF0BF}"/>
                  </a:ext>
                </a:extLst>
              </p:cNvPr>
              <p:cNvSpPr txBox="1"/>
              <p:nvPr/>
            </p:nvSpPr>
            <p:spPr>
              <a:xfrm>
                <a:off x="8223807" y="3842499"/>
                <a:ext cx="2318928" cy="707886"/>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Running EC2 Instance</a:t>
                </a:r>
              </a:p>
            </p:txBody>
          </p:sp>
        </p:grpSp>
        <p:grpSp>
          <p:nvGrpSpPr>
            <p:cNvPr id="9" name="Group 8">
              <a:extLst>
                <a:ext uri="{FF2B5EF4-FFF2-40B4-BE49-F238E27FC236}">
                  <a16:creationId xmlns:a16="http://schemas.microsoft.com/office/drawing/2014/main" xmlns="" id="{1C66323C-5A32-614B-9BB9-8FAA170C3801}"/>
                </a:ext>
              </a:extLst>
            </p:cNvPr>
            <p:cNvGrpSpPr/>
            <p:nvPr/>
          </p:nvGrpSpPr>
          <p:grpSpPr>
            <a:xfrm>
              <a:off x="2705546" y="1811514"/>
              <a:ext cx="5935252" cy="2608919"/>
              <a:chOff x="2731754" y="1811514"/>
              <a:chExt cx="5935252" cy="2608919"/>
            </a:xfrm>
          </p:grpSpPr>
          <p:sp>
            <p:nvSpPr>
              <p:cNvPr id="20" name="Right Arrow 19">
                <a:extLst>
                  <a:ext uri="{FF2B5EF4-FFF2-40B4-BE49-F238E27FC236}">
                    <a16:creationId xmlns:a16="http://schemas.microsoft.com/office/drawing/2014/main" xmlns="" id="{E4D8FF10-2C82-DB40-A8E9-18A0A298CA72}"/>
                  </a:ext>
                </a:extLst>
              </p:cNvPr>
              <p:cNvSpPr/>
              <p:nvPr/>
            </p:nvSpPr>
            <p:spPr>
              <a:xfrm>
                <a:off x="2731754" y="2855588"/>
                <a:ext cx="5935252" cy="305254"/>
              </a:xfrm>
              <a:prstGeom prst="rightArrow">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xmlns="" id="{40823D0F-410B-9047-85F7-40F156350372}"/>
                  </a:ext>
                </a:extLst>
              </p:cNvPr>
              <p:cNvGrpSpPr/>
              <p:nvPr/>
            </p:nvGrpSpPr>
            <p:grpSpPr>
              <a:xfrm>
                <a:off x="4185688" y="1811514"/>
                <a:ext cx="4160583" cy="2608919"/>
                <a:chOff x="4223649" y="1811514"/>
                <a:chExt cx="4160583" cy="2608919"/>
              </a:xfrm>
            </p:grpSpPr>
            <p:sp>
              <p:nvSpPr>
                <p:cNvPr id="3" name="Rectangle 2">
                  <a:extLst>
                    <a:ext uri="{FF2B5EF4-FFF2-40B4-BE49-F238E27FC236}">
                      <a16:creationId xmlns:a16="http://schemas.microsoft.com/office/drawing/2014/main" xmlns="" id="{CB2B72C8-780E-B441-BE46-6AE5F1BBA320}"/>
                    </a:ext>
                  </a:extLst>
                </p:cNvPr>
                <p:cNvSpPr/>
                <p:nvPr/>
              </p:nvSpPr>
              <p:spPr>
                <a:xfrm>
                  <a:off x="4223649" y="2342147"/>
                  <a:ext cx="3162737" cy="2078286"/>
                </a:xfrm>
                <a:prstGeom prst="rect">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38739DD0-D5B4-B843-8A0A-33C98BEE80F8}"/>
                    </a:ext>
                  </a:extLst>
                </p:cNvPr>
                <p:cNvSpPr txBox="1"/>
                <p:nvPr/>
              </p:nvSpPr>
              <p:spPr>
                <a:xfrm>
                  <a:off x="4645553" y="1811514"/>
                  <a:ext cx="2318928"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User Data</a:t>
                  </a:r>
                </a:p>
              </p:txBody>
            </p:sp>
            <p:sp>
              <p:nvSpPr>
                <p:cNvPr id="6" name="Rectangle 5">
                  <a:extLst>
                    <a:ext uri="{FF2B5EF4-FFF2-40B4-BE49-F238E27FC236}">
                      <a16:creationId xmlns:a16="http://schemas.microsoft.com/office/drawing/2014/main" xmlns="" id="{01DE5EE7-142D-7149-A68F-D6BF9C17EE76}"/>
                    </a:ext>
                  </a:extLst>
                </p:cNvPr>
                <p:cNvSpPr/>
                <p:nvPr/>
              </p:nvSpPr>
              <p:spPr>
                <a:xfrm>
                  <a:off x="4276066" y="2468344"/>
                  <a:ext cx="4108166" cy="1752531"/>
                </a:xfrm>
                <a:prstGeom prst="rect">
                  <a:avLst/>
                </a:prstGeom>
              </p:spPr>
              <p:txBody>
                <a:bodyPr wrap="square">
                  <a:spAutoFit/>
                </a:bodyPr>
                <a:lstStyle/>
                <a:p>
                  <a:pPr>
                    <a:lnSpc>
                      <a:spcPct val="150000"/>
                    </a:lnSpc>
                  </a:pPr>
                  <a:r>
                    <a:rPr lang="en-US">
                      <a:latin typeface="Courier New" panose="02070309020205020404" pitchFamily="49" charset="0"/>
                      <a:cs typeface="Courier New" panose="02070309020205020404" pitchFamily="49" charset="0"/>
                    </a:rPr>
                    <a:t>#!/bin/bash</a:t>
                  </a:r>
                </a:p>
                <a:p>
                  <a:pPr>
                    <a:lnSpc>
                      <a:spcPct val="150000"/>
                    </a:lnSpc>
                  </a:pPr>
                  <a:r>
                    <a:rPr lang="en-US">
                      <a:latin typeface="Courier New" panose="02070309020205020404" pitchFamily="49" charset="0"/>
                      <a:cs typeface="Courier New" panose="02070309020205020404" pitchFamily="49" charset="0"/>
                    </a:rPr>
                    <a:t>yum update –y</a:t>
                  </a:r>
                </a:p>
                <a:p>
                  <a:pPr>
                    <a:lnSpc>
                      <a:spcPct val="150000"/>
                    </a:lnSpc>
                  </a:pPr>
                  <a:r>
                    <a:rPr lang="en-US">
                      <a:latin typeface="Courier New" panose="02070309020205020404" pitchFamily="49" charset="0"/>
                      <a:cs typeface="Courier New" panose="02070309020205020404" pitchFamily="49" charset="0"/>
                    </a:rPr>
                    <a:t>service httpd start</a:t>
                  </a:r>
                </a:p>
                <a:p>
                  <a:pPr>
                    <a:lnSpc>
                      <a:spcPct val="150000"/>
                    </a:lnSpc>
                  </a:pPr>
                  <a:r>
                    <a:rPr lang="en-US">
                      <a:latin typeface="Courier New" panose="02070309020205020404" pitchFamily="49" charset="0"/>
                      <a:cs typeface="Courier New" panose="02070309020205020404" pitchFamily="49" charset="0"/>
                    </a:rPr>
                    <a:t>chkconfig httpd on</a:t>
                  </a:r>
                  <a:endParaRPr lang="en-US" sz="1400">
                    <a:solidFill>
                      <a:srgbClr val="383A42"/>
                    </a:solidFill>
                    <a:latin typeface="Courier New" panose="02070309020205020404" pitchFamily="49" charset="0"/>
                    <a:ea typeface="Amazon Ember" panose="020B0603020204020204" pitchFamily="34" charset="0"/>
                    <a:cs typeface="Courier New" panose="02070309020205020404" pitchFamily="49" charset="0"/>
                  </a:endParaRPr>
                </a:p>
              </p:txBody>
            </p:sp>
          </p:grpSp>
        </p:grpSp>
      </p:grpSp>
      <p:pic>
        <p:nvPicPr>
          <p:cNvPr id="17" name="Picture 16">
            <a:extLst>
              <a:ext uri="{FF2B5EF4-FFF2-40B4-BE49-F238E27FC236}">
                <a16:creationId xmlns:a16="http://schemas.microsoft.com/office/drawing/2014/main" xmlns="" id="{29962968-8000-2843-A1FA-2BED14E4D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2925" y="2945160"/>
            <a:ext cx="1225890" cy="1271295"/>
          </a:xfrm>
          <a:prstGeom prst="rect">
            <a:avLst/>
          </a:prstGeom>
        </p:spPr>
      </p:pic>
    </p:spTree>
    <p:extLst>
      <p:ext uri="{BB962C8B-B14F-4D97-AF65-F5344CB8AC3E}">
        <p14:creationId xmlns:p14="http://schemas.microsoft.com/office/powerpoint/2010/main" val="26122577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a:xfrm>
            <a:off x="418991" y="263531"/>
            <a:ext cx="8870482" cy="779463"/>
          </a:xfrm>
        </p:spPr>
        <p:txBody>
          <a:bodyPr>
            <a:normAutofit fontScale="90000"/>
          </a:bodyPr>
          <a:lstStyle/>
          <a:p>
            <a:r>
              <a:rPr lang="en-US"/>
              <a:t>Retrieving Information about Your EC2 Instance with Instance Metadata</a:t>
            </a:r>
          </a:p>
        </p:txBody>
      </p:sp>
      <p:grpSp>
        <p:nvGrpSpPr>
          <p:cNvPr id="4" name="Group 3"/>
          <p:cNvGrpSpPr/>
          <p:nvPr/>
        </p:nvGrpSpPr>
        <p:grpSpPr>
          <a:xfrm>
            <a:off x="1442925" y="1513378"/>
            <a:ext cx="9284733" cy="2072550"/>
            <a:chOff x="855933" y="1575724"/>
            <a:chExt cx="9865230" cy="2794921"/>
          </a:xfrm>
        </p:grpSpPr>
        <p:grpSp>
          <p:nvGrpSpPr>
            <p:cNvPr id="14" name="Group 13">
              <a:extLst>
                <a:ext uri="{FF2B5EF4-FFF2-40B4-BE49-F238E27FC236}">
                  <a16:creationId xmlns:a16="http://schemas.microsoft.com/office/drawing/2014/main" xmlns="" id="{18A2879A-664F-8144-861E-1123A1C5BD4B}"/>
                </a:ext>
              </a:extLst>
            </p:cNvPr>
            <p:cNvGrpSpPr/>
            <p:nvPr/>
          </p:nvGrpSpPr>
          <p:grpSpPr>
            <a:xfrm>
              <a:off x="855933" y="1575724"/>
              <a:ext cx="9865230" cy="2794921"/>
              <a:chOff x="753031" y="1811514"/>
              <a:chExt cx="9865230" cy="2794921"/>
            </a:xfrm>
          </p:grpSpPr>
          <p:sp>
            <p:nvSpPr>
              <p:cNvPr id="25" name="TextBox 24">
                <a:extLst>
                  <a:ext uri="{FF2B5EF4-FFF2-40B4-BE49-F238E27FC236}">
                    <a16:creationId xmlns:a16="http://schemas.microsoft.com/office/drawing/2014/main" xmlns="" id="{2D51974D-CF09-D14A-9E28-964E7DFA28F2}"/>
                  </a:ext>
                </a:extLst>
              </p:cNvPr>
              <p:cNvSpPr txBox="1"/>
              <p:nvPr/>
            </p:nvSpPr>
            <p:spPr>
              <a:xfrm>
                <a:off x="753031" y="3931525"/>
                <a:ext cx="2318928"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Your AMI</a:t>
                </a:r>
              </a:p>
            </p:txBody>
          </p:sp>
          <p:grpSp>
            <p:nvGrpSpPr>
              <p:cNvPr id="10" name="Group 9">
                <a:extLst>
                  <a:ext uri="{FF2B5EF4-FFF2-40B4-BE49-F238E27FC236}">
                    <a16:creationId xmlns:a16="http://schemas.microsoft.com/office/drawing/2014/main" xmlns="" id="{DFE6BD66-08CF-D749-9A25-4A874E11268A}"/>
                  </a:ext>
                </a:extLst>
              </p:cNvPr>
              <p:cNvGrpSpPr/>
              <p:nvPr/>
            </p:nvGrpSpPr>
            <p:grpSpPr>
              <a:xfrm>
                <a:off x="8299333" y="2208847"/>
                <a:ext cx="2318928" cy="2397588"/>
                <a:chOff x="8299333" y="2208847"/>
                <a:chExt cx="2318928" cy="2397588"/>
              </a:xfrm>
            </p:grpSpPr>
            <p:pic>
              <p:nvPicPr>
                <p:cNvPr id="16" name="Picture 15">
                  <a:extLst>
                    <a:ext uri="{FF2B5EF4-FFF2-40B4-BE49-F238E27FC236}">
                      <a16:creationId xmlns:a16="http://schemas.microsoft.com/office/drawing/2014/main" xmlns="" id="{9A976B16-743E-624C-B984-ABEA5B29A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6151" y="2208847"/>
                  <a:ext cx="1214241" cy="1621036"/>
                </a:xfrm>
                <a:prstGeom prst="rect">
                  <a:avLst/>
                </a:prstGeom>
              </p:spPr>
            </p:pic>
            <p:sp>
              <p:nvSpPr>
                <p:cNvPr id="26" name="TextBox 25">
                  <a:extLst>
                    <a:ext uri="{FF2B5EF4-FFF2-40B4-BE49-F238E27FC236}">
                      <a16:creationId xmlns:a16="http://schemas.microsoft.com/office/drawing/2014/main" xmlns="" id="{8239E68F-AA0C-0349-8091-CA99E83DF0BF}"/>
                    </a:ext>
                  </a:extLst>
                </p:cNvPr>
                <p:cNvSpPr txBox="1"/>
                <p:nvPr/>
              </p:nvSpPr>
              <p:spPr>
                <a:xfrm>
                  <a:off x="8299333" y="3898549"/>
                  <a:ext cx="2318928" cy="707886"/>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Running EC2 Instance</a:t>
                  </a:r>
                </a:p>
              </p:txBody>
            </p:sp>
          </p:grpSp>
          <p:grpSp>
            <p:nvGrpSpPr>
              <p:cNvPr id="9" name="Group 8">
                <a:extLst>
                  <a:ext uri="{FF2B5EF4-FFF2-40B4-BE49-F238E27FC236}">
                    <a16:creationId xmlns:a16="http://schemas.microsoft.com/office/drawing/2014/main" xmlns="" id="{1C66323C-5A32-614B-9BB9-8FAA170C3801}"/>
                  </a:ext>
                </a:extLst>
              </p:cNvPr>
              <p:cNvGrpSpPr/>
              <p:nvPr/>
            </p:nvGrpSpPr>
            <p:grpSpPr>
              <a:xfrm>
                <a:off x="2705546" y="1811514"/>
                <a:ext cx="5935252" cy="2608919"/>
                <a:chOff x="2731754" y="1811514"/>
                <a:chExt cx="5935252" cy="2608919"/>
              </a:xfrm>
            </p:grpSpPr>
            <p:sp>
              <p:nvSpPr>
                <p:cNvPr id="20" name="Right Arrow 19">
                  <a:extLst>
                    <a:ext uri="{FF2B5EF4-FFF2-40B4-BE49-F238E27FC236}">
                      <a16:creationId xmlns:a16="http://schemas.microsoft.com/office/drawing/2014/main" xmlns="" id="{E4D8FF10-2C82-DB40-A8E9-18A0A298CA72}"/>
                    </a:ext>
                  </a:extLst>
                </p:cNvPr>
                <p:cNvSpPr/>
                <p:nvPr/>
              </p:nvSpPr>
              <p:spPr>
                <a:xfrm>
                  <a:off x="2731754" y="2855588"/>
                  <a:ext cx="5935252" cy="305254"/>
                </a:xfrm>
                <a:prstGeom prst="rightArrow">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xmlns="" id="{40823D0F-410B-9047-85F7-40F156350372}"/>
                    </a:ext>
                  </a:extLst>
                </p:cNvPr>
                <p:cNvGrpSpPr/>
                <p:nvPr/>
              </p:nvGrpSpPr>
              <p:grpSpPr>
                <a:xfrm>
                  <a:off x="3233519" y="1811514"/>
                  <a:ext cx="5149191" cy="2608919"/>
                  <a:chOff x="3271480" y="1811514"/>
                  <a:chExt cx="5149191" cy="2608919"/>
                </a:xfrm>
              </p:grpSpPr>
              <p:sp>
                <p:nvSpPr>
                  <p:cNvPr id="3" name="Rectangle 2">
                    <a:extLst>
                      <a:ext uri="{FF2B5EF4-FFF2-40B4-BE49-F238E27FC236}">
                        <a16:creationId xmlns:a16="http://schemas.microsoft.com/office/drawing/2014/main" xmlns="" id="{CB2B72C8-780E-B441-BE46-6AE5F1BBA320}"/>
                      </a:ext>
                    </a:extLst>
                  </p:cNvPr>
                  <p:cNvSpPr/>
                  <p:nvPr/>
                </p:nvSpPr>
                <p:spPr>
                  <a:xfrm>
                    <a:off x="3271480" y="2342147"/>
                    <a:ext cx="4867113" cy="2078286"/>
                  </a:xfrm>
                  <a:prstGeom prst="rect">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38739DD0-D5B4-B843-8A0A-33C98BEE80F8}"/>
                      </a:ext>
                    </a:extLst>
                  </p:cNvPr>
                  <p:cNvSpPr txBox="1"/>
                  <p:nvPr/>
                </p:nvSpPr>
                <p:spPr>
                  <a:xfrm>
                    <a:off x="4645553" y="1811514"/>
                    <a:ext cx="2318928" cy="400110"/>
                  </a:xfrm>
                  <a:prstGeom prst="rect">
                    <a:avLst/>
                  </a:prstGeom>
                  <a:noFill/>
                </p:spPr>
                <p:txBody>
                  <a:bodyPr wrap="square" rtlCol="0">
                    <a:spAutoFit/>
                  </a:bodyPr>
                  <a:lstStyle/>
                  <a:p>
                    <a:pPr algn="ctr"/>
                    <a:r>
                      <a:rPr lang="en-US" sz="2000">
                        <a:latin typeface="Amazon Ember" panose="020B0603020204020204" pitchFamily="34" charset="0"/>
                        <a:ea typeface="Amazon Ember" panose="020B0603020204020204" pitchFamily="34" charset="0"/>
                        <a:cs typeface="Amazon Ember" panose="020B0603020204020204" pitchFamily="34" charset="0"/>
                      </a:rPr>
                      <a:t>User Data</a:t>
                    </a:r>
                  </a:p>
                </p:txBody>
              </p:sp>
              <p:sp>
                <p:nvSpPr>
                  <p:cNvPr id="6" name="Rectangle 5">
                    <a:extLst>
                      <a:ext uri="{FF2B5EF4-FFF2-40B4-BE49-F238E27FC236}">
                        <a16:creationId xmlns:a16="http://schemas.microsoft.com/office/drawing/2014/main" xmlns="" id="{01DE5EE7-142D-7149-A68F-D6BF9C17EE76}"/>
                      </a:ext>
                    </a:extLst>
                  </p:cNvPr>
                  <p:cNvSpPr/>
                  <p:nvPr/>
                </p:nvSpPr>
                <p:spPr>
                  <a:xfrm>
                    <a:off x="3361059" y="2325308"/>
                    <a:ext cx="5059612" cy="1992239"/>
                  </a:xfrm>
                  <a:prstGeom prst="rect">
                    <a:avLst/>
                  </a:prstGeom>
                </p:spPr>
                <p:txBody>
                  <a:bodyPr wrap="square">
                    <a:spAutoFit/>
                  </a:bodyPr>
                  <a:lstStyle/>
                  <a:p>
                    <a:pPr>
                      <a:lnSpc>
                        <a:spcPct val="150000"/>
                      </a:lnSpc>
                    </a:pPr>
                    <a:r>
                      <a:rPr lang="en-US" sz="1200">
                        <a:latin typeface="Courier New" panose="02070309020205020404" pitchFamily="49" charset="0"/>
                        <a:cs typeface="Courier New" panose="02070309020205020404" pitchFamily="49" charset="0"/>
                      </a:rPr>
                      <a:t>#!/bin/bash</a:t>
                    </a:r>
                  </a:p>
                  <a:p>
                    <a:pPr>
                      <a:lnSpc>
                        <a:spcPct val="150000"/>
                      </a:lnSpc>
                    </a:pPr>
                    <a:r>
                      <a:rPr lang="en-US" sz="1200">
                        <a:latin typeface="Courier New" panose="02070309020205020404" pitchFamily="49" charset="0"/>
                        <a:cs typeface="Courier New" panose="02070309020205020404" pitchFamily="49" charset="0"/>
                      </a:rPr>
                      <a:t>yum update –y</a:t>
                    </a:r>
                  </a:p>
                  <a:p>
                    <a:pPr>
                      <a:lnSpc>
                        <a:spcPct val="150000"/>
                      </a:lnSpc>
                    </a:pPr>
                    <a:r>
                      <a:rPr lang="en-US" sz="1200">
                        <a:latin typeface="Courier New" panose="02070309020205020404" pitchFamily="49" charset="0"/>
                        <a:cs typeface="Courier New" panose="02070309020205020404" pitchFamily="49" charset="0"/>
                      </a:rPr>
                      <a:t>hostname = $(curl -s http://169.254.169.254/latest/meta-data/public-hostname)</a:t>
                    </a:r>
                    <a:endParaRPr lang="en-US" sz="1050">
                      <a:solidFill>
                        <a:srgbClr val="383A42"/>
                      </a:solidFill>
                      <a:latin typeface="Courier New" panose="02070309020205020404" pitchFamily="49" charset="0"/>
                      <a:ea typeface="Amazon Ember" panose="020B0603020204020204" pitchFamily="34" charset="0"/>
                      <a:cs typeface="Courier New" panose="02070309020205020404" pitchFamily="49" charset="0"/>
                    </a:endParaRPr>
                  </a:p>
                </p:txBody>
              </p:sp>
            </p:grpSp>
          </p:grpSp>
        </p:grpSp>
        <p:pic>
          <p:nvPicPr>
            <p:cNvPr id="17" name="Picture 16">
              <a:extLst>
                <a:ext uri="{FF2B5EF4-FFF2-40B4-BE49-F238E27FC236}">
                  <a16:creationId xmlns:a16="http://schemas.microsoft.com/office/drawing/2014/main" xmlns="" id="{29962968-8000-2843-A1FA-2BED14E4D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4375" y="1973060"/>
              <a:ext cx="1234439" cy="1644505"/>
            </a:xfrm>
            <a:prstGeom prst="rect">
              <a:avLst/>
            </a:prstGeom>
          </p:spPr>
        </p:pic>
      </p:grpSp>
      <p:sp>
        <p:nvSpPr>
          <p:cNvPr id="18" name="Rectangle 17">
            <a:extLst>
              <a:ext uri="{FF2B5EF4-FFF2-40B4-BE49-F238E27FC236}">
                <a16:creationId xmlns:a16="http://schemas.microsoft.com/office/drawing/2014/main" xmlns="" id="{D1FE6937-5F3C-2E4D-9504-0D329CBE374B}"/>
              </a:ext>
            </a:extLst>
          </p:cNvPr>
          <p:cNvSpPr/>
          <p:nvPr/>
        </p:nvSpPr>
        <p:spPr>
          <a:xfrm>
            <a:off x="2132471" y="3890901"/>
            <a:ext cx="7427165" cy="24284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aphicFrame>
        <p:nvGraphicFramePr>
          <p:cNvPr id="19" name="Table 18">
            <a:extLst>
              <a:ext uri="{FF2B5EF4-FFF2-40B4-BE49-F238E27FC236}">
                <a16:creationId xmlns:a16="http://schemas.microsoft.com/office/drawing/2014/main" xmlns="" id="{EB0A3DBC-7969-8149-8E7D-6BEEA6931E3B}"/>
              </a:ext>
            </a:extLst>
          </p:cNvPr>
          <p:cNvGraphicFramePr>
            <a:graphicFrameLocks noGrp="1"/>
          </p:cNvGraphicFramePr>
          <p:nvPr>
            <p:extLst>
              <p:ext uri="{D42A27DB-BD31-4B8C-83A1-F6EECF244321}">
                <p14:modId xmlns:p14="http://schemas.microsoft.com/office/powerpoint/2010/main" val="4255101177"/>
              </p:ext>
            </p:extLst>
          </p:nvPr>
        </p:nvGraphicFramePr>
        <p:xfrm>
          <a:off x="2213093" y="3945702"/>
          <a:ext cx="7346543" cy="2373630"/>
        </p:xfrm>
        <a:graphic>
          <a:graphicData uri="http://schemas.openxmlformats.org/drawingml/2006/table">
            <a:tbl>
              <a:tblPr>
                <a:tableStyleId>{00A15C55-8517-42AA-B614-E9B94910E393}</a:tableStyleId>
              </a:tblPr>
              <a:tblGrid>
                <a:gridCol w="1984834">
                  <a:extLst>
                    <a:ext uri="{9D8B030D-6E8A-4147-A177-3AD203B41FA5}">
                      <a16:colId xmlns:a16="http://schemas.microsoft.com/office/drawing/2014/main" xmlns="" val="1664112387"/>
                    </a:ext>
                  </a:extLst>
                </a:gridCol>
                <a:gridCol w="5361709">
                  <a:extLst>
                    <a:ext uri="{9D8B030D-6E8A-4147-A177-3AD203B41FA5}">
                      <a16:colId xmlns:a16="http://schemas.microsoft.com/office/drawing/2014/main" xmlns="" val="2055817832"/>
                    </a:ext>
                  </a:extLst>
                </a:gridCol>
              </a:tblGrid>
              <a:tr h="338853">
                <a:tc>
                  <a:txBody>
                    <a:bodyPr/>
                    <a:lstStyle/>
                    <a:p>
                      <a:pPr algn="l" fontAlgn="t"/>
                      <a:r>
                        <a:rPr lang="en-US" sz="1600" b="1">
                          <a:effectLst/>
                          <a:latin typeface="Amazon Ember" panose="020B0603020204020204" pitchFamily="34" charset="0"/>
                          <a:ea typeface="Amazon Ember" panose="020B0603020204020204" pitchFamily="34" charset="0"/>
                          <a:cs typeface="Amazon Ember" panose="020B0603020204020204" pitchFamily="34" charset="0"/>
                        </a:rPr>
                        <a:t>Metadata</a:t>
                      </a:r>
                      <a:endParaRPr lang="en-US" sz="1600" b="1">
                        <a:solidFill>
                          <a:srgbClr val="333333"/>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b="1">
                          <a:effectLst/>
                          <a:latin typeface="Amazon Ember" panose="020B0603020204020204" pitchFamily="34" charset="0"/>
                          <a:ea typeface="Amazon Ember" panose="020B0603020204020204" pitchFamily="34" charset="0"/>
                          <a:cs typeface="Amazon Ember" panose="020B0603020204020204" pitchFamily="34" charset="0"/>
                        </a:rPr>
                        <a:t>Value</a:t>
                      </a:r>
                      <a:endParaRPr lang="en-US" sz="1600" b="1">
                        <a:solidFill>
                          <a:srgbClr val="333333"/>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123871471"/>
                  </a:ext>
                </a:extLst>
              </a:tr>
              <a:tr h="338853">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instance-id</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i-1234567890abcdef0</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940976659"/>
                  </a:ext>
                </a:extLst>
              </a:tr>
              <a:tr h="338853">
                <a:tc>
                  <a:txBody>
                    <a:bodyPr/>
                    <a:lstStyle/>
                    <a:p>
                      <a:pPr fontAlgn="t"/>
                      <a:r>
                        <a:rPr lang="en-US" sz="1600" b="0" i="0">
                          <a:effectLst/>
                          <a:latin typeface="Amazon Ember" panose="020B0603020204020204" pitchFamily="34" charset="0"/>
                          <a:ea typeface="Amazon Ember" panose="020B0603020204020204" pitchFamily="34" charset="0"/>
                          <a:cs typeface="Amazon Ember" panose="020B0603020204020204" pitchFamily="34" charset="0"/>
                        </a:rPr>
                        <a:t>mac</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1600" b="0" i="0" kern="1200">
                          <a:solidFill>
                            <a:schemeClr val="dk1"/>
                          </a:solidFill>
                          <a:effectLst/>
                          <a:latin typeface="Amazon Ember" panose="020B0603020204020204" pitchFamily="34" charset="0"/>
                          <a:ea typeface="Amazon Ember" panose="020B0603020204020204" pitchFamily="34" charset="0"/>
                          <a:cs typeface="Amazon Ember" panose="020B0603020204020204" pitchFamily="34" charset="0"/>
                        </a:rPr>
                        <a:t>00-1B-63-84-45-E6</a:t>
                      </a:r>
                      <a:endParaRPr lang="en-US" sz="1600" b="0" i="0">
                        <a:effectLst/>
                        <a:latin typeface="Amazon Ember" panose="020B0603020204020204" pitchFamily="34" charset="0"/>
                        <a:ea typeface="Amazon Ember" panose="020B0603020204020204" pitchFamily="34" charset="0"/>
                        <a:cs typeface="Amazon Ember" panose="020B0603020204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74188363"/>
                  </a:ext>
                </a:extLst>
              </a:tr>
              <a:tr h="338853">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public-hostname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ec2-203-0-113-25.compute-1.amazonaws.com</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12988049"/>
                  </a:ext>
                </a:extLst>
              </a:tr>
              <a:tr h="338853">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public-ipv4</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67.202.51.223</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943732315"/>
                  </a:ext>
                </a:extLst>
              </a:tr>
              <a:tr h="338853">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local-hostname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ip-10-251-50-12.ec2.internal</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235670512"/>
                  </a:ext>
                </a:extLst>
              </a:tr>
              <a:tr h="338853">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local-ipv4</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1600">
                          <a:effectLst/>
                          <a:latin typeface="Amazon Ember" panose="020B0603020204020204" pitchFamily="34" charset="0"/>
                          <a:ea typeface="Amazon Ember" panose="020B0603020204020204" pitchFamily="34" charset="0"/>
                          <a:cs typeface="Amazon Ember" panose="020B0603020204020204" pitchFamily="34" charset="0"/>
                        </a:rPr>
                        <a:t>10.251.50.12</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532849589"/>
                  </a:ext>
                </a:extLst>
              </a:tr>
            </a:tbl>
          </a:graphicData>
        </a:graphic>
      </p:graphicFrame>
      <p:cxnSp>
        <p:nvCxnSpPr>
          <p:cNvPr id="28" name="Straight Arrow Connector 27"/>
          <p:cNvCxnSpPr/>
          <p:nvPr/>
        </p:nvCxnSpPr>
        <p:spPr>
          <a:xfrm>
            <a:off x="4229059" y="3278241"/>
            <a:ext cx="1169659" cy="1730176"/>
          </a:xfrm>
          <a:prstGeom prst="straightConnector1">
            <a:avLst/>
          </a:prstGeom>
          <a:ln w="698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506151" y="3278241"/>
            <a:ext cx="1205717" cy="1730176"/>
          </a:xfrm>
          <a:prstGeom prst="straightConnector1">
            <a:avLst/>
          </a:prstGeom>
          <a:ln w="69850">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52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1" presetClass="exit" presetSubtype="0" fill="hold" nodeType="afterEffect">
                                  <p:stCondLst>
                                    <p:cond delay="0"/>
                                  </p:stCondLst>
                                  <p:childTnLst>
                                    <p:set>
                                      <p:cBhvr>
                                        <p:cTn id="10" dur="1" fill="hold">
                                          <p:stCondLst>
                                            <p:cond delay="0"/>
                                          </p:stCondLst>
                                        </p:cTn>
                                        <p:tgtEl>
                                          <p:spTgt spid="28"/>
                                        </p:tgtEl>
                                        <p:attrNameLst>
                                          <p:attrName>style.visibility</p:attrName>
                                        </p:attrNameLst>
                                      </p:cBhvr>
                                      <p:to>
                                        <p:strVal val="hidden"/>
                                      </p:to>
                                    </p:se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ipe(down)">
                                      <p:cBhvr>
                                        <p:cTn id="1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a:t>Amazon EC2 and Storing Data</a:t>
            </a:r>
          </a:p>
        </p:txBody>
      </p:sp>
    </p:spTree>
    <p:extLst>
      <p:ext uri="{BB962C8B-B14F-4D97-AF65-F5344CB8AC3E}">
        <p14:creationId xmlns:p14="http://schemas.microsoft.com/office/powerpoint/2010/main" val="6929312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fontScale="90000"/>
          </a:bodyPr>
          <a:lstStyle/>
          <a:p>
            <a:pPr lvl="0"/>
            <a:r>
              <a:rPr lang="en-US"/>
              <a:t>What Problems Does Amazon Elastic Block Store (Amazon EBS) Solve?</a:t>
            </a:r>
          </a:p>
        </p:txBody>
      </p:sp>
      <p:sp>
        <p:nvSpPr>
          <p:cNvPr id="22" name="TextBox 21">
            <a:extLst>
              <a:ext uri="{FF2B5EF4-FFF2-40B4-BE49-F238E27FC236}">
                <a16:creationId xmlns:a16="http://schemas.microsoft.com/office/drawing/2014/main" xmlns="" id="{1F196EEB-3877-274D-91CE-10FE0DDDF29C}"/>
              </a:ext>
            </a:extLst>
          </p:cNvPr>
          <p:cNvSpPr txBox="1"/>
          <p:nvPr/>
        </p:nvSpPr>
        <p:spPr>
          <a:xfrm>
            <a:off x="4362876" y="2113591"/>
            <a:ext cx="786063" cy="369012"/>
          </a:xfrm>
          <a:prstGeom prst="rect">
            <a:avLst/>
          </a:prstGeom>
          <a:noFill/>
        </p:spPr>
        <p:txBody>
          <a:bodyPr wrap="square" rtlCol="0">
            <a:spAutoFit/>
          </a:bodyPr>
          <a:lstStyle/>
          <a:p>
            <a:pPr algn="ctr"/>
            <a:r>
              <a:rPr lang="en-US" b="1">
                <a:solidFill>
                  <a:schemeClr val="bg1"/>
                </a:solidFill>
                <a:latin typeface="Amazon Ember" panose="020B0603020204020204" pitchFamily="34" charset="0"/>
                <a:ea typeface="Amazon Ember" panose="020B0603020204020204" pitchFamily="34" charset="0"/>
                <a:cs typeface="Amazon Ember" panose="020B0603020204020204" pitchFamily="34" charset="0"/>
              </a:rPr>
              <a:t>EC2</a:t>
            </a:r>
          </a:p>
        </p:txBody>
      </p:sp>
      <p:sp>
        <p:nvSpPr>
          <p:cNvPr id="19" name="TextBox 18">
            <a:extLst>
              <a:ext uri="{FF2B5EF4-FFF2-40B4-BE49-F238E27FC236}">
                <a16:creationId xmlns:a16="http://schemas.microsoft.com/office/drawing/2014/main" xmlns="" id="{384EA8DC-A45A-A049-A9BE-DFC6F781DFA9}"/>
              </a:ext>
            </a:extLst>
          </p:cNvPr>
          <p:cNvSpPr txBox="1"/>
          <p:nvPr/>
        </p:nvSpPr>
        <p:spPr>
          <a:xfrm>
            <a:off x="7546935" y="2268138"/>
            <a:ext cx="2889100" cy="830997"/>
          </a:xfrm>
          <a:prstGeom prst="rect">
            <a:avLst/>
          </a:prstGeom>
          <a:noFill/>
        </p:spPr>
        <p:txBody>
          <a:bodyPr wrap="square" rtlCol="0">
            <a:spAutoFit/>
          </a:bodyPr>
          <a:lstStyle/>
          <a:p>
            <a:r>
              <a:rPr lang="en-US" sz="2400">
                <a:latin typeface="Amazon Ember Light" panose="020B0403020204020204" pitchFamily="34" charset="0"/>
                <a:ea typeface="Amazon Ember Light" panose="020B0403020204020204" pitchFamily="34" charset="0"/>
                <a:cs typeface="Amazon Ember Light" panose="020B0403020204020204" pitchFamily="34" charset="0"/>
              </a:rPr>
              <a:t>Instance store is ephemeral</a:t>
            </a:r>
          </a:p>
        </p:txBody>
      </p:sp>
      <p:pic>
        <p:nvPicPr>
          <p:cNvPr id="23" name="Picture 22">
            <a:extLst>
              <a:ext uri="{FF2B5EF4-FFF2-40B4-BE49-F238E27FC236}">
                <a16:creationId xmlns:a16="http://schemas.microsoft.com/office/drawing/2014/main" xmlns="" id="{B43DB7F8-51EC-CD48-829B-A2ACF49A7B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9611" y="2227511"/>
            <a:ext cx="842379" cy="873580"/>
          </a:xfrm>
          <a:prstGeom prst="rect">
            <a:avLst/>
          </a:prstGeom>
        </p:spPr>
      </p:pic>
      <p:pic>
        <p:nvPicPr>
          <p:cNvPr id="10" name="Picture 9">
            <a:extLst>
              <a:ext uri="{FF2B5EF4-FFF2-40B4-BE49-F238E27FC236}">
                <a16:creationId xmlns:a16="http://schemas.microsoft.com/office/drawing/2014/main" xmlns="" id="{E0B05F9A-5C3A-FD4B-9495-A26F5D7A9E1E}"/>
              </a:ext>
            </a:extLst>
          </p:cNvPr>
          <p:cNvPicPr>
            <a:picLocks noChangeAspect="1"/>
          </p:cNvPicPr>
          <p:nvPr/>
        </p:nvPicPr>
        <p:blipFill>
          <a:blip r:embed="rId4"/>
          <a:stretch>
            <a:fillRect/>
          </a:stretch>
        </p:blipFill>
        <p:spPr>
          <a:xfrm>
            <a:off x="1619609" y="3499583"/>
            <a:ext cx="1002608" cy="1002608"/>
          </a:xfrm>
          <a:prstGeom prst="rect">
            <a:avLst/>
          </a:prstGeom>
          <a:solidFill>
            <a:schemeClr val="bg1"/>
          </a:solidFill>
          <a:ln>
            <a:noFill/>
          </a:ln>
        </p:spPr>
      </p:pic>
      <p:sp>
        <p:nvSpPr>
          <p:cNvPr id="26" name="TextBox 25">
            <a:extLst>
              <a:ext uri="{FF2B5EF4-FFF2-40B4-BE49-F238E27FC236}">
                <a16:creationId xmlns:a16="http://schemas.microsoft.com/office/drawing/2014/main" xmlns="" id="{926C1438-EF09-394A-A104-37E7026A5321}"/>
              </a:ext>
            </a:extLst>
          </p:cNvPr>
          <p:cNvSpPr txBox="1"/>
          <p:nvPr/>
        </p:nvSpPr>
        <p:spPr>
          <a:xfrm>
            <a:off x="2821476" y="3543824"/>
            <a:ext cx="2903260" cy="830997"/>
          </a:xfrm>
          <a:prstGeom prst="rect">
            <a:avLst/>
          </a:prstGeom>
          <a:noFill/>
        </p:spPr>
        <p:txBody>
          <a:bodyPr wrap="square" rtlCol="0">
            <a:spAutoFit/>
          </a:bodyPr>
          <a:lstStyle/>
          <a:p>
            <a:r>
              <a:rPr lang="en-US" sz="2400">
                <a:latin typeface="Amazon Ember Light" panose="020B0403020204020204" pitchFamily="34" charset="0"/>
                <a:ea typeface="Amazon Ember Light" panose="020B0403020204020204" pitchFamily="34" charset="0"/>
                <a:cs typeface="Amazon Ember Light" panose="020B0403020204020204" pitchFamily="34" charset="0"/>
              </a:rPr>
              <a:t>Need data to persist through shutdowns</a:t>
            </a:r>
          </a:p>
        </p:txBody>
      </p:sp>
      <p:pic>
        <p:nvPicPr>
          <p:cNvPr id="30" name="Picture 29">
            <a:extLst>
              <a:ext uri="{FF2B5EF4-FFF2-40B4-BE49-F238E27FC236}">
                <a16:creationId xmlns:a16="http://schemas.microsoft.com/office/drawing/2014/main" xmlns="" id="{8093FCD3-B6E8-C241-AF36-4EFF11ADA4E3}"/>
              </a:ext>
            </a:extLst>
          </p:cNvPr>
          <p:cNvPicPr>
            <a:picLocks noChangeAspect="1"/>
          </p:cNvPicPr>
          <p:nvPr/>
        </p:nvPicPr>
        <p:blipFill>
          <a:blip r:embed="rId5"/>
          <a:stretch>
            <a:fillRect/>
          </a:stretch>
        </p:blipFill>
        <p:spPr>
          <a:xfrm>
            <a:off x="1559973" y="2104186"/>
            <a:ext cx="1089323" cy="1089323"/>
          </a:xfrm>
          <a:prstGeom prst="rect">
            <a:avLst/>
          </a:prstGeom>
        </p:spPr>
      </p:pic>
      <p:sp>
        <p:nvSpPr>
          <p:cNvPr id="31" name="TextBox 30">
            <a:extLst>
              <a:ext uri="{FF2B5EF4-FFF2-40B4-BE49-F238E27FC236}">
                <a16:creationId xmlns:a16="http://schemas.microsoft.com/office/drawing/2014/main" xmlns="" id="{2F9E436E-13EC-1144-93DF-108551F367C6}"/>
              </a:ext>
            </a:extLst>
          </p:cNvPr>
          <p:cNvSpPr txBox="1"/>
          <p:nvPr/>
        </p:nvSpPr>
        <p:spPr>
          <a:xfrm>
            <a:off x="2790958" y="2212095"/>
            <a:ext cx="2903260" cy="830997"/>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Application needs </a:t>
            </a:r>
            <a:r>
              <a:rPr lang="en-US" sz="2400" dirty="0" smtClean="0">
                <a:latin typeface="Amazon Ember Light" panose="020B0403020204020204" pitchFamily="34" charset="0"/>
                <a:ea typeface="Amazon Ember Light" panose="020B0403020204020204" pitchFamily="34" charset="0"/>
                <a:cs typeface="Amazon Ember Light" panose="020B0403020204020204" pitchFamily="34" charset="0"/>
              </a:rPr>
              <a:t>block-level </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storage</a:t>
            </a:r>
          </a:p>
        </p:txBody>
      </p:sp>
      <p:sp>
        <p:nvSpPr>
          <p:cNvPr id="41" name="TextBox 40">
            <a:extLst>
              <a:ext uri="{FF2B5EF4-FFF2-40B4-BE49-F238E27FC236}">
                <a16:creationId xmlns:a16="http://schemas.microsoft.com/office/drawing/2014/main" xmlns="" id="{E51D2467-AFCE-D946-B944-3B96F2BFAAAE}"/>
              </a:ext>
            </a:extLst>
          </p:cNvPr>
          <p:cNvSpPr txBox="1"/>
          <p:nvPr/>
        </p:nvSpPr>
        <p:spPr>
          <a:xfrm>
            <a:off x="7544085" y="3580957"/>
            <a:ext cx="3294002" cy="830997"/>
          </a:xfrm>
          <a:prstGeom prst="rect">
            <a:avLst/>
          </a:prstGeom>
          <a:noFill/>
        </p:spPr>
        <p:txBody>
          <a:bodyPr wrap="square" rtlCol="0">
            <a:spAutoFit/>
          </a:bodyPr>
          <a:lstStyle/>
          <a:p>
            <a:r>
              <a:rPr lang="en-US" sz="2400">
                <a:latin typeface="Amazon Ember Light" panose="020B0403020204020204" pitchFamily="34" charset="0"/>
                <a:ea typeface="Amazon Ember Light" panose="020B0403020204020204" pitchFamily="34" charset="0"/>
                <a:cs typeface="Amazon Ember Light" panose="020B0403020204020204" pitchFamily="34" charset="0"/>
              </a:rPr>
              <a:t>Need to be able to back up data volumes</a:t>
            </a:r>
          </a:p>
        </p:txBody>
      </p:sp>
      <p:sp>
        <p:nvSpPr>
          <p:cNvPr id="48" name="Rectangle 47">
            <a:extLst>
              <a:ext uri="{FF2B5EF4-FFF2-40B4-BE49-F238E27FC236}">
                <a16:creationId xmlns:a16="http://schemas.microsoft.com/office/drawing/2014/main" xmlns="" id="{7F1DF998-B4D8-D249-877B-927A6A4183CD}"/>
              </a:ext>
            </a:extLst>
          </p:cNvPr>
          <p:cNvSpPr/>
          <p:nvPr/>
        </p:nvSpPr>
        <p:spPr>
          <a:xfrm>
            <a:off x="1184482" y="1800183"/>
            <a:ext cx="9819861" cy="294198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TextBox 49">
            <a:extLst>
              <a:ext uri="{FF2B5EF4-FFF2-40B4-BE49-F238E27FC236}">
                <a16:creationId xmlns:a16="http://schemas.microsoft.com/office/drawing/2014/main" xmlns="" id="{D618246D-5CDF-284E-A749-2732C3EF5A11}"/>
              </a:ext>
            </a:extLst>
          </p:cNvPr>
          <p:cNvSpPr txBox="1"/>
          <p:nvPr/>
        </p:nvSpPr>
        <p:spPr>
          <a:xfrm>
            <a:off x="1714917" y="5329479"/>
            <a:ext cx="8758990" cy="645690"/>
          </a:xfrm>
          <a:prstGeom prst="rect">
            <a:avLst/>
          </a:prstGeom>
          <a:noFill/>
        </p:spPr>
        <p:txBody>
          <a:bodyPr wrap="square" rtlCol="0">
            <a:spAutoFit/>
          </a:bodyPr>
          <a:lstStyle/>
          <a:p>
            <a:pPr algn="ctr"/>
            <a:r>
              <a:rPr lang="en-US"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Keep in mind: Multiple volumes of Amazon EBS can be on the same instance, but each volume can be attached to only one instance at a time.</a:t>
            </a:r>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9496" y="3499583"/>
            <a:ext cx="1002608" cy="1002608"/>
          </a:xfrm>
          <a:prstGeom prst="rect">
            <a:avLst/>
          </a:prstGeom>
        </p:spPr>
      </p:pic>
    </p:spTree>
    <p:extLst>
      <p:ext uri="{BB962C8B-B14F-4D97-AF65-F5344CB8AC3E}">
        <p14:creationId xmlns:p14="http://schemas.microsoft.com/office/powerpoint/2010/main" val="80315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dissolve">
                                      <p:cBhvr>
                                        <p:cTn id="15" dur="500"/>
                                        <p:tgtEl>
                                          <p:spTgt spid="26"/>
                                        </p:tgtEl>
                                      </p:cBhvr>
                                    </p:animEffect>
                                  </p:childTnLst>
                                </p:cTn>
                              </p:par>
                              <p:par>
                                <p:cTn id="16" presetID="9"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dissolve">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dissolve">
                                      <p:cBhvr>
                                        <p:cTn id="3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41" grpId="0"/>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EBS Volume Types</a:t>
            </a:r>
          </a:p>
        </p:txBody>
      </p:sp>
      <p:graphicFrame>
        <p:nvGraphicFramePr>
          <p:cNvPr id="5" name="Table 4">
            <a:extLst>
              <a:ext uri="{FF2B5EF4-FFF2-40B4-BE49-F238E27FC236}">
                <a16:creationId xmlns:a16="http://schemas.microsoft.com/office/drawing/2014/main" xmlns="" id="{4E31FAC8-F5EF-8747-A335-631E760FAA9C}"/>
              </a:ext>
            </a:extLst>
          </p:cNvPr>
          <p:cNvGraphicFramePr>
            <a:graphicFrameLocks noGrp="1"/>
          </p:cNvGraphicFramePr>
          <p:nvPr>
            <p:extLst>
              <p:ext uri="{D42A27DB-BD31-4B8C-83A1-F6EECF244321}">
                <p14:modId xmlns:p14="http://schemas.microsoft.com/office/powerpoint/2010/main" val="2717754918"/>
              </p:ext>
            </p:extLst>
          </p:nvPr>
        </p:nvGraphicFramePr>
        <p:xfrm>
          <a:off x="867903" y="2286000"/>
          <a:ext cx="10437405" cy="3740726"/>
        </p:xfrm>
        <a:graphic>
          <a:graphicData uri="http://schemas.openxmlformats.org/drawingml/2006/table">
            <a:tbl>
              <a:tblPr>
                <a:effectLst>
                  <a:outerShdw blurRad="50800" dist="38100" dir="2700000" algn="tl" rotWithShape="0">
                    <a:prstClr val="black">
                      <a:alpha val="40000"/>
                    </a:prstClr>
                  </a:outerShdw>
                </a:effectLst>
                <a:tableStyleId>{22838BEF-8BB2-4498-84A7-C5851F593DF1}</a:tableStyleId>
              </a:tblPr>
              <a:tblGrid>
                <a:gridCol w="1711786">
                  <a:extLst>
                    <a:ext uri="{9D8B030D-6E8A-4147-A177-3AD203B41FA5}">
                      <a16:colId xmlns:a16="http://schemas.microsoft.com/office/drawing/2014/main" xmlns="" val="2088616433"/>
                    </a:ext>
                  </a:extLst>
                </a:gridCol>
                <a:gridCol w="4245654">
                  <a:extLst>
                    <a:ext uri="{9D8B030D-6E8A-4147-A177-3AD203B41FA5}">
                      <a16:colId xmlns:a16="http://schemas.microsoft.com/office/drawing/2014/main" xmlns="" val="1462335482"/>
                    </a:ext>
                  </a:extLst>
                </a:gridCol>
                <a:gridCol w="4479965">
                  <a:extLst>
                    <a:ext uri="{9D8B030D-6E8A-4147-A177-3AD203B41FA5}">
                      <a16:colId xmlns:a16="http://schemas.microsoft.com/office/drawing/2014/main" xmlns="" val="2165523207"/>
                    </a:ext>
                  </a:extLst>
                </a:gridCol>
              </a:tblGrid>
              <a:tr h="661051">
                <a:tc>
                  <a:txBody>
                    <a:bodyPr/>
                    <a:lstStyle/>
                    <a:p>
                      <a:pPr fontAlgn="t"/>
                      <a:r>
                        <a:rPr lang="en-US" b="1">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Volume Type</a:t>
                      </a:r>
                    </a:p>
                  </a:txBody>
                  <a:tcPr marR="47625" marT="47625" marB="47625" anchor="ctr"/>
                </a:tc>
                <a:tc>
                  <a:txBody>
                    <a:bodyPr/>
                    <a:lstStyle/>
                    <a:p>
                      <a:pPr fontAlgn="t"/>
                      <a:r>
                        <a:rPr lang="en-US" b="1" i="0">
                          <a:effectLst/>
                          <a:latin typeface="Amazon Ember Light" panose="020B0403020204020204" pitchFamily="34" charset="0"/>
                          <a:ea typeface="Amazon Ember Light" panose="020B0403020204020204" pitchFamily="34" charset="0"/>
                          <a:cs typeface="Amazon Ember Light" panose="020B0403020204020204" pitchFamily="34" charset="0"/>
                        </a:rPr>
                        <a:t>General Purpose SSD</a:t>
                      </a:r>
                    </a:p>
                  </a:txBody>
                  <a:tcPr marR="47625" marT="47625" marB="47625" anchor="ctr">
                    <a:solidFill>
                      <a:schemeClr val="accent1">
                        <a:lumMod val="20000"/>
                        <a:lumOff val="80000"/>
                      </a:schemeClr>
                    </a:solidFill>
                  </a:tcPr>
                </a:tc>
                <a:tc>
                  <a:txBody>
                    <a:bodyPr/>
                    <a:lstStyle/>
                    <a:p>
                      <a:pPr fontAlgn="t"/>
                      <a:r>
                        <a:rPr lang="en-US" b="1" i="0">
                          <a:effectLst/>
                          <a:latin typeface="Amazon Ember Light" panose="020B0403020204020204" pitchFamily="34" charset="0"/>
                          <a:ea typeface="Amazon Ember Light" panose="020B0403020204020204" pitchFamily="34" charset="0"/>
                          <a:cs typeface="Amazon Ember Light" panose="020B0403020204020204" pitchFamily="34" charset="0"/>
                        </a:rPr>
                        <a:t>Provisioned IOPS SSD </a:t>
                      </a:r>
                    </a:p>
                  </a:txBody>
                  <a:tcPr marR="47625" marT="47625" marB="47625" anchor="ctr">
                    <a:solidFill>
                      <a:schemeClr val="accent1">
                        <a:lumMod val="20000"/>
                        <a:lumOff val="80000"/>
                      </a:schemeClr>
                    </a:solidFill>
                  </a:tcPr>
                </a:tc>
                <a:extLst>
                  <a:ext uri="{0D108BD9-81ED-4DB2-BD59-A6C34878D82A}">
                    <a16:rowId xmlns:a16="http://schemas.microsoft.com/office/drawing/2014/main" xmlns="" val="1369675679"/>
                  </a:ext>
                </a:extLst>
              </a:tr>
              <a:tr h="1185323">
                <a:tc>
                  <a:txBody>
                    <a:bodyPr/>
                    <a:lstStyle/>
                    <a:p>
                      <a:pPr fontAlgn="t"/>
                      <a:r>
                        <a:rPr lang="en-US" b="1">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Description</a:t>
                      </a:r>
                    </a:p>
                  </a:txBody>
                  <a:tcPr marR="47625" marT="47625" marB="47625"/>
                </a:tc>
                <a:tc>
                  <a:txBody>
                    <a:bodyPr/>
                    <a:lstStyle/>
                    <a:p>
                      <a:pPr fontAlgn="t"/>
                      <a:r>
                        <a:rPr lang="en-US" b="0" i="0">
                          <a:effectLst/>
                          <a:latin typeface="Amazon Ember Light" panose="020B0403020204020204" pitchFamily="34" charset="0"/>
                          <a:ea typeface="Amazon Ember Light" panose="020B0403020204020204" pitchFamily="34" charset="0"/>
                          <a:cs typeface="Amazon Ember Light" panose="020B0403020204020204" pitchFamily="34" charset="0"/>
                        </a:rPr>
                        <a:t>General purpose SSD volume that balances price and performance for a wide variety of workloads</a:t>
                      </a:r>
                    </a:p>
                  </a:txBody>
                  <a:tcPr marR="47625" marT="47625" marB="47625">
                    <a:noFill/>
                  </a:tcPr>
                </a:tc>
                <a:tc>
                  <a:txBody>
                    <a:bodyPr/>
                    <a:lstStyle/>
                    <a:p>
                      <a:pPr fontAlgn="t"/>
                      <a:r>
                        <a:rPr lang="en-US" b="0" i="0">
                          <a:effectLst/>
                          <a:latin typeface="Amazon Ember Light" panose="020B0403020204020204" pitchFamily="34" charset="0"/>
                          <a:ea typeface="Amazon Ember Light" panose="020B0403020204020204" pitchFamily="34" charset="0"/>
                          <a:cs typeface="Amazon Ember Light" panose="020B0403020204020204" pitchFamily="34" charset="0"/>
                        </a:rPr>
                        <a:t>Highest-performance SSD volume for mission-critical low-latency or high-throughput workloads</a:t>
                      </a:r>
                    </a:p>
                  </a:txBody>
                  <a:tcPr marR="47625" marT="47625" marB="47625">
                    <a:noFill/>
                  </a:tcPr>
                </a:tc>
                <a:extLst>
                  <a:ext uri="{0D108BD9-81ED-4DB2-BD59-A6C34878D82A}">
                    <a16:rowId xmlns:a16="http://schemas.microsoft.com/office/drawing/2014/main" xmlns="" val="4200220376"/>
                  </a:ext>
                </a:extLst>
              </a:tr>
              <a:tr h="1894352">
                <a:tc>
                  <a:txBody>
                    <a:bodyPr/>
                    <a:lstStyle/>
                    <a:p>
                      <a:pPr fontAlgn="t"/>
                      <a:r>
                        <a:rPr lang="en-US" b="1">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Use Cases</a:t>
                      </a:r>
                    </a:p>
                  </a:txBody>
                  <a:tcPr marR="47625" marT="47625" marB="47625"/>
                </a:tc>
                <a:tc>
                  <a:txBody>
                    <a:bodyPr/>
                    <a:lstStyle/>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Recommended for most workloads</a:t>
                      </a:r>
                    </a:p>
                  </a:txBody>
                  <a:tcPr marR="47625" marT="47625" marB="47625">
                    <a:noFill/>
                  </a:tcPr>
                </a:tc>
                <a:tc>
                  <a:txBody>
                    <a:bodyPr/>
                    <a:lstStyle/>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Critical business applications that require sustained IOPS performance</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Large database workloads</a:t>
                      </a:r>
                    </a:p>
                  </a:txBody>
                  <a:tcPr marR="47625" marT="47625" marB="47625">
                    <a:noFill/>
                  </a:tcPr>
                </a:tc>
                <a:extLst>
                  <a:ext uri="{0D108BD9-81ED-4DB2-BD59-A6C34878D82A}">
                    <a16:rowId xmlns:a16="http://schemas.microsoft.com/office/drawing/2014/main" xmlns="" val="10002"/>
                  </a:ext>
                </a:extLst>
              </a:tr>
            </a:tbl>
          </a:graphicData>
        </a:graphic>
      </p:graphicFrame>
      <p:sp>
        <p:nvSpPr>
          <p:cNvPr id="6" name="Rectangle 5">
            <a:extLst>
              <a:ext uri="{FF2B5EF4-FFF2-40B4-BE49-F238E27FC236}">
                <a16:creationId xmlns:a16="http://schemas.microsoft.com/office/drawing/2014/main" xmlns="" id="{F6A1F014-E9F2-1C45-8462-BC79D604CFD1}"/>
              </a:ext>
            </a:extLst>
          </p:cNvPr>
          <p:cNvSpPr/>
          <p:nvPr/>
        </p:nvSpPr>
        <p:spPr>
          <a:xfrm>
            <a:off x="4410419" y="1650811"/>
            <a:ext cx="2930610" cy="461665"/>
          </a:xfrm>
          <a:prstGeom prst="rect">
            <a:avLst/>
          </a:prstGeom>
        </p:spPr>
        <p:txBody>
          <a:bodyPr wrap="none">
            <a:spAutoFit/>
          </a:bodyPr>
          <a:lstStyle/>
          <a:p>
            <a:pPr fontAlgn="t"/>
            <a:r>
              <a:rPr lang="en-US" sz="2400" b="1">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rPr>
              <a:t>Solid-State Backed</a:t>
            </a:r>
          </a:p>
        </p:txBody>
      </p:sp>
    </p:spTree>
    <p:extLst>
      <p:ext uri="{BB962C8B-B14F-4D97-AF65-F5344CB8AC3E}">
        <p14:creationId xmlns:p14="http://schemas.microsoft.com/office/powerpoint/2010/main" val="36682672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EBS Volume Types</a:t>
            </a:r>
          </a:p>
        </p:txBody>
      </p:sp>
      <p:graphicFrame>
        <p:nvGraphicFramePr>
          <p:cNvPr id="5" name="Table 4">
            <a:extLst>
              <a:ext uri="{FF2B5EF4-FFF2-40B4-BE49-F238E27FC236}">
                <a16:creationId xmlns:a16="http://schemas.microsoft.com/office/drawing/2014/main" xmlns="" id="{4E31FAC8-F5EF-8747-A335-631E760FAA9C}"/>
              </a:ext>
            </a:extLst>
          </p:cNvPr>
          <p:cNvGraphicFramePr>
            <a:graphicFrameLocks noGrp="1"/>
          </p:cNvGraphicFramePr>
          <p:nvPr>
            <p:extLst>
              <p:ext uri="{D42A27DB-BD31-4B8C-83A1-F6EECF244321}">
                <p14:modId xmlns:p14="http://schemas.microsoft.com/office/powerpoint/2010/main" val="736915272"/>
              </p:ext>
            </p:extLst>
          </p:nvPr>
        </p:nvGraphicFramePr>
        <p:xfrm>
          <a:off x="867907" y="2030747"/>
          <a:ext cx="10250364" cy="4164367"/>
        </p:xfrm>
        <a:graphic>
          <a:graphicData uri="http://schemas.openxmlformats.org/drawingml/2006/table">
            <a:tbl>
              <a:tblPr>
                <a:effectLst>
                  <a:outerShdw blurRad="50800" dist="38100" dir="2700000" algn="tl" rotWithShape="0">
                    <a:prstClr val="black">
                      <a:alpha val="40000"/>
                    </a:prstClr>
                  </a:outerShdw>
                </a:effectLst>
                <a:tableStyleId>{22838BEF-8BB2-4498-84A7-C5851F593DF1}</a:tableStyleId>
              </a:tblPr>
              <a:tblGrid>
                <a:gridCol w="1709037">
                  <a:extLst>
                    <a:ext uri="{9D8B030D-6E8A-4147-A177-3AD203B41FA5}">
                      <a16:colId xmlns:a16="http://schemas.microsoft.com/office/drawing/2014/main" xmlns="" val="2088616433"/>
                    </a:ext>
                  </a:extLst>
                </a:gridCol>
                <a:gridCol w="4232070">
                  <a:extLst>
                    <a:ext uri="{9D8B030D-6E8A-4147-A177-3AD203B41FA5}">
                      <a16:colId xmlns:a16="http://schemas.microsoft.com/office/drawing/2014/main" xmlns="" val="3707481253"/>
                    </a:ext>
                  </a:extLst>
                </a:gridCol>
                <a:gridCol w="4309257">
                  <a:extLst>
                    <a:ext uri="{9D8B030D-6E8A-4147-A177-3AD203B41FA5}">
                      <a16:colId xmlns:a16="http://schemas.microsoft.com/office/drawing/2014/main" xmlns="" val="848188141"/>
                    </a:ext>
                  </a:extLst>
                </a:gridCol>
              </a:tblGrid>
              <a:tr h="682408">
                <a:tc>
                  <a:txBody>
                    <a:bodyPr/>
                    <a:lstStyle/>
                    <a:p>
                      <a:pPr fontAlgn="t"/>
                      <a:r>
                        <a:rPr lang="en-US" b="1">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Volume Type</a:t>
                      </a:r>
                    </a:p>
                  </a:txBody>
                  <a:tcPr marR="47625" marT="47625" marB="47625" anchor="ctr"/>
                </a:tc>
                <a:tc>
                  <a:txBody>
                    <a:bodyPr/>
                    <a:lstStyle/>
                    <a:p>
                      <a:pPr fontAlgn="t"/>
                      <a:r>
                        <a:rPr lang="en-US" b="1" i="0">
                          <a:effectLst/>
                          <a:latin typeface="Amazon Ember Light" panose="020B0403020204020204" pitchFamily="34" charset="0"/>
                          <a:ea typeface="Amazon Ember Light" panose="020B0403020204020204" pitchFamily="34" charset="0"/>
                          <a:cs typeface="Amazon Ember Light" panose="020B0403020204020204" pitchFamily="34" charset="0"/>
                        </a:rPr>
                        <a:t>Throughput Optimized HDD </a:t>
                      </a:r>
                    </a:p>
                  </a:txBody>
                  <a:tcPr marR="47625" marT="47625" marB="47625" anchor="ctr">
                    <a:solidFill>
                      <a:schemeClr val="accent1">
                        <a:lumMod val="20000"/>
                        <a:lumOff val="80000"/>
                      </a:schemeClr>
                    </a:solidFill>
                  </a:tcPr>
                </a:tc>
                <a:tc>
                  <a:txBody>
                    <a:bodyPr/>
                    <a:lstStyle/>
                    <a:p>
                      <a:pPr fontAlgn="t"/>
                      <a:r>
                        <a:rPr lang="en-US" b="1" i="0">
                          <a:effectLst/>
                          <a:latin typeface="Amazon Ember Light" panose="020B0403020204020204" pitchFamily="34" charset="0"/>
                          <a:ea typeface="Amazon Ember Light" panose="020B0403020204020204" pitchFamily="34" charset="0"/>
                          <a:cs typeface="Amazon Ember Light" panose="020B0403020204020204" pitchFamily="34" charset="0"/>
                        </a:rPr>
                        <a:t>Cold HDD</a:t>
                      </a:r>
                    </a:p>
                  </a:txBody>
                  <a:tcPr marR="47625" marT="47625" marB="47625" anchor="ctr">
                    <a:solidFill>
                      <a:schemeClr val="accent1">
                        <a:lumMod val="20000"/>
                        <a:lumOff val="80000"/>
                      </a:schemeClr>
                    </a:solidFill>
                  </a:tcPr>
                </a:tc>
                <a:extLst>
                  <a:ext uri="{0D108BD9-81ED-4DB2-BD59-A6C34878D82A}">
                    <a16:rowId xmlns:a16="http://schemas.microsoft.com/office/drawing/2014/main" xmlns="" val="1369675679"/>
                  </a:ext>
                </a:extLst>
              </a:tr>
              <a:tr h="0">
                <a:tc>
                  <a:txBody>
                    <a:bodyPr/>
                    <a:lstStyle/>
                    <a:p>
                      <a:pPr fontAlgn="t"/>
                      <a:r>
                        <a:rPr lang="en-US" b="1">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Description</a:t>
                      </a:r>
                    </a:p>
                  </a:txBody>
                  <a:tcPr marR="47625" marT="47625" marB="47625"/>
                </a:tc>
                <a:tc>
                  <a:txBody>
                    <a:bodyPr/>
                    <a:lstStyle/>
                    <a:p>
                      <a:pPr fontAlgn="t"/>
                      <a:r>
                        <a:rPr lang="en-US" b="0" i="0">
                          <a:effectLst/>
                          <a:latin typeface="Amazon Ember Light" panose="020B0403020204020204" pitchFamily="34" charset="0"/>
                          <a:ea typeface="Amazon Ember Light" panose="020B0403020204020204" pitchFamily="34" charset="0"/>
                          <a:cs typeface="Amazon Ember Light" panose="020B0403020204020204" pitchFamily="34" charset="0"/>
                        </a:rPr>
                        <a:t>Low cost HDD volume designed for frequently accessed, throughput-intensive workloads</a:t>
                      </a:r>
                    </a:p>
                  </a:txBody>
                  <a:tcPr marR="47625" marT="47625" marB="47625">
                    <a:noFill/>
                  </a:tcPr>
                </a:tc>
                <a:tc>
                  <a:txBody>
                    <a:bodyPr/>
                    <a:lstStyle/>
                    <a:p>
                      <a:pPr fontAlgn="t"/>
                      <a:r>
                        <a:rPr lang="en-US" b="0" i="0">
                          <a:effectLst/>
                          <a:latin typeface="Amazon Ember Light" panose="020B0403020204020204" pitchFamily="34" charset="0"/>
                          <a:ea typeface="Amazon Ember Light" panose="020B0403020204020204" pitchFamily="34" charset="0"/>
                          <a:cs typeface="Amazon Ember Light" panose="020B0403020204020204" pitchFamily="34" charset="0"/>
                        </a:rPr>
                        <a:t>Lowest cost HDD volume designed for less frequently accessed workloads</a:t>
                      </a:r>
                    </a:p>
                  </a:txBody>
                  <a:tcPr marR="47625" marT="47625" marB="47625">
                    <a:noFill/>
                  </a:tcPr>
                </a:tc>
                <a:extLst>
                  <a:ext uri="{0D108BD9-81ED-4DB2-BD59-A6C34878D82A}">
                    <a16:rowId xmlns:a16="http://schemas.microsoft.com/office/drawing/2014/main" xmlns="" val="4200220376"/>
                  </a:ext>
                </a:extLst>
              </a:tr>
              <a:tr h="0">
                <a:tc>
                  <a:txBody>
                    <a:bodyPr/>
                    <a:lstStyle/>
                    <a:p>
                      <a:pPr fontAlgn="t"/>
                      <a:r>
                        <a:rPr lang="en-US" b="1">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Use Cases</a:t>
                      </a:r>
                    </a:p>
                  </a:txBody>
                  <a:tcPr marR="47625" marT="47625" marB="47625"/>
                </a:tc>
                <a:tc>
                  <a:txBody>
                    <a:bodyPr/>
                    <a:lstStyle/>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Streaming workloads</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Big data</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Data warehouses</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Log processing</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Cannot be a boot volume</a:t>
                      </a:r>
                    </a:p>
                  </a:txBody>
                  <a:tcPr marR="47625" marT="47625" marB="47625">
                    <a:noFill/>
                  </a:tcPr>
                </a:tc>
                <a:tc>
                  <a:txBody>
                    <a:bodyPr/>
                    <a:lstStyle/>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Throughput-oriented storage for large volumes of data that is infrequently accessed</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Scenarios where the lowest storage cost is important</a:t>
                      </a: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p>
                      <a:pPr marL="166688" marR="0" lvl="0" indent="-166688" algn="l" defTabSz="914199"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Cannot be a boot volume</a:t>
                      </a:r>
                    </a:p>
                    <a:p>
                      <a:pPr marL="0" marR="0" lvl="0" indent="0" algn="l" defTabSz="914199" rtl="0" eaLnBrk="1" fontAlgn="t"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444444"/>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a:txBody>
                  <a:tcPr marR="47625" marT="47625" marB="47625">
                    <a:noFill/>
                  </a:tcPr>
                </a:tc>
                <a:extLst>
                  <a:ext uri="{0D108BD9-81ED-4DB2-BD59-A6C34878D82A}">
                    <a16:rowId xmlns:a16="http://schemas.microsoft.com/office/drawing/2014/main" xmlns="" val="10002"/>
                  </a:ext>
                </a:extLst>
              </a:tr>
            </a:tbl>
          </a:graphicData>
        </a:graphic>
      </p:graphicFrame>
      <p:sp>
        <p:nvSpPr>
          <p:cNvPr id="7" name="Rectangle 6">
            <a:extLst>
              <a:ext uri="{FF2B5EF4-FFF2-40B4-BE49-F238E27FC236}">
                <a16:creationId xmlns:a16="http://schemas.microsoft.com/office/drawing/2014/main" xmlns="" id="{6FD2BF18-475B-5B4D-8A06-2EEF306DC891}"/>
              </a:ext>
            </a:extLst>
          </p:cNvPr>
          <p:cNvSpPr/>
          <p:nvPr/>
        </p:nvSpPr>
        <p:spPr>
          <a:xfrm>
            <a:off x="4610339" y="1482563"/>
            <a:ext cx="2765501" cy="461665"/>
          </a:xfrm>
          <a:prstGeom prst="rect">
            <a:avLst/>
          </a:prstGeom>
        </p:spPr>
        <p:txBody>
          <a:bodyPr wrap="none">
            <a:spAutoFit/>
          </a:bodyPr>
          <a:lstStyle/>
          <a:p>
            <a:pPr fontAlgn="t"/>
            <a:r>
              <a:rPr lang="en-US" sz="2400" b="1">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rPr>
              <a:t>Hard-Disk Backed</a:t>
            </a:r>
          </a:p>
        </p:txBody>
      </p:sp>
    </p:spTree>
    <p:extLst>
      <p:ext uri="{BB962C8B-B14F-4D97-AF65-F5344CB8AC3E}">
        <p14:creationId xmlns:p14="http://schemas.microsoft.com/office/powerpoint/2010/main" val="5544057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a:xfrm>
            <a:off x="304690" y="263531"/>
            <a:ext cx="9273649" cy="779463"/>
          </a:xfrm>
        </p:spPr>
        <p:txBody>
          <a:bodyPr>
            <a:normAutofit fontScale="90000"/>
          </a:bodyPr>
          <a:lstStyle/>
          <a:p>
            <a:r>
              <a:rPr lang="en-US"/>
              <a:t>Instances Optimized for Amazon EBS</a:t>
            </a:r>
          </a:p>
        </p:txBody>
      </p:sp>
      <p:grpSp>
        <p:nvGrpSpPr>
          <p:cNvPr id="3" name="Group 2">
            <a:extLst>
              <a:ext uri="{FF2B5EF4-FFF2-40B4-BE49-F238E27FC236}">
                <a16:creationId xmlns:a16="http://schemas.microsoft.com/office/drawing/2014/main" xmlns="" id="{C24C79A3-C01B-F54A-AFAB-77A8F867B687}"/>
              </a:ext>
            </a:extLst>
          </p:cNvPr>
          <p:cNvGrpSpPr/>
          <p:nvPr/>
        </p:nvGrpSpPr>
        <p:grpSpPr>
          <a:xfrm>
            <a:off x="1039326" y="2940573"/>
            <a:ext cx="1210319" cy="1386835"/>
            <a:chOff x="896777" y="2061443"/>
            <a:chExt cx="1210319" cy="1386835"/>
          </a:xfrm>
        </p:grpSpPr>
        <p:pic>
          <p:nvPicPr>
            <p:cNvPr id="8" name="Picture 7">
              <a:extLst>
                <a:ext uri="{FF2B5EF4-FFF2-40B4-BE49-F238E27FC236}">
                  <a16:creationId xmlns:a16="http://schemas.microsoft.com/office/drawing/2014/main" xmlns="" id="{CA9D534D-ECA0-754F-BF1D-61A51EE4E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777" y="2061443"/>
              <a:ext cx="1059940" cy="1099199"/>
            </a:xfrm>
            <a:prstGeom prst="rect">
              <a:avLst/>
            </a:prstGeom>
          </p:spPr>
        </p:pic>
        <p:pic>
          <p:nvPicPr>
            <p:cNvPr id="10" name="Picture 9">
              <a:extLst>
                <a:ext uri="{FF2B5EF4-FFF2-40B4-BE49-F238E27FC236}">
                  <a16:creationId xmlns:a16="http://schemas.microsoft.com/office/drawing/2014/main" xmlns="" id="{B849A484-FE70-054B-AE9E-5EC609C77E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9016" y="2585540"/>
              <a:ext cx="618080" cy="862738"/>
            </a:xfrm>
            <a:prstGeom prst="rect">
              <a:avLst/>
            </a:prstGeom>
          </p:spPr>
        </p:pic>
      </p:grpSp>
      <p:sp>
        <p:nvSpPr>
          <p:cNvPr id="4" name="TextBox 3">
            <a:extLst>
              <a:ext uri="{FF2B5EF4-FFF2-40B4-BE49-F238E27FC236}">
                <a16:creationId xmlns:a16="http://schemas.microsoft.com/office/drawing/2014/main" xmlns="" id="{C8B7FD06-F7AC-CE4D-ABD0-253526D9DF24}"/>
              </a:ext>
            </a:extLst>
          </p:cNvPr>
          <p:cNvSpPr txBox="1"/>
          <p:nvPr/>
        </p:nvSpPr>
        <p:spPr>
          <a:xfrm>
            <a:off x="418991" y="4412531"/>
            <a:ext cx="2425148" cy="645690"/>
          </a:xfrm>
          <a:prstGeom prst="rect">
            <a:avLst/>
          </a:prstGeom>
          <a:noFill/>
        </p:spPr>
        <p:txBody>
          <a:bodyPr wrap="square" rtlCol="0">
            <a:spAutoFit/>
          </a:bodyPr>
          <a:lstStyle/>
          <a:p>
            <a:pPr algn="ctr"/>
            <a:r>
              <a:rPr lang="en-US">
                <a:latin typeface="Amazon Ember" panose="020B0603020204020204" pitchFamily="34" charset="0"/>
                <a:ea typeface="Amazon Ember" panose="020B0603020204020204" pitchFamily="34" charset="0"/>
                <a:cs typeface="Amazon Ember" panose="020B0603020204020204" pitchFamily="34" charset="0"/>
              </a:rPr>
              <a:t>EBS Optimized Instance</a:t>
            </a:r>
          </a:p>
        </p:txBody>
      </p:sp>
      <p:sp>
        <p:nvSpPr>
          <p:cNvPr id="11" name="Rectangle 10">
            <a:extLst>
              <a:ext uri="{FF2B5EF4-FFF2-40B4-BE49-F238E27FC236}">
                <a16:creationId xmlns:a16="http://schemas.microsoft.com/office/drawing/2014/main" xmlns="" id="{EE0790F0-B62A-9344-9D54-34E07473721F}"/>
              </a:ext>
            </a:extLst>
          </p:cNvPr>
          <p:cNvSpPr/>
          <p:nvPr/>
        </p:nvSpPr>
        <p:spPr>
          <a:xfrm>
            <a:off x="2556964" y="2617728"/>
            <a:ext cx="9479839" cy="2677656"/>
          </a:xfrm>
          <a:prstGeom prst="rect">
            <a:avLst/>
          </a:prstGeom>
        </p:spPr>
        <p:txBody>
          <a:bodyPr wrap="none">
            <a:spAutoFit/>
          </a:bodyPr>
          <a:lstStyle/>
          <a:p>
            <a:pPr marL="799596" lvl="1" indent="-342900">
              <a:buClr>
                <a:schemeClr val="tx1">
                  <a:lumMod val="85000"/>
                  <a:lumOff val="15000"/>
                </a:schemeClr>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Optimized configuration stack</a:t>
            </a:r>
          </a:p>
          <a:p>
            <a:pPr>
              <a:buClr>
                <a:schemeClr val="tx1">
                  <a:lumMod val="85000"/>
                  <a:lumOff val="15000"/>
                </a:schemeClr>
              </a:buClr>
            </a:pP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Additional dedicated capacity for Amazon EBS I/O</a:t>
            </a:r>
          </a:p>
          <a:p>
            <a:pPr marL="799596" lvl="1" indent="-342900">
              <a:buClr>
                <a:schemeClr val="tx1">
                  <a:lumMod val="85000"/>
                  <a:lumOff val="15000"/>
                </a:schemeClr>
              </a:buClr>
              <a:buFont typeface="Arial" panose="020B0604020202020204" pitchFamily="34" charset="0"/>
              <a:buChar char="•"/>
            </a:pP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Minimizes contention between Amazon EBS and other traffic</a:t>
            </a:r>
          </a:p>
          <a:p>
            <a:pPr marL="799596" lvl="1" indent="-342900">
              <a:buClr>
                <a:schemeClr val="tx1">
                  <a:lumMod val="85000"/>
                  <a:lumOff val="15000"/>
                </a:schemeClr>
              </a:buClr>
              <a:buFont typeface="Arial" panose="020B0604020202020204" pitchFamily="34" charset="0"/>
              <a:buChar char="•"/>
            </a:pP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Options between 425 Mbps and 14,000 Mbps</a:t>
            </a:r>
          </a:p>
        </p:txBody>
      </p:sp>
    </p:spTree>
    <p:extLst>
      <p:ext uri="{BB962C8B-B14F-4D97-AF65-F5344CB8AC3E}">
        <p14:creationId xmlns:p14="http://schemas.microsoft.com/office/powerpoint/2010/main" val="11346081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a:xfrm>
            <a:off x="251460" y="263531"/>
            <a:ext cx="9551905" cy="779463"/>
          </a:xfrm>
        </p:spPr>
        <p:txBody>
          <a:bodyPr>
            <a:normAutofit/>
          </a:bodyPr>
          <a:lstStyle/>
          <a:p>
            <a:r>
              <a:rPr lang="en-US"/>
              <a:t>Shared File Systems</a:t>
            </a:r>
          </a:p>
        </p:txBody>
      </p:sp>
      <p:sp>
        <p:nvSpPr>
          <p:cNvPr id="9" name="TextBox 8">
            <a:extLst>
              <a:ext uri="{FF2B5EF4-FFF2-40B4-BE49-F238E27FC236}">
                <a16:creationId xmlns:a16="http://schemas.microsoft.com/office/drawing/2014/main" xmlns="" id="{EBD8DA92-805A-BA46-87A2-02BF51B367F5}"/>
              </a:ext>
            </a:extLst>
          </p:cNvPr>
          <p:cNvSpPr txBox="1"/>
          <p:nvPr/>
        </p:nvSpPr>
        <p:spPr>
          <a:xfrm>
            <a:off x="1235072" y="1688607"/>
            <a:ext cx="9718678" cy="430887"/>
          </a:xfrm>
          <a:prstGeom prst="rect">
            <a:avLst/>
          </a:prstGeom>
          <a:noFill/>
        </p:spPr>
        <p:txBody>
          <a:bodyPr wrap="square" rtlCol="0">
            <a:spAutoFit/>
          </a:bodyPr>
          <a:lstStyle/>
          <a:p>
            <a:pPr algn="ctr"/>
            <a:r>
              <a:rPr lang="en-US" sz="22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What if I have multiple instances that need to use the same storage?</a:t>
            </a:r>
          </a:p>
        </p:txBody>
      </p:sp>
      <p:grpSp>
        <p:nvGrpSpPr>
          <p:cNvPr id="20" name="Group 19">
            <a:extLst>
              <a:ext uri="{FF2B5EF4-FFF2-40B4-BE49-F238E27FC236}">
                <a16:creationId xmlns:a16="http://schemas.microsoft.com/office/drawing/2014/main" xmlns="" id="{F7361DB2-1931-3C46-AE22-7EB28FE94725}"/>
              </a:ext>
            </a:extLst>
          </p:cNvPr>
          <p:cNvGrpSpPr/>
          <p:nvPr/>
        </p:nvGrpSpPr>
        <p:grpSpPr>
          <a:xfrm>
            <a:off x="1070183" y="2943248"/>
            <a:ext cx="1806299" cy="1806299"/>
            <a:chOff x="3101956" y="2546007"/>
            <a:chExt cx="1806299" cy="1806299"/>
          </a:xfrm>
        </p:grpSpPr>
        <p:grpSp>
          <p:nvGrpSpPr>
            <p:cNvPr id="7" name="Group 6">
              <a:extLst>
                <a:ext uri="{FF2B5EF4-FFF2-40B4-BE49-F238E27FC236}">
                  <a16:creationId xmlns:a16="http://schemas.microsoft.com/office/drawing/2014/main" xmlns="" id="{E8B3F77D-29AA-BD42-A9B0-C8BEAB0FC175}"/>
                </a:ext>
              </a:extLst>
            </p:cNvPr>
            <p:cNvGrpSpPr/>
            <p:nvPr/>
          </p:nvGrpSpPr>
          <p:grpSpPr>
            <a:xfrm>
              <a:off x="3503103" y="2822220"/>
              <a:ext cx="1004005" cy="1492409"/>
              <a:chOff x="3503104" y="2680996"/>
              <a:chExt cx="1004005" cy="1492409"/>
            </a:xfrm>
          </p:grpSpPr>
          <p:pic>
            <p:nvPicPr>
              <p:cNvPr id="12" name="Picture 11">
                <a:extLst>
                  <a:ext uri="{FF2B5EF4-FFF2-40B4-BE49-F238E27FC236}">
                    <a16:creationId xmlns:a16="http://schemas.microsoft.com/office/drawing/2014/main" xmlns="" id="{739A714D-0DAC-EC40-8BFB-1F33FAE453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5624" y="2680996"/>
                <a:ext cx="744661" cy="1039424"/>
              </a:xfrm>
              <a:prstGeom prst="rect">
                <a:avLst/>
              </a:prstGeom>
            </p:spPr>
          </p:pic>
          <p:sp>
            <p:nvSpPr>
              <p:cNvPr id="5" name="TextBox 4">
                <a:extLst>
                  <a:ext uri="{FF2B5EF4-FFF2-40B4-BE49-F238E27FC236}">
                    <a16:creationId xmlns:a16="http://schemas.microsoft.com/office/drawing/2014/main" xmlns="" id="{E995DAC4-BE26-B847-A63D-0D89543F330A}"/>
                  </a:ext>
                </a:extLst>
              </p:cNvPr>
              <p:cNvSpPr txBox="1"/>
              <p:nvPr/>
            </p:nvSpPr>
            <p:spPr>
              <a:xfrm>
                <a:off x="3503104" y="3742518"/>
                <a:ext cx="1004005" cy="430887"/>
              </a:xfrm>
              <a:prstGeom prst="rect">
                <a:avLst/>
              </a:prstGeom>
              <a:noFill/>
            </p:spPr>
            <p:txBody>
              <a:bodyPr wrap="square" rtlCol="0">
                <a:spAutoFit/>
              </a:bodyPr>
              <a:lstStyle/>
              <a:p>
                <a:pPr algn="ctr"/>
                <a:r>
                  <a:rPr lang="en-US" sz="2200">
                    <a:latin typeface="Amazon Ember" panose="020B0603020204020204" pitchFamily="34" charset="0"/>
                    <a:ea typeface="Amazon Ember" panose="020B0603020204020204" pitchFamily="34" charset="0"/>
                    <a:cs typeface="Amazon Ember" panose="020B0603020204020204" pitchFamily="34" charset="0"/>
                  </a:rPr>
                  <a:t>EBS</a:t>
                </a:r>
              </a:p>
            </p:txBody>
          </p:sp>
        </p:grpSp>
        <p:sp>
          <p:nvSpPr>
            <p:cNvPr id="16" name="Oval 15">
              <a:extLst>
                <a:ext uri="{FF2B5EF4-FFF2-40B4-BE49-F238E27FC236}">
                  <a16:creationId xmlns:a16="http://schemas.microsoft.com/office/drawing/2014/main" xmlns="" id="{B4DAC61F-A6FE-EA4F-938C-1093A0247969}"/>
                </a:ext>
              </a:extLst>
            </p:cNvPr>
            <p:cNvSpPr/>
            <p:nvPr/>
          </p:nvSpPr>
          <p:spPr>
            <a:xfrm>
              <a:off x="3101956" y="2546007"/>
              <a:ext cx="1806299" cy="1806299"/>
            </a:xfrm>
            <a:prstGeom prst="ellipse">
              <a:avLst/>
            </a:prstGeom>
            <a:noFill/>
            <a:ln w="635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xmlns="" id="{76E3DB45-6F9A-EC4B-AEF8-ED858A6D0059}"/>
                </a:ext>
              </a:extLst>
            </p:cNvPr>
            <p:cNvCxnSpPr>
              <a:stCxn id="16" idx="1"/>
              <a:endCxn id="16" idx="5"/>
            </p:cNvCxnSpPr>
            <p:nvPr/>
          </p:nvCxnSpPr>
          <p:spPr>
            <a:xfrm>
              <a:off x="3366482" y="2810533"/>
              <a:ext cx="1277247" cy="1277247"/>
            </a:xfrm>
            <a:prstGeom prst="line">
              <a:avLst/>
            </a:prstGeom>
            <a:ln w="635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xmlns="" id="{8D1B5A12-E3CC-8A4C-9462-63375BC1F778}"/>
              </a:ext>
            </a:extLst>
          </p:cNvPr>
          <p:cNvGrpSpPr/>
          <p:nvPr/>
        </p:nvGrpSpPr>
        <p:grpSpPr>
          <a:xfrm>
            <a:off x="5217439" y="2943248"/>
            <a:ext cx="1806299" cy="1806299"/>
            <a:chOff x="5178358" y="2548392"/>
            <a:chExt cx="1806299" cy="1806299"/>
          </a:xfrm>
        </p:grpSpPr>
        <p:grpSp>
          <p:nvGrpSpPr>
            <p:cNvPr id="15" name="Group 14">
              <a:extLst>
                <a:ext uri="{FF2B5EF4-FFF2-40B4-BE49-F238E27FC236}">
                  <a16:creationId xmlns:a16="http://schemas.microsoft.com/office/drawing/2014/main" xmlns="" id="{11EBB114-49C3-9D47-A9DD-7FAD6D30AA5E}"/>
                </a:ext>
              </a:extLst>
            </p:cNvPr>
            <p:cNvGrpSpPr/>
            <p:nvPr/>
          </p:nvGrpSpPr>
          <p:grpSpPr>
            <a:xfrm>
              <a:off x="5579504" y="2916486"/>
              <a:ext cx="1004005" cy="1398773"/>
              <a:chOff x="6891469" y="2874345"/>
              <a:chExt cx="1004005" cy="1398773"/>
            </a:xfrm>
          </p:grpSpPr>
          <p:pic>
            <p:nvPicPr>
              <p:cNvPr id="13" name="Picture 12">
                <a:extLst>
                  <a:ext uri="{FF2B5EF4-FFF2-40B4-BE49-F238E27FC236}">
                    <a16:creationId xmlns:a16="http://schemas.microsoft.com/office/drawing/2014/main" xmlns="" id="{CD2B31EF-8CCF-5B4B-A3F8-603ADF0860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0111" y="2874345"/>
                <a:ext cx="892532" cy="925587"/>
              </a:xfrm>
              <a:prstGeom prst="rect">
                <a:avLst/>
              </a:prstGeom>
            </p:spPr>
          </p:pic>
          <p:sp>
            <p:nvSpPr>
              <p:cNvPr id="14" name="TextBox 13">
                <a:extLst>
                  <a:ext uri="{FF2B5EF4-FFF2-40B4-BE49-F238E27FC236}">
                    <a16:creationId xmlns:a16="http://schemas.microsoft.com/office/drawing/2014/main" xmlns="" id="{C39B20FC-FFFB-1744-8A63-E24173FDCA6F}"/>
                  </a:ext>
                </a:extLst>
              </p:cNvPr>
              <p:cNvSpPr txBox="1"/>
              <p:nvPr/>
            </p:nvSpPr>
            <p:spPr>
              <a:xfrm>
                <a:off x="6891469" y="3842231"/>
                <a:ext cx="1004005" cy="430887"/>
              </a:xfrm>
              <a:prstGeom prst="rect">
                <a:avLst/>
              </a:prstGeom>
              <a:noFill/>
            </p:spPr>
            <p:txBody>
              <a:bodyPr wrap="square" rtlCol="0">
                <a:spAutoFit/>
              </a:bodyPr>
              <a:lstStyle/>
              <a:p>
                <a:pPr algn="ctr"/>
                <a:r>
                  <a:rPr lang="en-US" sz="2200">
                    <a:latin typeface="Amazon Ember" panose="020B0603020204020204" pitchFamily="34" charset="0"/>
                    <a:ea typeface="Amazon Ember" panose="020B0603020204020204" pitchFamily="34" charset="0"/>
                    <a:cs typeface="Amazon Ember" panose="020B0603020204020204" pitchFamily="34" charset="0"/>
                  </a:rPr>
                  <a:t>S3</a:t>
                </a:r>
              </a:p>
            </p:txBody>
          </p:sp>
        </p:grpSp>
        <p:sp>
          <p:nvSpPr>
            <p:cNvPr id="21" name="Oval 20">
              <a:extLst>
                <a:ext uri="{FF2B5EF4-FFF2-40B4-BE49-F238E27FC236}">
                  <a16:creationId xmlns:a16="http://schemas.microsoft.com/office/drawing/2014/main" xmlns="" id="{B9DEB59F-28F0-0546-A193-15F220B07CF8}"/>
                </a:ext>
              </a:extLst>
            </p:cNvPr>
            <p:cNvSpPr/>
            <p:nvPr/>
          </p:nvSpPr>
          <p:spPr>
            <a:xfrm>
              <a:off x="5178358" y="2548392"/>
              <a:ext cx="1806299" cy="1806299"/>
            </a:xfrm>
            <a:prstGeom prst="ellipse">
              <a:avLst/>
            </a:prstGeom>
            <a:noFill/>
            <a:ln w="635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xmlns="" id="{485D5546-38C1-9F45-B56A-0047B2EAEC8B}"/>
              </a:ext>
            </a:extLst>
          </p:cNvPr>
          <p:cNvSpPr txBox="1"/>
          <p:nvPr/>
        </p:nvSpPr>
        <p:spPr>
          <a:xfrm>
            <a:off x="889109" y="5096937"/>
            <a:ext cx="2254142" cy="1107996"/>
          </a:xfrm>
          <a:prstGeom prst="rect">
            <a:avLst/>
          </a:prstGeom>
          <a:noFill/>
        </p:spPr>
        <p:txBody>
          <a:bodyPr wrap="square" rtlCol="0">
            <a:spAutoFit/>
          </a:bodyPr>
          <a:lstStyle/>
          <a:p>
            <a:pPr algn="ctr"/>
            <a:r>
              <a:rPr lang="en-US" sz="2200">
                <a:latin typeface="Amazon Ember Light" panose="020B0403020204020204" pitchFamily="34" charset="0"/>
                <a:ea typeface="Amazon Ember Light" panose="020B0403020204020204" pitchFamily="34" charset="0"/>
                <a:cs typeface="Amazon Ember Light" panose="020B0403020204020204" pitchFamily="34" charset="0"/>
              </a:rPr>
              <a:t>Amazon EBS only attaches to one instance</a:t>
            </a:r>
          </a:p>
        </p:txBody>
      </p:sp>
      <p:sp>
        <p:nvSpPr>
          <p:cNvPr id="24" name="TextBox 23">
            <a:extLst>
              <a:ext uri="{FF2B5EF4-FFF2-40B4-BE49-F238E27FC236}">
                <a16:creationId xmlns:a16="http://schemas.microsoft.com/office/drawing/2014/main" xmlns="" id="{F7ECC044-3684-5B47-A68F-D3B6850B821E}"/>
              </a:ext>
            </a:extLst>
          </p:cNvPr>
          <p:cNvSpPr txBox="1"/>
          <p:nvPr/>
        </p:nvSpPr>
        <p:spPr>
          <a:xfrm>
            <a:off x="5124191" y="5096935"/>
            <a:ext cx="2018603" cy="1107996"/>
          </a:xfrm>
          <a:prstGeom prst="rect">
            <a:avLst/>
          </a:prstGeom>
          <a:noFill/>
        </p:spPr>
        <p:txBody>
          <a:bodyPr wrap="square" rtlCol="0">
            <a:spAutoFit/>
          </a:bodyPr>
          <a:lstStyle/>
          <a:p>
            <a:pPr algn="ctr"/>
            <a:r>
              <a:rPr lang="en-US" sz="2200">
                <a:latin typeface="Amazon Ember Light" panose="020B0403020204020204" pitchFamily="34" charset="0"/>
                <a:ea typeface="Amazon Ember Light" panose="020B0403020204020204" pitchFamily="34" charset="0"/>
                <a:cs typeface="Amazon Ember Light" panose="020B0403020204020204" pitchFamily="34" charset="0"/>
              </a:rPr>
              <a:t>Amazon S3 is an option but is not ideal</a:t>
            </a:r>
          </a:p>
        </p:txBody>
      </p:sp>
      <p:grpSp>
        <p:nvGrpSpPr>
          <p:cNvPr id="29" name="Group 28">
            <a:extLst>
              <a:ext uri="{FF2B5EF4-FFF2-40B4-BE49-F238E27FC236}">
                <a16:creationId xmlns:a16="http://schemas.microsoft.com/office/drawing/2014/main" xmlns="" id="{A1744690-F083-3049-B6DF-3FC01CB7EB7D}"/>
              </a:ext>
            </a:extLst>
          </p:cNvPr>
          <p:cNvGrpSpPr/>
          <p:nvPr/>
        </p:nvGrpSpPr>
        <p:grpSpPr>
          <a:xfrm>
            <a:off x="9364695" y="2943248"/>
            <a:ext cx="1806299" cy="1806299"/>
            <a:chOff x="9106279" y="2568662"/>
            <a:chExt cx="1806299" cy="1806299"/>
          </a:xfrm>
        </p:grpSpPr>
        <p:pic>
          <p:nvPicPr>
            <p:cNvPr id="25" name="Picture 24">
              <a:extLst>
                <a:ext uri="{FF2B5EF4-FFF2-40B4-BE49-F238E27FC236}">
                  <a16:creationId xmlns:a16="http://schemas.microsoft.com/office/drawing/2014/main" xmlns="" id="{5F52FCD7-6DBD-B94C-986A-BF855B1508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44950" y="2769622"/>
              <a:ext cx="928958" cy="1114750"/>
            </a:xfrm>
            <a:prstGeom prst="rect">
              <a:avLst/>
            </a:prstGeom>
          </p:spPr>
        </p:pic>
        <p:sp>
          <p:nvSpPr>
            <p:cNvPr id="26" name="TextBox 25">
              <a:extLst>
                <a:ext uri="{FF2B5EF4-FFF2-40B4-BE49-F238E27FC236}">
                  <a16:creationId xmlns:a16="http://schemas.microsoft.com/office/drawing/2014/main" xmlns="" id="{A1EAB99A-6936-5445-B142-5B7FC7DB4453}"/>
                </a:ext>
              </a:extLst>
            </p:cNvPr>
            <p:cNvSpPr txBox="1"/>
            <p:nvPr/>
          </p:nvSpPr>
          <p:spPr>
            <a:xfrm>
              <a:off x="9107088" y="3837476"/>
              <a:ext cx="1805490" cy="430887"/>
            </a:xfrm>
            <a:prstGeom prst="rect">
              <a:avLst/>
            </a:prstGeom>
            <a:noFill/>
          </p:spPr>
          <p:txBody>
            <a:bodyPr wrap="square" rtlCol="0">
              <a:spAutoFit/>
            </a:bodyPr>
            <a:lstStyle/>
            <a:p>
              <a:pPr algn="ctr"/>
              <a:r>
                <a:rPr lang="en-US" sz="2200">
                  <a:latin typeface="Amazon Ember" panose="020B0603020204020204" pitchFamily="34" charset="0"/>
                  <a:ea typeface="Amazon Ember" panose="020B0603020204020204" pitchFamily="34" charset="0"/>
                  <a:cs typeface="Amazon Ember" panose="020B0603020204020204" pitchFamily="34" charset="0"/>
                </a:rPr>
                <a:t>EFS/FSx</a:t>
              </a:r>
            </a:p>
          </p:txBody>
        </p:sp>
        <p:sp>
          <p:nvSpPr>
            <p:cNvPr id="28" name="Oval 27">
              <a:extLst>
                <a:ext uri="{FF2B5EF4-FFF2-40B4-BE49-F238E27FC236}">
                  <a16:creationId xmlns:a16="http://schemas.microsoft.com/office/drawing/2014/main" xmlns="" id="{1863C864-CFCA-9F4C-9094-70C4ED09A7C6}"/>
                </a:ext>
              </a:extLst>
            </p:cNvPr>
            <p:cNvSpPr/>
            <p:nvPr/>
          </p:nvSpPr>
          <p:spPr>
            <a:xfrm>
              <a:off x="9106279" y="2568662"/>
              <a:ext cx="1806299" cy="1806299"/>
            </a:xfrm>
            <a:prstGeom prst="ellipse">
              <a:avLst/>
            </a:prstGeom>
            <a:noFill/>
            <a:ln w="635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xmlns="" id="{79C47C08-4B6D-5A40-A353-5D41EB01CFF4}"/>
              </a:ext>
            </a:extLst>
          </p:cNvPr>
          <p:cNvSpPr txBox="1"/>
          <p:nvPr/>
        </p:nvSpPr>
        <p:spPr>
          <a:xfrm>
            <a:off x="8993356" y="5097216"/>
            <a:ext cx="2624022" cy="1107996"/>
          </a:xfrm>
          <a:prstGeom prst="rect">
            <a:avLst/>
          </a:prstGeom>
          <a:noFill/>
        </p:spPr>
        <p:txBody>
          <a:bodyPr wrap="square" rtlCol="0">
            <a:spAutoFit/>
          </a:bodyPr>
          <a:lstStyle/>
          <a:p>
            <a:pPr algn="ctr"/>
            <a:r>
              <a:rPr lang="en-US" sz="2200">
                <a:latin typeface="Amazon Ember Light" panose="020B0403020204020204" pitchFamily="34" charset="0"/>
                <a:ea typeface="Amazon Ember Light" panose="020B0403020204020204" pitchFamily="34" charset="0"/>
                <a:cs typeface="Amazon Ember Light" panose="020B0403020204020204" pitchFamily="34" charset="0"/>
              </a:rPr>
              <a:t>Amazon EFS and Amazon </a:t>
            </a:r>
            <a:r>
              <a:rPr lang="en-US" sz="2200" err="1">
                <a:latin typeface="Amazon Ember Light" panose="020B0403020204020204" pitchFamily="34" charset="0"/>
                <a:ea typeface="Amazon Ember Light" panose="020B0403020204020204" pitchFamily="34" charset="0"/>
                <a:cs typeface="Amazon Ember Light" panose="020B0403020204020204" pitchFamily="34" charset="0"/>
              </a:rPr>
              <a:t>FSx</a:t>
            </a:r>
            <a:r>
              <a:rPr lang="en-US" sz="2200">
                <a:latin typeface="Amazon Ember Light" panose="020B0403020204020204" pitchFamily="34" charset="0"/>
                <a:ea typeface="Amazon Ember Light" panose="020B0403020204020204" pitchFamily="34" charset="0"/>
                <a:cs typeface="Amazon Ember Light" panose="020B0403020204020204" pitchFamily="34" charset="0"/>
              </a:rPr>
              <a:t> are perfect for this task</a:t>
            </a:r>
          </a:p>
        </p:txBody>
      </p:sp>
    </p:spTree>
    <p:extLst>
      <p:ext uri="{BB962C8B-B14F-4D97-AF65-F5344CB8AC3E}">
        <p14:creationId xmlns:p14="http://schemas.microsoft.com/office/powerpoint/2010/main" val="26670387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Elastic File System (EFS)</a:t>
            </a:r>
          </a:p>
        </p:txBody>
      </p:sp>
      <p:cxnSp>
        <p:nvCxnSpPr>
          <p:cNvPr id="13" name="Elbow Connector 12"/>
          <p:cNvCxnSpPr/>
          <p:nvPr/>
        </p:nvCxnSpPr>
        <p:spPr>
          <a:xfrm flipV="1">
            <a:off x="6539438" y="4951484"/>
            <a:ext cx="1948070" cy="800263"/>
          </a:xfrm>
          <a:prstGeom prst="bentConnector3">
            <a:avLst>
              <a:gd name="adj1" fmla="val 98543"/>
            </a:avLst>
          </a:prstGeom>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6539438" y="4853354"/>
            <a:ext cx="4175455" cy="1355669"/>
          </a:xfrm>
          <a:prstGeom prst="bentConnector3">
            <a:avLst>
              <a:gd name="adj1" fmla="val 99040"/>
            </a:avLst>
          </a:prstGeom>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4986970" y="3450402"/>
            <a:ext cx="1268045" cy="1470822"/>
            <a:chOff x="5145811" y="3450402"/>
            <a:chExt cx="1268045" cy="1470822"/>
          </a:xfrm>
        </p:grpSpPr>
        <p:cxnSp>
          <p:nvCxnSpPr>
            <p:cNvPr id="32" name="Elbow Connector 31">
              <a:extLst>
                <a:ext uri="{FF2B5EF4-FFF2-40B4-BE49-F238E27FC236}">
                  <a16:creationId xmlns:a16="http://schemas.microsoft.com/office/drawing/2014/main" xmlns="" id="{7053D82A-81A4-DA44-9D4A-02F08E46B018}"/>
                </a:ext>
              </a:extLst>
            </p:cNvPr>
            <p:cNvCxnSpPr>
              <a:cxnSpLocks/>
            </p:cNvCxnSpPr>
            <p:nvPr/>
          </p:nvCxnSpPr>
          <p:spPr>
            <a:xfrm rot="16200000" flipH="1">
              <a:off x="4965463" y="3643065"/>
              <a:ext cx="729337" cy="344012"/>
            </a:xfrm>
            <a:prstGeom prst="bentConnector3">
              <a:avLst/>
            </a:prstGeom>
          </p:spPr>
          <p:style>
            <a:lnRef idx="1">
              <a:schemeClr val="accent5"/>
            </a:lnRef>
            <a:fillRef idx="0">
              <a:schemeClr val="accent5"/>
            </a:fillRef>
            <a:effectRef idx="0">
              <a:schemeClr val="accent5"/>
            </a:effectRef>
            <a:fontRef idx="minor">
              <a:schemeClr val="tx1"/>
            </a:fontRef>
          </p:style>
        </p:cxnSp>
        <p:pic>
          <p:nvPicPr>
            <p:cNvPr id="55" name="Picture 54">
              <a:extLst>
                <a:ext uri="{FF2B5EF4-FFF2-40B4-BE49-F238E27FC236}">
                  <a16:creationId xmlns:a16="http://schemas.microsoft.com/office/drawing/2014/main" xmlns="" id="{AF0D20E6-3926-9A4E-AF35-B7881C6A7A8D}"/>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val="0"/>
                </a:ext>
              </a:extLst>
            </a:blip>
            <a:stretch>
              <a:fillRect/>
            </a:stretch>
          </p:blipFill>
          <p:spPr>
            <a:xfrm>
              <a:off x="5145811" y="4179740"/>
              <a:ext cx="1268044" cy="741484"/>
            </a:xfrm>
            <a:prstGeom prst="rect">
              <a:avLst/>
            </a:prstGeom>
            <a:ln>
              <a:noFill/>
            </a:ln>
          </p:spPr>
        </p:pic>
        <p:cxnSp>
          <p:nvCxnSpPr>
            <p:cNvPr id="62" name="Elbow Connector 61">
              <a:extLst>
                <a:ext uri="{FF2B5EF4-FFF2-40B4-BE49-F238E27FC236}">
                  <a16:creationId xmlns:a16="http://schemas.microsoft.com/office/drawing/2014/main" xmlns="" id="{55D0C5A1-052F-8A4C-966F-AB937EFA0039}"/>
                </a:ext>
              </a:extLst>
            </p:cNvPr>
            <p:cNvCxnSpPr>
              <a:cxnSpLocks/>
            </p:cNvCxnSpPr>
            <p:nvPr/>
          </p:nvCxnSpPr>
          <p:spPr>
            <a:xfrm rot="5400000">
              <a:off x="5876121" y="3642005"/>
              <a:ext cx="707123" cy="368347"/>
            </a:xfrm>
            <a:prstGeom prst="bentConnector3">
              <a:avLst/>
            </a:prstGeom>
          </p:spPr>
          <p:style>
            <a:lnRef idx="1">
              <a:schemeClr val="accent5"/>
            </a:lnRef>
            <a:fillRef idx="0">
              <a:schemeClr val="accent5"/>
            </a:fillRef>
            <a:effectRef idx="0">
              <a:schemeClr val="accent5"/>
            </a:effectRef>
            <a:fontRef idx="minor">
              <a:schemeClr val="tx1"/>
            </a:fontRef>
          </p:style>
        </p:cxnSp>
      </p:grpSp>
      <p:cxnSp>
        <p:nvCxnSpPr>
          <p:cNvPr id="11" name="Straight Connector 10"/>
          <p:cNvCxnSpPr/>
          <p:nvPr/>
        </p:nvCxnSpPr>
        <p:spPr>
          <a:xfrm flipV="1">
            <a:off x="5620992" y="4910283"/>
            <a:ext cx="0" cy="520120"/>
          </a:xfrm>
          <a:prstGeom prst="line">
            <a:avLst/>
          </a:prstGeom>
          <a:ln/>
        </p:spPr>
        <p:style>
          <a:lnRef idx="1">
            <a:schemeClr val="accent1"/>
          </a:lnRef>
          <a:fillRef idx="0">
            <a:schemeClr val="accent1"/>
          </a:fillRef>
          <a:effectRef idx="0">
            <a:schemeClr val="accent1"/>
          </a:effectRef>
          <a:fontRef idx="minor">
            <a:schemeClr val="tx1"/>
          </a:fontRef>
        </p:style>
      </p:cxnSp>
      <p:pic>
        <p:nvPicPr>
          <p:cNvPr id="59" name="Picture 58">
            <a:extLst>
              <a:ext uri="{FF2B5EF4-FFF2-40B4-BE49-F238E27FC236}">
                <a16:creationId xmlns:a16="http://schemas.microsoft.com/office/drawing/2014/main" xmlns="" id="{80666785-F3E4-DE48-B28C-8EF8C3D29034}"/>
              </a:ext>
            </a:extLst>
          </p:cNvPr>
          <p:cNvPicPr>
            <a:picLocks noChangeAspect="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val="0"/>
              </a:ext>
            </a:extLst>
          </a:blip>
          <a:stretch>
            <a:fillRect/>
          </a:stretch>
        </p:blipFill>
        <p:spPr>
          <a:xfrm>
            <a:off x="4632086" y="5410762"/>
            <a:ext cx="1936881" cy="1132584"/>
          </a:xfrm>
          <a:prstGeom prst="rect">
            <a:avLst/>
          </a:prstGeom>
          <a:ln>
            <a:noFill/>
          </a:ln>
        </p:spPr>
      </p:pic>
      <p:sp>
        <p:nvSpPr>
          <p:cNvPr id="4" name="Rectangle 3">
            <a:extLst>
              <a:ext uri="{FF2B5EF4-FFF2-40B4-BE49-F238E27FC236}">
                <a16:creationId xmlns:a16="http://schemas.microsoft.com/office/drawing/2014/main" xmlns="" id="{62D7B67D-F5C7-9747-9411-7279EAAABA0F}"/>
              </a:ext>
            </a:extLst>
          </p:cNvPr>
          <p:cNvSpPr/>
          <p:nvPr/>
        </p:nvSpPr>
        <p:spPr>
          <a:xfrm rot="5400000">
            <a:off x="1868397" y="2919312"/>
            <a:ext cx="78944" cy="1199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xmlns="" id="{8CE4BBE9-1C14-F043-8F64-683473D30843}"/>
              </a:ext>
            </a:extLst>
          </p:cNvPr>
          <p:cNvGrpSpPr/>
          <p:nvPr/>
        </p:nvGrpSpPr>
        <p:grpSpPr>
          <a:xfrm>
            <a:off x="345526" y="2117084"/>
            <a:ext cx="3124687" cy="1258198"/>
            <a:chOff x="170023" y="3049501"/>
            <a:chExt cx="3124687" cy="1258198"/>
          </a:xfrm>
        </p:grpSpPr>
        <p:sp>
          <p:nvSpPr>
            <p:cNvPr id="27" name="TextBox 26">
              <a:extLst>
                <a:ext uri="{FF2B5EF4-FFF2-40B4-BE49-F238E27FC236}">
                  <a16:creationId xmlns:a16="http://schemas.microsoft.com/office/drawing/2014/main" xmlns="" id="{73523AFF-F58B-FE4B-98EC-3EDADEF36286}"/>
                </a:ext>
              </a:extLst>
            </p:cNvPr>
            <p:cNvSpPr txBox="1"/>
            <p:nvPr/>
          </p:nvSpPr>
          <p:spPr>
            <a:xfrm>
              <a:off x="170023" y="3049501"/>
              <a:ext cx="3124687" cy="892552"/>
            </a:xfrm>
            <a:prstGeom prst="rect">
              <a:avLst/>
            </a:prstGeom>
            <a:noFill/>
          </p:spPr>
          <p:txBody>
            <a:bodyPr wrap="square" rtlCol="0">
              <a:spAutoFit/>
            </a:bodyPr>
            <a:lstStyle/>
            <a:p>
              <a:pPr algn="ctr"/>
              <a:r>
                <a:rPr lang="en-US" sz="2600">
                  <a:latin typeface="Amazon Ember" panose="020B0603020204020204" pitchFamily="34" charset="0"/>
                  <a:ea typeface="Amazon Ember" panose="020B0603020204020204" pitchFamily="34" charset="0"/>
                  <a:cs typeface="Amazon Ember" panose="020B0603020204020204" pitchFamily="34" charset="0"/>
                </a:rPr>
                <a:t>Amazon </a:t>
              </a:r>
              <a:r>
                <a:rPr lang="en-US" sz="260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EFS</a:t>
              </a:r>
            </a:p>
            <a:p>
              <a:pPr algn="ctr"/>
              <a:r>
                <a:rPr lang="en-US" sz="260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60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Linux</a:t>
              </a:r>
              <a:r>
                <a:rPr lang="en-US" sz="2600">
                  <a:latin typeface="Amazon Ember Light" panose="020B0403020204020204" pitchFamily="34" charset="0"/>
                  <a:ea typeface="Amazon Ember Light" panose="020B0403020204020204" pitchFamily="34" charset="0"/>
                  <a:cs typeface="Amazon Ember Light" panose="020B0403020204020204" pitchFamily="34" charset="0"/>
                </a:rPr>
                <a:t> Workloads)</a:t>
              </a:r>
            </a:p>
          </p:txBody>
        </p:sp>
        <p:sp>
          <p:nvSpPr>
            <p:cNvPr id="6" name="Rectangle 5">
              <a:extLst>
                <a:ext uri="{FF2B5EF4-FFF2-40B4-BE49-F238E27FC236}">
                  <a16:creationId xmlns:a16="http://schemas.microsoft.com/office/drawing/2014/main" xmlns="" id="{D70197DB-1EE5-3A4B-9B3C-5F4A3F717730}"/>
                </a:ext>
              </a:extLst>
            </p:cNvPr>
            <p:cNvSpPr/>
            <p:nvPr/>
          </p:nvSpPr>
          <p:spPr>
            <a:xfrm>
              <a:off x="740749" y="3938367"/>
              <a:ext cx="1750800" cy="369332"/>
            </a:xfrm>
            <a:prstGeom prst="rect">
              <a:avLst/>
            </a:prstGeom>
          </p:spPr>
          <p:txBody>
            <a:bodyPr wrap="none">
              <a:spAutoFit/>
            </a:bodyPr>
            <a:lstStyle/>
            <a:p>
              <a:pPr>
                <a:buClr>
                  <a:schemeClr val="tx1">
                    <a:lumMod val="85000"/>
                    <a:lumOff val="15000"/>
                  </a:schemeClr>
                </a:buClr>
              </a:pPr>
              <a:r>
                <a:rPr lang="en-US" sz="1800">
                  <a:latin typeface="Amazon Ember Light" panose="020B0403020204020204" pitchFamily="34" charset="0"/>
                  <a:ea typeface="Amazon Ember Light" panose="020B0403020204020204" pitchFamily="34" charset="0"/>
                  <a:cs typeface="Amazon Ember Light" panose="020B0403020204020204" pitchFamily="34" charset="0"/>
                </a:rPr>
                <a:t>NFSv4 protocol</a:t>
              </a:r>
            </a:p>
          </p:txBody>
        </p:sp>
      </p:grpSp>
      <p:sp>
        <p:nvSpPr>
          <p:cNvPr id="14" name="TextBox 13">
            <a:extLst>
              <a:ext uri="{FF2B5EF4-FFF2-40B4-BE49-F238E27FC236}">
                <a16:creationId xmlns:a16="http://schemas.microsoft.com/office/drawing/2014/main" xmlns="" id="{FD043941-17F5-5D48-8BFC-13AFAEBE2667}"/>
              </a:ext>
            </a:extLst>
          </p:cNvPr>
          <p:cNvSpPr txBox="1"/>
          <p:nvPr/>
        </p:nvSpPr>
        <p:spPr>
          <a:xfrm>
            <a:off x="726832" y="4021463"/>
            <a:ext cx="2362074" cy="400110"/>
          </a:xfrm>
          <a:prstGeom prst="rect">
            <a:avLst/>
          </a:prstGeom>
          <a:noFill/>
        </p:spPr>
        <p:txBody>
          <a:bodyPr wrap="square" rtlCol="0">
            <a:spAutoFit/>
          </a:bodyPr>
          <a:lstStyle/>
          <a:p>
            <a:pPr algn="ct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Shared</a:t>
            </a:r>
            <a:r>
              <a:rPr lang="en-US">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a:t>
            </a: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Across</a:t>
            </a:r>
          </a:p>
        </p:txBody>
      </p:sp>
      <p:sp>
        <p:nvSpPr>
          <p:cNvPr id="15" name="Rectangle 14">
            <a:extLst>
              <a:ext uri="{FF2B5EF4-FFF2-40B4-BE49-F238E27FC236}">
                <a16:creationId xmlns:a16="http://schemas.microsoft.com/office/drawing/2014/main" xmlns="" id="{54C1563A-30EF-0143-A88E-8E9167BC1AEC}"/>
              </a:ext>
            </a:extLst>
          </p:cNvPr>
          <p:cNvSpPr/>
          <p:nvPr/>
        </p:nvSpPr>
        <p:spPr>
          <a:xfrm>
            <a:off x="916252" y="4428308"/>
            <a:ext cx="2623544" cy="1323439"/>
          </a:xfrm>
          <a:prstGeom prst="rect">
            <a:avLst/>
          </a:prstGeom>
        </p:spPr>
        <p:txBody>
          <a:bodyPr wrap="square">
            <a:spAutoFit/>
          </a:bodyPr>
          <a:lstStyle/>
          <a:p>
            <a:pPr marL="285750" indent="-285750">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Availability Zones</a:t>
            </a:r>
          </a:p>
          <a:p>
            <a:pPr marL="285750" indent="-285750">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Regions</a:t>
            </a:r>
          </a:p>
          <a:p>
            <a:pPr marL="285750" indent="-285750">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VPCs</a:t>
            </a:r>
          </a:p>
          <a:p>
            <a:pPr marL="285750" indent="-285750">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sp>
        <p:nvSpPr>
          <p:cNvPr id="39" name="Rounded Rectangle 38">
            <a:extLst>
              <a:ext uri="{FF2B5EF4-FFF2-40B4-BE49-F238E27FC236}">
                <a16:creationId xmlns:a16="http://schemas.microsoft.com/office/drawing/2014/main" xmlns="" id="{BB002FDC-E516-0042-AAED-836F771691BA}"/>
              </a:ext>
            </a:extLst>
          </p:cNvPr>
          <p:cNvSpPr/>
          <p:nvPr/>
        </p:nvSpPr>
        <p:spPr>
          <a:xfrm>
            <a:off x="4106983" y="1809175"/>
            <a:ext cx="3028019" cy="3405094"/>
          </a:xfrm>
          <a:prstGeom prst="roundRect">
            <a:avLst>
              <a:gd name="adj" fmla="val 9818"/>
            </a:avLst>
          </a:prstGeom>
          <a:ln w="12700">
            <a:solidFill>
              <a:srgbClr val="F4B183"/>
            </a:solidFill>
            <a:prstDash val="lg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29" name="Picture 28">
            <a:extLst>
              <a:ext uri="{FF2B5EF4-FFF2-40B4-BE49-F238E27FC236}">
                <a16:creationId xmlns:a16="http://schemas.microsoft.com/office/drawing/2014/main" xmlns="" id="{6629C2A5-4650-D440-8F2C-9608E1E1E2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2406" y="5496875"/>
            <a:ext cx="854640" cy="771934"/>
          </a:xfrm>
          <a:prstGeom prst="rect">
            <a:avLst/>
          </a:prstGeom>
        </p:spPr>
      </p:pic>
      <p:sp>
        <p:nvSpPr>
          <p:cNvPr id="44" name="Rounded Rectangle 43">
            <a:extLst>
              <a:ext uri="{FF2B5EF4-FFF2-40B4-BE49-F238E27FC236}">
                <a16:creationId xmlns:a16="http://schemas.microsoft.com/office/drawing/2014/main" xmlns="" id="{B6560C00-E19D-ED4D-A4EA-36989FB66980}"/>
              </a:ext>
            </a:extLst>
          </p:cNvPr>
          <p:cNvSpPr/>
          <p:nvPr/>
        </p:nvSpPr>
        <p:spPr>
          <a:xfrm>
            <a:off x="4398333" y="2347149"/>
            <a:ext cx="2470371" cy="2752819"/>
          </a:xfrm>
          <a:prstGeom prst="roundRect">
            <a:avLst>
              <a:gd name="adj" fmla="val 9818"/>
            </a:avLst>
          </a:prstGeom>
          <a:noFill/>
          <a:ln w="19050" cap="flat" cmpd="sng" algn="ctr">
            <a:solidFill>
              <a:schemeClr val="tx1"/>
            </a:solidFill>
            <a:prstDash val="solid"/>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6" name="TextBox 25">
            <a:extLst>
              <a:ext uri="{FF2B5EF4-FFF2-40B4-BE49-F238E27FC236}">
                <a16:creationId xmlns:a16="http://schemas.microsoft.com/office/drawing/2014/main" xmlns="" id="{4B2447DB-85F4-8E48-8155-C52D4890415E}"/>
              </a:ext>
            </a:extLst>
          </p:cNvPr>
          <p:cNvSpPr txBox="1"/>
          <p:nvPr/>
        </p:nvSpPr>
        <p:spPr>
          <a:xfrm>
            <a:off x="4848986" y="1842879"/>
            <a:ext cx="1544012" cy="307777"/>
          </a:xfrm>
          <a:prstGeom prst="rect">
            <a:avLst/>
          </a:prstGeom>
          <a:noFill/>
        </p:spPr>
        <p:txBody>
          <a:bodyPr wrap="none" rtlCol="0">
            <a:spAutoFit/>
          </a:bodyPr>
          <a:lstStyle/>
          <a:p>
            <a:r>
              <a:rPr lang="en-US" sz="1400">
                <a:latin typeface="Amazon Ember" panose="020B0603020204020204" pitchFamily="34" charset="0"/>
                <a:ea typeface="Amazon Ember" panose="020B0603020204020204" pitchFamily="34" charset="0"/>
                <a:cs typeface="Amazon Ember" panose="020B0603020204020204" pitchFamily="34" charset="0"/>
              </a:rPr>
              <a:t>Availability Zone</a:t>
            </a:r>
          </a:p>
        </p:txBody>
      </p:sp>
      <p:sp>
        <p:nvSpPr>
          <p:cNvPr id="48" name="TextBox 47">
            <a:extLst>
              <a:ext uri="{FF2B5EF4-FFF2-40B4-BE49-F238E27FC236}">
                <a16:creationId xmlns:a16="http://schemas.microsoft.com/office/drawing/2014/main" xmlns="" id="{A49CDA94-45A5-B940-8165-1E4FD1E34FA0}"/>
              </a:ext>
            </a:extLst>
          </p:cNvPr>
          <p:cNvSpPr txBox="1"/>
          <p:nvPr/>
        </p:nvSpPr>
        <p:spPr>
          <a:xfrm>
            <a:off x="5238516" y="2409416"/>
            <a:ext cx="764953" cy="307777"/>
          </a:xfrm>
          <a:prstGeom prst="rect">
            <a:avLst/>
          </a:prstGeom>
          <a:noFill/>
        </p:spPr>
        <p:txBody>
          <a:bodyPr wrap="none" rtlCol="0">
            <a:spAutoFit/>
          </a:bodyPr>
          <a:lstStyle/>
          <a:p>
            <a:r>
              <a:rPr lang="en-US" sz="1400">
                <a:latin typeface="Amazon Ember" panose="020B0603020204020204" pitchFamily="34" charset="0"/>
                <a:ea typeface="Amazon Ember" panose="020B0603020204020204" pitchFamily="34" charset="0"/>
                <a:cs typeface="Amazon Ember" panose="020B0603020204020204" pitchFamily="34" charset="0"/>
              </a:rPr>
              <a:t>Subnet</a:t>
            </a:r>
          </a:p>
        </p:txBody>
      </p:sp>
      <p:pic>
        <p:nvPicPr>
          <p:cNvPr id="37" name="Picture 36">
            <a:extLst>
              <a:ext uri="{FF2B5EF4-FFF2-40B4-BE49-F238E27FC236}">
                <a16:creationId xmlns:a16="http://schemas.microsoft.com/office/drawing/2014/main" xmlns="" id="{A47D653C-8E3B-E943-9164-3A9137BF3E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2467" y="2773526"/>
            <a:ext cx="715001" cy="741484"/>
          </a:xfrm>
          <a:prstGeom prst="rect">
            <a:avLst/>
          </a:prstGeom>
        </p:spPr>
      </p:pic>
      <p:sp>
        <p:nvSpPr>
          <p:cNvPr id="50" name="TextBox 49">
            <a:extLst>
              <a:ext uri="{FF2B5EF4-FFF2-40B4-BE49-F238E27FC236}">
                <a16:creationId xmlns:a16="http://schemas.microsoft.com/office/drawing/2014/main" xmlns="" id="{827F66E3-5BA0-BB47-ACB6-91C84CEF0FDE}"/>
              </a:ext>
            </a:extLst>
          </p:cNvPr>
          <p:cNvSpPr txBox="1"/>
          <p:nvPr/>
        </p:nvSpPr>
        <p:spPr>
          <a:xfrm>
            <a:off x="4572803" y="2792270"/>
            <a:ext cx="797469" cy="215444"/>
          </a:xfrm>
          <a:prstGeom prst="rect">
            <a:avLst/>
          </a:prstGeom>
          <a:noFill/>
        </p:spPr>
        <p:txBody>
          <a:bodyPr wrap="square" rtlCol="0">
            <a:spAutoFit/>
          </a:bodyPr>
          <a:lstStyle/>
          <a:p>
            <a:r>
              <a:rPr lang="en-US" sz="800">
                <a:solidFill>
                  <a:schemeClr val="bg1"/>
                </a:solidFill>
                <a:latin typeface="Amazon Ember" panose="020B0603020204020204" pitchFamily="34" charset="0"/>
                <a:ea typeface="Amazon Ember" panose="020B0603020204020204" pitchFamily="34" charset="0"/>
                <a:cs typeface="Amazon Ember" panose="020B0603020204020204" pitchFamily="34" charset="0"/>
              </a:rPr>
              <a:t>EC2 Instance</a:t>
            </a:r>
          </a:p>
        </p:txBody>
      </p:sp>
      <p:pic>
        <p:nvPicPr>
          <p:cNvPr id="52" name="Picture 51">
            <a:extLst>
              <a:ext uri="{FF2B5EF4-FFF2-40B4-BE49-F238E27FC236}">
                <a16:creationId xmlns:a16="http://schemas.microsoft.com/office/drawing/2014/main" xmlns="" id="{5235F07C-4BB1-704C-8216-811AD5D166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3642" y="2773526"/>
            <a:ext cx="715001" cy="741484"/>
          </a:xfrm>
          <a:prstGeom prst="rect">
            <a:avLst/>
          </a:prstGeom>
        </p:spPr>
      </p:pic>
      <p:sp>
        <p:nvSpPr>
          <p:cNvPr id="54" name="TextBox 53">
            <a:extLst>
              <a:ext uri="{FF2B5EF4-FFF2-40B4-BE49-F238E27FC236}">
                <a16:creationId xmlns:a16="http://schemas.microsoft.com/office/drawing/2014/main" xmlns="" id="{A2917603-F910-8D41-B7D0-C52AC66E2354}"/>
              </a:ext>
            </a:extLst>
          </p:cNvPr>
          <p:cNvSpPr txBox="1"/>
          <p:nvPr/>
        </p:nvSpPr>
        <p:spPr>
          <a:xfrm>
            <a:off x="5883388" y="2792270"/>
            <a:ext cx="785793" cy="215444"/>
          </a:xfrm>
          <a:prstGeom prst="rect">
            <a:avLst/>
          </a:prstGeom>
          <a:noFill/>
        </p:spPr>
        <p:txBody>
          <a:bodyPr wrap="none" rtlCol="0">
            <a:spAutoFit/>
          </a:bodyPr>
          <a:lstStyle/>
          <a:p>
            <a:r>
              <a:rPr lang="en-US" sz="800">
                <a:solidFill>
                  <a:schemeClr val="bg1"/>
                </a:solidFill>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58" name="TextBox 57">
            <a:extLst>
              <a:ext uri="{FF2B5EF4-FFF2-40B4-BE49-F238E27FC236}">
                <a16:creationId xmlns:a16="http://schemas.microsoft.com/office/drawing/2014/main" xmlns="" id="{79C6C0D1-16EB-6D4E-9C73-EE5BF6556B0F}"/>
              </a:ext>
            </a:extLst>
          </p:cNvPr>
          <p:cNvSpPr txBox="1"/>
          <p:nvPr/>
        </p:nvSpPr>
        <p:spPr>
          <a:xfrm>
            <a:off x="5050964" y="4284137"/>
            <a:ext cx="1140056" cy="276999"/>
          </a:xfrm>
          <a:prstGeom prst="rect">
            <a:avLst/>
          </a:prstGeom>
          <a:noFill/>
        </p:spPr>
        <p:txBody>
          <a:bodyPr wrap="none" rtlCol="0">
            <a:spAutoFit/>
          </a:bodyPr>
          <a:lstStyle/>
          <a:p>
            <a:r>
              <a:rPr lang="en-US" sz="1200">
                <a:solidFill>
                  <a:schemeClr val="bg1"/>
                </a:solidFill>
                <a:latin typeface="Amazon Ember" panose="020B0603020204020204" pitchFamily="34" charset="0"/>
                <a:ea typeface="Amazon Ember" panose="020B0603020204020204" pitchFamily="34" charset="0"/>
                <a:cs typeface="Amazon Ember" panose="020B0603020204020204" pitchFamily="34" charset="0"/>
              </a:rPr>
              <a:t>Mount Target</a:t>
            </a:r>
          </a:p>
        </p:txBody>
      </p:sp>
      <p:pic>
        <p:nvPicPr>
          <p:cNvPr id="60" name="Picture 59">
            <a:extLst>
              <a:ext uri="{FF2B5EF4-FFF2-40B4-BE49-F238E27FC236}">
                <a16:creationId xmlns:a16="http://schemas.microsoft.com/office/drawing/2014/main" xmlns="" id="{DDE54207-8B13-784D-978F-BBBCD6B6FF81}"/>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293807" y="1515366"/>
            <a:ext cx="599170" cy="391125"/>
          </a:xfrm>
          <a:prstGeom prst="rect">
            <a:avLst/>
          </a:prstGeom>
        </p:spPr>
      </p:pic>
      <p:sp>
        <p:nvSpPr>
          <p:cNvPr id="71" name="Rectangle 70">
            <a:extLst>
              <a:ext uri="{FF2B5EF4-FFF2-40B4-BE49-F238E27FC236}">
                <a16:creationId xmlns:a16="http://schemas.microsoft.com/office/drawing/2014/main" xmlns="" id="{C783419D-29FF-9A4D-8C8F-DDB3FD07F783}"/>
              </a:ext>
            </a:extLst>
          </p:cNvPr>
          <p:cNvSpPr/>
          <p:nvPr/>
        </p:nvSpPr>
        <p:spPr>
          <a:xfrm>
            <a:off x="4988483" y="6209023"/>
            <a:ext cx="1194558" cy="307777"/>
          </a:xfrm>
          <a:prstGeom prst="rect">
            <a:avLst/>
          </a:prstGeom>
        </p:spPr>
        <p:txBody>
          <a:bodyPr wrap="none">
            <a:spAutoFit/>
          </a:bodyPr>
          <a:lstStyle/>
          <a:p>
            <a:r>
              <a:rPr lang="en-US" sz="140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Amazon EFS</a:t>
            </a:r>
            <a:endParaRPr lang="en-US" sz="1400"/>
          </a:p>
        </p:txBody>
      </p:sp>
      <p:grpSp>
        <p:nvGrpSpPr>
          <p:cNvPr id="20" name="Group 19">
            <a:extLst>
              <a:ext uri="{FF2B5EF4-FFF2-40B4-BE49-F238E27FC236}">
                <a16:creationId xmlns:a16="http://schemas.microsoft.com/office/drawing/2014/main" xmlns="" id="{892246C6-309D-4442-94B4-CD5A2D1C26FA}"/>
              </a:ext>
            </a:extLst>
          </p:cNvPr>
          <p:cNvGrpSpPr/>
          <p:nvPr/>
        </p:nvGrpSpPr>
        <p:grpSpPr>
          <a:xfrm>
            <a:off x="7601833" y="3179570"/>
            <a:ext cx="1693621" cy="2034699"/>
            <a:chOff x="7601833" y="3179570"/>
            <a:chExt cx="1693621" cy="2034699"/>
          </a:xfrm>
        </p:grpSpPr>
        <p:cxnSp>
          <p:nvCxnSpPr>
            <p:cNvPr id="79" name="Elbow Connector 78">
              <a:extLst>
                <a:ext uri="{FF2B5EF4-FFF2-40B4-BE49-F238E27FC236}">
                  <a16:creationId xmlns:a16="http://schemas.microsoft.com/office/drawing/2014/main" xmlns="" id="{0977F1E9-5C82-384B-9FFC-E452098E3D1F}"/>
                </a:ext>
              </a:extLst>
            </p:cNvPr>
            <p:cNvCxnSpPr>
              <a:cxnSpLocks/>
            </p:cNvCxnSpPr>
            <p:nvPr/>
          </p:nvCxnSpPr>
          <p:spPr>
            <a:xfrm rot="16200000" flipH="1">
              <a:off x="7986054" y="4346852"/>
              <a:ext cx="396244" cy="176496"/>
            </a:xfrm>
            <a:prstGeom prst="bentConnector3">
              <a:avLst/>
            </a:prstGeom>
          </p:spPr>
          <p:style>
            <a:lnRef idx="1">
              <a:schemeClr val="accent5"/>
            </a:lnRef>
            <a:fillRef idx="0">
              <a:schemeClr val="accent5"/>
            </a:fillRef>
            <a:effectRef idx="0">
              <a:schemeClr val="accent5"/>
            </a:effectRef>
            <a:fontRef idx="minor">
              <a:schemeClr val="tx1"/>
            </a:fontRef>
          </p:style>
        </p:cxnSp>
        <p:sp>
          <p:nvSpPr>
            <p:cNvPr id="75" name="TextBox 74">
              <a:extLst>
                <a:ext uri="{FF2B5EF4-FFF2-40B4-BE49-F238E27FC236}">
                  <a16:creationId xmlns:a16="http://schemas.microsoft.com/office/drawing/2014/main" xmlns="" id="{E70D1F79-7004-6D48-BE15-4F4EF8829C99}"/>
                </a:ext>
              </a:extLst>
            </p:cNvPr>
            <p:cNvSpPr txBox="1"/>
            <p:nvPr/>
          </p:nvSpPr>
          <p:spPr>
            <a:xfrm>
              <a:off x="8051097" y="4582402"/>
              <a:ext cx="824265" cy="215444"/>
            </a:xfrm>
            <a:prstGeom prst="rect">
              <a:avLst/>
            </a:prstGeom>
            <a:noFill/>
          </p:spPr>
          <p:txBody>
            <a:bodyPr wrap="none" rtlCol="0">
              <a:spAutoFit/>
            </a:bodyPr>
            <a:lstStyle/>
            <a:p>
              <a:r>
                <a:rPr lang="en-US" sz="800">
                  <a:solidFill>
                    <a:schemeClr val="bg1"/>
                  </a:solidFill>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61" name="Rounded Rectangle 60">
              <a:extLst>
                <a:ext uri="{FF2B5EF4-FFF2-40B4-BE49-F238E27FC236}">
                  <a16:creationId xmlns:a16="http://schemas.microsoft.com/office/drawing/2014/main" xmlns="" id="{58588748-B84A-AC4B-B7B5-7892726B33BD}"/>
                </a:ext>
              </a:extLst>
            </p:cNvPr>
            <p:cNvSpPr/>
            <p:nvPr/>
          </p:nvSpPr>
          <p:spPr>
            <a:xfrm>
              <a:off x="7601833" y="3291012"/>
              <a:ext cx="1693621" cy="1923257"/>
            </a:xfrm>
            <a:prstGeom prst="roundRect">
              <a:avLst>
                <a:gd name="adj" fmla="val 9818"/>
              </a:avLst>
            </a:prstGeom>
            <a:ln w="12700">
              <a:solidFill>
                <a:srgbClr val="F4B183"/>
              </a:solidFill>
              <a:prstDash val="lg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65" name="Picture 64">
              <a:extLst>
                <a:ext uri="{FF2B5EF4-FFF2-40B4-BE49-F238E27FC236}">
                  <a16:creationId xmlns:a16="http://schemas.microsoft.com/office/drawing/2014/main" xmlns="" id="{A81CE9C9-4102-EB47-9303-865C24D70F43}"/>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val="0"/>
                </a:ext>
              </a:extLst>
            </a:blip>
            <a:stretch>
              <a:fillRect/>
            </a:stretch>
          </p:blipFill>
          <p:spPr>
            <a:xfrm>
              <a:off x="8091363" y="4596229"/>
              <a:ext cx="695574" cy="406734"/>
            </a:xfrm>
            <a:prstGeom prst="rect">
              <a:avLst/>
            </a:prstGeom>
            <a:ln>
              <a:noFill/>
            </a:ln>
          </p:spPr>
        </p:pic>
        <p:cxnSp>
          <p:nvCxnSpPr>
            <p:cNvPr id="66" name="Elbow Connector 65">
              <a:extLst>
                <a:ext uri="{FF2B5EF4-FFF2-40B4-BE49-F238E27FC236}">
                  <a16:creationId xmlns:a16="http://schemas.microsoft.com/office/drawing/2014/main" xmlns="" id="{F66CF4EB-D472-374B-8A12-68A05752DAC0}"/>
                </a:ext>
              </a:extLst>
            </p:cNvPr>
            <p:cNvCxnSpPr>
              <a:cxnSpLocks/>
              <a:stCxn id="77" idx="2"/>
            </p:cNvCxnSpPr>
            <p:nvPr/>
          </p:nvCxnSpPr>
          <p:spPr>
            <a:xfrm rot="5400000">
              <a:off x="8458778" y="4379799"/>
              <a:ext cx="345424" cy="130021"/>
            </a:xfrm>
            <a:prstGeom prst="bentConnector3">
              <a:avLst/>
            </a:prstGeom>
          </p:spPr>
          <p:style>
            <a:lnRef idx="1">
              <a:schemeClr val="accent5"/>
            </a:lnRef>
            <a:fillRef idx="0">
              <a:schemeClr val="accent5"/>
            </a:fillRef>
            <a:effectRef idx="0">
              <a:schemeClr val="accent5"/>
            </a:effectRef>
            <a:fontRef idx="minor">
              <a:schemeClr val="tx1"/>
            </a:fontRef>
          </p:style>
        </p:cxnSp>
        <p:sp>
          <p:nvSpPr>
            <p:cNvPr id="67" name="TextBox 66">
              <a:extLst>
                <a:ext uri="{FF2B5EF4-FFF2-40B4-BE49-F238E27FC236}">
                  <a16:creationId xmlns:a16="http://schemas.microsoft.com/office/drawing/2014/main" xmlns="" id="{14A500F5-5D32-A449-81C6-476D32A2A9E2}"/>
                </a:ext>
              </a:extLst>
            </p:cNvPr>
            <p:cNvSpPr txBox="1"/>
            <p:nvPr/>
          </p:nvSpPr>
          <p:spPr>
            <a:xfrm>
              <a:off x="8059048" y="4622132"/>
              <a:ext cx="739305" cy="200055"/>
            </a:xfrm>
            <a:prstGeom prst="rect">
              <a:avLst/>
            </a:prstGeom>
            <a:noFill/>
          </p:spPr>
          <p:txBody>
            <a:bodyPr wrap="none" rtlCol="0">
              <a:spAutoFit/>
            </a:bodyPr>
            <a:lstStyle/>
            <a:p>
              <a:r>
                <a:rPr lang="en-US" sz="700">
                  <a:solidFill>
                    <a:schemeClr val="bg1"/>
                  </a:solidFill>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68" name="Rounded Rectangle 67">
              <a:extLst>
                <a:ext uri="{FF2B5EF4-FFF2-40B4-BE49-F238E27FC236}">
                  <a16:creationId xmlns:a16="http://schemas.microsoft.com/office/drawing/2014/main" xmlns="" id="{71F714B0-EF54-1B44-BF1A-CF518080E910}"/>
                </a:ext>
              </a:extLst>
            </p:cNvPr>
            <p:cNvSpPr/>
            <p:nvPr/>
          </p:nvSpPr>
          <p:spPr>
            <a:xfrm>
              <a:off x="7801953" y="3558392"/>
              <a:ext cx="1344760" cy="1575765"/>
            </a:xfrm>
            <a:prstGeom prst="roundRect">
              <a:avLst>
                <a:gd name="adj" fmla="val 9818"/>
              </a:avLst>
            </a:prstGeom>
            <a:noFill/>
            <a:ln w="19050" cap="flat" cmpd="sng" algn="ctr">
              <a:solidFill>
                <a:schemeClr val="tx1"/>
              </a:solidFill>
              <a:prstDash val="solid"/>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69" name="Picture 68">
              <a:extLst>
                <a:ext uri="{FF2B5EF4-FFF2-40B4-BE49-F238E27FC236}">
                  <a16:creationId xmlns:a16="http://schemas.microsoft.com/office/drawing/2014/main" xmlns="" id="{ABC098B9-2E79-3045-9E6C-3217F9D664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07781" y="3865164"/>
              <a:ext cx="392399" cy="406933"/>
            </a:xfrm>
            <a:prstGeom prst="rect">
              <a:avLst/>
            </a:prstGeom>
          </p:spPr>
        </p:pic>
        <p:sp>
          <p:nvSpPr>
            <p:cNvPr id="70" name="TextBox 69">
              <a:extLst>
                <a:ext uri="{FF2B5EF4-FFF2-40B4-BE49-F238E27FC236}">
                  <a16:creationId xmlns:a16="http://schemas.microsoft.com/office/drawing/2014/main" xmlns="" id="{2A4C2339-7748-804B-B470-885A57DFA377}"/>
                </a:ext>
              </a:extLst>
            </p:cNvPr>
            <p:cNvSpPr txBox="1"/>
            <p:nvPr/>
          </p:nvSpPr>
          <p:spPr>
            <a:xfrm>
              <a:off x="7857305" y="3872085"/>
              <a:ext cx="518813" cy="153888"/>
            </a:xfrm>
            <a:prstGeom prst="rect">
              <a:avLst/>
            </a:prstGeom>
            <a:noFill/>
          </p:spPr>
          <p:txBody>
            <a:bodyPr wrap="square" rtlCol="0">
              <a:spAutoFit/>
            </a:bodyPr>
            <a:lstStyle/>
            <a:p>
              <a:r>
                <a:rPr lang="en-US" sz="400">
                  <a:solidFill>
                    <a:schemeClr val="bg1"/>
                  </a:solidFill>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72" name="TextBox 71">
              <a:extLst>
                <a:ext uri="{FF2B5EF4-FFF2-40B4-BE49-F238E27FC236}">
                  <a16:creationId xmlns:a16="http://schemas.microsoft.com/office/drawing/2014/main" xmlns="" id="{711019FA-78D8-A444-9998-9D55224A5874}"/>
                </a:ext>
              </a:extLst>
            </p:cNvPr>
            <p:cNvSpPr txBox="1"/>
            <p:nvPr/>
          </p:nvSpPr>
          <p:spPr>
            <a:xfrm>
              <a:off x="7823685" y="3567723"/>
              <a:ext cx="1323028" cy="215444"/>
            </a:xfrm>
            <a:prstGeom prst="rect">
              <a:avLst/>
            </a:prstGeom>
            <a:noFill/>
          </p:spPr>
          <p:txBody>
            <a:bodyPr wrap="square" rtlCol="0">
              <a:spAutoFit/>
            </a:bodyPr>
            <a:lstStyle/>
            <a:p>
              <a:pPr algn="ctr"/>
              <a:r>
                <a:rPr lang="en-US" sz="800">
                  <a:latin typeface="Amazon Ember" panose="020B0603020204020204" pitchFamily="34" charset="0"/>
                  <a:ea typeface="Amazon Ember" panose="020B0603020204020204" pitchFamily="34" charset="0"/>
                  <a:cs typeface="Amazon Ember" panose="020B0603020204020204" pitchFamily="34" charset="0"/>
                </a:rPr>
                <a:t>Subnet</a:t>
              </a:r>
            </a:p>
          </p:txBody>
        </p:sp>
        <p:pic>
          <p:nvPicPr>
            <p:cNvPr id="77" name="Picture 76">
              <a:extLst>
                <a:ext uri="{FF2B5EF4-FFF2-40B4-BE49-F238E27FC236}">
                  <a16:creationId xmlns:a16="http://schemas.microsoft.com/office/drawing/2014/main" xmlns="" id="{B04A656E-7E67-4E43-A866-91CE0E9DF1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00300" y="3865164"/>
              <a:ext cx="392399" cy="406933"/>
            </a:xfrm>
            <a:prstGeom prst="rect">
              <a:avLst/>
            </a:prstGeom>
          </p:spPr>
        </p:pic>
        <p:sp>
          <p:nvSpPr>
            <p:cNvPr id="78" name="TextBox 77">
              <a:extLst>
                <a:ext uri="{FF2B5EF4-FFF2-40B4-BE49-F238E27FC236}">
                  <a16:creationId xmlns:a16="http://schemas.microsoft.com/office/drawing/2014/main" xmlns="" id="{9A89B372-41CF-A947-B407-40BFE7B20DE6}"/>
                </a:ext>
              </a:extLst>
            </p:cNvPr>
            <p:cNvSpPr txBox="1"/>
            <p:nvPr/>
          </p:nvSpPr>
          <p:spPr>
            <a:xfrm>
              <a:off x="8434914" y="3876513"/>
              <a:ext cx="518813" cy="153888"/>
            </a:xfrm>
            <a:prstGeom prst="rect">
              <a:avLst/>
            </a:prstGeom>
            <a:noFill/>
          </p:spPr>
          <p:txBody>
            <a:bodyPr wrap="square" rtlCol="0">
              <a:spAutoFit/>
            </a:bodyPr>
            <a:lstStyle/>
            <a:p>
              <a:r>
                <a:rPr lang="en-US" sz="400">
                  <a:solidFill>
                    <a:schemeClr val="bg1"/>
                  </a:solidFill>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80" name="TextBox 79">
              <a:extLst>
                <a:ext uri="{FF2B5EF4-FFF2-40B4-BE49-F238E27FC236}">
                  <a16:creationId xmlns:a16="http://schemas.microsoft.com/office/drawing/2014/main" xmlns="" id="{996C5B7D-5B44-1546-AFEA-733AD5168C8D}"/>
                </a:ext>
              </a:extLst>
            </p:cNvPr>
            <p:cNvSpPr txBox="1"/>
            <p:nvPr/>
          </p:nvSpPr>
          <p:spPr>
            <a:xfrm>
              <a:off x="7933276" y="3286562"/>
              <a:ext cx="1059906" cy="230832"/>
            </a:xfrm>
            <a:prstGeom prst="rect">
              <a:avLst/>
            </a:prstGeom>
            <a:noFill/>
          </p:spPr>
          <p:txBody>
            <a:bodyPr wrap="none" rtlCol="0">
              <a:spAutoFit/>
            </a:bodyPr>
            <a:lstStyle/>
            <a:p>
              <a:r>
                <a:rPr lang="en-US" sz="900">
                  <a:latin typeface="Amazon Ember" panose="020B0603020204020204" pitchFamily="34" charset="0"/>
                  <a:ea typeface="Amazon Ember" panose="020B0603020204020204" pitchFamily="34" charset="0"/>
                  <a:cs typeface="Amazon Ember" panose="020B0603020204020204" pitchFamily="34" charset="0"/>
                </a:rPr>
                <a:t>Availability Zone</a:t>
              </a:r>
            </a:p>
          </p:txBody>
        </p:sp>
        <p:pic>
          <p:nvPicPr>
            <p:cNvPr id="81" name="Picture 80">
              <a:extLst>
                <a:ext uri="{FF2B5EF4-FFF2-40B4-BE49-F238E27FC236}">
                  <a16:creationId xmlns:a16="http://schemas.microsoft.com/office/drawing/2014/main" xmlns="" id="{86C86C5E-363C-EB42-95E8-583CB10C6780}"/>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721035" y="3179570"/>
              <a:ext cx="272540" cy="177908"/>
            </a:xfrm>
            <a:prstGeom prst="rect">
              <a:avLst/>
            </a:prstGeom>
          </p:spPr>
        </p:pic>
      </p:grpSp>
      <p:grpSp>
        <p:nvGrpSpPr>
          <p:cNvPr id="112" name="Group 111">
            <a:extLst>
              <a:ext uri="{FF2B5EF4-FFF2-40B4-BE49-F238E27FC236}">
                <a16:creationId xmlns:a16="http://schemas.microsoft.com/office/drawing/2014/main" xmlns="" id="{84A2C95D-4095-AB42-9515-EC69478CD081}"/>
              </a:ext>
            </a:extLst>
          </p:cNvPr>
          <p:cNvGrpSpPr/>
          <p:nvPr/>
        </p:nvGrpSpPr>
        <p:grpSpPr>
          <a:xfrm>
            <a:off x="9868082" y="3178460"/>
            <a:ext cx="1693621" cy="2034699"/>
            <a:chOff x="7601833" y="3179570"/>
            <a:chExt cx="1693621" cy="2034699"/>
          </a:xfrm>
        </p:grpSpPr>
        <p:cxnSp>
          <p:nvCxnSpPr>
            <p:cNvPr id="113" name="Elbow Connector 112">
              <a:extLst>
                <a:ext uri="{FF2B5EF4-FFF2-40B4-BE49-F238E27FC236}">
                  <a16:creationId xmlns:a16="http://schemas.microsoft.com/office/drawing/2014/main" xmlns="" id="{6968B40E-A27E-454F-8D89-5238974E6D46}"/>
                </a:ext>
              </a:extLst>
            </p:cNvPr>
            <p:cNvCxnSpPr>
              <a:cxnSpLocks/>
            </p:cNvCxnSpPr>
            <p:nvPr/>
          </p:nvCxnSpPr>
          <p:spPr>
            <a:xfrm rot="16200000" flipH="1">
              <a:off x="7986054" y="4346852"/>
              <a:ext cx="396244" cy="176496"/>
            </a:xfrm>
            <a:prstGeom prst="bentConnector3">
              <a:avLst/>
            </a:prstGeom>
          </p:spPr>
          <p:style>
            <a:lnRef idx="1">
              <a:schemeClr val="accent5"/>
            </a:lnRef>
            <a:fillRef idx="0">
              <a:schemeClr val="accent5"/>
            </a:fillRef>
            <a:effectRef idx="0">
              <a:schemeClr val="accent5"/>
            </a:effectRef>
            <a:fontRef idx="minor">
              <a:schemeClr val="tx1"/>
            </a:fontRef>
          </p:style>
        </p:cxnSp>
        <p:sp>
          <p:nvSpPr>
            <p:cNvPr id="114" name="TextBox 113">
              <a:extLst>
                <a:ext uri="{FF2B5EF4-FFF2-40B4-BE49-F238E27FC236}">
                  <a16:creationId xmlns:a16="http://schemas.microsoft.com/office/drawing/2014/main" xmlns="" id="{EF5F1CDC-32E8-9646-8739-C8CFC90316CB}"/>
                </a:ext>
              </a:extLst>
            </p:cNvPr>
            <p:cNvSpPr txBox="1"/>
            <p:nvPr/>
          </p:nvSpPr>
          <p:spPr>
            <a:xfrm>
              <a:off x="8051097" y="4582402"/>
              <a:ext cx="824265" cy="215444"/>
            </a:xfrm>
            <a:prstGeom prst="rect">
              <a:avLst/>
            </a:prstGeom>
            <a:noFill/>
          </p:spPr>
          <p:txBody>
            <a:bodyPr wrap="none" rtlCol="0">
              <a:spAutoFit/>
            </a:bodyPr>
            <a:lstStyle/>
            <a:p>
              <a:r>
                <a:rPr lang="en-US" sz="800">
                  <a:solidFill>
                    <a:schemeClr val="bg1"/>
                  </a:solidFill>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115" name="Rounded Rectangle 114">
              <a:extLst>
                <a:ext uri="{FF2B5EF4-FFF2-40B4-BE49-F238E27FC236}">
                  <a16:creationId xmlns:a16="http://schemas.microsoft.com/office/drawing/2014/main" xmlns="" id="{2C6844F6-CDB4-4740-A65E-8F876BBEC662}"/>
                </a:ext>
              </a:extLst>
            </p:cNvPr>
            <p:cNvSpPr/>
            <p:nvPr/>
          </p:nvSpPr>
          <p:spPr>
            <a:xfrm>
              <a:off x="7601833" y="3291012"/>
              <a:ext cx="1693621" cy="1923257"/>
            </a:xfrm>
            <a:prstGeom prst="roundRect">
              <a:avLst>
                <a:gd name="adj" fmla="val 9818"/>
              </a:avLst>
            </a:prstGeom>
            <a:ln w="12700">
              <a:solidFill>
                <a:srgbClr val="F4B183"/>
              </a:solidFill>
              <a:prstDash val="lg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16" name="Picture 115">
              <a:extLst>
                <a:ext uri="{FF2B5EF4-FFF2-40B4-BE49-F238E27FC236}">
                  <a16:creationId xmlns:a16="http://schemas.microsoft.com/office/drawing/2014/main" xmlns="" id="{394ED0CF-E6EE-5A40-B234-C59ABE6E27A5}"/>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val="0"/>
                </a:ext>
              </a:extLst>
            </a:blip>
            <a:stretch>
              <a:fillRect/>
            </a:stretch>
          </p:blipFill>
          <p:spPr>
            <a:xfrm>
              <a:off x="8091363" y="4596229"/>
              <a:ext cx="695574" cy="406734"/>
            </a:xfrm>
            <a:prstGeom prst="rect">
              <a:avLst/>
            </a:prstGeom>
            <a:ln>
              <a:noFill/>
            </a:ln>
          </p:spPr>
        </p:pic>
        <p:cxnSp>
          <p:nvCxnSpPr>
            <p:cNvPr id="117" name="Elbow Connector 116">
              <a:extLst>
                <a:ext uri="{FF2B5EF4-FFF2-40B4-BE49-F238E27FC236}">
                  <a16:creationId xmlns:a16="http://schemas.microsoft.com/office/drawing/2014/main" xmlns="" id="{2C1AF7B8-D8D7-2544-A676-25F90058EE62}"/>
                </a:ext>
              </a:extLst>
            </p:cNvPr>
            <p:cNvCxnSpPr>
              <a:cxnSpLocks/>
              <a:stCxn id="123" idx="2"/>
            </p:cNvCxnSpPr>
            <p:nvPr/>
          </p:nvCxnSpPr>
          <p:spPr>
            <a:xfrm rot="5400000">
              <a:off x="8458778" y="4379799"/>
              <a:ext cx="345424" cy="130021"/>
            </a:xfrm>
            <a:prstGeom prst="bentConnector3">
              <a:avLst/>
            </a:prstGeom>
          </p:spPr>
          <p:style>
            <a:lnRef idx="1">
              <a:schemeClr val="accent5"/>
            </a:lnRef>
            <a:fillRef idx="0">
              <a:schemeClr val="accent5"/>
            </a:fillRef>
            <a:effectRef idx="0">
              <a:schemeClr val="accent5"/>
            </a:effectRef>
            <a:fontRef idx="minor">
              <a:schemeClr val="tx1"/>
            </a:fontRef>
          </p:style>
        </p:cxnSp>
        <p:sp>
          <p:nvSpPr>
            <p:cNvPr id="118" name="TextBox 117">
              <a:extLst>
                <a:ext uri="{FF2B5EF4-FFF2-40B4-BE49-F238E27FC236}">
                  <a16:creationId xmlns:a16="http://schemas.microsoft.com/office/drawing/2014/main" xmlns="" id="{822A74CB-E70E-CF4E-A969-B74B0BB66E25}"/>
                </a:ext>
              </a:extLst>
            </p:cNvPr>
            <p:cNvSpPr txBox="1"/>
            <p:nvPr/>
          </p:nvSpPr>
          <p:spPr>
            <a:xfrm>
              <a:off x="8059048" y="4622132"/>
              <a:ext cx="739305" cy="200055"/>
            </a:xfrm>
            <a:prstGeom prst="rect">
              <a:avLst/>
            </a:prstGeom>
            <a:noFill/>
          </p:spPr>
          <p:txBody>
            <a:bodyPr wrap="none" rtlCol="0">
              <a:spAutoFit/>
            </a:bodyPr>
            <a:lstStyle/>
            <a:p>
              <a:r>
                <a:rPr lang="en-US" sz="700">
                  <a:solidFill>
                    <a:schemeClr val="bg1"/>
                  </a:solidFill>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119" name="Rounded Rectangle 118">
              <a:extLst>
                <a:ext uri="{FF2B5EF4-FFF2-40B4-BE49-F238E27FC236}">
                  <a16:creationId xmlns:a16="http://schemas.microsoft.com/office/drawing/2014/main" xmlns="" id="{6558702A-CD36-1E44-AE77-D0092C424B8F}"/>
                </a:ext>
              </a:extLst>
            </p:cNvPr>
            <p:cNvSpPr/>
            <p:nvPr/>
          </p:nvSpPr>
          <p:spPr>
            <a:xfrm>
              <a:off x="7801953" y="3558392"/>
              <a:ext cx="1344760" cy="1575765"/>
            </a:xfrm>
            <a:prstGeom prst="roundRect">
              <a:avLst>
                <a:gd name="adj" fmla="val 9818"/>
              </a:avLst>
            </a:prstGeom>
            <a:noFill/>
            <a:ln w="19050" cap="flat" cmpd="sng" algn="ctr">
              <a:solidFill>
                <a:schemeClr val="tx1"/>
              </a:solidFill>
              <a:prstDash val="solid"/>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20" name="Picture 119">
              <a:extLst>
                <a:ext uri="{FF2B5EF4-FFF2-40B4-BE49-F238E27FC236}">
                  <a16:creationId xmlns:a16="http://schemas.microsoft.com/office/drawing/2014/main" xmlns="" id="{34B0287B-4BA4-3E4F-9CE1-98D2AB0DD5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07781" y="3865164"/>
              <a:ext cx="392399" cy="406933"/>
            </a:xfrm>
            <a:prstGeom prst="rect">
              <a:avLst/>
            </a:prstGeom>
          </p:spPr>
        </p:pic>
        <p:sp>
          <p:nvSpPr>
            <p:cNvPr id="121" name="TextBox 120">
              <a:extLst>
                <a:ext uri="{FF2B5EF4-FFF2-40B4-BE49-F238E27FC236}">
                  <a16:creationId xmlns:a16="http://schemas.microsoft.com/office/drawing/2014/main" xmlns="" id="{BDE97344-47E9-004D-A40C-FBCD6F7CA87D}"/>
                </a:ext>
              </a:extLst>
            </p:cNvPr>
            <p:cNvSpPr txBox="1"/>
            <p:nvPr/>
          </p:nvSpPr>
          <p:spPr>
            <a:xfrm>
              <a:off x="7857305" y="3872085"/>
              <a:ext cx="518813" cy="153888"/>
            </a:xfrm>
            <a:prstGeom prst="rect">
              <a:avLst/>
            </a:prstGeom>
            <a:noFill/>
          </p:spPr>
          <p:txBody>
            <a:bodyPr wrap="square" rtlCol="0">
              <a:spAutoFit/>
            </a:bodyPr>
            <a:lstStyle/>
            <a:p>
              <a:r>
                <a:rPr lang="en-US" sz="400">
                  <a:solidFill>
                    <a:schemeClr val="bg1"/>
                  </a:solidFill>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122" name="TextBox 121">
              <a:extLst>
                <a:ext uri="{FF2B5EF4-FFF2-40B4-BE49-F238E27FC236}">
                  <a16:creationId xmlns:a16="http://schemas.microsoft.com/office/drawing/2014/main" xmlns="" id="{73F684B9-7B11-DE45-B503-5B7B33EA9F79}"/>
                </a:ext>
              </a:extLst>
            </p:cNvPr>
            <p:cNvSpPr txBox="1"/>
            <p:nvPr/>
          </p:nvSpPr>
          <p:spPr>
            <a:xfrm>
              <a:off x="7823685" y="3567723"/>
              <a:ext cx="1323028" cy="215444"/>
            </a:xfrm>
            <a:prstGeom prst="rect">
              <a:avLst/>
            </a:prstGeom>
            <a:noFill/>
          </p:spPr>
          <p:txBody>
            <a:bodyPr wrap="square" rtlCol="0">
              <a:spAutoFit/>
            </a:bodyPr>
            <a:lstStyle/>
            <a:p>
              <a:pPr algn="ctr"/>
              <a:r>
                <a:rPr lang="en-US" sz="800">
                  <a:latin typeface="Amazon Ember" panose="020B0603020204020204" pitchFamily="34" charset="0"/>
                  <a:ea typeface="Amazon Ember" panose="020B0603020204020204" pitchFamily="34" charset="0"/>
                  <a:cs typeface="Amazon Ember" panose="020B0603020204020204" pitchFamily="34" charset="0"/>
                </a:rPr>
                <a:t>Subnet</a:t>
              </a:r>
            </a:p>
          </p:txBody>
        </p:sp>
        <p:pic>
          <p:nvPicPr>
            <p:cNvPr id="123" name="Picture 122">
              <a:extLst>
                <a:ext uri="{FF2B5EF4-FFF2-40B4-BE49-F238E27FC236}">
                  <a16:creationId xmlns:a16="http://schemas.microsoft.com/office/drawing/2014/main" xmlns="" id="{D8F4FE11-56AB-9640-B1CD-F617D81B05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00300" y="3865164"/>
              <a:ext cx="392399" cy="406933"/>
            </a:xfrm>
            <a:prstGeom prst="rect">
              <a:avLst/>
            </a:prstGeom>
          </p:spPr>
        </p:pic>
        <p:sp>
          <p:nvSpPr>
            <p:cNvPr id="124" name="TextBox 123">
              <a:extLst>
                <a:ext uri="{FF2B5EF4-FFF2-40B4-BE49-F238E27FC236}">
                  <a16:creationId xmlns:a16="http://schemas.microsoft.com/office/drawing/2014/main" xmlns="" id="{14ED75D9-BD19-D946-A8B3-03B521161E5E}"/>
                </a:ext>
              </a:extLst>
            </p:cNvPr>
            <p:cNvSpPr txBox="1"/>
            <p:nvPr/>
          </p:nvSpPr>
          <p:spPr>
            <a:xfrm>
              <a:off x="8434914" y="3876513"/>
              <a:ext cx="518813" cy="153888"/>
            </a:xfrm>
            <a:prstGeom prst="rect">
              <a:avLst/>
            </a:prstGeom>
            <a:noFill/>
          </p:spPr>
          <p:txBody>
            <a:bodyPr wrap="square" rtlCol="0">
              <a:spAutoFit/>
            </a:bodyPr>
            <a:lstStyle/>
            <a:p>
              <a:r>
                <a:rPr lang="en-US" sz="400">
                  <a:solidFill>
                    <a:schemeClr val="bg1"/>
                  </a:solidFill>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125" name="TextBox 124">
              <a:extLst>
                <a:ext uri="{FF2B5EF4-FFF2-40B4-BE49-F238E27FC236}">
                  <a16:creationId xmlns:a16="http://schemas.microsoft.com/office/drawing/2014/main" xmlns="" id="{30274448-0389-8A46-B6EF-8C1FCD8FD952}"/>
                </a:ext>
              </a:extLst>
            </p:cNvPr>
            <p:cNvSpPr txBox="1"/>
            <p:nvPr/>
          </p:nvSpPr>
          <p:spPr>
            <a:xfrm>
              <a:off x="7933276" y="3286562"/>
              <a:ext cx="1059906" cy="230832"/>
            </a:xfrm>
            <a:prstGeom prst="rect">
              <a:avLst/>
            </a:prstGeom>
            <a:noFill/>
          </p:spPr>
          <p:txBody>
            <a:bodyPr wrap="none" rtlCol="0">
              <a:spAutoFit/>
            </a:bodyPr>
            <a:lstStyle/>
            <a:p>
              <a:r>
                <a:rPr lang="en-US" sz="900">
                  <a:latin typeface="Amazon Ember" panose="020B0603020204020204" pitchFamily="34" charset="0"/>
                  <a:ea typeface="Amazon Ember" panose="020B0603020204020204" pitchFamily="34" charset="0"/>
                  <a:cs typeface="Amazon Ember" panose="020B0603020204020204" pitchFamily="34" charset="0"/>
                </a:rPr>
                <a:t>Availability Zone</a:t>
              </a:r>
            </a:p>
          </p:txBody>
        </p:sp>
        <p:pic>
          <p:nvPicPr>
            <p:cNvPr id="126" name="Picture 125">
              <a:extLst>
                <a:ext uri="{FF2B5EF4-FFF2-40B4-BE49-F238E27FC236}">
                  <a16:creationId xmlns:a16="http://schemas.microsoft.com/office/drawing/2014/main" xmlns="" id="{57507AEF-FD46-1F45-9AAD-183536215CFE}"/>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721035" y="3179570"/>
              <a:ext cx="272540" cy="177908"/>
            </a:xfrm>
            <a:prstGeom prst="rect">
              <a:avLst/>
            </a:prstGeom>
          </p:spPr>
        </p:pic>
      </p:grpSp>
    </p:spTree>
    <p:extLst>
      <p:ext uri="{BB962C8B-B14F-4D97-AF65-F5344CB8AC3E}">
        <p14:creationId xmlns:p14="http://schemas.microsoft.com/office/powerpoint/2010/main" val="17188648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Amazon EC2 Instance Types</a:t>
            </a:r>
          </a:p>
        </p:txBody>
      </p:sp>
    </p:spTree>
    <p:extLst>
      <p:ext uri="{BB962C8B-B14F-4D97-AF65-F5344CB8AC3E}">
        <p14:creationId xmlns:p14="http://schemas.microsoft.com/office/powerpoint/2010/main" val="5518801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fontScale="90000"/>
          </a:bodyPr>
          <a:lstStyle/>
          <a:p>
            <a:r>
              <a:rPr lang="en-US"/>
              <a:t>EC2 Instances – What’s in a Name? </a:t>
            </a:r>
          </a:p>
        </p:txBody>
      </p:sp>
      <p:sp>
        <p:nvSpPr>
          <p:cNvPr id="38" name="Rectangle 37">
            <a:extLst>
              <a:ext uri="{FF2B5EF4-FFF2-40B4-BE49-F238E27FC236}">
                <a16:creationId xmlns:a16="http://schemas.microsoft.com/office/drawing/2014/main" xmlns="" id="{87921B0B-A0EE-6743-A2C8-DBCC10D6AFEF}"/>
              </a:ext>
            </a:extLst>
          </p:cNvPr>
          <p:cNvSpPr/>
          <p:nvPr/>
        </p:nvSpPr>
        <p:spPr>
          <a:xfrm>
            <a:off x="2176570" y="2832182"/>
            <a:ext cx="2375971" cy="369332"/>
          </a:xfrm>
          <a:prstGeom prst="rect">
            <a:avLst/>
          </a:prstGeom>
        </p:spPr>
        <p:txBody>
          <a:bodyPr wrap="none">
            <a:spAutoFit/>
          </a:bodyPr>
          <a:lstStyle/>
          <a:p>
            <a:pPr algn="ctr"/>
            <a:r>
              <a:rPr lang="en-US" sz="1800" b="1">
                <a:latin typeface="Amazon Ember" panose="020B0603020204020204" pitchFamily="34" charset="0"/>
                <a:ea typeface="Amazon Ember" panose="020B0603020204020204" pitchFamily="34" charset="0"/>
                <a:cs typeface="Amazon Ember" panose="020B0603020204020204" pitchFamily="34" charset="0"/>
              </a:rPr>
              <a:t>m</a:t>
            </a:r>
            <a:r>
              <a:rPr lang="en-US" sz="1800">
                <a:latin typeface="Amazon Ember" panose="020B0603020204020204" pitchFamily="34" charset="0"/>
                <a:ea typeface="Amazon Ember" panose="020B0603020204020204" pitchFamily="34" charset="0"/>
                <a:cs typeface="Amazon Ember" panose="020B0603020204020204" pitchFamily="34" charset="0"/>
              </a:rPr>
              <a:t> is the family name</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39" name="Rectangle 38">
            <a:extLst>
              <a:ext uri="{FF2B5EF4-FFF2-40B4-BE49-F238E27FC236}">
                <a16:creationId xmlns:a16="http://schemas.microsoft.com/office/drawing/2014/main" xmlns="" id="{36E1BE46-0759-8448-854E-247C281C7627}"/>
              </a:ext>
            </a:extLst>
          </p:cNvPr>
          <p:cNvSpPr/>
          <p:nvPr/>
        </p:nvSpPr>
        <p:spPr>
          <a:xfrm>
            <a:off x="1847153" y="3774196"/>
            <a:ext cx="3034805" cy="369332"/>
          </a:xfrm>
          <a:prstGeom prst="rect">
            <a:avLst/>
          </a:prstGeom>
        </p:spPr>
        <p:txBody>
          <a:bodyPr wrap="none">
            <a:spAutoFit/>
          </a:bodyPr>
          <a:lstStyle/>
          <a:p>
            <a:pPr algn="ctr"/>
            <a:r>
              <a:rPr lang="en-US" sz="1800" b="1">
                <a:latin typeface="Amazon Ember" panose="020B0603020204020204" pitchFamily="34" charset="0"/>
                <a:ea typeface="Amazon Ember" panose="020B0603020204020204" pitchFamily="34" charset="0"/>
                <a:cs typeface="Amazon Ember" panose="020B0603020204020204" pitchFamily="34" charset="0"/>
              </a:rPr>
              <a:t>5</a:t>
            </a:r>
            <a:r>
              <a:rPr lang="en-US" sz="1800">
                <a:latin typeface="Amazon Ember" panose="020B0603020204020204" pitchFamily="34" charset="0"/>
                <a:ea typeface="Amazon Ember" panose="020B0603020204020204" pitchFamily="34" charset="0"/>
                <a:cs typeface="Amazon Ember" panose="020B0603020204020204" pitchFamily="34" charset="0"/>
              </a:rPr>
              <a:t> Is the generation number</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Rectangle 39">
            <a:extLst>
              <a:ext uri="{FF2B5EF4-FFF2-40B4-BE49-F238E27FC236}">
                <a16:creationId xmlns:a16="http://schemas.microsoft.com/office/drawing/2014/main" xmlns="" id="{A6B01BC1-A052-264B-8381-B2FFEA65232E}"/>
              </a:ext>
            </a:extLst>
          </p:cNvPr>
          <p:cNvSpPr/>
          <p:nvPr/>
        </p:nvSpPr>
        <p:spPr>
          <a:xfrm>
            <a:off x="1619526" y="4716209"/>
            <a:ext cx="3490058" cy="369332"/>
          </a:xfrm>
          <a:prstGeom prst="rect">
            <a:avLst/>
          </a:prstGeom>
        </p:spPr>
        <p:txBody>
          <a:bodyPr wrap="none">
            <a:spAutoFit/>
          </a:bodyPr>
          <a:lstStyle/>
          <a:p>
            <a:pPr algn="ctr"/>
            <a:r>
              <a:rPr lang="en-US" sz="1800" b="1">
                <a:latin typeface="Amazon Ember" panose="020B0603020204020204" pitchFamily="34" charset="0"/>
                <a:ea typeface="Amazon Ember" panose="020B0603020204020204" pitchFamily="34" charset="0"/>
                <a:cs typeface="Amazon Ember" panose="020B0603020204020204" pitchFamily="34" charset="0"/>
              </a:rPr>
              <a:t>large</a:t>
            </a:r>
            <a:r>
              <a:rPr lang="en-US" sz="1800">
                <a:latin typeface="Amazon Ember" panose="020B0603020204020204" pitchFamily="34" charset="0"/>
                <a:ea typeface="Amazon Ember" panose="020B0603020204020204" pitchFamily="34" charset="0"/>
                <a:cs typeface="Amazon Ember" panose="020B0603020204020204" pitchFamily="34" charset="0"/>
              </a:rPr>
              <a:t> is the size of the instance</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Rectangle 40">
            <a:extLst>
              <a:ext uri="{FF2B5EF4-FFF2-40B4-BE49-F238E27FC236}">
                <a16:creationId xmlns:a16="http://schemas.microsoft.com/office/drawing/2014/main" xmlns="" id="{282140E8-011F-4246-A8B2-D9259A6F6401}"/>
              </a:ext>
            </a:extLst>
          </p:cNvPr>
          <p:cNvSpPr/>
          <p:nvPr/>
        </p:nvSpPr>
        <p:spPr>
          <a:xfrm>
            <a:off x="1369967" y="1997787"/>
            <a:ext cx="4116433" cy="3897801"/>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xmlns="" id="{0FE13475-4686-CE4E-BE70-94C0C2BBD75C}"/>
              </a:ext>
            </a:extLst>
          </p:cNvPr>
          <p:cNvSpPr txBox="1"/>
          <p:nvPr/>
        </p:nvSpPr>
        <p:spPr>
          <a:xfrm rot="16200000">
            <a:off x="3181962" y="1292752"/>
            <a:ext cx="492443" cy="1415495"/>
          </a:xfrm>
          <a:prstGeom prst="rect">
            <a:avLst/>
          </a:prstGeom>
          <a:solidFill>
            <a:schemeClr val="bg1"/>
          </a:solidFill>
        </p:spPr>
        <p:txBody>
          <a:bodyPr vert="vert" wrap="square" rtlCol="0">
            <a:spAutoFit/>
          </a:bodyPr>
          <a:lstStyle/>
          <a:p>
            <a:pPr algn="ctr"/>
            <a:r>
              <a:rPr lang="en-US" sz="20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m5.large</a:t>
            </a:r>
          </a:p>
        </p:txBody>
      </p:sp>
      <p:sp>
        <p:nvSpPr>
          <p:cNvPr id="45" name="TextBox 44">
            <a:extLst>
              <a:ext uri="{FF2B5EF4-FFF2-40B4-BE49-F238E27FC236}">
                <a16:creationId xmlns:a16="http://schemas.microsoft.com/office/drawing/2014/main" xmlns="" id="{835008BC-2BA5-BE47-87BE-172AE4B53E1E}"/>
              </a:ext>
            </a:extLst>
          </p:cNvPr>
          <p:cNvSpPr txBox="1"/>
          <p:nvPr/>
        </p:nvSpPr>
        <p:spPr>
          <a:xfrm>
            <a:off x="7087726" y="2117398"/>
            <a:ext cx="3566160" cy="369332"/>
          </a:xfrm>
          <a:prstGeom prst="rect">
            <a:avLst/>
          </a:prstGeom>
          <a:noFill/>
        </p:spPr>
        <p:txBody>
          <a:bodyPr wrap="square" rtlCol="0">
            <a:spAutoFit/>
          </a:bodyPr>
          <a:lstStyle/>
          <a:p>
            <a:pPr algn="ctr"/>
            <a:r>
              <a:rPr lang="en-US" sz="1800" b="1">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Examples</a:t>
            </a:r>
          </a:p>
        </p:txBody>
      </p:sp>
      <p:sp>
        <p:nvSpPr>
          <p:cNvPr id="46" name="Rectangle 45">
            <a:extLst>
              <a:ext uri="{FF2B5EF4-FFF2-40B4-BE49-F238E27FC236}">
                <a16:creationId xmlns:a16="http://schemas.microsoft.com/office/drawing/2014/main" xmlns="" id="{CFEF5DE7-6726-C545-A9FE-8A76FA90285F}"/>
              </a:ext>
            </a:extLst>
          </p:cNvPr>
          <p:cNvSpPr/>
          <p:nvPr/>
        </p:nvSpPr>
        <p:spPr>
          <a:xfrm>
            <a:off x="8354229" y="3041413"/>
            <a:ext cx="1087157" cy="400110"/>
          </a:xfrm>
          <a:prstGeom prst="rect">
            <a:avLst/>
          </a:prstGeom>
        </p:spPr>
        <p:txBody>
          <a:bodyPr wrap="none">
            <a:spAutoFit/>
          </a:bodyPr>
          <a:lstStyle/>
          <a:p>
            <a:r>
              <a:rPr lang="en-US" sz="2000">
                <a:solidFill>
                  <a:srgbClr val="333333"/>
                </a:solidFill>
                <a:latin typeface="AmazonEmber" panose="020B0603020204020204" pitchFamily="34" charset="0"/>
              </a:rPr>
              <a:t>t2.large</a:t>
            </a:r>
            <a:endParaRPr lang="en-US" sz="2000"/>
          </a:p>
        </p:txBody>
      </p:sp>
      <p:sp>
        <p:nvSpPr>
          <p:cNvPr id="47" name="Rectangle 46">
            <a:extLst>
              <a:ext uri="{FF2B5EF4-FFF2-40B4-BE49-F238E27FC236}">
                <a16:creationId xmlns:a16="http://schemas.microsoft.com/office/drawing/2014/main" xmlns="" id="{8B8BF7B9-362C-B649-9610-D4DA4CAAD6CA}"/>
              </a:ext>
            </a:extLst>
          </p:cNvPr>
          <p:cNvSpPr/>
          <p:nvPr/>
        </p:nvSpPr>
        <p:spPr>
          <a:xfrm>
            <a:off x="8282094" y="3991121"/>
            <a:ext cx="1231427" cy="400110"/>
          </a:xfrm>
          <a:prstGeom prst="rect">
            <a:avLst/>
          </a:prstGeom>
        </p:spPr>
        <p:txBody>
          <a:bodyPr wrap="none">
            <a:spAutoFit/>
          </a:bodyPr>
          <a:lstStyle/>
          <a:p>
            <a:r>
              <a:rPr lang="en-US" sz="2000">
                <a:solidFill>
                  <a:srgbClr val="333333"/>
                </a:solidFill>
                <a:latin typeface="AmazonEmber" panose="020B0603020204020204" pitchFamily="34" charset="0"/>
              </a:rPr>
              <a:t>c5.xlarge</a:t>
            </a:r>
            <a:endParaRPr lang="en-US" sz="2000"/>
          </a:p>
        </p:txBody>
      </p:sp>
      <p:sp>
        <p:nvSpPr>
          <p:cNvPr id="48" name="Rectangle 47">
            <a:extLst>
              <a:ext uri="{FF2B5EF4-FFF2-40B4-BE49-F238E27FC236}">
                <a16:creationId xmlns:a16="http://schemas.microsoft.com/office/drawing/2014/main" xmlns="" id="{818F790D-3124-9E46-B55E-FF7B6A0EEA91}"/>
              </a:ext>
            </a:extLst>
          </p:cNvPr>
          <p:cNvSpPr/>
          <p:nvPr/>
        </p:nvSpPr>
        <p:spPr>
          <a:xfrm>
            <a:off x="8189921" y="4940829"/>
            <a:ext cx="1415772" cy="400110"/>
          </a:xfrm>
          <a:prstGeom prst="rect">
            <a:avLst/>
          </a:prstGeom>
        </p:spPr>
        <p:txBody>
          <a:bodyPr wrap="none">
            <a:spAutoFit/>
          </a:bodyPr>
          <a:lstStyle/>
          <a:p>
            <a:r>
              <a:rPr lang="en-US" sz="2000">
                <a:solidFill>
                  <a:srgbClr val="333333"/>
                </a:solidFill>
                <a:latin typeface="AmazonEmber" panose="020B0603020204020204" pitchFamily="34" charset="0"/>
              </a:rPr>
              <a:t>p3.2xlarge</a:t>
            </a:r>
            <a:endParaRPr lang="en-US" sz="2000"/>
          </a:p>
        </p:txBody>
      </p:sp>
    </p:spTree>
    <p:extLst>
      <p:ext uri="{BB962C8B-B14F-4D97-AF65-F5344CB8AC3E}">
        <p14:creationId xmlns:p14="http://schemas.microsoft.com/office/powerpoint/2010/main" val="20992117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EC2 Instances – Sizes</a:t>
            </a:r>
          </a:p>
        </p:txBody>
      </p:sp>
      <p:graphicFrame>
        <p:nvGraphicFramePr>
          <p:cNvPr id="3" name="Content Placeholder 2">
            <a:extLst>
              <a:ext uri="{FF2B5EF4-FFF2-40B4-BE49-F238E27FC236}">
                <a16:creationId xmlns:a16="http://schemas.microsoft.com/office/drawing/2014/main" xmlns="" id="{882D8A53-5A10-BB44-84F2-DEE53DC5B10D}"/>
              </a:ext>
            </a:extLst>
          </p:cNvPr>
          <p:cNvGraphicFramePr>
            <a:graphicFrameLocks noGrp="1"/>
          </p:cNvGraphicFramePr>
          <p:nvPr>
            <p:ph idx="1"/>
            <p:extLst>
              <p:ext uri="{D42A27DB-BD31-4B8C-83A1-F6EECF244321}">
                <p14:modId xmlns:p14="http://schemas.microsoft.com/office/powerpoint/2010/main" val="3172510070"/>
              </p:ext>
            </p:extLst>
          </p:nvPr>
        </p:nvGraphicFramePr>
        <p:xfrm>
          <a:off x="2768857" y="1716762"/>
          <a:ext cx="2487142" cy="4046541"/>
        </p:xfrm>
        <a:graphic>
          <a:graphicData uri="http://schemas.openxmlformats.org/drawingml/2006/table">
            <a:tbl>
              <a:tblPr/>
              <a:tblGrid>
                <a:gridCol w="1648453">
                  <a:extLst>
                    <a:ext uri="{9D8B030D-6E8A-4147-A177-3AD203B41FA5}">
                      <a16:colId xmlns:a16="http://schemas.microsoft.com/office/drawing/2014/main" xmlns="" val="870542879"/>
                    </a:ext>
                  </a:extLst>
                </a:gridCol>
                <a:gridCol w="838689">
                  <a:extLst>
                    <a:ext uri="{9D8B030D-6E8A-4147-A177-3AD203B41FA5}">
                      <a16:colId xmlns:a16="http://schemas.microsoft.com/office/drawing/2014/main" xmlns="" val="2582062588"/>
                    </a:ext>
                  </a:extLst>
                </a:gridCol>
              </a:tblGrid>
              <a:tr h="739143">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Model</a:t>
                      </a:r>
                    </a:p>
                  </a:txBody>
                  <a:tcPr marL="37012" marR="37012" marT="37012" marB="37012" anchor="ctr">
                    <a:lnL>
                      <a:noFill/>
                    </a:lnL>
                    <a:lnR>
                      <a:noFill/>
                    </a:lnR>
                    <a:lnT>
                      <a:noFill/>
                    </a:lnT>
                    <a:lnB>
                      <a:noFill/>
                    </a:lnB>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vCPU</a:t>
                      </a:r>
                    </a:p>
                  </a:txBody>
                  <a:tcPr marL="37012" marR="37012" marT="37012" marB="37012" anchor="ctr">
                    <a:lnL>
                      <a:noFill/>
                    </a:lnL>
                    <a:lnR>
                      <a:noFill/>
                    </a:lnR>
                    <a:lnT>
                      <a:noFill/>
                    </a:lnT>
                    <a:lnB>
                      <a:noFill/>
                    </a:lnB>
                  </a:tcPr>
                </a:tc>
                <a:extLst>
                  <a:ext uri="{0D108BD9-81ED-4DB2-BD59-A6C34878D82A}">
                    <a16:rowId xmlns:a16="http://schemas.microsoft.com/office/drawing/2014/main" xmlns="" val="3395663402"/>
                  </a:ext>
                </a:extLst>
              </a:tr>
              <a:tr h="626397">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m5.large</a:t>
                      </a:r>
                    </a:p>
                  </a:txBody>
                  <a:tcPr marL="37012" marR="37012" marT="37012" marB="37012" anchor="ctr">
                    <a:lnL>
                      <a:noFill/>
                    </a:lnL>
                    <a:lnR>
                      <a:noFill/>
                    </a:lnR>
                    <a:lnT>
                      <a:noFill/>
                    </a:lnT>
                    <a:lnB>
                      <a:noFill/>
                    </a:lnB>
                    <a:solidFill>
                      <a:srgbClr val="F7F7F7"/>
                    </a:solidFill>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2</a:t>
                      </a:r>
                    </a:p>
                  </a:txBody>
                  <a:tcPr marL="37012" marR="37012" marT="37012" marB="37012" anchor="ctr">
                    <a:lnL>
                      <a:noFill/>
                    </a:lnL>
                    <a:lnR>
                      <a:noFill/>
                    </a:lnR>
                    <a:lnT>
                      <a:noFill/>
                    </a:lnT>
                    <a:lnB>
                      <a:noFill/>
                    </a:lnB>
                    <a:solidFill>
                      <a:srgbClr val="F7F7F7"/>
                    </a:solidFill>
                  </a:tcPr>
                </a:tc>
                <a:extLst>
                  <a:ext uri="{0D108BD9-81ED-4DB2-BD59-A6C34878D82A}">
                    <a16:rowId xmlns:a16="http://schemas.microsoft.com/office/drawing/2014/main" xmlns="" val="427267802"/>
                  </a:ext>
                </a:extLst>
              </a:tr>
              <a:tr h="626397">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m5.xlarge</a:t>
                      </a:r>
                    </a:p>
                  </a:txBody>
                  <a:tcPr marL="37012" marR="37012" marT="37012" marB="37012" anchor="ctr">
                    <a:lnL>
                      <a:noFill/>
                    </a:lnL>
                    <a:lnR>
                      <a:noFill/>
                    </a:lnR>
                    <a:lnT>
                      <a:noFill/>
                    </a:lnT>
                    <a:lnB>
                      <a:noFill/>
                    </a:lnB>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4</a:t>
                      </a:r>
                    </a:p>
                  </a:txBody>
                  <a:tcPr marL="37012" marR="37012" marT="37012" marB="37012" anchor="ctr">
                    <a:lnL>
                      <a:noFill/>
                    </a:lnL>
                    <a:lnR>
                      <a:noFill/>
                    </a:lnR>
                    <a:lnT>
                      <a:noFill/>
                    </a:lnT>
                    <a:lnB>
                      <a:noFill/>
                    </a:lnB>
                  </a:tcPr>
                </a:tc>
                <a:extLst>
                  <a:ext uri="{0D108BD9-81ED-4DB2-BD59-A6C34878D82A}">
                    <a16:rowId xmlns:a16="http://schemas.microsoft.com/office/drawing/2014/main" xmlns="" val="1617914908"/>
                  </a:ext>
                </a:extLst>
              </a:tr>
              <a:tr h="513651">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m5.2xlarge</a:t>
                      </a:r>
                    </a:p>
                  </a:txBody>
                  <a:tcPr marL="37012" marR="37012" marT="37012" marB="37012" anchor="ctr">
                    <a:lnL>
                      <a:noFill/>
                    </a:lnL>
                    <a:lnR>
                      <a:noFill/>
                    </a:lnR>
                    <a:lnT>
                      <a:noFill/>
                    </a:lnT>
                    <a:lnB>
                      <a:noFill/>
                    </a:lnB>
                    <a:solidFill>
                      <a:srgbClr val="F7F7F7"/>
                    </a:solidFill>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8</a:t>
                      </a:r>
                    </a:p>
                  </a:txBody>
                  <a:tcPr marL="37012" marR="37012" marT="37012" marB="37012" anchor="ctr">
                    <a:lnL>
                      <a:noFill/>
                    </a:lnL>
                    <a:lnR>
                      <a:noFill/>
                    </a:lnR>
                    <a:lnT>
                      <a:noFill/>
                    </a:lnT>
                    <a:lnB>
                      <a:noFill/>
                    </a:lnB>
                    <a:solidFill>
                      <a:srgbClr val="F7F7F7"/>
                    </a:solidFill>
                  </a:tcPr>
                </a:tc>
                <a:extLst>
                  <a:ext uri="{0D108BD9-81ED-4DB2-BD59-A6C34878D82A}">
                    <a16:rowId xmlns:a16="http://schemas.microsoft.com/office/drawing/2014/main" xmlns="" val="1136172446"/>
                  </a:ext>
                </a:extLst>
              </a:tr>
              <a:tr h="513651">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m5.4xlarge</a:t>
                      </a:r>
                    </a:p>
                  </a:txBody>
                  <a:tcPr marL="37012" marR="37012" marT="37012" marB="37012" anchor="ctr">
                    <a:lnL>
                      <a:noFill/>
                    </a:lnL>
                    <a:lnR>
                      <a:noFill/>
                    </a:lnR>
                    <a:lnT>
                      <a:noFill/>
                    </a:lnT>
                    <a:lnB>
                      <a:noFill/>
                    </a:lnB>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16</a:t>
                      </a:r>
                    </a:p>
                  </a:txBody>
                  <a:tcPr marL="37012" marR="37012" marT="37012" marB="37012" anchor="ctr">
                    <a:lnL>
                      <a:noFill/>
                    </a:lnL>
                    <a:lnR>
                      <a:noFill/>
                    </a:lnR>
                    <a:lnT>
                      <a:noFill/>
                    </a:lnT>
                    <a:lnB>
                      <a:noFill/>
                    </a:lnB>
                  </a:tcPr>
                </a:tc>
                <a:extLst>
                  <a:ext uri="{0D108BD9-81ED-4DB2-BD59-A6C34878D82A}">
                    <a16:rowId xmlns:a16="http://schemas.microsoft.com/office/drawing/2014/main" xmlns="" val="3335301976"/>
                  </a:ext>
                </a:extLst>
              </a:tr>
              <a:tr h="513651">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m5.12xlarge</a:t>
                      </a:r>
                    </a:p>
                  </a:txBody>
                  <a:tcPr marL="37012" marR="37012" marT="37012" marB="37012" anchor="ctr">
                    <a:lnL>
                      <a:noFill/>
                    </a:lnL>
                    <a:lnR>
                      <a:noFill/>
                    </a:lnR>
                    <a:lnT>
                      <a:noFill/>
                    </a:lnT>
                    <a:lnB>
                      <a:noFill/>
                    </a:lnB>
                    <a:solidFill>
                      <a:srgbClr val="F7F7F7"/>
                    </a:solidFill>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48</a:t>
                      </a:r>
                    </a:p>
                  </a:txBody>
                  <a:tcPr marL="37012" marR="37012" marT="37012" marB="37012" anchor="ctr">
                    <a:lnL>
                      <a:noFill/>
                    </a:lnL>
                    <a:lnR>
                      <a:noFill/>
                    </a:lnR>
                    <a:lnT>
                      <a:noFill/>
                    </a:lnT>
                    <a:lnB>
                      <a:noFill/>
                    </a:lnB>
                    <a:solidFill>
                      <a:srgbClr val="F7F7F7"/>
                    </a:solidFill>
                  </a:tcPr>
                </a:tc>
                <a:extLst>
                  <a:ext uri="{0D108BD9-81ED-4DB2-BD59-A6C34878D82A}">
                    <a16:rowId xmlns:a16="http://schemas.microsoft.com/office/drawing/2014/main" xmlns="" val="3143328626"/>
                  </a:ext>
                </a:extLst>
              </a:tr>
              <a:tr h="513651">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m5.24xlarge</a:t>
                      </a:r>
                    </a:p>
                  </a:txBody>
                  <a:tcPr marL="37012" marR="37012" marT="37012" marB="37012" anchor="ctr">
                    <a:lnL>
                      <a:noFill/>
                    </a:lnL>
                    <a:lnR>
                      <a:noFill/>
                    </a:lnR>
                    <a:lnT>
                      <a:noFill/>
                    </a:lnT>
                    <a:lnB>
                      <a:noFill/>
                    </a:lnB>
                  </a:tcPr>
                </a:tc>
                <a:tc>
                  <a:txBody>
                    <a:bodyPr/>
                    <a:lstStyle/>
                    <a:p>
                      <a:pPr algn="ctr"/>
                      <a:r>
                        <a:rPr lang="en-US" sz="1600">
                          <a:effectLst/>
                          <a:latin typeface="Amazon Ember" panose="020B0603020204020204" pitchFamily="34" charset="0"/>
                          <a:ea typeface="Amazon Ember" panose="020B0603020204020204" pitchFamily="34" charset="0"/>
                          <a:cs typeface="Amazon Ember" panose="020B0603020204020204" pitchFamily="34" charset="0"/>
                        </a:rPr>
                        <a:t>96</a:t>
                      </a:r>
                    </a:p>
                  </a:txBody>
                  <a:tcPr marL="37012" marR="37012" marT="37012" marB="37012" anchor="ctr">
                    <a:lnL>
                      <a:noFill/>
                    </a:lnL>
                    <a:lnR>
                      <a:noFill/>
                    </a:lnR>
                    <a:lnT>
                      <a:noFill/>
                    </a:lnT>
                    <a:lnB>
                      <a:noFill/>
                    </a:lnB>
                  </a:tcPr>
                </a:tc>
                <a:extLst>
                  <a:ext uri="{0D108BD9-81ED-4DB2-BD59-A6C34878D82A}">
                    <a16:rowId xmlns:a16="http://schemas.microsoft.com/office/drawing/2014/main" xmlns="" val="2314341199"/>
                  </a:ext>
                </a:extLst>
              </a:tr>
            </a:tbl>
          </a:graphicData>
        </a:graphic>
      </p:graphicFrame>
      <p:grpSp>
        <p:nvGrpSpPr>
          <p:cNvPr id="6" name="Group 5">
            <a:extLst>
              <a:ext uri="{FF2B5EF4-FFF2-40B4-BE49-F238E27FC236}">
                <a16:creationId xmlns:a16="http://schemas.microsoft.com/office/drawing/2014/main" xmlns="" id="{9309F63F-D1C0-B146-9452-E4A661077DDD}"/>
              </a:ext>
            </a:extLst>
          </p:cNvPr>
          <p:cNvGrpSpPr/>
          <p:nvPr/>
        </p:nvGrpSpPr>
        <p:grpSpPr>
          <a:xfrm>
            <a:off x="6691738" y="1896894"/>
            <a:ext cx="3396744" cy="4615217"/>
            <a:chOff x="7778591" y="1800126"/>
            <a:chExt cx="3396744" cy="4615217"/>
          </a:xfrm>
        </p:grpSpPr>
        <p:sp>
          <p:nvSpPr>
            <p:cNvPr id="32" name="TextBox 31">
              <a:extLst>
                <a:ext uri="{FF2B5EF4-FFF2-40B4-BE49-F238E27FC236}">
                  <a16:creationId xmlns:a16="http://schemas.microsoft.com/office/drawing/2014/main" xmlns="" id="{9278AB9A-828B-2E41-901D-65BF9DE511B0}"/>
                </a:ext>
              </a:extLst>
            </p:cNvPr>
            <p:cNvSpPr txBox="1"/>
            <p:nvPr/>
          </p:nvSpPr>
          <p:spPr>
            <a:xfrm rot="18961518">
              <a:off x="9680473" y="4962882"/>
              <a:ext cx="430887" cy="1415495"/>
            </a:xfrm>
            <a:prstGeom prst="rect">
              <a:avLst/>
            </a:prstGeom>
            <a:noFill/>
          </p:spPr>
          <p:txBody>
            <a:bodyPr vert="vert" wrap="square" rtlCol="0">
              <a:spAutoFit/>
            </a:bodyPr>
            <a:lstStyle/>
            <a:p>
              <a:r>
                <a:rPr lang="en-US" sz="16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m5.xlarge</a:t>
              </a:r>
            </a:p>
          </p:txBody>
        </p:sp>
        <p:sp>
          <p:nvSpPr>
            <p:cNvPr id="33" name="TextBox 32">
              <a:extLst>
                <a:ext uri="{FF2B5EF4-FFF2-40B4-BE49-F238E27FC236}">
                  <a16:creationId xmlns:a16="http://schemas.microsoft.com/office/drawing/2014/main" xmlns="" id="{33E69023-698B-6D43-88A8-059FFFE9C133}"/>
                </a:ext>
              </a:extLst>
            </p:cNvPr>
            <p:cNvSpPr txBox="1"/>
            <p:nvPr/>
          </p:nvSpPr>
          <p:spPr>
            <a:xfrm rot="18961518">
              <a:off x="10697075" y="4999848"/>
              <a:ext cx="430887" cy="1415495"/>
            </a:xfrm>
            <a:prstGeom prst="rect">
              <a:avLst/>
            </a:prstGeom>
            <a:noFill/>
          </p:spPr>
          <p:txBody>
            <a:bodyPr vert="vert" wrap="square" rtlCol="0">
              <a:spAutoFit/>
            </a:bodyPr>
            <a:lstStyle/>
            <a:p>
              <a:r>
                <a:rPr lang="en-US" sz="16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m5.2xlarge</a:t>
              </a:r>
            </a:p>
          </p:txBody>
        </p:sp>
        <p:sp>
          <p:nvSpPr>
            <p:cNvPr id="34" name="TextBox 33">
              <a:extLst>
                <a:ext uri="{FF2B5EF4-FFF2-40B4-BE49-F238E27FC236}">
                  <a16:creationId xmlns:a16="http://schemas.microsoft.com/office/drawing/2014/main" xmlns="" id="{5FC94622-0CB9-9442-B943-3479AAC99BFC}"/>
                </a:ext>
              </a:extLst>
            </p:cNvPr>
            <p:cNvSpPr txBox="1"/>
            <p:nvPr/>
          </p:nvSpPr>
          <p:spPr>
            <a:xfrm rot="18961518">
              <a:off x="8725272" y="4999848"/>
              <a:ext cx="430887" cy="1415495"/>
            </a:xfrm>
            <a:prstGeom prst="rect">
              <a:avLst/>
            </a:prstGeom>
            <a:noFill/>
          </p:spPr>
          <p:txBody>
            <a:bodyPr vert="vert" wrap="square" rtlCol="0">
              <a:spAutoFit/>
            </a:bodyPr>
            <a:lstStyle/>
            <a:p>
              <a:r>
                <a:rPr lang="en-US" sz="16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m5.large</a:t>
              </a:r>
            </a:p>
          </p:txBody>
        </p:sp>
        <p:sp>
          <p:nvSpPr>
            <p:cNvPr id="36" name="TextBox 35">
              <a:extLst>
                <a:ext uri="{FF2B5EF4-FFF2-40B4-BE49-F238E27FC236}">
                  <a16:creationId xmlns:a16="http://schemas.microsoft.com/office/drawing/2014/main" xmlns="" id="{0AE2A51C-2761-4B4A-977D-D9A7448AC1C4}"/>
                </a:ext>
              </a:extLst>
            </p:cNvPr>
            <p:cNvSpPr txBox="1"/>
            <p:nvPr/>
          </p:nvSpPr>
          <p:spPr>
            <a:xfrm>
              <a:off x="7778591" y="1800126"/>
              <a:ext cx="3396744" cy="400110"/>
            </a:xfrm>
            <a:prstGeom prst="rect">
              <a:avLst/>
            </a:prstGeom>
            <a:noFill/>
          </p:spPr>
          <p:txBody>
            <a:bodyPr wrap="square" rtlCol="0">
              <a:spAutoFit/>
            </a:bodyPr>
            <a:lstStyle/>
            <a:p>
              <a:pPr algn="ctr"/>
              <a:r>
                <a:rPr lang="en-US" sz="20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Scaling Vertically</a:t>
              </a:r>
            </a:p>
          </p:txBody>
        </p:sp>
        <p:sp>
          <p:nvSpPr>
            <p:cNvPr id="5" name="Rectangle 4">
              <a:extLst>
                <a:ext uri="{FF2B5EF4-FFF2-40B4-BE49-F238E27FC236}">
                  <a16:creationId xmlns:a16="http://schemas.microsoft.com/office/drawing/2014/main" xmlns="" id="{37503BFB-FBC4-4745-B5A6-1E70AD10F7EE}"/>
                </a:ext>
              </a:extLst>
            </p:cNvPr>
            <p:cNvSpPr/>
            <p:nvPr/>
          </p:nvSpPr>
          <p:spPr>
            <a:xfrm>
              <a:off x="8339447" y="4412370"/>
              <a:ext cx="288272" cy="669181"/>
            </a:xfrm>
            <a:prstGeom prst="rect">
              <a:avLst/>
            </a:prstGeom>
            <a:solidFill>
              <a:srgbClr val="F68536"/>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xmlns="" id="{88E5EC10-D15C-0B4D-AD87-9326A468B969}"/>
                </a:ext>
              </a:extLst>
            </p:cNvPr>
            <p:cNvSpPr/>
            <p:nvPr/>
          </p:nvSpPr>
          <p:spPr>
            <a:xfrm>
              <a:off x="9306600" y="3725115"/>
              <a:ext cx="325770" cy="1356436"/>
            </a:xfrm>
            <a:prstGeom prst="rect">
              <a:avLst/>
            </a:prstGeom>
            <a:solidFill>
              <a:srgbClr val="F68536"/>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xmlns="" id="{AF40EEE8-2445-E74C-B1F3-E22E86E2103F}"/>
                </a:ext>
              </a:extLst>
            </p:cNvPr>
            <p:cNvSpPr/>
            <p:nvPr/>
          </p:nvSpPr>
          <p:spPr>
            <a:xfrm>
              <a:off x="10311250" y="2385420"/>
              <a:ext cx="288273" cy="2696131"/>
            </a:xfrm>
            <a:prstGeom prst="rect">
              <a:avLst/>
            </a:prstGeom>
            <a:solidFill>
              <a:srgbClr val="F68536"/>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488406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EC2 Instances – Types</a:t>
            </a:r>
          </a:p>
        </p:txBody>
      </p:sp>
      <p:sp>
        <p:nvSpPr>
          <p:cNvPr id="19" name="TextBox 18">
            <a:extLst>
              <a:ext uri="{FF2B5EF4-FFF2-40B4-BE49-F238E27FC236}">
                <a16:creationId xmlns:a16="http://schemas.microsoft.com/office/drawing/2014/main" xmlns="" id="{74137C48-54B6-004F-8A68-A97709BE87B8}"/>
              </a:ext>
            </a:extLst>
          </p:cNvPr>
          <p:cNvSpPr txBox="1"/>
          <p:nvPr/>
        </p:nvSpPr>
        <p:spPr>
          <a:xfrm>
            <a:off x="2317940" y="2123404"/>
            <a:ext cx="7552944" cy="400110"/>
          </a:xfrm>
          <a:prstGeom prst="rect">
            <a:avLst/>
          </a:prstGeom>
          <a:noFill/>
        </p:spPr>
        <p:txBody>
          <a:bodyPr wrap="square" rtlCol="0">
            <a:spAutoFit/>
          </a:bodyPr>
          <a:lstStyle/>
          <a:p>
            <a:pPr algn="ctr">
              <a:buClr>
                <a:schemeClr val="accent2"/>
              </a:buClr>
            </a:pPr>
            <a:r>
              <a:rPr lang="en-US" sz="2000">
                <a:latin typeface="Amazon Ember" panose="020B0603020204020204" pitchFamily="34" charset="0"/>
                <a:ea typeface="Amazon Ember" panose="020B0603020204020204" pitchFamily="34" charset="0"/>
                <a:cs typeface="Amazon Ember" panose="020B0603020204020204" pitchFamily="34" charset="0"/>
              </a:rPr>
              <a:t>Choosing the correct type is very important for:</a:t>
            </a:r>
          </a:p>
        </p:txBody>
      </p:sp>
      <p:grpSp>
        <p:nvGrpSpPr>
          <p:cNvPr id="5" name="Group 4">
            <a:extLst>
              <a:ext uri="{FF2B5EF4-FFF2-40B4-BE49-F238E27FC236}">
                <a16:creationId xmlns:a16="http://schemas.microsoft.com/office/drawing/2014/main" xmlns="" id="{95C73FDA-D7CE-1046-8239-102FD32828D1}"/>
              </a:ext>
            </a:extLst>
          </p:cNvPr>
          <p:cNvGrpSpPr/>
          <p:nvPr/>
        </p:nvGrpSpPr>
        <p:grpSpPr>
          <a:xfrm>
            <a:off x="2009324" y="3009222"/>
            <a:ext cx="7861560" cy="2488643"/>
            <a:chOff x="1911235" y="3054193"/>
            <a:chExt cx="7861560" cy="2488643"/>
          </a:xfrm>
        </p:grpSpPr>
        <p:grpSp>
          <p:nvGrpSpPr>
            <p:cNvPr id="3" name="Group 2">
              <a:extLst>
                <a:ext uri="{FF2B5EF4-FFF2-40B4-BE49-F238E27FC236}">
                  <a16:creationId xmlns:a16="http://schemas.microsoft.com/office/drawing/2014/main" xmlns="" id="{C5713025-53EE-0D46-A946-F11585DF3E82}"/>
                </a:ext>
              </a:extLst>
            </p:cNvPr>
            <p:cNvGrpSpPr/>
            <p:nvPr/>
          </p:nvGrpSpPr>
          <p:grpSpPr>
            <a:xfrm>
              <a:off x="1911235" y="3054193"/>
              <a:ext cx="2967790" cy="2488643"/>
              <a:chOff x="1911235" y="3054193"/>
              <a:chExt cx="2967790" cy="2488643"/>
            </a:xfrm>
          </p:grpSpPr>
          <p:pic>
            <p:nvPicPr>
              <p:cNvPr id="21" name="Picture 20">
                <a:extLst>
                  <a:ext uri="{FF2B5EF4-FFF2-40B4-BE49-F238E27FC236}">
                    <a16:creationId xmlns:a16="http://schemas.microsoft.com/office/drawing/2014/main" xmlns="" id="{EB4431DC-9804-C543-A004-0CDB3118C28D}"/>
                  </a:ext>
                </a:extLst>
              </p:cNvPr>
              <p:cNvPicPr>
                <a:picLocks noChangeAspect="1"/>
              </p:cNvPicPr>
              <p:nvPr/>
            </p:nvPicPr>
            <p:blipFill>
              <a:blip r:embed="rId3"/>
              <a:stretch>
                <a:fillRect/>
              </a:stretch>
            </p:blipFill>
            <p:spPr>
              <a:xfrm>
                <a:off x="2567667" y="3887909"/>
                <a:ext cx="1654927" cy="1654927"/>
              </a:xfrm>
              <a:prstGeom prst="rect">
                <a:avLst/>
              </a:prstGeom>
            </p:spPr>
          </p:pic>
          <p:sp>
            <p:nvSpPr>
              <p:cNvPr id="22" name="Rectangle 21">
                <a:extLst>
                  <a:ext uri="{FF2B5EF4-FFF2-40B4-BE49-F238E27FC236}">
                    <a16:creationId xmlns:a16="http://schemas.microsoft.com/office/drawing/2014/main" xmlns="" id="{7F221308-AB03-9C48-B37E-ED53481C6AA1}"/>
                  </a:ext>
                </a:extLst>
              </p:cNvPr>
              <p:cNvSpPr/>
              <p:nvPr/>
            </p:nvSpPr>
            <p:spPr>
              <a:xfrm>
                <a:off x="1911235" y="3054193"/>
                <a:ext cx="2967790" cy="707886"/>
              </a:xfrm>
              <a:prstGeom prst="rect">
                <a:avLst/>
              </a:prstGeom>
            </p:spPr>
            <p:txBody>
              <a:bodyPr wrap="square">
                <a:spAutoFit/>
              </a:bodyPr>
              <a:lstStyle/>
              <a:p>
                <a:pPr marL="0" lvl="1" algn="ctr">
                  <a:buClr>
                    <a:schemeClr val="accent2"/>
                  </a:buCl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Efficient utilization of your instances</a:t>
                </a:r>
              </a:p>
            </p:txBody>
          </p:sp>
        </p:grpSp>
        <p:grpSp>
          <p:nvGrpSpPr>
            <p:cNvPr id="4" name="Group 3">
              <a:extLst>
                <a:ext uri="{FF2B5EF4-FFF2-40B4-BE49-F238E27FC236}">
                  <a16:creationId xmlns:a16="http://schemas.microsoft.com/office/drawing/2014/main" xmlns="" id="{F141F7F8-3819-1741-AED2-19B276A373A2}"/>
                </a:ext>
              </a:extLst>
            </p:cNvPr>
            <p:cNvGrpSpPr/>
            <p:nvPr/>
          </p:nvGrpSpPr>
          <p:grpSpPr>
            <a:xfrm>
              <a:off x="7446593" y="3054193"/>
              <a:ext cx="2326202" cy="2438650"/>
              <a:chOff x="7446593" y="3054193"/>
              <a:chExt cx="2326202" cy="2438650"/>
            </a:xfrm>
          </p:grpSpPr>
          <p:sp>
            <p:nvSpPr>
              <p:cNvPr id="43" name="Rectangle 42">
                <a:extLst>
                  <a:ext uri="{FF2B5EF4-FFF2-40B4-BE49-F238E27FC236}">
                    <a16:creationId xmlns:a16="http://schemas.microsoft.com/office/drawing/2014/main" xmlns="" id="{AB5BDE8B-B893-D040-8213-3296D72F7D5E}"/>
                  </a:ext>
                </a:extLst>
              </p:cNvPr>
              <p:cNvSpPr/>
              <p:nvPr/>
            </p:nvSpPr>
            <p:spPr>
              <a:xfrm>
                <a:off x="7446593" y="3054193"/>
                <a:ext cx="2326202" cy="707886"/>
              </a:xfrm>
              <a:prstGeom prst="rect">
                <a:avLst/>
              </a:prstGeom>
            </p:spPr>
            <p:txBody>
              <a:bodyPr wrap="square">
                <a:spAutoFit/>
              </a:bodyPr>
              <a:lstStyle/>
              <a:p>
                <a:pPr marL="0" lvl="1" algn="ctr">
                  <a:buClr>
                    <a:schemeClr val="accent2"/>
                  </a:buCl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Reducing unneeded cost</a:t>
                </a:r>
              </a:p>
            </p:txBody>
          </p:sp>
          <p:pic>
            <p:nvPicPr>
              <p:cNvPr id="45" name="Picture 44">
                <a:extLst>
                  <a:ext uri="{FF2B5EF4-FFF2-40B4-BE49-F238E27FC236}">
                    <a16:creationId xmlns:a16="http://schemas.microsoft.com/office/drawing/2014/main" xmlns="" id="{00BCAF2F-74EE-6C49-802C-3BD1B73D2EA0}"/>
                  </a:ext>
                </a:extLst>
              </p:cNvPr>
              <p:cNvPicPr>
                <a:picLocks noChangeAspect="1"/>
              </p:cNvPicPr>
              <p:nvPr/>
            </p:nvPicPr>
            <p:blipFill>
              <a:blip r:embed="rId4"/>
              <a:stretch>
                <a:fillRect/>
              </a:stretch>
            </p:blipFill>
            <p:spPr>
              <a:xfrm>
                <a:off x="7704524" y="3937903"/>
                <a:ext cx="1810340" cy="1554940"/>
              </a:xfrm>
              <a:prstGeom prst="rect">
                <a:avLst/>
              </a:prstGeom>
            </p:spPr>
          </p:pic>
        </p:grpSp>
      </p:grpSp>
    </p:spTree>
    <p:extLst>
      <p:ext uri="{BB962C8B-B14F-4D97-AF65-F5344CB8AC3E}">
        <p14:creationId xmlns:p14="http://schemas.microsoft.com/office/powerpoint/2010/main" val="23583381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05C9F7-F1E8-C74A-922F-1A1CB6D57EFE}"/>
              </a:ext>
            </a:extLst>
          </p:cNvPr>
          <p:cNvSpPr>
            <a:spLocks noGrp="1"/>
          </p:cNvSpPr>
          <p:nvPr>
            <p:ph type="title"/>
          </p:nvPr>
        </p:nvSpPr>
        <p:spPr/>
        <p:txBody>
          <a:bodyPr/>
          <a:lstStyle/>
          <a:p>
            <a:r>
              <a:rPr lang="en-US"/>
              <a:t>EC2 Instances – Types </a:t>
            </a:r>
          </a:p>
        </p:txBody>
      </p:sp>
      <p:grpSp>
        <p:nvGrpSpPr>
          <p:cNvPr id="42" name="Group 41">
            <a:extLst>
              <a:ext uri="{FF2B5EF4-FFF2-40B4-BE49-F238E27FC236}">
                <a16:creationId xmlns:a16="http://schemas.microsoft.com/office/drawing/2014/main" xmlns="" id="{1A62EEE4-EC69-BA4E-96A3-05B677DC725F}"/>
              </a:ext>
            </a:extLst>
          </p:cNvPr>
          <p:cNvGrpSpPr/>
          <p:nvPr/>
        </p:nvGrpSpPr>
        <p:grpSpPr>
          <a:xfrm>
            <a:off x="2287864" y="1553608"/>
            <a:ext cx="9679366" cy="4679574"/>
            <a:chOff x="980176" y="1553608"/>
            <a:chExt cx="9679366" cy="4679574"/>
          </a:xfrm>
        </p:grpSpPr>
        <p:grpSp>
          <p:nvGrpSpPr>
            <p:cNvPr id="28" name="Group 27">
              <a:extLst>
                <a:ext uri="{FF2B5EF4-FFF2-40B4-BE49-F238E27FC236}">
                  <a16:creationId xmlns:a16="http://schemas.microsoft.com/office/drawing/2014/main" xmlns="" id="{0D235C2E-CE07-E442-96F9-00630C2A1ACD}"/>
                </a:ext>
              </a:extLst>
            </p:cNvPr>
            <p:cNvGrpSpPr/>
            <p:nvPr/>
          </p:nvGrpSpPr>
          <p:grpSpPr>
            <a:xfrm>
              <a:off x="980176" y="1553608"/>
              <a:ext cx="3563253" cy="893141"/>
              <a:chOff x="1654734" y="1377991"/>
              <a:chExt cx="3563253" cy="893141"/>
            </a:xfrm>
          </p:grpSpPr>
          <p:pic>
            <p:nvPicPr>
              <p:cNvPr id="12" name="Picture 11">
                <a:extLst>
                  <a:ext uri="{FF2B5EF4-FFF2-40B4-BE49-F238E27FC236}">
                    <a16:creationId xmlns:a16="http://schemas.microsoft.com/office/drawing/2014/main" xmlns="" id="{62025322-B00E-7744-8A6D-14D0D47DB9DF}"/>
                  </a:ext>
                </a:extLst>
              </p:cNvPr>
              <p:cNvPicPr>
                <a:picLocks noChangeAspect="1"/>
              </p:cNvPicPr>
              <p:nvPr/>
            </p:nvPicPr>
            <p:blipFill>
              <a:blip r:embed="rId3"/>
              <a:stretch>
                <a:fillRect/>
              </a:stretch>
            </p:blipFill>
            <p:spPr>
              <a:xfrm>
                <a:off x="1654734" y="1377991"/>
                <a:ext cx="893141" cy="893141"/>
              </a:xfrm>
              <a:prstGeom prst="rect">
                <a:avLst/>
              </a:prstGeom>
            </p:spPr>
          </p:pic>
          <p:sp>
            <p:nvSpPr>
              <p:cNvPr id="15" name="Rectangle 14">
                <a:extLst>
                  <a:ext uri="{FF2B5EF4-FFF2-40B4-BE49-F238E27FC236}">
                    <a16:creationId xmlns:a16="http://schemas.microsoft.com/office/drawing/2014/main" xmlns="" id="{864C1E24-8510-6443-B6E4-0B2E5E937B26}"/>
                  </a:ext>
                </a:extLst>
              </p:cNvPr>
              <p:cNvSpPr/>
              <p:nvPr/>
            </p:nvSpPr>
            <p:spPr>
              <a:xfrm>
                <a:off x="3047200" y="1570774"/>
                <a:ext cx="2170787" cy="507575"/>
              </a:xfrm>
              <a:prstGeom prst="rect">
                <a:avLst/>
              </a:prstGeom>
            </p:spPr>
            <p:txBody>
              <a:bodyPr wrap="none">
                <a:spAutoFit/>
              </a:bodyPr>
              <a:lstStyle/>
              <a:p>
                <a:pPr>
                  <a:lnSpc>
                    <a:spcPct val="150000"/>
                  </a:lnSpc>
                </a:pP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General Purpose</a:t>
                </a:r>
              </a:p>
            </p:txBody>
          </p:sp>
        </p:grpSp>
        <p:grpSp>
          <p:nvGrpSpPr>
            <p:cNvPr id="29" name="Group 28">
              <a:extLst>
                <a:ext uri="{FF2B5EF4-FFF2-40B4-BE49-F238E27FC236}">
                  <a16:creationId xmlns:a16="http://schemas.microsoft.com/office/drawing/2014/main" xmlns="" id="{C2F7DDAD-D6BB-194D-ACC8-610FF9099F5F}"/>
                </a:ext>
              </a:extLst>
            </p:cNvPr>
            <p:cNvGrpSpPr/>
            <p:nvPr/>
          </p:nvGrpSpPr>
          <p:grpSpPr>
            <a:xfrm>
              <a:off x="1053042" y="2566221"/>
              <a:ext cx="3857474" cy="747408"/>
              <a:chOff x="1727600" y="2530641"/>
              <a:chExt cx="3857474" cy="747408"/>
            </a:xfrm>
          </p:grpSpPr>
          <p:pic>
            <p:nvPicPr>
              <p:cNvPr id="8" name="Picture 7">
                <a:extLst>
                  <a:ext uri="{FF2B5EF4-FFF2-40B4-BE49-F238E27FC236}">
                    <a16:creationId xmlns:a16="http://schemas.microsoft.com/office/drawing/2014/main" xmlns="" id="{930AC430-6D42-1B4A-9583-490155D22F39}"/>
                  </a:ext>
                </a:extLst>
              </p:cNvPr>
              <p:cNvPicPr>
                <a:picLocks noChangeAspect="1"/>
              </p:cNvPicPr>
              <p:nvPr/>
            </p:nvPicPr>
            <p:blipFill>
              <a:blip r:embed="rId4"/>
              <a:stretch>
                <a:fillRect/>
              </a:stretch>
            </p:blipFill>
            <p:spPr>
              <a:xfrm>
                <a:off x="1727600" y="2530641"/>
                <a:ext cx="747408" cy="747408"/>
              </a:xfrm>
              <a:prstGeom prst="rect">
                <a:avLst/>
              </a:prstGeom>
            </p:spPr>
          </p:pic>
          <p:sp>
            <p:nvSpPr>
              <p:cNvPr id="16" name="Rectangle 15">
                <a:extLst>
                  <a:ext uri="{FF2B5EF4-FFF2-40B4-BE49-F238E27FC236}">
                    <a16:creationId xmlns:a16="http://schemas.microsoft.com/office/drawing/2014/main" xmlns="" id="{39BEA082-88F7-5249-B582-7366D5D337D3}"/>
                  </a:ext>
                </a:extLst>
              </p:cNvPr>
              <p:cNvSpPr/>
              <p:nvPr/>
            </p:nvSpPr>
            <p:spPr>
              <a:xfrm>
                <a:off x="3047200" y="2650558"/>
                <a:ext cx="2537874" cy="507575"/>
              </a:xfrm>
              <a:prstGeom prst="rect">
                <a:avLst/>
              </a:prstGeom>
            </p:spPr>
            <p:txBody>
              <a:bodyPr wrap="none">
                <a:spAutoFit/>
              </a:bodyPr>
              <a:lstStyle/>
              <a:p>
                <a:pPr>
                  <a:lnSpc>
                    <a:spcPct val="150000"/>
                  </a:lnSpc>
                </a:pP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Compute Optimized</a:t>
                </a:r>
              </a:p>
            </p:txBody>
          </p:sp>
        </p:grpSp>
        <p:grpSp>
          <p:nvGrpSpPr>
            <p:cNvPr id="30" name="Group 29">
              <a:extLst>
                <a:ext uri="{FF2B5EF4-FFF2-40B4-BE49-F238E27FC236}">
                  <a16:creationId xmlns:a16="http://schemas.microsoft.com/office/drawing/2014/main" xmlns="" id="{0F27B7E4-69D7-DE43-8332-AF29327A424B}"/>
                </a:ext>
              </a:extLst>
            </p:cNvPr>
            <p:cNvGrpSpPr/>
            <p:nvPr/>
          </p:nvGrpSpPr>
          <p:grpSpPr>
            <a:xfrm>
              <a:off x="997921" y="3478071"/>
              <a:ext cx="3800385" cy="857650"/>
              <a:chOff x="1672479" y="3533696"/>
              <a:chExt cx="3800385" cy="857650"/>
            </a:xfrm>
          </p:grpSpPr>
          <p:pic>
            <p:nvPicPr>
              <p:cNvPr id="6" name="Picture 5">
                <a:extLst>
                  <a:ext uri="{FF2B5EF4-FFF2-40B4-BE49-F238E27FC236}">
                    <a16:creationId xmlns:a16="http://schemas.microsoft.com/office/drawing/2014/main" xmlns="" id="{D77DC91B-245A-FB47-A214-218A9650070E}"/>
                  </a:ext>
                </a:extLst>
              </p:cNvPr>
              <p:cNvPicPr>
                <a:picLocks noChangeAspect="1"/>
              </p:cNvPicPr>
              <p:nvPr/>
            </p:nvPicPr>
            <p:blipFill>
              <a:blip r:embed="rId5"/>
              <a:stretch>
                <a:fillRect/>
              </a:stretch>
            </p:blipFill>
            <p:spPr>
              <a:xfrm>
                <a:off x="1672479" y="3533696"/>
                <a:ext cx="857650" cy="857650"/>
              </a:xfrm>
              <a:prstGeom prst="rect">
                <a:avLst/>
              </a:prstGeom>
            </p:spPr>
          </p:pic>
          <p:sp>
            <p:nvSpPr>
              <p:cNvPr id="17" name="Rectangle 16">
                <a:extLst>
                  <a:ext uri="{FF2B5EF4-FFF2-40B4-BE49-F238E27FC236}">
                    <a16:creationId xmlns:a16="http://schemas.microsoft.com/office/drawing/2014/main" xmlns="" id="{CC5E8064-72A8-754C-B946-3BAE87C39731}"/>
                  </a:ext>
                </a:extLst>
              </p:cNvPr>
              <p:cNvSpPr/>
              <p:nvPr/>
            </p:nvSpPr>
            <p:spPr>
              <a:xfrm>
                <a:off x="3047200" y="3663764"/>
                <a:ext cx="2425664" cy="507575"/>
              </a:xfrm>
              <a:prstGeom prst="rect">
                <a:avLst/>
              </a:prstGeom>
            </p:spPr>
            <p:txBody>
              <a:bodyPr wrap="none">
                <a:spAutoFit/>
              </a:bodyPr>
              <a:lstStyle/>
              <a:p>
                <a:pPr>
                  <a:lnSpc>
                    <a:spcPct val="150000"/>
                  </a:lnSpc>
                </a:pP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Memory Optimized</a:t>
                </a:r>
              </a:p>
            </p:txBody>
          </p:sp>
        </p:grpSp>
        <p:grpSp>
          <p:nvGrpSpPr>
            <p:cNvPr id="31" name="Group 30">
              <a:extLst>
                <a:ext uri="{FF2B5EF4-FFF2-40B4-BE49-F238E27FC236}">
                  <a16:creationId xmlns:a16="http://schemas.microsoft.com/office/drawing/2014/main" xmlns="" id="{FC0190B1-0D07-F74F-AFF6-EA9F82A511EC}"/>
                </a:ext>
              </a:extLst>
            </p:cNvPr>
            <p:cNvGrpSpPr/>
            <p:nvPr/>
          </p:nvGrpSpPr>
          <p:grpSpPr>
            <a:xfrm>
              <a:off x="1007045" y="4410223"/>
              <a:ext cx="4278574" cy="839402"/>
              <a:chOff x="1681603" y="4438349"/>
              <a:chExt cx="4278574" cy="839402"/>
            </a:xfrm>
          </p:grpSpPr>
          <p:pic>
            <p:nvPicPr>
              <p:cNvPr id="10" name="Picture 9">
                <a:extLst>
                  <a:ext uri="{FF2B5EF4-FFF2-40B4-BE49-F238E27FC236}">
                    <a16:creationId xmlns:a16="http://schemas.microsoft.com/office/drawing/2014/main" xmlns="" id="{727D069C-B995-BE4B-A617-F28AD7D431E8}"/>
                  </a:ext>
                </a:extLst>
              </p:cNvPr>
              <p:cNvPicPr>
                <a:picLocks noChangeAspect="1"/>
              </p:cNvPicPr>
              <p:nvPr/>
            </p:nvPicPr>
            <p:blipFill>
              <a:blip r:embed="rId6"/>
              <a:stretch>
                <a:fillRect/>
              </a:stretch>
            </p:blipFill>
            <p:spPr>
              <a:xfrm>
                <a:off x="1681603" y="4438349"/>
                <a:ext cx="839402" cy="839402"/>
              </a:xfrm>
              <a:prstGeom prst="rect">
                <a:avLst/>
              </a:prstGeom>
            </p:spPr>
          </p:pic>
          <p:sp>
            <p:nvSpPr>
              <p:cNvPr id="18" name="Rectangle 17">
                <a:extLst>
                  <a:ext uri="{FF2B5EF4-FFF2-40B4-BE49-F238E27FC236}">
                    <a16:creationId xmlns:a16="http://schemas.microsoft.com/office/drawing/2014/main" xmlns="" id="{C7E721E7-3891-A944-AE82-4AF42047A90F}"/>
                  </a:ext>
                </a:extLst>
              </p:cNvPr>
              <p:cNvSpPr/>
              <p:nvPr/>
            </p:nvSpPr>
            <p:spPr>
              <a:xfrm>
                <a:off x="3047200" y="4604263"/>
                <a:ext cx="2912977" cy="507575"/>
              </a:xfrm>
              <a:prstGeom prst="rect">
                <a:avLst/>
              </a:prstGeom>
            </p:spPr>
            <p:txBody>
              <a:bodyPr wrap="none">
                <a:spAutoFit/>
              </a:bodyPr>
              <a:lstStyle/>
              <a:p>
                <a:pPr>
                  <a:lnSpc>
                    <a:spcPct val="150000"/>
                  </a:lnSpc>
                </a:pP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Accelerated Computing</a:t>
                </a:r>
              </a:p>
            </p:txBody>
          </p:sp>
        </p:grpSp>
        <p:grpSp>
          <p:nvGrpSpPr>
            <p:cNvPr id="32" name="Group 31">
              <a:extLst>
                <a:ext uri="{FF2B5EF4-FFF2-40B4-BE49-F238E27FC236}">
                  <a16:creationId xmlns:a16="http://schemas.microsoft.com/office/drawing/2014/main" xmlns="" id="{C32E1C18-FE32-464D-AA64-9266E0C97151}"/>
                </a:ext>
              </a:extLst>
            </p:cNvPr>
            <p:cNvGrpSpPr/>
            <p:nvPr/>
          </p:nvGrpSpPr>
          <p:grpSpPr>
            <a:xfrm>
              <a:off x="1024684" y="5429058"/>
              <a:ext cx="3727135" cy="804124"/>
              <a:chOff x="1699242" y="5623930"/>
              <a:chExt cx="3727135" cy="804124"/>
            </a:xfrm>
          </p:grpSpPr>
          <p:pic>
            <p:nvPicPr>
              <p:cNvPr id="14" name="Picture 13">
                <a:extLst>
                  <a:ext uri="{FF2B5EF4-FFF2-40B4-BE49-F238E27FC236}">
                    <a16:creationId xmlns:a16="http://schemas.microsoft.com/office/drawing/2014/main" xmlns="" id="{12E63E33-2493-E343-BA8C-B8FC25BC5863}"/>
                  </a:ext>
                </a:extLst>
              </p:cNvPr>
              <p:cNvPicPr>
                <a:picLocks noChangeAspect="1"/>
              </p:cNvPicPr>
              <p:nvPr/>
            </p:nvPicPr>
            <p:blipFill>
              <a:blip r:embed="rId7"/>
              <a:stretch>
                <a:fillRect/>
              </a:stretch>
            </p:blipFill>
            <p:spPr>
              <a:xfrm>
                <a:off x="1699242" y="5623930"/>
                <a:ext cx="804124" cy="804124"/>
              </a:xfrm>
              <a:prstGeom prst="rect">
                <a:avLst/>
              </a:prstGeom>
            </p:spPr>
          </p:pic>
          <p:sp>
            <p:nvSpPr>
              <p:cNvPr id="19" name="Rectangle 18">
                <a:extLst>
                  <a:ext uri="{FF2B5EF4-FFF2-40B4-BE49-F238E27FC236}">
                    <a16:creationId xmlns:a16="http://schemas.microsoft.com/office/drawing/2014/main" xmlns="" id="{2D0C2F7A-3A1D-604E-9E32-7CFA20313BFE}"/>
                  </a:ext>
                </a:extLst>
              </p:cNvPr>
              <p:cNvSpPr/>
              <p:nvPr/>
            </p:nvSpPr>
            <p:spPr>
              <a:xfrm>
                <a:off x="3047200" y="5712245"/>
                <a:ext cx="2379177" cy="507575"/>
              </a:xfrm>
              <a:prstGeom prst="rect">
                <a:avLst/>
              </a:prstGeom>
            </p:spPr>
            <p:txBody>
              <a:bodyPr wrap="none">
                <a:spAutoFit/>
              </a:bodyPr>
              <a:lstStyle/>
              <a:p>
                <a:pPr>
                  <a:lnSpc>
                    <a:spcPct val="150000"/>
                  </a:lnSpc>
                </a:pPr>
                <a:r>
                  <a:rPr lang="en-US" sz="20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Storage Optimized</a:t>
                </a:r>
              </a:p>
            </p:txBody>
          </p:sp>
        </p:grpSp>
        <p:sp>
          <p:nvSpPr>
            <p:cNvPr id="36" name="Rectangle 35">
              <a:extLst>
                <a:ext uri="{FF2B5EF4-FFF2-40B4-BE49-F238E27FC236}">
                  <a16:creationId xmlns:a16="http://schemas.microsoft.com/office/drawing/2014/main" xmlns="" id="{5E042FE4-B472-9441-A9CB-D5298E1D6123}"/>
                </a:ext>
              </a:extLst>
            </p:cNvPr>
            <p:cNvSpPr/>
            <p:nvPr/>
          </p:nvSpPr>
          <p:spPr>
            <a:xfrm>
              <a:off x="6095472" y="1858652"/>
              <a:ext cx="4376519" cy="369332"/>
            </a:xfrm>
            <a:prstGeom prst="rect">
              <a:avLst/>
            </a:prstGeom>
          </p:spPr>
          <p:txBody>
            <a:bodyPr wrap="none">
              <a:spAutoFit/>
            </a:bodyPr>
            <a:lstStyle/>
            <a:p>
              <a:r>
                <a:rPr lang="en-US" sz="1800">
                  <a:solidFill>
                    <a:srgbClr val="0070C0"/>
                  </a:solidFill>
                  <a:latin typeface="Amazon Ember" panose="020B0603020204020204" pitchFamily="34" charset="0"/>
                  <a:ea typeface="Amazon Ember" panose="020B0603020204020204" pitchFamily="34" charset="0"/>
                  <a:cs typeface="Amazon Ember" panose="020B0603020204020204" pitchFamily="34" charset="0"/>
                </a:rPr>
                <a:t>A1, T3, T3a, T2, M6g, M5, M5a, M5n, M4</a:t>
              </a:r>
              <a:endParaRPr lang="en-US">
                <a:solidFill>
                  <a:srgbClr val="0070C0"/>
                </a:solidFill>
              </a:endParaRPr>
            </a:p>
          </p:txBody>
        </p:sp>
        <p:sp>
          <p:nvSpPr>
            <p:cNvPr id="37" name="Rectangle 36">
              <a:extLst>
                <a:ext uri="{FF2B5EF4-FFF2-40B4-BE49-F238E27FC236}">
                  <a16:creationId xmlns:a16="http://schemas.microsoft.com/office/drawing/2014/main" xmlns="" id="{AF3EB4A5-DCA5-3746-B739-8CEB25FADD32}"/>
                </a:ext>
              </a:extLst>
            </p:cNvPr>
            <p:cNvSpPr/>
            <p:nvPr/>
          </p:nvSpPr>
          <p:spPr>
            <a:xfrm>
              <a:off x="6095472" y="2798909"/>
              <a:ext cx="1380506" cy="369332"/>
            </a:xfrm>
            <a:prstGeom prst="rect">
              <a:avLst/>
            </a:prstGeom>
          </p:spPr>
          <p:txBody>
            <a:bodyPr wrap="none">
              <a:spAutoFit/>
            </a:bodyPr>
            <a:lstStyle/>
            <a:p>
              <a:r>
                <a:rPr lang="en-US" sz="1800">
                  <a:solidFill>
                    <a:srgbClr val="0070C0"/>
                  </a:solidFill>
                  <a:latin typeface="Amazon Ember" panose="020B0603020204020204" pitchFamily="34" charset="0"/>
                  <a:ea typeface="Amazon Ember" panose="020B0603020204020204" pitchFamily="34" charset="0"/>
                  <a:cs typeface="Amazon Ember" panose="020B0603020204020204" pitchFamily="34" charset="0"/>
                </a:rPr>
                <a:t>C5, C5n, C4</a:t>
              </a:r>
              <a:endParaRPr lang="en-US">
                <a:solidFill>
                  <a:srgbClr val="0070C0"/>
                </a:solidFill>
              </a:endParaRPr>
            </a:p>
          </p:txBody>
        </p:sp>
        <p:sp>
          <p:nvSpPr>
            <p:cNvPr id="38" name="Rectangle 37">
              <a:extLst>
                <a:ext uri="{FF2B5EF4-FFF2-40B4-BE49-F238E27FC236}">
                  <a16:creationId xmlns:a16="http://schemas.microsoft.com/office/drawing/2014/main" xmlns="" id="{333CFA6E-0D3C-544A-8EA6-BF20CFB5EF29}"/>
                </a:ext>
              </a:extLst>
            </p:cNvPr>
            <p:cNvSpPr/>
            <p:nvPr/>
          </p:nvSpPr>
          <p:spPr>
            <a:xfrm>
              <a:off x="6095472" y="3746382"/>
              <a:ext cx="4564070" cy="369332"/>
            </a:xfrm>
            <a:prstGeom prst="rect">
              <a:avLst/>
            </a:prstGeom>
          </p:spPr>
          <p:txBody>
            <a:bodyPr wrap="none">
              <a:spAutoFit/>
            </a:bodyPr>
            <a:lstStyle/>
            <a:p>
              <a:r>
                <a:rPr lang="en-US" sz="1800">
                  <a:solidFill>
                    <a:srgbClr val="0070C0"/>
                  </a:solidFill>
                  <a:latin typeface="Amazon Ember" panose="020B0603020204020204" pitchFamily="34" charset="0"/>
                  <a:ea typeface="Amazon Ember" panose="020B0603020204020204" pitchFamily="34" charset="0"/>
                  <a:cs typeface="Amazon Ember" panose="020B0603020204020204" pitchFamily="34" charset="0"/>
                </a:rPr>
                <a:t>R5, R5a, R5n, R4, X1e, X1, High Mem., z1d</a:t>
              </a:r>
              <a:endParaRPr lang="en-US">
                <a:solidFill>
                  <a:srgbClr val="0070C0"/>
                </a:solidFill>
              </a:endParaRPr>
            </a:p>
          </p:txBody>
        </p:sp>
        <p:sp>
          <p:nvSpPr>
            <p:cNvPr id="39" name="Rectangle 38">
              <a:extLst>
                <a:ext uri="{FF2B5EF4-FFF2-40B4-BE49-F238E27FC236}">
                  <a16:creationId xmlns:a16="http://schemas.microsoft.com/office/drawing/2014/main" xmlns="" id="{1712D6EA-DA6B-E549-8FC1-F0E08597F33B}"/>
                </a:ext>
              </a:extLst>
            </p:cNvPr>
            <p:cNvSpPr/>
            <p:nvPr/>
          </p:nvSpPr>
          <p:spPr>
            <a:xfrm>
              <a:off x="6095472" y="4714380"/>
              <a:ext cx="2589170" cy="369332"/>
            </a:xfrm>
            <a:prstGeom prst="rect">
              <a:avLst/>
            </a:prstGeom>
          </p:spPr>
          <p:txBody>
            <a:bodyPr wrap="none">
              <a:spAutoFit/>
            </a:bodyPr>
            <a:lstStyle/>
            <a:p>
              <a:r>
                <a:rPr lang="en-US" sz="1800">
                  <a:solidFill>
                    <a:srgbClr val="0070C0"/>
                  </a:solidFill>
                  <a:latin typeface="Amazon Ember" panose="020B0603020204020204" pitchFamily="34" charset="0"/>
                  <a:ea typeface="Amazon Ember" panose="020B0603020204020204" pitchFamily="34" charset="0"/>
                  <a:cs typeface="Amazon Ember" panose="020B0603020204020204" pitchFamily="34" charset="0"/>
                </a:rPr>
                <a:t>P3, P2, Inf1, G4, G3, F1</a:t>
              </a:r>
              <a:endParaRPr lang="en-US">
                <a:solidFill>
                  <a:srgbClr val="0070C0"/>
                </a:solidFill>
              </a:endParaRPr>
            </a:p>
          </p:txBody>
        </p:sp>
        <p:sp>
          <p:nvSpPr>
            <p:cNvPr id="40" name="Rectangle 39">
              <a:extLst>
                <a:ext uri="{FF2B5EF4-FFF2-40B4-BE49-F238E27FC236}">
                  <a16:creationId xmlns:a16="http://schemas.microsoft.com/office/drawing/2014/main" xmlns="" id="{85DC4F36-6CFD-7A40-A721-6D92629BEB06}"/>
                </a:ext>
              </a:extLst>
            </p:cNvPr>
            <p:cNvSpPr/>
            <p:nvPr/>
          </p:nvSpPr>
          <p:spPr>
            <a:xfrm>
              <a:off x="6095472" y="5646454"/>
              <a:ext cx="1789272" cy="369332"/>
            </a:xfrm>
            <a:prstGeom prst="rect">
              <a:avLst/>
            </a:prstGeom>
          </p:spPr>
          <p:txBody>
            <a:bodyPr wrap="none">
              <a:spAutoFit/>
            </a:bodyPr>
            <a:lstStyle/>
            <a:p>
              <a:r>
                <a:rPr lang="en-US" sz="1800">
                  <a:solidFill>
                    <a:srgbClr val="0070C0"/>
                  </a:solidFill>
                  <a:latin typeface="Amazon Ember" panose="020B0603020204020204" pitchFamily="34" charset="0"/>
                  <a:ea typeface="Amazon Ember" panose="020B0603020204020204" pitchFamily="34" charset="0"/>
                  <a:cs typeface="Amazon Ember" panose="020B0603020204020204" pitchFamily="34" charset="0"/>
                </a:rPr>
                <a:t>I3, I3en, D2, H1</a:t>
              </a:r>
              <a:endParaRPr lang="en-US">
                <a:solidFill>
                  <a:srgbClr val="0070C0"/>
                </a:solidFill>
              </a:endParaRPr>
            </a:p>
          </p:txBody>
        </p:sp>
      </p:grpSp>
    </p:spTree>
    <p:extLst>
      <p:ext uri="{BB962C8B-B14F-4D97-AF65-F5344CB8AC3E}">
        <p14:creationId xmlns:p14="http://schemas.microsoft.com/office/powerpoint/2010/main" val="8114300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EC2 – General Purpose Example</a:t>
            </a:r>
          </a:p>
        </p:txBody>
      </p:sp>
      <p:pic>
        <p:nvPicPr>
          <p:cNvPr id="11" name="Picture 10">
            <a:extLst>
              <a:ext uri="{FF2B5EF4-FFF2-40B4-BE49-F238E27FC236}">
                <a16:creationId xmlns:a16="http://schemas.microsoft.com/office/drawing/2014/main" xmlns="" id="{B1740167-432B-3845-B51E-1649F4099AED}"/>
              </a:ext>
            </a:extLst>
          </p:cNvPr>
          <p:cNvPicPr>
            <a:picLocks noChangeAspect="1"/>
          </p:cNvPicPr>
          <p:nvPr/>
        </p:nvPicPr>
        <p:blipFill>
          <a:blip r:embed="rId3"/>
          <a:stretch>
            <a:fillRect/>
          </a:stretch>
        </p:blipFill>
        <p:spPr>
          <a:xfrm>
            <a:off x="1229708" y="2217407"/>
            <a:ext cx="2059093" cy="1519209"/>
          </a:xfrm>
          <a:prstGeom prst="rect">
            <a:avLst/>
          </a:prstGeom>
        </p:spPr>
      </p:pic>
      <p:sp>
        <p:nvSpPr>
          <p:cNvPr id="14" name="Rectangle 13">
            <a:extLst>
              <a:ext uri="{FF2B5EF4-FFF2-40B4-BE49-F238E27FC236}">
                <a16:creationId xmlns:a16="http://schemas.microsoft.com/office/drawing/2014/main" xmlns="" id="{185C262A-435A-584F-BE90-29D692E49E25}"/>
              </a:ext>
            </a:extLst>
          </p:cNvPr>
          <p:cNvSpPr/>
          <p:nvPr/>
        </p:nvSpPr>
        <p:spPr>
          <a:xfrm>
            <a:off x="513311" y="3890396"/>
            <a:ext cx="3622121" cy="646331"/>
          </a:xfrm>
          <a:prstGeom prst="rect">
            <a:avLst/>
          </a:prstGeom>
        </p:spPr>
        <p:txBody>
          <a:bodyPr wrap="square">
            <a:spAutoFit/>
          </a:bodyPr>
          <a:lstStyle/>
          <a:p>
            <a:pPr algn="ctr"/>
            <a:r>
              <a:rPr lang="en-US" sz="1800">
                <a:latin typeface="Amazon Ember Light" panose="020B0403020204020204" pitchFamily="34" charset="0"/>
                <a:ea typeface="Amazon Ember Light" panose="020B0403020204020204" pitchFamily="34" charset="0"/>
                <a:cs typeface="Amazon Ember Light" panose="020B0403020204020204" pitchFamily="34" charset="0"/>
              </a:rPr>
              <a:t>Good for burstable workloads like website and web applications</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graphicFrame>
        <p:nvGraphicFramePr>
          <p:cNvPr id="7" name="Table 6">
            <a:extLst>
              <a:ext uri="{FF2B5EF4-FFF2-40B4-BE49-F238E27FC236}">
                <a16:creationId xmlns:a16="http://schemas.microsoft.com/office/drawing/2014/main" xmlns="" id="{CA5AC69F-50CF-6B4C-A633-1915E8015ABA}"/>
              </a:ext>
            </a:extLst>
          </p:cNvPr>
          <p:cNvGraphicFramePr>
            <a:graphicFrameLocks noGrp="1"/>
          </p:cNvGraphicFramePr>
          <p:nvPr>
            <p:extLst>
              <p:ext uri="{D42A27DB-BD31-4B8C-83A1-F6EECF244321}">
                <p14:modId xmlns:p14="http://schemas.microsoft.com/office/powerpoint/2010/main" val="1440996446"/>
              </p:ext>
            </p:extLst>
          </p:nvPr>
        </p:nvGraphicFramePr>
        <p:xfrm>
          <a:off x="4643438" y="1810333"/>
          <a:ext cx="7015162" cy="4351338"/>
        </p:xfrm>
        <a:graphic>
          <a:graphicData uri="http://schemas.openxmlformats.org/drawingml/2006/table">
            <a:tbl>
              <a:tblPr/>
              <a:tblGrid>
                <a:gridCol w="1007405">
                  <a:extLst>
                    <a:ext uri="{9D8B030D-6E8A-4147-A177-3AD203B41FA5}">
                      <a16:colId xmlns:a16="http://schemas.microsoft.com/office/drawing/2014/main" xmlns="" val="128153120"/>
                    </a:ext>
                  </a:extLst>
                </a:gridCol>
                <a:gridCol w="578507">
                  <a:extLst>
                    <a:ext uri="{9D8B030D-6E8A-4147-A177-3AD203B41FA5}">
                      <a16:colId xmlns:a16="http://schemas.microsoft.com/office/drawing/2014/main" xmlns="" val="1961907996"/>
                    </a:ext>
                  </a:extLst>
                </a:gridCol>
                <a:gridCol w="1608816">
                  <a:extLst>
                    <a:ext uri="{9D8B030D-6E8A-4147-A177-3AD203B41FA5}">
                      <a16:colId xmlns:a16="http://schemas.microsoft.com/office/drawing/2014/main" xmlns="" val="2576448644"/>
                    </a:ext>
                  </a:extLst>
                </a:gridCol>
                <a:gridCol w="1747265">
                  <a:extLst>
                    <a:ext uri="{9D8B030D-6E8A-4147-A177-3AD203B41FA5}">
                      <a16:colId xmlns:a16="http://schemas.microsoft.com/office/drawing/2014/main" xmlns="" val="3795582664"/>
                    </a:ext>
                  </a:extLst>
                </a:gridCol>
                <a:gridCol w="1230813">
                  <a:extLst>
                    <a:ext uri="{9D8B030D-6E8A-4147-A177-3AD203B41FA5}">
                      <a16:colId xmlns:a16="http://schemas.microsoft.com/office/drawing/2014/main" xmlns="" val="2912205042"/>
                    </a:ext>
                  </a:extLst>
                </a:gridCol>
                <a:gridCol w="842356">
                  <a:extLst>
                    <a:ext uri="{9D8B030D-6E8A-4147-A177-3AD203B41FA5}">
                      <a16:colId xmlns:a16="http://schemas.microsoft.com/office/drawing/2014/main" xmlns="" val="1790498054"/>
                    </a:ext>
                  </a:extLst>
                </a:gridCol>
              </a:tblGrid>
              <a:tr h="50952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Model</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vCPU</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Baseline Performance/vCPU</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CPU Credits / Hour</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Mem (GiB)</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 Storage</a:t>
                      </a:r>
                    </a:p>
                  </a:txBody>
                  <a:tcPr marL="25487" marR="25487" marT="25487" marB="25487" anchor="ctr">
                    <a:lnL>
                      <a:noFill/>
                    </a:lnL>
                    <a:lnR>
                      <a:noFill/>
                    </a:lnR>
                    <a:lnT>
                      <a:noFill/>
                    </a:lnT>
                    <a:lnB>
                      <a:noFill/>
                    </a:lnB>
                  </a:tcPr>
                </a:tc>
                <a:extLst>
                  <a:ext uri="{0D108BD9-81ED-4DB2-BD59-A6C34878D82A}">
                    <a16:rowId xmlns:a16="http://schemas.microsoft.com/office/drawing/2014/main" xmlns="" val="1364619955"/>
                  </a:ext>
                </a:extLst>
              </a:tr>
              <a:tr h="50952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t3.nano</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5%</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6</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0.5</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5487" anchor="ctr">
                    <a:lnL>
                      <a:noFill/>
                    </a:lnL>
                    <a:lnR>
                      <a:noFill/>
                    </a:lnR>
                    <a:lnT>
                      <a:noFill/>
                    </a:lnT>
                    <a:lnB>
                      <a:noFill/>
                    </a:lnB>
                    <a:solidFill>
                      <a:srgbClr val="F7F7F7"/>
                    </a:solidFill>
                  </a:tcPr>
                </a:tc>
                <a:extLst>
                  <a:ext uri="{0D108BD9-81ED-4DB2-BD59-A6C34878D82A}">
                    <a16:rowId xmlns:a16="http://schemas.microsoft.com/office/drawing/2014/main" xmlns="" val="283531971"/>
                  </a:ext>
                </a:extLst>
              </a:tr>
              <a:tr h="60123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t3.micro</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10%</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12</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tcPr>
                </a:tc>
                <a:extLst>
                  <a:ext uri="{0D108BD9-81ED-4DB2-BD59-A6C34878D82A}">
                    <a16:rowId xmlns:a16="http://schemas.microsoft.com/office/drawing/2014/main" xmlns="" val="1428432727"/>
                  </a:ext>
                </a:extLst>
              </a:tr>
              <a:tr h="60123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t3.small</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20%</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24</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extLst>
                  <a:ext uri="{0D108BD9-81ED-4DB2-BD59-A6C34878D82A}">
                    <a16:rowId xmlns:a16="http://schemas.microsoft.com/office/drawing/2014/main" xmlns="" val="1520705167"/>
                  </a:ext>
                </a:extLst>
              </a:tr>
              <a:tr h="60123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t3.medium</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20%</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24</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tcPr>
                </a:tc>
                <a:extLst>
                  <a:ext uri="{0D108BD9-81ED-4DB2-BD59-A6C34878D82A}">
                    <a16:rowId xmlns:a16="http://schemas.microsoft.com/office/drawing/2014/main" xmlns="" val="745104067"/>
                  </a:ext>
                </a:extLst>
              </a:tr>
              <a:tr h="50952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t3.large</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30%</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36</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5487" anchor="ctr">
                    <a:lnL>
                      <a:noFill/>
                    </a:lnL>
                    <a:lnR>
                      <a:noFill/>
                    </a:lnR>
                    <a:lnT>
                      <a:noFill/>
                    </a:lnT>
                    <a:lnB>
                      <a:noFill/>
                    </a:lnB>
                    <a:solidFill>
                      <a:srgbClr val="F7F7F7"/>
                    </a:solidFill>
                  </a:tcPr>
                </a:tc>
                <a:extLst>
                  <a:ext uri="{0D108BD9-81ED-4DB2-BD59-A6C34878D82A}">
                    <a16:rowId xmlns:a16="http://schemas.microsoft.com/office/drawing/2014/main" xmlns="" val="2385989960"/>
                  </a:ext>
                </a:extLst>
              </a:tr>
              <a:tr h="50952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t3.xlarge</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40%</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96</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16</a:t>
                      </a:r>
                    </a:p>
                  </a:txBody>
                  <a:tcPr marL="25487" marR="25487" marT="25487" marB="25487"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5487" anchor="ctr">
                    <a:lnL>
                      <a:noFill/>
                    </a:lnL>
                    <a:lnR>
                      <a:noFill/>
                    </a:lnR>
                    <a:lnT>
                      <a:noFill/>
                    </a:lnT>
                    <a:lnB>
                      <a:noFill/>
                    </a:lnB>
                  </a:tcPr>
                </a:tc>
                <a:extLst>
                  <a:ext uri="{0D108BD9-81ED-4DB2-BD59-A6C34878D82A}">
                    <a16:rowId xmlns:a16="http://schemas.microsoft.com/office/drawing/2014/main" xmlns="" val="1563832510"/>
                  </a:ext>
                </a:extLst>
              </a:tr>
              <a:tr h="50952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t3.2xlarge</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40%</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192</a:t>
                      </a:r>
                      <a:br>
                        <a:rPr lang="en-US" sz="1400">
                          <a:effectLst/>
                          <a:latin typeface="Amazon Ember" panose="020B0603020204020204" pitchFamily="34" charset="0"/>
                          <a:ea typeface="Amazon Ember" panose="020B0603020204020204" pitchFamily="34" charset="0"/>
                          <a:cs typeface="Amazon Ember" panose="020B0603020204020204" pitchFamily="34" charset="0"/>
                        </a:rPr>
                      </a:b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32</a:t>
                      </a:r>
                    </a:p>
                  </a:txBody>
                  <a:tcPr marL="25487" marR="25487" marT="25487" marB="25487"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5487" anchor="ctr">
                    <a:lnL>
                      <a:noFill/>
                    </a:lnL>
                    <a:lnR>
                      <a:noFill/>
                    </a:lnR>
                    <a:lnT>
                      <a:noFill/>
                    </a:lnT>
                    <a:lnB>
                      <a:noFill/>
                    </a:lnB>
                    <a:solidFill>
                      <a:srgbClr val="F7F7F7"/>
                    </a:solidFill>
                  </a:tcPr>
                </a:tc>
                <a:extLst>
                  <a:ext uri="{0D108BD9-81ED-4DB2-BD59-A6C34878D82A}">
                    <a16:rowId xmlns:a16="http://schemas.microsoft.com/office/drawing/2014/main" xmlns="" val="3730849886"/>
                  </a:ext>
                </a:extLst>
              </a:tr>
            </a:tbl>
          </a:graphicData>
        </a:graphic>
      </p:graphicFrame>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4746" y="4969700"/>
            <a:ext cx="1130494" cy="1130494"/>
          </a:xfrm>
          <a:prstGeom prst="rect">
            <a:avLst/>
          </a:prstGeom>
        </p:spPr>
      </p:pic>
    </p:spTree>
    <p:extLst>
      <p:ext uri="{BB962C8B-B14F-4D97-AF65-F5344CB8AC3E}">
        <p14:creationId xmlns:p14="http://schemas.microsoft.com/office/powerpoint/2010/main" val="18257991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fontScale="90000"/>
          </a:bodyPr>
          <a:lstStyle/>
          <a:p>
            <a:r>
              <a:rPr lang="en-US"/>
              <a:t>EC2 – Compute Optimized Example</a:t>
            </a:r>
          </a:p>
        </p:txBody>
      </p:sp>
      <p:pic>
        <p:nvPicPr>
          <p:cNvPr id="7" name="Picture 6">
            <a:extLst>
              <a:ext uri="{FF2B5EF4-FFF2-40B4-BE49-F238E27FC236}">
                <a16:creationId xmlns:a16="http://schemas.microsoft.com/office/drawing/2014/main" xmlns="" id="{290E4303-3A93-904B-9826-D17F1F0FD418}"/>
              </a:ext>
            </a:extLst>
          </p:cNvPr>
          <p:cNvPicPr>
            <a:picLocks noChangeAspect="1"/>
          </p:cNvPicPr>
          <p:nvPr/>
        </p:nvPicPr>
        <p:blipFill>
          <a:blip r:embed="rId3"/>
          <a:stretch>
            <a:fillRect/>
          </a:stretch>
        </p:blipFill>
        <p:spPr>
          <a:xfrm>
            <a:off x="1339066" y="2204185"/>
            <a:ext cx="1653145" cy="1653145"/>
          </a:xfrm>
          <a:prstGeom prst="rect">
            <a:avLst/>
          </a:prstGeom>
        </p:spPr>
      </p:pic>
      <p:sp>
        <p:nvSpPr>
          <p:cNvPr id="9" name="Rectangle 8">
            <a:extLst>
              <a:ext uri="{FF2B5EF4-FFF2-40B4-BE49-F238E27FC236}">
                <a16:creationId xmlns:a16="http://schemas.microsoft.com/office/drawing/2014/main" xmlns="" id="{84366498-B3AA-AA4C-997A-D1E9529CA483}"/>
              </a:ext>
            </a:extLst>
          </p:cNvPr>
          <p:cNvSpPr/>
          <p:nvPr/>
        </p:nvSpPr>
        <p:spPr>
          <a:xfrm>
            <a:off x="532491" y="3918157"/>
            <a:ext cx="3294087" cy="646331"/>
          </a:xfrm>
          <a:prstGeom prst="rect">
            <a:avLst/>
          </a:prstGeom>
        </p:spPr>
        <p:txBody>
          <a:bodyPr wrap="square">
            <a:spAutoFit/>
          </a:bodyPr>
          <a:lstStyle/>
          <a:p>
            <a:pPr algn="ctr"/>
            <a:r>
              <a:rPr lang="en-US" sz="1800">
                <a:latin typeface="Amazon Ember Light" panose="020B0403020204020204" pitchFamily="34" charset="0"/>
                <a:ea typeface="Amazon Ember Light" panose="020B0403020204020204" pitchFamily="34" charset="0"/>
                <a:cs typeface="Amazon Ember Light" panose="020B0403020204020204" pitchFamily="34" charset="0"/>
              </a:rPr>
              <a:t>Optimized for </a:t>
            </a:r>
            <a:r>
              <a:rPr lang="en-US" sz="18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compute-intensive</a:t>
            </a:r>
            <a:r>
              <a:rPr lang="en-US" sz="1800">
                <a:latin typeface="Amazon Ember Light" panose="020B0403020204020204" pitchFamily="34" charset="0"/>
                <a:ea typeface="Amazon Ember Light" panose="020B0403020204020204" pitchFamily="34" charset="0"/>
                <a:cs typeface="Amazon Ember Light" panose="020B0403020204020204" pitchFamily="34" charset="0"/>
              </a:rPr>
              <a:t> workloads</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graphicFrame>
        <p:nvGraphicFramePr>
          <p:cNvPr id="8" name="Table 7">
            <a:extLst>
              <a:ext uri="{FF2B5EF4-FFF2-40B4-BE49-F238E27FC236}">
                <a16:creationId xmlns:a16="http://schemas.microsoft.com/office/drawing/2014/main" xmlns="" id="{BC14D43B-4B96-6643-862E-02659F799ED7}"/>
              </a:ext>
            </a:extLst>
          </p:cNvPr>
          <p:cNvGraphicFramePr>
            <a:graphicFrameLocks noGrp="1"/>
          </p:cNvGraphicFramePr>
          <p:nvPr>
            <p:extLst>
              <p:ext uri="{D42A27DB-BD31-4B8C-83A1-F6EECF244321}">
                <p14:modId xmlns:p14="http://schemas.microsoft.com/office/powerpoint/2010/main" val="711222020"/>
              </p:ext>
            </p:extLst>
          </p:nvPr>
        </p:nvGraphicFramePr>
        <p:xfrm>
          <a:off x="4907916" y="1970788"/>
          <a:ext cx="6000139" cy="4055206"/>
        </p:xfrm>
        <a:graphic>
          <a:graphicData uri="http://schemas.openxmlformats.org/drawingml/2006/table">
            <a:tbl>
              <a:tblPr/>
              <a:tblGrid>
                <a:gridCol w="1134698">
                  <a:extLst>
                    <a:ext uri="{9D8B030D-6E8A-4147-A177-3AD203B41FA5}">
                      <a16:colId xmlns:a16="http://schemas.microsoft.com/office/drawing/2014/main" xmlns="" val="2377991040"/>
                    </a:ext>
                  </a:extLst>
                </a:gridCol>
                <a:gridCol w="588412">
                  <a:extLst>
                    <a:ext uri="{9D8B030D-6E8A-4147-A177-3AD203B41FA5}">
                      <a16:colId xmlns:a16="http://schemas.microsoft.com/office/drawing/2014/main" xmlns="" val="1862282272"/>
                    </a:ext>
                  </a:extLst>
                </a:gridCol>
                <a:gridCol w="931653">
                  <a:extLst>
                    <a:ext uri="{9D8B030D-6E8A-4147-A177-3AD203B41FA5}">
                      <a16:colId xmlns:a16="http://schemas.microsoft.com/office/drawing/2014/main" xmlns="" val="474045981"/>
                    </a:ext>
                  </a:extLst>
                </a:gridCol>
                <a:gridCol w="1224951">
                  <a:extLst>
                    <a:ext uri="{9D8B030D-6E8A-4147-A177-3AD203B41FA5}">
                      <a16:colId xmlns:a16="http://schemas.microsoft.com/office/drawing/2014/main" xmlns="" val="64441900"/>
                    </a:ext>
                  </a:extLst>
                </a:gridCol>
                <a:gridCol w="2120425">
                  <a:extLst>
                    <a:ext uri="{9D8B030D-6E8A-4147-A177-3AD203B41FA5}">
                      <a16:colId xmlns:a16="http://schemas.microsoft.com/office/drawing/2014/main" xmlns="" val="2936334868"/>
                    </a:ext>
                  </a:extLst>
                </a:gridCol>
              </a:tblGrid>
              <a:tr h="571216">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Model</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vCPU</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Mem (GiB)</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Storage</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 Bandwidth (Mbps)</a:t>
                      </a:r>
                    </a:p>
                  </a:txBody>
                  <a:tcPr marL="26938" marR="26938" marT="26938" marB="26938" anchor="ctr">
                    <a:lnL>
                      <a:noFill/>
                    </a:lnL>
                    <a:lnR>
                      <a:noFill/>
                    </a:lnR>
                    <a:lnT>
                      <a:noFill/>
                    </a:lnT>
                    <a:lnB>
                      <a:noFill/>
                    </a:lnB>
                  </a:tcPr>
                </a:tc>
                <a:extLst>
                  <a:ext uri="{0D108BD9-81ED-4DB2-BD59-A6C34878D82A}">
                    <a16:rowId xmlns:a16="http://schemas.microsoft.com/office/drawing/2014/main" xmlns="" val="2611746023"/>
                  </a:ext>
                </a:extLst>
              </a:tr>
              <a:tr h="580665">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c5.large</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2</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4</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2,250</a:t>
                      </a:r>
                    </a:p>
                  </a:txBody>
                  <a:tcPr marL="26938" marR="26938" marT="26938" marB="26938" anchor="ctr">
                    <a:lnL>
                      <a:noFill/>
                    </a:lnL>
                    <a:lnR>
                      <a:noFill/>
                    </a:lnR>
                    <a:lnT>
                      <a:noFill/>
                    </a:lnT>
                    <a:lnB>
                      <a:noFill/>
                    </a:lnB>
                    <a:solidFill>
                      <a:srgbClr val="F7F7F7"/>
                    </a:solidFill>
                  </a:tcPr>
                </a:tc>
                <a:extLst>
                  <a:ext uri="{0D108BD9-81ED-4DB2-BD59-A6C34878D82A}">
                    <a16:rowId xmlns:a16="http://schemas.microsoft.com/office/drawing/2014/main" xmlns="" val="42501733"/>
                  </a:ext>
                </a:extLst>
              </a:tr>
              <a:tr h="580665">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c5.xlarge</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4</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8</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2,250</a:t>
                      </a:r>
                    </a:p>
                  </a:txBody>
                  <a:tcPr marL="26938" marR="26938" marT="26938" marB="26938" anchor="ctr">
                    <a:lnL>
                      <a:noFill/>
                    </a:lnL>
                    <a:lnR>
                      <a:noFill/>
                    </a:lnR>
                    <a:lnT>
                      <a:noFill/>
                    </a:lnT>
                    <a:lnB>
                      <a:noFill/>
                    </a:lnB>
                  </a:tcPr>
                </a:tc>
                <a:extLst>
                  <a:ext uri="{0D108BD9-81ED-4DB2-BD59-A6C34878D82A}">
                    <a16:rowId xmlns:a16="http://schemas.microsoft.com/office/drawing/2014/main" xmlns="" val="2342128548"/>
                  </a:ext>
                </a:extLst>
              </a:tr>
              <a:tr h="580665">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c5.2xlarge</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8</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16</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2,250</a:t>
                      </a:r>
                    </a:p>
                  </a:txBody>
                  <a:tcPr marL="26938" marR="26938" marT="26938" marB="26938" anchor="ctr">
                    <a:lnL>
                      <a:noFill/>
                    </a:lnL>
                    <a:lnR>
                      <a:noFill/>
                    </a:lnR>
                    <a:lnT>
                      <a:noFill/>
                    </a:lnT>
                    <a:lnB>
                      <a:noFill/>
                    </a:lnB>
                    <a:solidFill>
                      <a:srgbClr val="F7F7F7"/>
                    </a:solidFill>
                  </a:tcPr>
                </a:tc>
                <a:extLst>
                  <a:ext uri="{0D108BD9-81ED-4DB2-BD59-A6C34878D82A}">
                    <a16:rowId xmlns:a16="http://schemas.microsoft.com/office/drawing/2014/main" xmlns="" val="3018301740"/>
                  </a:ext>
                </a:extLst>
              </a:tr>
              <a:tr h="580665">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c5.4xlarge</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16</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32</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2,250</a:t>
                      </a:r>
                      <a:br>
                        <a:rPr lang="en-US" sz="1400" b="0" i="0">
                          <a:effectLst/>
                          <a:latin typeface="Amazon Ember" panose="020B0603020204020204" pitchFamily="34" charset="0"/>
                          <a:ea typeface="Amazon Ember" panose="020B0603020204020204" pitchFamily="34" charset="0"/>
                          <a:cs typeface="Amazon Ember" panose="020B0603020204020204" pitchFamily="34" charset="0"/>
                        </a:rPr>
                      </a:br>
                      <a:endParaRPr lang="en-US" sz="1400" b="0" i="0">
                        <a:effectLst/>
                        <a:latin typeface="Amazon Ember" panose="020B0603020204020204" pitchFamily="34" charset="0"/>
                        <a:ea typeface="Amazon Ember" panose="020B0603020204020204" pitchFamily="34" charset="0"/>
                        <a:cs typeface="Amazon Ember" panose="020B0603020204020204" pitchFamily="34" charset="0"/>
                      </a:endParaRPr>
                    </a:p>
                  </a:txBody>
                  <a:tcPr marL="26938" marR="26938" marT="26938" marB="26938" anchor="ctr">
                    <a:lnL>
                      <a:noFill/>
                    </a:lnL>
                    <a:lnR>
                      <a:noFill/>
                    </a:lnR>
                    <a:lnT>
                      <a:noFill/>
                    </a:lnT>
                    <a:lnB>
                      <a:noFill/>
                    </a:lnB>
                  </a:tcPr>
                </a:tc>
                <a:extLst>
                  <a:ext uri="{0D108BD9-81ED-4DB2-BD59-A6C34878D82A}">
                    <a16:rowId xmlns:a16="http://schemas.microsoft.com/office/drawing/2014/main" xmlns="" val="421372803"/>
                  </a:ext>
                </a:extLst>
              </a:tr>
              <a:tr h="580665">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c5.9xlarge</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36</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72</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6938" marR="26938" marT="26938" marB="26938"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4,500</a:t>
                      </a:r>
                      <a:br>
                        <a:rPr lang="en-US" sz="1400" b="0" i="0">
                          <a:effectLst/>
                          <a:latin typeface="Amazon Ember" panose="020B0603020204020204" pitchFamily="34" charset="0"/>
                          <a:ea typeface="Amazon Ember" panose="020B0603020204020204" pitchFamily="34" charset="0"/>
                          <a:cs typeface="Amazon Ember" panose="020B0603020204020204" pitchFamily="34" charset="0"/>
                        </a:rPr>
                      </a:br>
                      <a:endParaRPr lang="en-US" sz="1400" b="0" i="0">
                        <a:effectLst/>
                        <a:latin typeface="Amazon Ember" panose="020B0603020204020204" pitchFamily="34" charset="0"/>
                        <a:ea typeface="Amazon Ember" panose="020B0603020204020204" pitchFamily="34" charset="0"/>
                        <a:cs typeface="Amazon Ember" panose="020B0603020204020204" pitchFamily="34" charset="0"/>
                      </a:endParaRPr>
                    </a:p>
                  </a:txBody>
                  <a:tcPr marL="26938" marR="26938" marT="26938" marB="26938" anchor="ctr">
                    <a:lnL>
                      <a:noFill/>
                    </a:lnL>
                    <a:lnR>
                      <a:noFill/>
                    </a:lnR>
                    <a:lnT>
                      <a:noFill/>
                    </a:lnT>
                    <a:lnB>
                      <a:noFill/>
                    </a:lnB>
                    <a:solidFill>
                      <a:srgbClr val="F7F7F7"/>
                    </a:solidFill>
                  </a:tcPr>
                </a:tc>
                <a:extLst>
                  <a:ext uri="{0D108BD9-81ED-4DB2-BD59-A6C34878D82A}">
                    <a16:rowId xmlns:a16="http://schemas.microsoft.com/office/drawing/2014/main" xmlns="" val="1665502153"/>
                  </a:ext>
                </a:extLst>
              </a:tr>
              <a:tr h="580665">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c5.18xlarge</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72</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144</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6938" marR="26938" marT="26938" marB="26938"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9,000</a:t>
                      </a:r>
                    </a:p>
                  </a:txBody>
                  <a:tcPr marL="26938" marR="26938" marT="26938" marB="26938" anchor="ctr">
                    <a:lnL>
                      <a:noFill/>
                    </a:lnL>
                    <a:lnR>
                      <a:noFill/>
                    </a:lnR>
                    <a:lnT>
                      <a:noFill/>
                    </a:lnT>
                    <a:lnB>
                      <a:noFill/>
                    </a:lnB>
                  </a:tcPr>
                </a:tc>
                <a:extLst>
                  <a:ext uri="{0D108BD9-81ED-4DB2-BD59-A6C34878D82A}">
                    <a16:rowId xmlns:a16="http://schemas.microsoft.com/office/drawing/2014/main" xmlns="" val="2592221763"/>
                  </a:ext>
                </a:extLst>
              </a:tr>
            </a:tbl>
          </a:graphicData>
        </a:graphic>
      </p:graphicFrame>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4746" y="4969700"/>
            <a:ext cx="1130494" cy="1130494"/>
          </a:xfrm>
          <a:prstGeom prst="rect">
            <a:avLst/>
          </a:prstGeom>
        </p:spPr>
      </p:pic>
    </p:spTree>
    <p:extLst>
      <p:ext uri="{BB962C8B-B14F-4D97-AF65-F5344CB8AC3E}">
        <p14:creationId xmlns:p14="http://schemas.microsoft.com/office/powerpoint/2010/main" val="30896760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EC2 – Memory Optimized Example</a:t>
            </a:r>
          </a:p>
        </p:txBody>
      </p:sp>
      <p:pic>
        <p:nvPicPr>
          <p:cNvPr id="7" name="Picture 6">
            <a:extLst>
              <a:ext uri="{FF2B5EF4-FFF2-40B4-BE49-F238E27FC236}">
                <a16:creationId xmlns:a16="http://schemas.microsoft.com/office/drawing/2014/main" xmlns="" id="{9D9B0905-FE66-CE4D-A841-2DDB3116DC06}"/>
              </a:ext>
            </a:extLst>
          </p:cNvPr>
          <p:cNvPicPr>
            <a:picLocks noChangeAspect="1"/>
          </p:cNvPicPr>
          <p:nvPr/>
        </p:nvPicPr>
        <p:blipFill>
          <a:blip r:embed="rId3"/>
          <a:stretch>
            <a:fillRect/>
          </a:stretch>
        </p:blipFill>
        <p:spPr>
          <a:xfrm>
            <a:off x="1386977" y="2147483"/>
            <a:ext cx="1586033" cy="1586033"/>
          </a:xfrm>
          <a:prstGeom prst="rect">
            <a:avLst/>
          </a:prstGeom>
        </p:spPr>
      </p:pic>
      <p:sp>
        <p:nvSpPr>
          <p:cNvPr id="10" name="Rectangle 9">
            <a:extLst>
              <a:ext uri="{FF2B5EF4-FFF2-40B4-BE49-F238E27FC236}">
                <a16:creationId xmlns:a16="http://schemas.microsoft.com/office/drawing/2014/main" xmlns="" id="{F2685A84-FCD3-7E46-8A59-B445767060A0}"/>
              </a:ext>
            </a:extLst>
          </p:cNvPr>
          <p:cNvSpPr/>
          <p:nvPr/>
        </p:nvSpPr>
        <p:spPr>
          <a:xfrm>
            <a:off x="535416" y="3735277"/>
            <a:ext cx="3294087" cy="923330"/>
          </a:xfrm>
          <a:prstGeom prst="rect">
            <a:avLst/>
          </a:prstGeom>
        </p:spPr>
        <p:txBody>
          <a:bodyPr wrap="square">
            <a:spAutoFit/>
          </a:bodyPr>
          <a:lstStyle/>
          <a:p>
            <a:pPr algn="ctr"/>
            <a:r>
              <a:rPr lang="en-US" sz="1800">
                <a:latin typeface="Amazon Ember Light" panose="020B0403020204020204" pitchFamily="34" charset="0"/>
                <a:ea typeface="Amazon Ember Light" panose="020B0403020204020204" pitchFamily="34" charset="0"/>
                <a:cs typeface="Amazon Ember Light" panose="020B0403020204020204" pitchFamily="34" charset="0"/>
              </a:rPr>
              <a:t>Memory heavy applications or when you need more </a:t>
            </a:r>
            <a:r>
              <a:rPr lang="en-US" sz="18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RAM</a:t>
            </a:r>
            <a:r>
              <a:rPr lang="en-US" sz="1800">
                <a:latin typeface="Amazon Ember Light" panose="020B0403020204020204" pitchFamily="34" charset="0"/>
                <a:ea typeface="Amazon Ember Light" panose="020B0403020204020204" pitchFamily="34" charset="0"/>
                <a:cs typeface="Amazon Ember Light" panose="020B0403020204020204" pitchFamily="34" charset="0"/>
              </a:rPr>
              <a:t> than CPU</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graphicFrame>
        <p:nvGraphicFramePr>
          <p:cNvPr id="4" name="Table 3">
            <a:extLst>
              <a:ext uri="{FF2B5EF4-FFF2-40B4-BE49-F238E27FC236}">
                <a16:creationId xmlns:a16="http://schemas.microsoft.com/office/drawing/2014/main" xmlns="" id="{3768F58B-BCAF-6E46-A23C-38F9E1CCFB21}"/>
              </a:ext>
            </a:extLst>
          </p:cNvPr>
          <p:cNvGraphicFramePr>
            <a:graphicFrameLocks noGrp="1"/>
          </p:cNvGraphicFramePr>
          <p:nvPr>
            <p:extLst>
              <p:ext uri="{D42A27DB-BD31-4B8C-83A1-F6EECF244321}">
                <p14:modId xmlns:p14="http://schemas.microsoft.com/office/powerpoint/2010/main" val="3599291236"/>
              </p:ext>
            </p:extLst>
          </p:nvPr>
        </p:nvGraphicFramePr>
        <p:xfrm>
          <a:off x="4302178" y="1743722"/>
          <a:ext cx="7270229" cy="3726629"/>
        </p:xfrm>
        <a:graphic>
          <a:graphicData uri="http://schemas.openxmlformats.org/drawingml/2006/table">
            <a:tbl>
              <a:tblPr/>
              <a:tblGrid>
                <a:gridCol w="1090535">
                  <a:extLst>
                    <a:ext uri="{9D8B030D-6E8A-4147-A177-3AD203B41FA5}">
                      <a16:colId xmlns:a16="http://schemas.microsoft.com/office/drawing/2014/main" xmlns="" val="761394421"/>
                    </a:ext>
                  </a:extLst>
                </a:gridCol>
                <a:gridCol w="739734">
                  <a:extLst>
                    <a:ext uri="{9D8B030D-6E8A-4147-A177-3AD203B41FA5}">
                      <a16:colId xmlns:a16="http://schemas.microsoft.com/office/drawing/2014/main" xmlns="" val="3083916646"/>
                    </a:ext>
                  </a:extLst>
                </a:gridCol>
                <a:gridCol w="960824">
                  <a:extLst>
                    <a:ext uri="{9D8B030D-6E8A-4147-A177-3AD203B41FA5}">
                      <a16:colId xmlns:a16="http://schemas.microsoft.com/office/drawing/2014/main" xmlns="" val="46816150"/>
                    </a:ext>
                  </a:extLst>
                </a:gridCol>
                <a:gridCol w="1314068">
                  <a:extLst>
                    <a:ext uri="{9D8B030D-6E8A-4147-A177-3AD203B41FA5}">
                      <a16:colId xmlns:a16="http://schemas.microsoft.com/office/drawing/2014/main" xmlns="" val="693146205"/>
                    </a:ext>
                  </a:extLst>
                </a:gridCol>
                <a:gridCol w="1667314">
                  <a:extLst>
                    <a:ext uri="{9D8B030D-6E8A-4147-A177-3AD203B41FA5}">
                      <a16:colId xmlns:a16="http://schemas.microsoft.com/office/drawing/2014/main" xmlns="" val="1402273309"/>
                    </a:ext>
                  </a:extLst>
                </a:gridCol>
                <a:gridCol w="1497754">
                  <a:extLst>
                    <a:ext uri="{9D8B030D-6E8A-4147-A177-3AD203B41FA5}">
                      <a16:colId xmlns:a16="http://schemas.microsoft.com/office/drawing/2014/main" xmlns="" val="2303034745"/>
                    </a:ext>
                  </a:extLst>
                </a:gridCol>
              </a:tblGrid>
              <a:tr h="939517">
                <a:tc>
                  <a:txBody>
                    <a:bodyPr/>
                    <a:lstStyle/>
                    <a:p>
                      <a:r>
                        <a:rPr lang="en-US" sz="1400" b="0" i="0">
                          <a:effectLst/>
                          <a:latin typeface="Amazon Ember" panose="020B0603020204020204" pitchFamily="34" charset="0"/>
                          <a:ea typeface="Amazon Ember" panose="020B0603020204020204" pitchFamily="34" charset="0"/>
                          <a:cs typeface="Amazon Ember" panose="020B0603020204020204" pitchFamily="34" charset="0"/>
                        </a:rPr>
                        <a:t>Model</a:t>
                      </a:r>
                    </a:p>
                  </a:txBody>
                  <a:tcPr marL="71594" marR="71594" marT="71594" marB="71594" anchor="ctr">
                    <a:lnL>
                      <a:noFill/>
                    </a:lnL>
                    <a:lnR>
                      <a:noFill/>
                    </a:lnR>
                    <a:lnT>
                      <a:noFill/>
                    </a:lnT>
                    <a:lnB>
                      <a:noFill/>
                    </a:lnB>
                  </a:tcPr>
                </a:tc>
                <a:tc>
                  <a:txBody>
                    <a:bodyPr/>
                    <a:lstStyle/>
                    <a:p>
                      <a:r>
                        <a:rPr lang="en-US" sz="1400" b="0" i="0">
                          <a:effectLst/>
                          <a:latin typeface="Amazon Ember" panose="020B0603020204020204" pitchFamily="34" charset="0"/>
                          <a:ea typeface="Amazon Ember" panose="020B0603020204020204" pitchFamily="34" charset="0"/>
                          <a:cs typeface="Amazon Ember" panose="020B0603020204020204" pitchFamily="34" charset="0"/>
                        </a:rPr>
                        <a:t>vCPU</a:t>
                      </a:r>
                    </a:p>
                  </a:txBody>
                  <a:tcPr marL="71594" marR="71594" marT="71594" marB="71594" anchor="ctr">
                    <a:lnL>
                      <a:noFill/>
                    </a:lnL>
                    <a:lnR>
                      <a:noFill/>
                    </a:lnR>
                    <a:lnT>
                      <a:noFill/>
                    </a:lnT>
                    <a:lnB>
                      <a:noFill/>
                    </a:lnB>
                  </a:tcPr>
                </a:tc>
                <a:tc>
                  <a:txBody>
                    <a:bodyPr/>
                    <a:lstStyle/>
                    <a:p>
                      <a:r>
                        <a:rPr lang="en-US" sz="1400" b="0" i="0">
                          <a:effectLst/>
                          <a:latin typeface="Amazon Ember" panose="020B0603020204020204" pitchFamily="34" charset="0"/>
                          <a:ea typeface="Amazon Ember" panose="020B0603020204020204" pitchFamily="34" charset="0"/>
                          <a:cs typeface="Amazon Ember" panose="020B0603020204020204" pitchFamily="34" charset="0"/>
                        </a:rPr>
                        <a:t>Mem (GiB)</a:t>
                      </a:r>
                    </a:p>
                  </a:txBody>
                  <a:tcPr marL="71594" marR="71594" marT="71594" marB="71594" anchor="ctr">
                    <a:lnL>
                      <a:noFill/>
                    </a:lnL>
                    <a:lnR>
                      <a:noFill/>
                    </a:lnR>
                    <a:lnT>
                      <a:noFill/>
                    </a:lnT>
                    <a:lnB>
                      <a:noFill/>
                    </a:lnB>
                  </a:tcPr>
                </a:tc>
                <a:tc>
                  <a:txBody>
                    <a:bodyPr/>
                    <a:lstStyle/>
                    <a:p>
                      <a:r>
                        <a:rPr lang="en-US" sz="1400" b="0" i="0">
                          <a:effectLst/>
                          <a:latin typeface="Amazon Ember" panose="020B0603020204020204" pitchFamily="34" charset="0"/>
                          <a:ea typeface="Amazon Ember" panose="020B0603020204020204" pitchFamily="34" charset="0"/>
                          <a:cs typeface="Amazon Ember" panose="020B0603020204020204" pitchFamily="34" charset="0"/>
                        </a:rPr>
                        <a:t>Storage (GiB)</a:t>
                      </a:r>
                    </a:p>
                  </a:txBody>
                  <a:tcPr marL="71594" marR="71594" marT="71594" marB="71594" anchor="ctr">
                    <a:lnL>
                      <a:noFill/>
                    </a:lnL>
                    <a:lnR>
                      <a:noFill/>
                    </a:lnR>
                    <a:lnT>
                      <a:noFill/>
                    </a:lnT>
                    <a:lnB>
                      <a:noFill/>
                    </a:lnB>
                  </a:tcPr>
                </a:tc>
                <a:tc>
                  <a:txBody>
                    <a:bodyPr/>
                    <a:lstStyle/>
                    <a:p>
                      <a:r>
                        <a:rPr lang="en-US" sz="1400" b="0" i="0">
                          <a:effectLst/>
                          <a:latin typeface="Amazon Ember" panose="020B0603020204020204" pitchFamily="34" charset="0"/>
                          <a:ea typeface="Amazon Ember" panose="020B0603020204020204" pitchFamily="34" charset="0"/>
                          <a:cs typeface="Amazon Ember" panose="020B0603020204020204" pitchFamily="34" charset="0"/>
                        </a:rPr>
                        <a:t>Dedicated EBS Bandwidth (Mbps)</a:t>
                      </a:r>
                    </a:p>
                  </a:txBody>
                  <a:tcPr marL="71594" marR="71594" marT="71594" marB="71594" anchor="ctr">
                    <a:lnL>
                      <a:noFill/>
                    </a:lnL>
                    <a:lnR>
                      <a:noFill/>
                    </a:lnR>
                    <a:lnT>
                      <a:noFill/>
                    </a:lnT>
                    <a:lnB>
                      <a:noFill/>
                    </a:lnB>
                  </a:tcPr>
                </a:tc>
                <a:tc>
                  <a:txBody>
                    <a:bodyPr/>
                    <a:lstStyle/>
                    <a:p>
                      <a:r>
                        <a:rPr lang="en-US" sz="1400" b="0" i="0">
                          <a:effectLst/>
                          <a:latin typeface="Amazon Ember" panose="020B0603020204020204" pitchFamily="34" charset="0"/>
                          <a:ea typeface="Amazon Ember" panose="020B0603020204020204" pitchFamily="34" charset="0"/>
                          <a:cs typeface="Amazon Ember" panose="020B0603020204020204" pitchFamily="34" charset="0"/>
                        </a:rPr>
                        <a:t>Networking Performance (Gbps)</a:t>
                      </a:r>
                    </a:p>
                  </a:txBody>
                  <a:tcPr marL="71594" marR="71594" marT="71594" marB="71594" anchor="ctr">
                    <a:lnL>
                      <a:noFill/>
                    </a:lnL>
                    <a:lnR>
                      <a:noFill/>
                    </a:lnR>
                    <a:lnT>
                      <a:noFill/>
                    </a:lnT>
                    <a:lnB>
                      <a:noFill/>
                    </a:lnB>
                  </a:tcPr>
                </a:tc>
                <a:extLst>
                  <a:ext uri="{0D108BD9-81ED-4DB2-BD59-A6C34878D82A}">
                    <a16:rowId xmlns:a16="http://schemas.microsoft.com/office/drawing/2014/main" xmlns="" val="4213811245"/>
                  </a:ext>
                </a:extLst>
              </a:tr>
              <a:tr h="401132">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r5.large</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2</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16</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3,500</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10</a:t>
                      </a:r>
                    </a:p>
                  </a:txBody>
                  <a:tcPr marL="71594" marR="71594" marT="71594" marB="71594" anchor="ctr">
                    <a:lnL>
                      <a:noFill/>
                    </a:lnL>
                    <a:lnR>
                      <a:noFill/>
                    </a:lnR>
                    <a:lnT>
                      <a:noFill/>
                    </a:lnT>
                    <a:lnB>
                      <a:noFill/>
                    </a:lnB>
                    <a:solidFill>
                      <a:srgbClr val="F7F7F7"/>
                    </a:solidFill>
                  </a:tcPr>
                </a:tc>
                <a:extLst>
                  <a:ext uri="{0D108BD9-81ED-4DB2-BD59-A6C34878D82A}">
                    <a16:rowId xmlns:a16="http://schemas.microsoft.com/office/drawing/2014/main" xmlns="" val="3644416936"/>
                  </a:ext>
                </a:extLst>
              </a:tr>
              <a:tr h="401132">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r5.xlarge</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4</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32</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3,500</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10</a:t>
                      </a:r>
                    </a:p>
                  </a:txBody>
                  <a:tcPr marL="71594" marR="71594" marT="71594" marB="71594" anchor="ctr">
                    <a:lnL>
                      <a:noFill/>
                    </a:lnL>
                    <a:lnR>
                      <a:noFill/>
                    </a:lnR>
                    <a:lnT>
                      <a:noFill/>
                    </a:lnT>
                    <a:lnB>
                      <a:noFill/>
                    </a:lnB>
                  </a:tcPr>
                </a:tc>
                <a:extLst>
                  <a:ext uri="{0D108BD9-81ED-4DB2-BD59-A6C34878D82A}">
                    <a16:rowId xmlns:a16="http://schemas.microsoft.com/office/drawing/2014/main" xmlns="" val="574649818"/>
                  </a:ext>
                </a:extLst>
              </a:tr>
              <a:tr h="401132">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r5.2xlarge</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8</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64</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3,500</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10</a:t>
                      </a:r>
                    </a:p>
                  </a:txBody>
                  <a:tcPr marL="71594" marR="71594" marT="71594" marB="71594" anchor="ctr">
                    <a:lnL>
                      <a:noFill/>
                    </a:lnL>
                    <a:lnR>
                      <a:noFill/>
                    </a:lnR>
                    <a:lnT>
                      <a:noFill/>
                    </a:lnT>
                    <a:lnB>
                      <a:noFill/>
                    </a:lnB>
                    <a:solidFill>
                      <a:srgbClr val="F7F7F7"/>
                    </a:solidFill>
                  </a:tcPr>
                </a:tc>
                <a:extLst>
                  <a:ext uri="{0D108BD9-81ED-4DB2-BD59-A6C34878D82A}">
                    <a16:rowId xmlns:a16="http://schemas.microsoft.com/office/drawing/2014/main" xmlns="" val="4104003555"/>
                  </a:ext>
                </a:extLst>
              </a:tr>
              <a:tr h="401132">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r5.4xlarge</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16</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128</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3,500</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Up to 10</a:t>
                      </a:r>
                    </a:p>
                  </a:txBody>
                  <a:tcPr marL="71594" marR="71594" marT="71594" marB="71594" anchor="ctr">
                    <a:lnL>
                      <a:noFill/>
                    </a:lnL>
                    <a:lnR>
                      <a:noFill/>
                    </a:lnR>
                    <a:lnT>
                      <a:noFill/>
                    </a:lnT>
                    <a:lnB>
                      <a:noFill/>
                    </a:lnB>
                  </a:tcPr>
                </a:tc>
                <a:extLst>
                  <a:ext uri="{0D108BD9-81ED-4DB2-BD59-A6C34878D82A}">
                    <a16:rowId xmlns:a16="http://schemas.microsoft.com/office/drawing/2014/main" xmlns="" val="1736037089"/>
                  </a:ext>
                </a:extLst>
              </a:tr>
              <a:tr h="591292">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r5.12xlarge</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48</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384</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7,000</a:t>
                      </a:r>
                    </a:p>
                  </a:txBody>
                  <a:tcPr marL="71594" marR="71594" marT="71594" marB="71594" anchor="ctr">
                    <a:lnL>
                      <a:noFill/>
                    </a:lnL>
                    <a:lnR>
                      <a:noFill/>
                    </a:lnR>
                    <a:lnT>
                      <a:noFill/>
                    </a:lnT>
                    <a:lnB>
                      <a:noFill/>
                    </a:lnB>
                    <a:solidFill>
                      <a:srgbClr val="F7F7F7"/>
                    </a:solidFill>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10</a:t>
                      </a:r>
                    </a:p>
                  </a:txBody>
                  <a:tcPr marL="71594" marR="71594" marT="71594" marB="71594" anchor="ctr">
                    <a:lnL>
                      <a:noFill/>
                    </a:lnL>
                    <a:lnR>
                      <a:noFill/>
                    </a:lnR>
                    <a:lnT>
                      <a:noFill/>
                    </a:lnT>
                    <a:lnB>
                      <a:noFill/>
                    </a:lnB>
                    <a:solidFill>
                      <a:srgbClr val="F7F7F7"/>
                    </a:solidFill>
                  </a:tcPr>
                </a:tc>
                <a:extLst>
                  <a:ext uri="{0D108BD9-81ED-4DB2-BD59-A6C34878D82A}">
                    <a16:rowId xmlns:a16="http://schemas.microsoft.com/office/drawing/2014/main" xmlns="" val="3772341004"/>
                  </a:ext>
                </a:extLst>
              </a:tr>
              <a:tr h="591292">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r5.24xlarge</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96</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768</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14,000</a:t>
                      </a:r>
                    </a:p>
                  </a:txBody>
                  <a:tcPr marL="71594" marR="71594" marT="71594" marB="71594" anchor="ctr">
                    <a:lnL>
                      <a:noFill/>
                    </a:lnL>
                    <a:lnR>
                      <a:noFill/>
                    </a:lnR>
                    <a:lnT>
                      <a:noFill/>
                    </a:lnT>
                    <a:lnB>
                      <a:noFill/>
                    </a:lnB>
                  </a:tcPr>
                </a:tc>
                <a:tc>
                  <a:txBody>
                    <a:bodyPr/>
                    <a:lstStyle/>
                    <a:p>
                      <a:pPr algn="ctr"/>
                      <a:r>
                        <a:rPr lang="en-US" sz="1400" b="0" i="0">
                          <a:effectLst/>
                          <a:latin typeface="Amazon Ember" panose="020B0603020204020204" pitchFamily="34" charset="0"/>
                          <a:ea typeface="Amazon Ember" panose="020B0603020204020204" pitchFamily="34" charset="0"/>
                          <a:cs typeface="Amazon Ember" panose="020B0603020204020204" pitchFamily="34" charset="0"/>
                        </a:rPr>
                        <a:t>25</a:t>
                      </a:r>
                    </a:p>
                  </a:txBody>
                  <a:tcPr marL="71594" marR="71594" marT="71594" marB="71594" anchor="ctr">
                    <a:lnL>
                      <a:noFill/>
                    </a:lnL>
                    <a:lnR>
                      <a:noFill/>
                    </a:lnR>
                    <a:lnT>
                      <a:noFill/>
                    </a:lnT>
                    <a:lnB>
                      <a:noFill/>
                    </a:lnB>
                  </a:tcPr>
                </a:tc>
                <a:extLst>
                  <a:ext uri="{0D108BD9-81ED-4DB2-BD59-A6C34878D82A}">
                    <a16:rowId xmlns:a16="http://schemas.microsoft.com/office/drawing/2014/main" xmlns="" val="235806297"/>
                  </a:ext>
                </a:extLst>
              </a:tr>
            </a:tbl>
          </a:graphicData>
        </a:graphic>
      </p:graphicFrame>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4746" y="4969700"/>
            <a:ext cx="1130494" cy="1130494"/>
          </a:xfrm>
          <a:prstGeom prst="rect">
            <a:avLst/>
          </a:prstGeom>
        </p:spPr>
      </p:pic>
    </p:spTree>
    <p:extLst>
      <p:ext uri="{BB962C8B-B14F-4D97-AF65-F5344CB8AC3E}">
        <p14:creationId xmlns:p14="http://schemas.microsoft.com/office/powerpoint/2010/main" val="19545526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fontScale="90000"/>
          </a:bodyPr>
          <a:lstStyle/>
          <a:p>
            <a:r>
              <a:rPr lang="en-US"/>
              <a:t>EC2 – Accelerated Computing Example</a:t>
            </a:r>
          </a:p>
        </p:txBody>
      </p:sp>
      <p:graphicFrame>
        <p:nvGraphicFramePr>
          <p:cNvPr id="7" name="Table 6">
            <a:extLst>
              <a:ext uri="{FF2B5EF4-FFF2-40B4-BE49-F238E27FC236}">
                <a16:creationId xmlns:a16="http://schemas.microsoft.com/office/drawing/2014/main" xmlns="" id="{371ADA2D-7B6C-B343-B2E5-9D92B10F24D7}"/>
              </a:ext>
            </a:extLst>
          </p:cNvPr>
          <p:cNvGraphicFramePr>
            <a:graphicFrameLocks noGrp="1"/>
          </p:cNvGraphicFramePr>
          <p:nvPr>
            <p:extLst>
              <p:ext uri="{D42A27DB-BD31-4B8C-83A1-F6EECF244321}">
                <p14:modId xmlns:p14="http://schemas.microsoft.com/office/powerpoint/2010/main" val="134218435"/>
              </p:ext>
            </p:extLst>
          </p:nvPr>
        </p:nvGraphicFramePr>
        <p:xfrm>
          <a:off x="4774825" y="2191386"/>
          <a:ext cx="6174841" cy="3160027"/>
        </p:xfrm>
        <a:graphic>
          <a:graphicData uri="http://schemas.openxmlformats.org/drawingml/2006/table">
            <a:tbl>
              <a:tblPr/>
              <a:tblGrid>
                <a:gridCol w="1248156">
                  <a:extLst>
                    <a:ext uri="{9D8B030D-6E8A-4147-A177-3AD203B41FA5}">
                      <a16:colId xmlns:a16="http://schemas.microsoft.com/office/drawing/2014/main" xmlns="" val="1831911444"/>
                    </a:ext>
                  </a:extLst>
                </a:gridCol>
                <a:gridCol w="721657">
                  <a:extLst>
                    <a:ext uri="{9D8B030D-6E8A-4147-A177-3AD203B41FA5}">
                      <a16:colId xmlns:a16="http://schemas.microsoft.com/office/drawing/2014/main" xmlns="" val="1539551583"/>
                    </a:ext>
                  </a:extLst>
                </a:gridCol>
                <a:gridCol w="915273">
                  <a:extLst>
                    <a:ext uri="{9D8B030D-6E8A-4147-A177-3AD203B41FA5}">
                      <a16:colId xmlns:a16="http://schemas.microsoft.com/office/drawing/2014/main" xmlns="" val="2256623215"/>
                    </a:ext>
                  </a:extLst>
                </a:gridCol>
                <a:gridCol w="1020881">
                  <a:extLst>
                    <a:ext uri="{9D8B030D-6E8A-4147-A177-3AD203B41FA5}">
                      <a16:colId xmlns:a16="http://schemas.microsoft.com/office/drawing/2014/main" xmlns="" val="108796918"/>
                    </a:ext>
                  </a:extLst>
                </a:gridCol>
                <a:gridCol w="1372909">
                  <a:extLst>
                    <a:ext uri="{9D8B030D-6E8A-4147-A177-3AD203B41FA5}">
                      <a16:colId xmlns:a16="http://schemas.microsoft.com/office/drawing/2014/main" xmlns="" val="4124331162"/>
                    </a:ext>
                  </a:extLst>
                </a:gridCol>
                <a:gridCol w="895965">
                  <a:extLst>
                    <a:ext uri="{9D8B030D-6E8A-4147-A177-3AD203B41FA5}">
                      <a16:colId xmlns:a16="http://schemas.microsoft.com/office/drawing/2014/main" xmlns="" val="3050490835"/>
                    </a:ext>
                  </a:extLst>
                </a:gridCol>
              </a:tblGrid>
              <a:tr h="479383">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Model</a:t>
                      </a:r>
                    </a:p>
                  </a:txBody>
                  <a:tcPr marL="76200" marR="76200" marT="76200" marB="76200" anchor="ctr">
                    <a:lnL>
                      <a:noFill/>
                    </a:lnL>
                    <a:lnR>
                      <a:noFill/>
                    </a:lnR>
                    <a:lnT>
                      <a:noFill/>
                    </a:lnT>
                    <a:lnB>
                      <a:noFill/>
                    </a:lnB>
                  </a:tcPr>
                </a:tc>
                <a:tc>
                  <a:txBody>
                    <a:bodyPr/>
                    <a:lstStyle/>
                    <a:p>
                      <a:pPr algn="ctr"/>
                      <a:r>
                        <a:rPr lang="en-US" sz="1400" b="1">
                          <a:solidFill>
                            <a:schemeClr val="accent2"/>
                          </a:solidFill>
                          <a:effectLst/>
                          <a:latin typeface="Amazon Ember" panose="020B0603020204020204" pitchFamily="34" charset="0"/>
                          <a:ea typeface="Amazon Ember" panose="020B0603020204020204" pitchFamily="34" charset="0"/>
                          <a:cs typeface="Amazon Ember" panose="020B0603020204020204" pitchFamily="34" charset="0"/>
                        </a:rPr>
                        <a:t>GPUs</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vCPU</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Mem (GiB)</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GPU Mem</a:t>
                      </a:r>
                      <a:r>
                        <a:rPr lang="en-US" sz="1400" baseline="0">
                          <a:effectLst/>
                          <a:latin typeface="Amazon Ember" panose="020B0603020204020204" pitchFamily="34" charset="0"/>
                          <a:ea typeface="Amazon Ember" panose="020B0603020204020204" pitchFamily="34" charset="0"/>
                          <a:cs typeface="Amazon Ember" panose="020B0603020204020204" pitchFamily="34" charset="0"/>
                        </a:rPr>
                        <a:t> </a:t>
                      </a:r>
                      <a:r>
                        <a:rPr lang="en-US" sz="1400">
                          <a:effectLst/>
                          <a:latin typeface="Amazon Ember" panose="020B0603020204020204" pitchFamily="34" charset="0"/>
                          <a:ea typeface="Amazon Ember" panose="020B0603020204020204" pitchFamily="34" charset="0"/>
                          <a:cs typeface="Amazon Ember" panose="020B0603020204020204" pitchFamily="34" charset="0"/>
                        </a:rPr>
                        <a:t>(GiB)</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GPU P2P</a:t>
                      </a:r>
                    </a:p>
                  </a:txBody>
                  <a:tcPr marL="76200" marR="76200" marT="76200" marB="76200" anchor="ctr">
                    <a:lnL>
                      <a:noFill/>
                    </a:lnL>
                    <a:lnR>
                      <a:noFill/>
                    </a:lnR>
                    <a:lnT>
                      <a:noFill/>
                    </a:lnT>
                    <a:lnB>
                      <a:noFill/>
                    </a:lnB>
                  </a:tcPr>
                </a:tc>
                <a:extLst>
                  <a:ext uri="{0D108BD9-81ED-4DB2-BD59-A6C34878D82A}">
                    <a16:rowId xmlns:a16="http://schemas.microsoft.com/office/drawing/2014/main" xmlns="" val="389034888"/>
                  </a:ext>
                </a:extLst>
              </a:tr>
              <a:tr h="670161">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p3.2xlarge</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8</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61</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16</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a:t>
                      </a:r>
                    </a:p>
                  </a:txBody>
                  <a:tcPr marL="76200" marR="76200" marT="76200" marB="76200" anchor="ctr">
                    <a:lnL>
                      <a:noFill/>
                    </a:lnL>
                    <a:lnR>
                      <a:noFill/>
                    </a:lnR>
                    <a:lnT>
                      <a:noFill/>
                    </a:lnT>
                    <a:lnB>
                      <a:noFill/>
                    </a:lnB>
                    <a:solidFill>
                      <a:srgbClr val="F7F7F7"/>
                    </a:solidFill>
                  </a:tcPr>
                </a:tc>
                <a:extLst>
                  <a:ext uri="{0D108BD9-81ED-4DB2-BD59-A6C34878D82A}">
                    <a16:rowId xmlns:a16="http://schemas.microsoft.com/office/drawing/2014/main" xmlns="" val="3942043652"/>
                  </a:ext>
                </a:extLst>
              </a:tr>
              <a:tr h="670161">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p3.8xlarge</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32</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244</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64</a:t>
                      </a:r>
                    </a:p>
                  </a:txBody>
                  <a:tcPr marL="76200" marR="76200" marT="76200" marB="76200"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NVLink</a:t>
                      </a:r>
                    </a:p>
                  </a:txBody>
                  <a:tcPr marL="76200" marR="76200" marT="76200" marB="76200" anchor="ctr">
                    <a:lnL>
                      <a:noFill/>
                    </a:lnL>
                    <a:lnR>
                      <a:noFill/>
                    </a:lnR>
                    <a:lnT>
                      <a:noFill/>
                    </a:lnT>
                    <a:lnB>
                      <a:noFill/>
                    </a:lnB>
                  </a:tcPr>
                </a:tc>
                <a:extLst>
                  <a:ext uri="{0D108BD9-81ED-4DB2-BD59-A6C34878D82A}">
                    <a16:rowId xmlns:a16="http://schemas.microsoft.com/office/drawing/2014/main" xmlns="" val="3381107237"/>
                  </a:ext>
                </a:extLst>
              </a:tr>
              <a:tr h="670161">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p3.16xlarge</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8</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64</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488</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128</a:t>
                      </a:r>
                    </a:p>
                  </a:txBody>
                  <a:tcPr marL="76200" marR="76200" marT="76200" marB="76200"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NVLink</a:t>
                      </a:r>
                    </a:p>
                  </a:txBody>
                  <a:tcPr marL="76200" marR="76200" marT="76200" marB="76200" anchor="ctr">
                    <a:lnL>
                      <a:noFill/>
                    </a:lnL>
                    <a:lnR>
                      <a:noFill/>
                    </a:lnR>
                    <a:lnT>
                      <a:noFill/>
                    </a:lnT>
                    <a:lnB>
                      <a:noFill/>
                    </a:lnB>
                    <a:solidFill>
                      <a:srgbClr val="F7F7F7"/>
                    </a:solidFill>
                  </a:tcPr>
                </a:tc>
                <a:extLst>
                  <a:ext uri="{0D108BD9-81ED-4DB2-BD59-A6C34878D82A}">
                    <a16:rowId xmlns:a16="http://schemas.microsoft.com/office/drawing/2014/main" xmlns="" val="802810021"/>
                  </a:ext>
                </a:extLst>
              </a:tr>
              <a:tr h="670161">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p3.dn24x</a:t>
                      </a:r>
                    </a:p>
                  </a:txBody>
                  <a:tcPr marL="76200" marR="76200" marT="76200" marB="76200" anchor="ctr">
                    <a:lnL>
                      <a:noFill/>
                    </a:lnL>
                    <a:lnR>
                      <a:noFill/>
                    </a:lnR>
                    <a:lnT>
                      <a:noFill/>
                    </a:lnT>
                    <a:lnB>
                      <a:noFill/>
                    </a:lnB>
                    <a:solidFill>
                      <a:schemeClr val="bg1"/>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12</a:t>
                      </a:r>
                    </a:p>
                  </a:txBody>
                  <a:tcPr marL="76200" marR="76200" marT="76200" marB="76200" anchor="ctr">
                    <a:lnL>
                      <a:noFill/>
                    </a:lnL>
                    <a:lnR>
                      <a:noFill/>
                    </a:lnR>
                    <a:lnT>
                      <a:noFill/>
                    </a:lnT>
                    <a:lnB>
                      <a:noFill/>
                    </a:lnB>
                    <a:solidFill>
                      <a:schemeClr val="bg1"/>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96</a:t>
                      </a:r>
                    </a:p>
                  </a:txBody>
                  <a:tcPr marL="76200" marR="76200" marT="76200" marB="76200" anchor="ctr">
                    <a:lnL>
                      <a:noFill/>
                    </a:lnL>
                    <a:lnR>
                      <a:noFill/>
                    </a:lnR>
                    <a:lnT>
                      <a:noFill/>
                    </a:lnT>
                    <a:lnB>
                      <a:noFill/>
                    </a:lnB>
                    <a:solidFill>
                      <a:schemeClr val="bg1"/>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768</a:t>
                      </a:r>
                    </a:p>
                  </a:txBody>
                  <a:tcPr marL="76200" marR="76200" marT="76200" marB="76200" anchor="ctr">
                    <a:lnL>
                      <a:noFill/>
                    </a:lnL>
                    <a:lnR>
                      <a:noFill/>
                    </a:lnR>
                    <a:lnT>
                      <a:noFill/>
                    </a:lnT>
                    <a:lnB>
                      <a:noFill/>
                    </a:lnB>
                    <a:solidFill>
                      <a:schemeClr val="bg1"/>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256</a:t>
                      </a:r>
                    </a:p>
                  </a:txBody>
                  <a:tcPr marL="76200" marR="76200" marT="76200" marB="76200" anchor="ctr">
                    <a:lnL>
                      <a:noFill/>
                    </a:lnL>
                    <a:lnR>
                      <a:noFill/>
                    </a:lnR>
                    <a:lnT>
                      <a:noFill/>
                    </a:lnT>
                    <a:lnB>
                      <a:noFill/>
                    </a:lnB>
                    <a:solidFill>
                      <a:schemeClr val="bg1"/>
                    </a:solidFill>
                  </a:tcPr>
                </a:tc>
                <a:tc>
                  <a:txBody>
                    <a:bodyPr/>
                    <a:lstStyle/>
                    <a:p>
                      <a:pPr algn="ctr"/>
                      <a:r>
                        <a:rPr lang="en-US" sz="1400" err="1">
                          <a:effectLst/>
                          <a:latin typeface="Amazon Ember" panose="020B0603020204020204" pitchFamily="34" charset="0"/>
                          <a:ea typeface="Amazon Ember" panose="020B0603020204020204" pitchFamily="34" charset="0"/>
                          <a:cs typeface="Amazon Ember" panose="020B0603020204020204" pitchFamily="34" charset="0"/>
                        </a:rPr>
                        <a:t>NVLink</a:t>
                      </a:r>
                      <a:endParaRPr lang="en-US" sz="1400">
                        <a:effectLst/>
                        <a:latin typeface="Amazon Ember" panose="020B0603020204020204" pitchFamily="34" charset="0"/>
                        <a:ea typeface="Amazon Ember" panose="020B0603020204020204" pitchFamily="34" charset="0"/>
                        <a:cs typeface="Amazon Ember" panose="020B0603020204020204" pitchFamily="34" charset="0"/>
                      </a:endParaRPr>
                    </a:p>
                  </a:txBody>
                  <a:tcPr marL="76200" marR="76200" marT="76200" marB="76200" anchor="ctr">
                    <a:lnL>
                      <a:noFill/>
                    </a:lnL>
                    <a:lnR>
                      <a:noFill/>
                    </a:lnR>
                    <a:lnT>
                      <a:noFill/>
                    </a:lnT>
                    <a:lnB>
                      <a:noFill/>
                    </a:lnB>
                    <a:solidFill>
                      <a:schemeClr val="bg1"/>
                    </a:solidFill>
                  </a:tcPr>
                </a:tc>
                <a:extLst>
                  <a:ext uri="{0D108BD9-81ED-4DB2-BD59-A6C34878D82A}">
                    <a16:rowId xmlns:a16="http://schemas.microsoft.com/office/drawing/2014/main" xmlns="" val="3551446772"/>
                  </a:ext>
                </a:extLst>
              </a:tr>
            </a:tbl>
          </a:graphicData>
        </a:graphic>
      </p:graphicFrame>
      <p:pic>
        <p:nvPicPr>
          <p:cNvPr id="9" name="Picture 8">
            <a:extLst>
              <a:ext uri="{FF2B5EF4-FFF2-40B4-BE49-F238E27FC236}">
                <a16:creationId xmlns:a16="http://schemas.microsoft.com/office/drawing/2014/main" xmlns="" id="{FD2F6875-70E6-3443-B99F-96AF3FFACB9E}"/>
              </a:ext>
            </a:extLst>
          </p:cNvPr>
          <p:cNvPicPr>
            <a:picLocks noChangeAspect="1"/>
          </p:cNvPicPr>
          <p:nvPr/>
        </p:nvPicPr>
        <p:blipFill>
          <a:blip r:embed="rId3"/>
          <a:stretch>
            <a:fillRect/>
          </a:stretch>
        </p:blipFill>
        <p:spPr>
          <a:xfrm>
            <a:off x="1370409" y="1886586"/>
            <a:ext cx="1543891" cy="1543891"/>
          </a:xfrm>
          <a:prstGeom prst="rect">
            <a:avLst/>
          </a:prstGeom>
        </p:spPr>
      </p:pic>
      <p:sp>
        <p:nvSpPr>
          <p:cNvPr id="11" name="Rectangle 10">
            <a:extLst>
              <a:ext uri="{FF2B5EF4-FFF2-40B4-BE49-F238E27FC236}">
                <a16:creationId xmlns:a16="http://schemas.microsoft.com/office/drawing/2014/main" xmlns="" id="{CF674652-6B3B-8A4F-AAB5-703472AD4DFC}"/>
              </a:ext>
            </a:extLst>
          </p:cNvPr>
          <p:cNvSpPr/>
          <p:nvPr/>
        </p:nvSpPr>
        <p:spPr>
          <a:xfrm>
            <a:off x="535416" y="3430477"/>
            <a:ext cx="3294087" cy="1477328"/>
          </a:xfrm>
          <a:prstGeom prst="rect">
            <a:avLst/>
          </a:prstGeom>
        </p:spPr>
        <p:txBody>
          <a:bodyPr wrap="square">
            <a:spAutoFit/>
          </a:bodyPr>
          <a:lstStyle/>
          <a:p>
            <a:pPr algn="ctr"/>
            <a:r>
              <a:rPr lang="en-US" sz="1800">
                <a:latin typeface="Amazon Ember Light" panose="020B0403020204020204" pitchFamily="34" charset="0"/>
                <a:ea typeface="Amazon Ember Light" panose="020B0403020204020204" pitchFamily="34" charset="0"/>
                <a:cs typeface="Amazon Ember Light" panose="020B0403020204020204" pitchFamily="34" charset="0"/>
              </a:rPr>
              <a:t>Performant GPU-based instances</a:t>
            </a:r>
          </a:p>
          <a:p>
            <a:pPr algn="ctr"/>
            <a:endParaRPr lang="en-US" sz="1800">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1800">
                <a:latin typeface="Amazon Ember Light" panose="020B0403020204020204" pitchFamily="34" charset="0"/>
                <a:ea typeface="Amazon Ember Light" panose="020B0403020204020204" pitchFamily="34" charset="0"/>
                <a:cs typeface="Amazon Ember Light" panose="020B0403020204020204" pitchFamily="34" charset="0"/>
              </a:rPr>
              <a:t>Commonly used for machine/deep learning</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026" name="Picture 2" descr="https://www.intel.com/content/dam/products/hero/foreground/processor-badge-xeon-1x1.png.rendition.intel.web.225.22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0854" y="4974368"/>
            <a:ext cx="1143000"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8015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EC2 – Storage Optimized Example</a:t>
            </a:r>
          </a:p>
        </p:txBody>
      </p:sp>
      <p:graphicFrame>
        <p:nvGraphicFramePr>
          <p:cNvPr id="3" name="Table 2">
            <a:extLst>
              <a:ext uri="{FF2B5EF4-FFF2-40B4-BE49-F238E27FC236}">
                <a16:creationId xmlns:a16="http://schemas.microsoft.com/office/drawing/2014/main" xmlns="" id="{33FEFBF8-31F8-D04C-9968-F51488E03D26}"/>
              </a:ext>
            </a:extLst>
          </p:cNvPr>
          <p:cNvGraphicFramePr>
            <a:graphicFrameLocks noGrp="1"/>
          </p:cNvGraphicFramePr>
          <p:nvPr>
            <p:extLst>
              <p:ext uri="{D42A27DB-BD31-4B8C-83A1-F6EECF244321}">
                <p14:modId xmlns:p14="http://schemas.microsoft.com/office/powerpoint/2010/main" val="1235882167"/>
              </p:ext>
            </p:extLst>
          </p:nvPr>
        </p:nvGraphicFramePr>
        <p:xfrm>
          <a:off x="5029659" y="2170290"/>
          <a:ext cx="5782208" cy="3329647"/>
        </p:xfrm>
        <a:graphic>
          <a:graphicData uri="http://schemas.openxmlformats.org/drawingml/2006/table">
            <a:tbl>
              <a:tblPr/>
              <a:tblGrid>
                <a:gridCol w="1346376">
                  <a:extLst>
                    <a:ext uri="{9D8B030D-6E8A-4147-A177-3AD203B41FA5}">
                      <a16:colId xmlns:a16="http://schemas.microsoft.com/office/drawing/2014/main" xmlns="" val="1864594794"/>
                    </a:ext>
                  </a:extLst>
                </a:gridCol>
                <a:gridCol w="744295">
                  <a:extLst>
                    <a:ext uri="{9D8B030D-6E8A-4147-A177-3AD203B41FA5}">
                      <a16:colId xmlns:a16="http://schemas.microsoft.com/office/drawing/2014/main" xmlns="" val="1169426752"/>
                    </a:ext>
                  </a:extLst>
                </a:gridCol>
                <a:gridCol w="833569">
                  <a:extLst>
                    <a:ext uri="{9D8B030D-6E8A-4147-A177-3AD203B41FA5}">
                      <a16:colId xmlns:a16="http://schemas.microsoft.com/office/drawing/2014/main" xmlns="" val="2356109143"/>
                    </a:ext>
                  </a:extLst>
                </a:gridCol>
                <a:gridCol w="1628231">
                  <a:extLst>
                    <a:ext uri="{9D8B030D-6E8A-4147-A177-3AD203B41FA5}">
                      <a16:colId xmlns:a16="http://schemas.microsoft.com/office/drawing/2014/main" xmlns="" val="959564128"/>
                    </a:ext>
                  </a:extLst>
                </a:gridCol>
                <a:gridCol w="1229737">
                  <a:extLst>
                    <a:ext uri="{9D8B030D-6E8A-4147-A177-3AD203B41FA5}">
                      <a16:colId xmlns:a16="http://schemas.microsoft.com/office/drawing/2014/main" xmlns="" val="2631247532"/>
                    </a:ext>
                  </a:extLst>
                </a:gridCol>
              </a:tblGrid>
              <a:tr h="600283">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Model</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vCPU</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Mem (GiB)</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Networking Performance</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Instance</a:t>
                      </a:r>
                      <a:r>
                        <a:rPr lang="en-US" sz="1400" baseline="0">
                          <a:effectLst/>
                          <a:latin typeface="Amazon Ember" panose="020B0603020204020204" pitchFamily="34" charset="0"/>
                          <a:ea typeface="Amazon Ember" panose="020B0603020204020204" pitchFamily="34" charset="0"/>
                          <a:cs typeface="Amazon Ember" panose="020B0603020204020204" pitchFamily="34" charset="0"/>
                        </a:rPr>
                        <a:t> Storage </a:t>
                      </a:r>
                      <a:r>
                        <a:rPr lang="en-US" sz="1400">
                          <a:effectLst/>
                          <a:latin typeface="Amazon Ember" panose="020B0603020204020204" pitchFamily="34" charset="0"/>
                          <a:ea typeface="Amazon Ember" panose="020B0603020204020204" pitchFamily="34" charset="0"/>
                          <a:cs typeface="Amazon Ember" panose="020B0603020204020204" pitchFamily="34" charset="0"/>
                        </a:rPr>
                        <a:t>(GB)</a:t>
                      </a:r>
                    </a:p>
                  </a:txBody>
                  <a:tcPr marL="64394" marR="64394" marT="64394" marB="64394" anchor="ctr">
                    <a:lnL>
                      <a:noFill/>
                    </a:lnL>
                    <a:lnR>
                      <a:noFill/>
                    </a:lnR>
                    <a:lnT>
                      <a:noFill/>
                    </a:lnT>
                    <a:lnB>
                      <a:noFill/>
                    </a:lnB>
                  </a:tcPr>
                </a:tc>
                <a:extLst>
                  <a:ext uri="{0D108BD9-81ED-4DB2-BD59-A6C34878D82A}">
                    <a16:rowId xmlns:a16="http://schemas.microsoft.com/office/drawing/2014/main" xmlns="" val="930005399"/>
                  </a:ext>
                </a:extLst>
              </a:tr>
              <a:tr h="672860">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h1.2xlarge</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8</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32</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Up to 10 Gigabit</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 x 2,000 HDD</a:t>
                      </a:r>
                    </a:p>
                  </a:txBody>
                  <a:tcPr marL="64394" marR="64394" marT="64394" marB="64394" anchor="ctr">
                    <a:lnL>
                      <a:noFill/>
                    </a:lnL>
                    <a:lnR>
                      <a:noFill/>
                    </a:lnR>
                    <a:lnT>
                      <a:noFill/>
                    </a:lnT>
                    <a:lnB>
                      <a:noFill/>
                    </a:lnB>
                    <a:solidFill>
                      <a:srgbClr val="F7F7F7"/>
                    </a:solidFill>
                  </a:tcPr>
                </a:tc>
                <a:extLst>
                  <a:ext uri="{0D108BD9-81ED-4DB2-BD59-A6C34878D82A}">
                    <a16:rowId xmlns:a16="http://schemas.microsoft.com/office/drawing/2014/main" xmlns="" val="670440279"/>
                  </a:ext>
                </a:extLst>
              </a:tr>
              <a:tr h="741872">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h1.4xlarge</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16</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64</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Up to 10 Gigabit</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 x 2,000 HDD</a:t>
                      </a:r>
                    </a:p>
                  </a:txBody>
                  <a:tcPr marL="64394" marR="64394" marT="64394" marB="64394" anchor="ctr">
                    <a:lnL>
                      <a:noFill/>
                    </a:lnL>
                    <a:lnR>
                      <a:noFill/>
                    </a:lnR>
                    <a:lnT>
                      <a:noFill/>
                    </a:lnT>
                    <a:lnB>
                      <a:noFill/>
                    </a:lnB>
                  </a:tcPr>
                </a:tc>
                <a:extLst>
                  <a:ext uri="{0D108BD9-81ED-4DB2-BD59-A6C34878D82A}">
                    <a16:rowId xmlns:a16="http://schemas.microsoft.com/office/drawing/2014/main" xmlns="" val="1167274"/>
                  </a:ext>
                </a:extLst>
              </a:tr>
              <a:tr h="70736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h1.8xlarge</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32</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128</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10 Gigabit</a:t>
                      </a:r>
                    </a:p>
                  </a:txBody>
                  <a:tcPr marL="64394" marR="64394" marT="64394" marB="64394" anchor="ctr">
                    <a:lnL>
                      <a:noFill/>
                    </a:lnL>
                    <a:lnR>
                      <a:noFill/>
                    </a:lnR>
                    <a:lnT>
                      <a:noFill/>
                    </a:lnT>
                    <a:lnB>
                      <a:noFill/>
                    </a:lnB>
                    <a:solidFill>
                      <a:srgbClr val="F7F7F7"/>
                    </a:solidFill>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4 x 2,000 HDD</a:t>
                      </a:r>
                    </a:p>
                  </a:txBody>
                  <a:tcPr marL="64394" marR="64394" marT="64394" marB="64394" anchor="ctr">
                    <a:lnL>
                      <a:noFill/>
                    </a:lnL>
                    <a:lnR>
                      <a:noFill/>
                    </a:lnR>
                    <a:lnT>
                      <a:noFill/>
                    </a:lnT>
                    <a:lnB>
                      <a:noFill/>
                    </a:lnB>
                    <a:solidFill>
                      <a:srgbClr val="F7F7F7"/>
                    </a:solidFill>
                  </a:tcPr>
                </a:tc>
                <a:extLst>
                  <a:ext uri="{0D108BD9-81ED-4DB2-BD59-A6C34878D82A}">
                    <a16:rowId xmlns:a16="http://schemas.microsoft.com/office/drawing/2014/main" xmlns="" val="406776470"/>
                  </a:ext>
                </a:extLst>
              </a:tr>
              <a:tr h="607266">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h1.16xlarge</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64</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256</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25 Gigabit</a:t>
                      </a:r>
                    </a:p>
                  </a:txBody>
                  <a:tcPr marL="64394" marR="64394" marT="64394" marB="64394" anchor="ctr">
                    <a:lnL>
                      <a:noFill/>
                    </a:lnL>
                    <a:lnR>
                      <a:noFill/>
                    </a:lnR>
                    <a:lnT>
                      <a:noFill/>
                    </a:lnT>
                    <a:lnB>
                      <a:noFill/>
                    </a:lnB>
                  </a:tcPr>
                </a:tc>
                <a:tc>
                  <a:txBody>
                    <a:bodyPr/>
                    <a:lstStyle/>
                    <a:p>
                      <a:pPr algn="ctr"/>
                      <a:r>
                        <a:rPr lang="en-US" sz="1400">
                          <a:effectLst/>
                          <a:latin typeface="Amazon Ember" panose="020B0603020204020204" pitchFamily="34" charset="0"/>
                          <a:ea typeface="Amazon Ember" panose="020B0603020204020204" pitchFamily="34" charset="0"/>
                          <a:cs typeface="Amazon Ember" panose="020B0603020204020204" pitchFamily="34" charset="0"/>
                        </a:rPr>
                        <a:t>8 x 2,000 HDD</a:t>
                      </a:r>
                    </a:p>
                  </a:txBody>
                  <a:tcPr marL="64394" marR="64394" marT="64394" marB="64394" anchor="ctr">
                    <a:lnL>
                      <a:noFill/>
                    </a:lnL>
                    <a:lnR>
                      <a:noFill/>
                    </a:lnR>
                    <a:lnT>
                      <a:noFill/>
                    </a:lnT>
                    <a:lnB>
                      <a:noFill/>
                    </a:lnB>
                  </a:tcPr>
                </a:tc>
                <a:extLst>
                  <a:ext uri="{0D108BD9-81ED-4DB2-BD59-A6C34878D82A}">
                    <a16:rowId xmlns:a16="http://schemas.microsoft.com/office/drawing/2014/main" xmlns="" val="1266021140"/>
                  </a:ext>
                </a:extLst>
              </a:tr>
            </a:tbl>
          </a:graphicData>
        </a:graphic>
      </p:graphicFrame>
      <p:sp>
        <p:nvSpPr>
          <p:cNvPr id="10" name="Rectangle 9">
            <a:extLst>
              <a:ext uri="{FF2B5EF4-FFF2-40B4-BE49-F238E27FC236}">
                <a16:creationId xmlns:a16="http://schemas.microsoft.com/office/drawing/2014/main" xmlns="" id="{6156290B-833F-6948-BBAC-99723EDE4E1E}"/>
              </a:ext>
            </a:extLst>
          </p:cNvPr>
          <p:cNvSpPr/>
          <p:nvPr/>
        </p:nvSpPr>
        <p:spPr>
          <a:xfrm>
            <a:off x="479951" y="3963877"/>
            <a:ext cx="3294087" cy="1200329"/>
          </a:xfrm>
          <a:prstGeom prst="rect">
            <a:avLst/>
          </a:prstGeom>
        </p:spPr>
        <p:txBody>
          <a:bodyPr wrap="square">
            <a:spAutoFit/>
          </a:bodyPr>
          <a:lstStyle/>
          <a:p>
            <a:pPr algn="ctr"/>
            <a:r>
              <a:rPr lang="en-US" sz="1800">
                <a:latin typeface="Amazon Ember Light" panose="020B0403020204020204" pitchFamily="34" charset="0"/>
                <a:ea typeface="Amazon Ember Light" panose="020B0403020204020204" pitchFamily="34" charset="0"/>
                <a:cs typeface="Amazon Ember Light" panose="020B0403020204020204" pitchFamily="34" charset="0"/>
              </a:rPr>
              <a:t>Up to 16 TB of HDD-based local storage with </a:t>
            </a:r>
            <a:r>
              <a:rPr lang="en-US" sz="18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high disk throughput</a:t>
            </a:r>
            <a:endParaRPr lang="en-US" sz="1800">
              <a:latin typeface="Amazon Ember Light" panose="020B0403020204020204" pitchFamily="34" charset="0"/>
              <a:ea typeface="Amazon Ember Light" panose="020B0403020204020204" pitchFamily="34" charset="0"/>
              <a:cs typeface="Amazon Ember Light" panose="020B0403020204020204" pitchFamily="34" charset="0"/>
            </a:endParaRPr>
          </a:p>
          <a:p>
            <a:pPr algn="ctr"/>
            <a:endParaRPr lang="en-US" sz="180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 name="Picture 6">
            <a:extLst>
              <a:ext uri="{FF2B5EF4-FFF2-40B4-BE49-F238E27FC236}">
                <a16:creationId xmlns:a16="http://schemas.microsoft.com/office/drawing/2014/main" xmlns="" id="{F4A80B3C-003C-3940-87F2-115CC234FE5B}"/>
              </a:ext>
            </a:extLst>
          </p:cNvPr>
          <p:cNvPicPr>
            <a:picLocks noChangeAspect="1"/>
          </p:cNvPicPr>
          <p:nvPr/>
        </p:nvPicPr>
        <p:blipFill>
          <a:blip r:embed="rId3"/>
          <a:stretch>
            <a:fillRect/>
          </a:stretch>
        </p:blipFill>
        <p:spPr>
          <a:xfrm>
            <a:off x="1403547" y="2151125"/>
            <a:ext cx="1446894" cy="1628788"/>
          </a:xfrm>
          <a:prstGeom prst="rect">
            <a:avLst/>
          </a:prstGeom>
        </p:spPr>
      </p:pic>
      <p:pic>
        <p:nvPicPr>
          <p:cNvPr id="11" name="Picture 10">
            <a:extLst>
              <a:ext uri="{FF2B5EF4-FFF2-40B4-BE49-F238E27FC236}">
                <a16:creationId xmlns:a16="http://schemas.microsoft.com/office/drawing/2014/main" xmlns="" id="{467669CB-60E5-414E-A67F-3ECFFF796CA8}"/>
              </a:ext>
            </a:extLst>
          </p:cNvPr>
          <p:cNvPicPr>
            <a:picLocks noChangeAspect="1"/>
          </p:cNvPicPr>
          <p:nvPr/>
        </p:nvPicPr>
        <p:blipFill>
          <a:blip r:embed="rId4"/>
          <a:stretch>
            <a:fillRect/>
          </a:stretch>
        </p:blipFill>
        <p:spPr>
          <a:xfrm>
            <a:off x="1307866" y="2398890"/>
            <a:ext cx="1638255" cy="1484777"/>
          </a:xfrm>
          <a:prstGeom prst="rect">
            <a:avLst/>
          </a:prstGeom>
        </p:spPr>
      </p:pic>
      <p:pic>
        <p:nvPicPr>
          <p:cNvPr id="8" name="Picture 2" descr="https://www.intel.com/content/dam/products/hero/foreground/processor-badge-xeon-1x1.png.rendition.intel.web.225.22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0854" y="4974368"/>
            <a:ext cx="1143000"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4878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Graviton2 Processors</a:t>
            </a:r>
          </a:p>
        </p:txBody>
      </p:sp>
      <p:sp>
        <p:nvSpPr>
          <p:cNvPr id="7" name="Rectangle 6"/>
          <p:cNvSpPr/>
          <p:nvPr/>
        </p:nvSpPr>
        <p:spPr>
          <a:xfrm>
            <a:off x="533400" y="1925192"/>
            <a:ext cx="10349272" cy="4339650"/>
          </a:xfrm>
          <a:prstGeom prst="rect">
            <a:avLst/>
          </a:prstGeom>
        </p:spPr>
        <p:txBody>
          <a:bodyPr wrap="square">
            <a:spAutoFit/>
          </a:bodyPr>
          <a:lstStyle/>
          <a:p>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Instances powered by new AWS Graviton2 processors that use 64-bit Arm </a:t>
            </a:r>
            <a:r>
              <a:rPr lang="en-US" sz="2400" err="1">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Neoverse</a:t>
            </a:r>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 cores and custom silicon designed by AWS</a:t>
            </a:r>
          </a:p>
          <a:p>
            <a:endPar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174625">
              <a:lnSpc>
                <a:spcPct val="150000"/>
              </a:lnSpc>
              <a:buFont typeface="Arial" panose="020B0604020202020204" pitchFamily="34" charset="0"/>
              <a:buChar char="•"/>
            </a:pPr>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	General Purpose – M6g</a:t>
            </a:r>
          </a:p>
          <a:p>
            <a:pPr marL="342900" indent="174625">
              <a:lnSpc>
                <a:spcPct val="150000"/>
              </a:lnSpc>
              <a:buFont typeface="Arial" panose="020B0604020202020204" pitchFamily="34" charset="0"/>
              <a:buChar char="•"/>
            </a:pPr>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	Compute Optimized – C6g</a:t>
            </a:r>
          </a:p>
          <a:p>
            <a:pPr marL="342900" indent="174625">
              <a:lnSpc>
                <a:spcPct val="150000"/>
              </a:lnSpc>
              <a:buFont typeface="Arial" panose="020B0604020202020204" pitchFamily="34" charset="0"/>
              <a:buChar char="•"/>
            </a:pPr>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	Memory Optimized – R6g</a:t>
            </a:r>
          </a:p>
          <a:p>
            <a:endPar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Deliver up to </a:t>
            </a:r>
            <a:r>
              <a:rPr lang="en-US" sz="2400">
                <a:solidFill>
                  <a:srgbClr val="4AC1FF"/>
                </a:solidFill>
                <a:latin typeface="Amazon Ember" panose="020B0603020204020204" pitchFamily="34" charset="0"/>
                <a:ea typeface="Amazon Ember" panose="020B0603020204020204" pitchFamily="34" charset="0"/>
                <a:cs typeface="Amazon Ember" panose="020B0603020204020204" pitchFamily="34" charset="0"/>
              </a:rPr>
              <a:t>40% improved price/performance</a:t>
            </a:r>
            <a:r>
              <a:rPr lang="en-US" sz="2400">
                <a:solidFill>
                  <a:srgbClr val="4AC1FF"/>
                </a:solidFill>
                <a:latin typeface="Amazon Ember Medium" panose="020B0603020204030204" pitchFamily="34" charset="0"/>
                <a:ea typeface="Amazon Ember Medium" panose="020B0603020204030204" pitchFamily="34" charset="0"/>
                <a:cs typeface="Amazon Ember Medium" panose="020B0603020204030204" pitchFamily="34" charset="0"/>
              </a:rPr>
              <a:t> </a:t>
            </a:r>
            <a:r>
              <a:rPr lang="en-US" sz="2400">
                <a:solidFill>
                  <a:srgbClr val="333333"/>
                </a:solidFill>
                <a:latin typeface="Amazon Ember Light" panose="020B0403020204020204" pitchFamily="34" charset="0"/>
                <a:ea typeface="Amazon Ember Light" panose="020B0403020204020204" pitchFamily="34" charset="0"/>
                <a:cs typeface="Amazon Ember Light" panose="020B0403020204020204" pitchFamily="34" charset="0"/>
              </a:rPr>
              <a:t>over current generation M5, C5, and R5 instances</a:t>
            </a: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2108377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Intel® Xeon CPUs and EC2 Instances</a:t>
            </a:r>
            <a:endParaRPr lang="en-US"/>
          </a:p>
        </p:txBody>
      </p:sp>
      <p:sp>
        <p:nvSpPr>
          <p:cNvPr id="3" name="Content Placeholder 2"/>
          <p:cNvSpPr>
            <a:spLocks noGrp="1"/>
          </p:cNvSpPr>
          <p:nvPr>
            <p:ph idx="1"/>
          </p:nvPr>
        </p:nvSpPr>
        <p:spPr/>
        <p:txBody>
          <a:bodyPr>
            <a:normAutofit/>
          </a:bodyPr>
          <a:lstStyle/>
          <a:p>
            <a:pPr marL="0" indent="0">
              <a:spcAft>
                <a:spcPts val="1200"/>
              </a:spcAft>
              <a:buNone/>
            </a:pPr>
            <a:r>
              <a:rPr lang="en-US" sz="3600"/>
              <a:t>All current EC2 instance types include:</a:t>
            </a:r>
          </a:p>
          <a:p>
            <a:pPr lvl="1">
              <a:spcAft>
                <a:spcPts val="1200"/>
              </a:spcAft>
            </a:pPr>
            <a:r>
              <a:rPr lang="en-US" sz="3200">
                <a:solidFill>
                  <a:schemeClr val="accent1"/>
                </a:solidFill>
              </a:rPr>
              <a:t>Intel AES-NI</a:t>
            </a:r>
            <a:r>
              <a:rPr lang="en-US" sz="3200"/>
              <a:t>: Reduces performance hit due to encryption</a:t>
            </a:r>
          </a:p>
          <a:p>
            <a:pPr lvl="1">
              <a:spcAft>
                <a:spcPts val="1200"/>
              </a:spcAft>
            </a:pPr>
            <a:r>
              <a:rPr lang="en-US" sz="3200">
                <a:solidFill>
                  <a:schemeClr val="accent1"/>
                </a:solidFill>
              </a:rPr>
              <a:t>Intel AVX </a:t>
            </a:r>
            <a:r>
              <a:rPr lang="en-US" sz="3200"/>
              <a:t>(AVX2, AVX-512): Improve floating-point performance. Only available on HVM deployments.</a:t>
            </a:r>
          </a:p>
        </p:txBody>
      </p:sp>
    </p:spTree>
    <p:extLst>
      <p:ext uri="{BB962C8B-B14F-4D97-AF65-F5344CB8AC3E}">
        <p14:creationId xmlns:p14="http://schemas.microsoft.com/office/powerpoint/2010/main" val="20659348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Intel® Xeon CPUs and EC2 Instances</a:t>
            </a:r>
            <a:endParaRPr lang="en-US"/>
          </a:p>
        </p:txBody>
      </p:sp>
      <p:sp>
        <p:nvSpPr>
          <p:cNvPr id="3" name="Content Placeholder 2"/>
          <p:cNvSpPr>
            <a:spLocks noGrp="1"/>
          </p:cNvSpPr>
          <p:nvPr>
            <p:ph idx="1"/>
          </p:nvPr>
        </p:nvSpPr>
        <p:spPr>
          <a:xfrm>
            <a:off x="418991" y="1330960"/>
            <a:ext cx="11350578" cy="5435600"/>
          </a:xfrm>
        </p:spPr>
        <p:txBody>
          <a:bodyPr>
            <a:normAutofit fontScale="92500" lnSpcReduction="10000"/>
          </a:bodyPr>
          <a:lstStyle/>
          <a:p>
            <a:pPr marL="0" lvl="1" indent="0">
              <a:spcAft>
                <a:spcPts val="1200"/>
              </a:spcAft>
              <a:buFont typeface="Arial" panose="020B0604020202020204" pitchFamily="34" charset="0"/>
              <a:buNone/>
            </a:pPr>
            <a:r>
              <a:rPr lang="en-US" sz="3600"/>
              <a:t>Some EC2 instance types include:</a:t>
            </a:r>
          </a:p>
          <a:p>
            <a:pPr marL="685800" lvl="2" indent="-342900">
              <a:spcAft>
                <a:spcPts val="1200"/>
              </a:spcAft>
            </a:pPr>
            <a:r>
              <a:rPr lang="en-US" sz="3200">
                <a:solidFill>
                  <a:schemeClr val="accent1"/>
                </a:solidFill>
              </a:rPr>
              <a:t>Intel Turbo Boost</a:t>
            </a:r>
            <a:r>
              <a:rPr lang="en-US" sz="3200"/>
              <a:t>: Runs cores faster than base clock speed when needed</a:t>
            </a:r>
          </a:p>
          <a:p>
            <a:pPr marL="685800" lvl="2" indent="-342900">
              <a:spcAft>
                <a:spcPts val="1200"/>
              </a:spcAft>
            </a:pPr>
            <a:r>
              <a:rPr lang="en-US" sz="3200">
                <a:solidFill>
                  <a:schemeClr val="accent1"/>
                </a:solidFill>
              </a:rPr>
              <a:t>Intel TSX</a:t>
            </a:r>
            <a:r>
              <a:rPr lang="en-US" sz="3200"/>
              <a:t>:  Uses multiple threads or single thread depending on need</a:t>
            </a:r>
          </a:p>
          <a:p>
            <a:pPr marL="685800" lvl="2" indent="-342900">
              <a:spcAft>
                <a:spcPts val="1200"/>
              </a:spcAft>
            </a:pPr>
            <a:r>
              <a:rPr lang="en-US" sz="3200">
                <a:solidFill>
                  <a:schemeClr val="accent1"/>
                </a:solidFill>
              </a:rPr>
              <a:t>P state </a:t>
            </a:r>
            <a:r>
              <a:rPr lang="en-US" sz="3200"/>
              <a:t>and </a:t>
            </a:r>
            <a:r>
              <a:rPr lang="en-US" sz="3200">
                <a:solidFill>
                  <a:schemeClr val="accent1"/>
                </a:solidFill>
              </a:rPr>
              <a:t>C state </a:t>
            </a:r>
            <a:r>
              <a:rPr lang="en-US" sz="3200"/>
              <a:t>control: Fine-tune performance and sleep state of each core</a:t>
            </a:r>
          </a:p>
          <a:p>
            <a:pPr marL="685800" lvl="2" indent="-342900">
              <a:spcAft>
                <a:spcPts val="1200"/>
              </a:spcAft>
            </a:pPr>
            <a:r>
              <a:rPr lang="en-US" sz="3200">
                <a:solidFill>
                  <a:schemeClr val="accent1"/>
                </a:solidFill>
              </a:rPr>
              <a:t>Intel® Deep Learning Boost: </a:t>
            </a:r>
            <a:r>
              <a:rPr lang="en-US" sz="3200"/>
              <a:t>Embedded performance acceleration for Artificial Intelligence workloads. Up to 30x performance improvement for inference workloads compared to the previous generation. </a:t>
            </a:r>
            <a:endParaRPr lang="en-US" sz="3200">
              <a:solidFill>
                <a:schemeClr val="tx2"/>
              </a:solidFill>
            </a:endParaRPr>
          </a:p>
          <a:p>
            <a:pPr marL="685800" lvl="2" indent="-342900">
              <a:spcAft>
                <a:spcPts val="1200"/>
              </a:spcAft>
            </a:pPr>
            <a:endParaRPr lang="en-US" sz="3200"/>
          </a:p>
          <a:p>
            <a:pPr marL="685800" lvl="2" indent="-342900">
              <a:spcAft>
                <a:spcPts val="1200"/>
              </a:spcAft>
            </a:pPr>
            <a:endParaRPr lang="en-US" sz="3200"/>
          </a:p>
        </p:txBody>
      </p:sp>
    </p:spTree>
    <p:extLst>
      <p:ext uri="{BB962C8B-B14F-4D97-AF65-F5344CB8AC3E}">
        <p14:creationId xmlns:p14="http://schemas.microsoft.com/office/powerpoint/2010/main" val="7208925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Intel Processors for Your Workloads</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4036" y="1253839"/>
            <a:ext cx="2327097" cy="2327097"/>
          </a:xfrm>
          <a:prstGeom prst="rect">
            <a:avLst/>
          </a:prstGeom>
        </p:spPr>
      </p:pic>
      <p:grpSp>
        <p:nvGrpSpPr>
          <p:cNvPr id="5" name="Group 4"/>
          <p:cNvGrpSpPr/>
          <p:nvPr/>
        </p:nvGrpSpPr>
        <p:grpSpPr>
          <a:xfrm>
            <a:off x="1174036" y="3715917"/>
            <a:ext cx="4738776" cy="2324024"/>
            <a:chOff x="1174342" y="3715991"/>
            <a:chExt cx="4740008" cy="2324629"/>
          </a:xfrm>
        </p:grpSpPr>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4342" y="3715991"/>
              <a:ext cx="2324629" cy="2324629"/>
            </a:xfrm>
            <a:prstGeom prst="rect">
              <a:avLst/>
            </a:prstGeom>
          </p:spPr>
        </p:pic>
        <p:grpSp>
          <p:nvGrpSpPr>
            <p:cNvPr id="23" name="Group 22"/>
            <p:cNvGrpSpPr/>
            <p:nvPr/>
          </p:nvGrpSpPr>
          <p:grpSpPr>
            <a:xfrm>
              <a:off x="3948236" y="4331735"/>
              <a:ext cx="1966114" cy="1676432"/>
              <a:chOff x="5451070" y="1682370"/>
              <a:chExt cx="1966114" cy="1676432"/>
            </a:xfrm>
          </p:grpSpPr>
          <p:sp>
            <p:nvSpPr>
              <p:cNvPr id="15" name="Rectangle 14"/>
              <p:cNvSpPr/>
              <p:nvPr/>
            </p:nvSpPr>
            <p:spPr>
              <a:xfrm>
                <a:off x="5451070" y="2436578"/>
                <a:ext cx="1966114" cy="922224"/>
              </a:xfrm>
              <a:prstGeom prst="rect">
                <a:avLst/>
              </a:prstGeom>
            </p:spPr>
            <p:txBody>
              <a:bodyPr wrap="none">
                <a:spAutoFit/>
              </a:bodyPr>
              <a:lstStyle/>
              <a:p>
                <a:pPr lvl="0" algn="ctr">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AES-NI</a:t>
                </a:r>
              </a:p>
              <a:p>
                <a:pPr lvl="0" algn="ctr">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Threat Detection </a:t>
                </a:r>
              </a:p>
              <a:p>
                <a:pPr lvl="0" algn="ctr">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Technology (TDT)</a:t>
                </a:r>
              </a:p>
            </p:txBody>
          </p:sp>
          <p:pic>
            <p:nvPicPr>
              <p:cNvPr id="19" name="Shape 296">
                <a:extLst>
                  <a:ext uri="{FF2B5EF4-FFF2-40B4-BE49-F238E27FC236}">
                    <a16:creationId xmlns:a16="http://schemas.microsoft.com/office/drawing/2014/main" xmlns="" id="{C039B9C0-74C3-CA4A-832D-77A79D6D00D6}"/>
                  </a:ext>
                </a:extLst>
              </p:cNvPr>
              <p:cNvPicPr/>
              <p:nvPr/>
            </p:nvPicPr>
            <p:blipFill>
              <a:blip r:embed="rId5"/>
              <a:stretch/>
            </p:blipFill>
            <p:spPr>
              <a:xfrm>
                <a:off x="5828644" y="1682370"/>
                <a:ext cx="1210965" cy="717078"/>
              </a:xfrm>
              <a:prstGeom prst="rect">
                <a:avLst/>
              </a:prstGeom>
              <a:ln>
                <a:noFill/>
              </a:ln>
            </p:spPr>
          </p:pic>
        </p:grpSp>
      </p:grpSp>
      <p:grpSp>
        <p:nvGrpSpPr>
          <p:cNvPr id="3" name="Group 2"/>
          <p:cNvGrpSpPr/>
          <p:nvPr/>
        </p:nvGrpSpPr>
        <p:grpSpPr>
          <a:xfrm>
            <a:off x="6677922" y="1253839"/>
            <a:ext cx="4074523" cy="2327097"/>
            <a:chOff x="6679662" y="1253272"/>
            <a:chExt cx="4075584" cy="2327703"/>
          </a:xfrm>
        </p:grpSpPr>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79662" y="1253272"/>
              <a:ext cx="2327703" cy="2327703"/>
            </a:xfrm>
            <a:prstGeom prst="rect">
              <a:avLst/>
            </a:prstGeom>
          </p:spPr>
        </p:pic>
        <p:grpSp>
          <p:nvGrpSpPr>
            <p:cNvPr id="24" name="Group 23"/>
            <p:cNvGrpSpPr/>
            <p:nvPr/>
          </p:nvGrpSpPr>
          <p:grpSpPr>
            <a:xfrm>
              <a:off x="9544281" y="1840153"/>
              <a:ext cx="1210965" cy="1153940"/>
              <a:chOff x="9338666" y="1651970"/>
              <a:chExt cx="1210965" cy="1153940"/>
            </a:xfrm>
          </p:grpSpPr>
          <p:sp>
            <p:nvSpPr>
              <p:cNvPr id="16" name="Rectangle 15"/>
              <p:cNvSpPr/>
              <p:nvPr/>
            </p:nvSpPr>
            <p:spPr>
              <a:xfrm>
                <a:off x="9656249" y="2436578"/>
                <a:ext cx="575799" cy="369332"/>
              </a:xfrm>
              <a:prstGeom prst="rect">
                <a:avLst/>
              </a:prstGeom>
            </p:spPr>
            <p:txBody>
              <a:bodyPr wrap="none">
                <a:spAutoFit/>
              </a:bodyPr>
              <a:lstStyle/>
              <a:p>
                <a:pPr lvl="0">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TSX</a:t>
                </a:r>
              </a:p>
            </p:txBody>
          </p:sp>
          <p:pic>
            <p:nvPicPr>
              <p:cNvPr id="20" name="Shape 296">
                <a:extLst>
                  <a:ext uri="{FF2B5EF4-FFF2-40B4-BE49-F238E27FC236}">
                    <a16:creationId xmlns:a16="http://schemas.microsoft.com/office/drawing/2014/main" xmlns="" id="{C039B9C0-74C3-CA4A-832D-77A79D6D00D6}"/>
                  </a:ext>
                </a:extLst>
              </p:cNvPr>
              <p:cNvPicPr/>
              <p:nvPr/>
            </p:nvPicPr>
            <p:blipFill>
              <a:blip r:embed="rId5"/>
              <a:stretch/>
            </p:blipFill>
            <p:spPr>
              <a:xfrm>
                <a:off x="9338666" y="1651970"/>
                <a:ext cx="1210965" cy="717078"/>
              </a:xfrm>
              <a:prstGeom prst="rect">
                <a:avLst/>
              </a:prstGeom>
              <a:ln>
                <a:noFill/>
              </a:ln>
            </p:spPr>
          </p:pic>
        </p:grpSp>
      </p:grpSp>
      <p:grpSp>
        <p:nvGrpSpPr>
          <p:cNvPr id="6" name="Group 5"/>
          <p:cNvGrpSpPr/>
          <p:nvPr/>
        </p:nvGrpSpPr>
        <p:grpSpPr>
          <a:xfrm>
            <a:off x="6803866" y="3714380"/>
            <a:ext cx="4057366" cy="2327097"/>
            <a:chOff x="6805638" y="3714454"/>
            <a:chExt cx="4058423" cy="2327703"/>
          </a:xfrm>
        </p:grpSpPr>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5638" y="3714454"/>
              <a:ext cx="2327703" cy="2327703"/>
            </a:xfrm>
            <a:prstGeom prst="rect">
              <a:avLst/>
            </a:prstGeom>
          </p:spPr>
        </p:pic>
        <p:grpSp>
          <p:nvGrpSpPr>
            <p:cNvPr id="25" name="Group 24"/>
            <p:cNvGrpSpPr/>
            <p:nvPr/>
          </p:nvGrpSpPr>
          <p:grpSpPr>
            <a:xfrm>
              <a:off x="9435465" y="4301335"/>
              <a:ext cx="1428596" cy="1153940"/>
              <a:chOff x="10852045" y="1651970"/>
              <a:chExt cx="1428596" cy="1153940"/>
            </a:xfrm>
          </p:grpSpPr>
          <p:sp>
            <p:nvSpPr>
              <p:cNvPr id="17" name="Rectangle 16"/>
              <p:cNvSpPr/>
              <p:nvPr/>
            </p:nvSpPr>
            <p:spPr>
              <a:xfrm>
                <a:off x="10852045" y="2436578"/>
                <a:ext cx="1428596" cy="369332"/>
              </a:xfrm>
              <a:prstGeom prst="rect">
                <a:avLst/>
              </a:prstGeom>
            </p:spPr>
            <p:txBody>
              <a:bodyPr wrap="none">
                <a:spAutoFit/>
              </a:bodyPr>
              <a:lstStyle/>
              <a:p>
                <a:pPr lvl="0">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Turbo Boost</a:t>
                </a:r>
              </a:p>
            </p:txBody>
          </p:sp>
          <p:pic>
            <p:nvPicPr>
              <p:cNvPr id="21" name="Shape 296">
                <a:extLst>
                  <a:ext uri="{FF2B5EF4-FFF2-40B4-BE49-F238E27FC236}">
                    <a16:creationId xmlns:a16="http://schemas.microsoft.com/office/drawing/2014/main" xmlns="" id="{C039B9C0-74C3-CA4A-832D-77A79D6D00D6}"/>
                  </a:ext>
                </a:extLst>
              </p:cNvPr>
              <p:cNvPicPr/>
              <p:nvPr/>
            </p:nvPicPr>
            <p:blipFill>
              <a:blip r:embed="rId5"/>
              <a:stretch/>
            </p:blipFill>
            <p:spPr>
              <a:xfrm>
                <a:off x="10960861" y="1651970"/>
                <a:ext cx="1210965" cy="717078"/>
              </a:xfrm>
              <a:prstGeom prst="rect">
                <a:avLst/>
              </a:prstGeom>
              <a:ln>
                <a:noFill/>
              </a:ln>
            </p:spPr>
          </p:pic>
        </p:grpSp>
      </p:grpSp>
      <p:cxnSp>
        <p:nvCxnSpPr>
          <p:cNvPr id="27" name="Straight Connector 26"/>
          <p:cNvCxnSpPr/>
          <p:nvPr/>
        </p:nvCxnSpPr>
        <p:spPr>
          <a:xfrm>
            <a:off x="6216300" y="1581891"/>
            <a:ext cx="0" cy="4826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16651" y="3714380"/>
            <a:ext cx="1078711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3781803" y="1602041"/>
            <a:ext cx="2157001" cy="1460782"/>
            <a:chOff x="3761464" y="1413380"/>
            <a:chExt cx="2157560" cy="1461164"/>
          </a:xfrm>
        </p:grpSpPr>
        <p:sp>
          <p:nvSpPr>
            <p:cNvPr id="28" name="Rectangle 27"/>
            <p:cNvSpPr/>
            <p:nvPr/>
          </p:nvSpPr>
          <p:spPr>
            <a:xfrm>
              <a:off x="3761464" y="2228942"/>
              <a:ext cx="2157560" cy="645602"/>
            </a:xfrm>
            <a:prstGeom prst="rect">
              <a:avLst/>
            </a:prstGeom>
          </p:spPr>
          <p:txBody>
            <a:bodyPr wrap="none">
              <a:spAutoFit/>
            </a:bodyPr>
            <a:lstStyle/>
            <a:p>
              <a:pPr lvl="0" algn="ctr">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AVX 512</a:t>
              </a:r>
            </a:p>
            <a:p>
              <a:pPr lvl="0" algn="ctr">
                <a:defRPr/>
              </a:pPr>
              <a:r>
                <a:rPr lang="en-US" sz="1797" b="1">
                  <a:latin typeface="Amazon Ember Light" panose="020B0403020204020204" pitchFamily="34" charset="0"/>
                  <a:ea typeface="Amazon Ember Light" panose="020B0403020204020204" pitchFamily="34" charset="0"/>
                  <a:cs typeface="Amazon Ember Light" panose="020B0403020204020204" pitchFamily="34" charset="0"/>
                </a:rPr>
                <a:t>Deep Learning Boost</a:t>
              </a:r>
            </a:p>
          </p:txBody>
        </p:sp>
        <p:pic>
          <p:nvPicPr>
            <p:cNvPr id="30" name="Shape 296">
              <a:extLst>
                <a:ext uri="{FF2B5EF4-FFF2-40B4-BE49-F238E27FC236}">
                  <a16:creationId xmlns:a16="http://schemas.microsoft.com/office/drawing/2014/main" xmlns="" id="{C039B9C0-74C3-CA4A-832D-77A79D6D00D6}"/>
                </a:ext>
              </a:extLst>
            </p:cNvPr>
            <p:cNvPicPr/>
            <p:nvPr/>
          </p:nvPicPr>
          <p:blipFill>
            <a:blip r:embed="rId5"/>
            <a:stretch/>
          </p:blipFill>
          <p:spPr>
            <a:xfrm>
              <a:off x="4250486" y="1413380"/>
              <a:ext cx="1210965" cy="717078"/>
            </a:xfrm>
            <a:prstGeom prst="rect">
              <a:avLst/>
            </a:prstGeom>
            <a:ln>
              <a:noFill/>
            </a:ln>
          </p:spPr>
        </p:pic>
      </p:grpSp>
    </p:spTree>
    <p:extLst>
      <p:ext uri="{BB962C8B-B14F-4D97-AF65-F5344CB8AC3E}">
        <p14:creationId xmlns:p14="http://schemas.microsoft.com/office/powerpoint/2010/main" val="143391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Intel® Xeon Scalable Processors</a:t>
            </a:r>
            <a:endParaRPr lang="en-US"/>
          </a:p>
        </p:txBody>
      </p:sp>
      <p:sp>
        <p:nvSpPr>
          <p:cNvPr id="3" name="Content Placeholder 2"/>
          <p:cNvSpPr>
            <a:spLocks noGrp="1"/>
          </p:cNvSpPr>
          <p:nvPr>
            <p:ph idx="1"/>
          </p:nvPr>
        </p:nvSpPr>
        <p:spPr>
          <a:xfrm>
            <a:off x="418991" y="1398494"/>
            <a:ext cx="11350578" cy="5244353"/>
          </a:xfrm>
        </p:spPr>
        <p:txBody>
          <a:bodyPr>
            <a:normAutofit fontScale="92500" lnSpcReduction="10000"/>
          </a:bodyPr>
          <a:lstStyle/>
          <a:p>
            <a:pPr marL="0" lvl="1" indent="0">
              <a:spcAft>
                <a:spcPts val="1200"/>
              </a:spcAft>
              <a:buFont typeface="Arial" panose="020B0604020202020204" pitchFamily="34" charset="0"/>
              <a:buNone/>
            </a:pPr>
            <a:r>
              <a:rPr lang="en-US" sz="3200"/>
              <a:t>Latest generation of Intel Xeon processors</a:t>
            </a:r>
          </a:p>
          <a:p>
            <a:pPr marL="0" lvl="1" indent="0">
              <a:spcAft>
                <a:spcPts val="1200"/>
              </a:spcAft>
              <a:buFont typeface="Arial" panose="020B0604020202020204" pitchFamily="34" charset="0"/>
              <a:buNone/>
            </a:pPr>
            <a:r>
              <a:rPr lang="en-US" sz="3200"/>
              <a:t>Up to:</a:t>
            </a:r>
          </a:p>
          <a:p>
            <a:pPr marL="685800" lvl="2" indent="-282575">
              <a:spcAft>
                <a:spcPts val="1200"/>
              </a:spcAft>
            </a:pPr>
            <a:r>
              <a:rPr lang="en-US" sz="2800"/>
              <a:t>28 cores per CPU</a:t>
            </a:r>
          </a:p>
          <a:p>
            <a:pPr marL="685800" lvl="2" indent="-282575">
              <a:spcAft>
                <a:spcPts val="1200"/>
              </a:spcAft>
            </a:pPr>
            <a:r>
              <a:rPr lang="en-US" sz="2800"/>
              <a:t>6 memory channels</a:t>
            </a:r>
          </a:p>
          <a:p>
            <a:pPr marL="685800" lvl="2" indent="-282575">
              <a:spcAft>
                <a:spcPts val="1200"/>
              </a:spcAft>
            </a:pPr>
            <a:r>
              <a:rPr lang="en-US" sz="2800"/>
              <a:t>48 PCIe lanes of bandwidth/throughput</a:t>
            </a:r>
          </a:p>
          <a:p>
            <a:pPr marL="685800" lvl="2" indent="-282575">
              <a:spcAft>
                <a:spcPts val="1200"/>
              </a:spcAft>
            </a:pPr>
            <a:r>
              <a:rPr lang="en-US" sz="2800"/>
              <a:t>100 Gbps network bandwidth (C5n.16xlarge)</a:t>
            </a:r>
          </a:p>
          <a:p>
            <a:pPr marL="0" indent="0">
              <a:spcAft>
                <a:spcPts val="1200"/>
              </a:spcAft>
              <a:buNone/>
            </a:pPr>
            <a:r>
              <a:rPr lang="en-US" sz="3200"/>
              <a:t>Intel AVX-512:</a:t>
            </a:r>
          </a:p>
          <a:p>
            <a:pPr lvl="1">
              <a:spcAft>
                <a:spcPts val="1200"/>
              </a:spcAft>
            </a:pPr>
            <a:r>
              <a:rPr lang="en-US" sz="2800"/>
              <a:t>Twice the floating-point performance of AVX2</a:t>
            </a:r>
          </a:p>
          <a:p>
            <a:pPr lvl="1">
              <a:spcAft>
                <a:spcPts val="1200"/>
              </a:spcAft>
            </a:pPr>
            <a:r>
              <a:rPr lang="en-US" sz="2800"/>
              <a:t>512-bit instructions (vs 256 for AVX/AVX2)</a:t>
            </a:r>
          </a:p>
          <a:p>
            <a:pPr marL="685800" lvl="2" indent="-282575">
              <a:spcAft>
                <a:spcPts val="1200"/>
              </a:spcAft>
            </a:pPr>
            <a:endParaRPr lang="en-US" sz="2800"/>
          </a:p>
          <a:p>
            <a:pPr marL="685800" lvl="2" indent="-342900">
              <a:spcAft>
                <a:spcPts val="1200"/>
              </a:spcAft>
            </a:pPr>
            <a:endParaRPr lang="en-US" sz="280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3714" y="3455423"/>
            <a:ext cx="1130494" cy="1130494"/>
          </a:xfrm>
          <a:prstGeom prst="rect">
            <a:avLst/>
          </a:prstGeom>
        </p:spPr>
      </p:pic>
    </p:spTree>
    <p:extLst>
      <p:ext uri="{BB962C8B-B14F-4D97-AF65-F5344CB8AC3E}">
        <p14:creationId xmlns:p14="http://schemas.microsoft.com/office/powerpoint/2010/main" val="28436686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Intel® Xeon Family and EC2 Instances</a:t>
            </a:r>
            <a:endParaRPr lang="en-US"/>
          </a:p>
        </p:txBody>
      </p:sp>
      <p:sp>
        <p:nvSpPr>
          <p:cNvPr id="8" name="Freeform 7"/>
          <p:cNvSpPr/>
          <p:nvPr/>
        </p:nvSpPr>
        <p:spPr>
          <a:xfrm>
            <a:off x="4365215" y="1500674"/>
            <a:ext cx="3458393" cy="947099"/>
          </a:xfrm>
          <a:custGeom>
            <a:avLst/>
            <a:gdLst>
              <a:gd name="connsiteX0" fmla="*/ 0 w 3458393"/>
              <a:gd name="connsiteY0" fmla="*/ 0 h 947099"/>
              <a:gd name="connsiteX1" fmla="*/ 3458393 w 3458393"/>
              <a:gd name="connsiteY1" fmla="*/ 0 h 947099"/>
              <a:gd name="connsiteX2" fmla="*/ 3458393 w 3458393"/>
              <a:gd name="connsiteY2" fmla="*/ 947099 h 947099"/>
              <a:gd name="connsiteX3" fmla="*/ 0 w 3458393"/>
              <a:gd name="connsiteY3" fmla="*/ 947099 h 947099"/>
              <a:gd name="connsiteX4" fmla="*/ 0 w 3458393"/>
              <a:gd name="connsiteY4" fmla="*/ 0 h 947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93" h="947099">
                <a:moveTo>
                  <a:pt x="0" y="0"/>
                </a:moveTo>
                <a:lnTo>
                  <a:pt x="3458393" y="0"/>
                </a:lnTo>
                <a:lnTo>
                  <a:pt x="3458393" y="947099"/>
                </a:lnTo>
                <a:lnTo>
                  <a:pt x="0" y="947099"/>
                </a:lnTo>
                <a:lnTo>
                  <a:pt x="0" y="0"/>
                </a:lnTo>
                <a:close/>
              </a:path>
            </a:pathLst>
          </a:custGeom>
          <a:solidFill>
            <a:schemeClr val="accent1">
              <a:lumMod val="60000"/>
              <a:lumOff val="40000"/>
            </a:schemeClr>
          </a:solidFill>
          <a:ln>
            <a:noFill/>
          </a:ln>
        </p:spPr>
        <p:style>
          <a:lnRef idx="2">
            <a:schemeClr val="accent1">
              <a:shade val="50000"/>
              <a:hueOff val="0"/>
              <a:satOff val="0"/>
              <a:lumOff val="0"/>
              <a:alphaOff val="0"/>
            </a:schemeClr>
          </a:lnRef>
          <a:fillRef idx="1">
            <a:schemeClr val="accent1">
              <a:shade val="50000"/>
              <a:hueOff val="0"/>
              <a:satOff val="0"/>
              <a:lumOff val="0"/>
              <a:alphaOff val="0"/>
            </a:schemeClr>
          </a:fillRef>
          <a:effectRef idx="0">
            <a:schemeClr val="accent1">
              <a:shade val="50000"/>
              <a:hueOff val="0"/>
              <a:satOff val="0"/>
              <a:lumOff val="0"/>
              <a:alphaOff val="0"/>
            </a:schemeClr>
          </a:effectRef>
          <a:fontRef idx="minor">
            <a:schemeClr val="lt1"/>
          </a:fontRef>
        </p:style>
        <p:txBody>
          <a:bodyPr spcFirstLastPara="0" vert="horz" wrap="square" lIns="184912" tIns="105664" rIns="184912" bIns="105664" numCol="1" spcCol="1270" anchor="ctr" anchorCtr="0">
            <a:noAutofit/>
          </a:bodyPr>
          <a:lstStyle/>
          <a:p>
            <a:pPr lvl="0" algn="ctr" defTabSz="1155700">
              <a:spcBef>
                <a:spcPct val="0"/>
              </a:spcBef>
              <a:spcAft>
                <a:spcPct val="35000"/>
              </a:spcAft>
            </a:pPr>
            <a:r>
              <a:rPr lang="en-US" sz="2600" kern="1200">
                <a:latin typeface="Amazon Ember" panose="020B0603020204020204" pitchFamily="34" charset="0"/>
                <a:ea typeface="Amazon Ember" panose="020B0603020204020204" pitchFamily="34" charset="0"/>
                <a:cs typeface="Amazon Ember" panose="020B0603020204020204" pitchFamily="34" charset="0"/>
              </a:rPr>
              <a:t>Intel Xeon E5 Processor Family</a:t>
            </a:r>
          </a:p>
        </p:txBody>
      </p:sp>
      <p:sp>
        <p:nvSpPr>
          <p:cNvPr id="9" name="Freeform 8"/>
          <p:cNvSpPr/>
          <p:nvPr/>
        </p:nvSpPr>
        <p:spPr>
          <a:xfrm>
            <a:off x="4365215" y="2447773"/>
            <a:ext cx="3458393" cy="3711240"/>
          </a:xfrm>
          <a:custGeom>
            <a:avLst/>
            <a:gdLst>
              <a:gd name="connsiteX0" fmla="*/ 0 w 3458393"/>
              <a:gd name="connsiteY0" fmla="*/ 0 h 3711240"/>
              <a:gd name="connsiteX1" fmla="*/ 3458393 w 3458393"/>
              <a:gd name="connsiteY1" fmla="*/ 0 h 3711240"/>
              <a:gd name="connsiteX2" fmla="*/ 3458393 w 3458393"/>
              <a:gd name="connsiteY2" fmla="*/ 3711240 h 3711240"/>
              <a:gd name="connsiteX3" fmla="*/ 0 w 3458393"/>
              <a:gd name="connsiteY3" fmla="*/ 3711240 h 3711240"/>
              <a:gd name="connsiteX4" fmla="*/ 0 w 3458393"/>
              <a:gd name="connsiteY4" fmla="*/ 0 h 3711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93" h="3711240">
                <a:moveTo>
                  <a:pt x="0" y="0"/>
                </a:moveTo>
                <a:lnTo>
                  <a:pt x="3458393" y="0"/>
                </a:lnTo>
                <a:lnTo>
                  <a:pt x="3458393" y="3711240"/>
                </a:lnTo>
                <a:lnTo>
                  <a:pt x="0" y="3711240"/>
                </a:lnTo>
                <a:lnTo>
                  <a:pt x="0" y="0"/>
                </a:lnTo>
                <a:close/>
              </a:path>
            </a:pathLst>
          </a:custGeom>
        </p:spPr>
        <p:style>
          <a:lnRef idx="2">
            <a:schemeClr val="accent1">
              <a:alpha val="90000"/>
              <a:tint val="55000"/>
              <a:hueOff val="0"/>
              <a:satOff val="0"/>
              <a:lumOff val="0"/>
              <a:alphaOff val="0"/>
            </a:schemeClr>
          </a:lnRef>
          <a:fillRef idx="1">
            <a:schemeClr val="accent1">
              <a:alpha val="90000"/>
              <a:tint val="55000"/>
              <a:hueOff val="0"/>
              <a:satOff val="0"/>
              <a:lumOff val="0"/>
              <a:alphaOff val="0"/>
            </a:schemeClr>
          </a:fillRef>
          <a:effectRef idx="0">
            <a:schemeClr val="accent1">
              <a:alpha val="90000"/>
              <a:tint val="55000"/>
              <a:hueOff val="0"/>
              <a:satOff val="0"/>
              <a:lumOff val="0"/>
              <a:alphaOff val="0"/>
            </a:schemeClr>
          </a:effectRef>
          <a:fontRef idx="minor">
            <a:schemeClr val="dk1">
              <a:hueOff val="0"/>
              <a:satOff val="0"/>
              <a:lumOff val="0"/>
              <a:alphaOff val="0"/>
            </a:schemeClr>
          </a:fontRef>
        </p:style>
        <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M4</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R4</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P2/P3</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G3</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F1</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H1</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I3</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D2</a:t>
            </a:r>
          </a:p>
        </p:txBody>
      </p:sp>
      <p:sp>
        <p:nvSpPr>
          <p:cNvPr id="10" name="Freeform 9"/>
          <p:cNvSpPr/>
          <p:nvPr/>
        </p:nvSpPr>
        <p:spPr>
          <a:xfrm>
            <a:off x="8307783" y="1500674"/>
            <a:ext cx="3458393" cy="947099"/>
          </a:xfrm>
          <a:custGeom>
            <a:avLst/>
            <a:gdLst>
              <a:gd name="connsiteX0" fmla="*/ 0 w 3458393"/>
              <a:gd name="connsiteY0" fmla="*/ 0 h 947099"/>
              <a:gd name="connsiteX1" fmla="*/ 3458393 w 3458393"/>
              <a:gd name="connsiteY1" fmla="*/ 0 h 947099"/>
              <a:gd name="connsiteX2" fmla="*/ 3458393 w 3458393"/>
              <a:gd name="connsiteY2" fmla="*/ 947099 h 947099"/>
              <a:gd name="connsiteX3" fmla="*/ 0 w 3458393"/>
              <a:gd name="connsiteY3" fmla="*/ 947099 h 947099"/>
              <a:gd name="connsiteX4" fmla="*/ 0 w 3458393"/>
              <a:gd name="connsiteY4" fmla="*/ 0 h 947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93" h="947099">
                <a:moveTo>
                  <a:pt x="0" y="0"/>
                </a:moveTo>
                <a:lnTo>
                  <a:pt x="3458393" y="0"/>
                </a:lnTo>
                <a:lnTo>
                  <a:pt x="3458393" y="947099"/>
                </a:lnTo>
                <a:lnTo>
                  <a:pt x="0" y="947099"/>
                </a:lnTo>
                <a:lnTo>
                  <a:pt x="0" y="0"/>
                </a:lnTo>
                <a:close/>
              </a:path>
            </a:pathLst>
          </a:custGeom>
        </p:spPr>
        <p:style>
          <a:lnRef idx="2">
            <a:schemeClr val="accent1">
              <a:shade val="50000"/>
              <a:hueOff val="268329"/>
              <a:satOff val="-6535"/>
              <a:lumOff val="28597"/>
              <a:alphaOff val="0"/>
            </a:schemeClr>
          </a:lnRef>
          <a:fillRef idx="1">
            <a:schemeClr val="accent1">
              <a:shade val="50000"/>
              <a:hueOff val="268329"/>
              <a:satOff val="-6535"/>
              <a:lumOff val="28597"/>
              <a:alphaOff val="0"/>
            </a:schemeClr>
          </a:fillRef>
          <a:effectRef idx="0">
            <a:schemeClr val="accent1">
              <a:shade val="50000"/>
              <a:hueOff val="268329"/>
              <a:satOff val="-6535"/>
              <a:lumOff val="28597"/>
              <a:alphaOff val="0"/>
            </a:schemeClr>
          </a:effectRef>
          <a:fontRef idx="minor">
            <a:schemeClr val="lt1"/>
          </a:fontRef>
        </p:style>
        <p:txBody>
          <a:bodyPr spcFirstLastPara="0" vert="horz" wrap="square" lIns="184912" tIns="105664" rIns="184912" bIns="105664" numCol="1" spcCol="1270" anchor="ctr" anchorCtr="0">
            <a:noAutofit/>
          </a:bodyPr>
          <a:lstStyle/>
          <a:p>
            <a:pPr lvl="0" algn="ctr" defTabSz="1155700">
              <a:spcBef>
                <a:spcPct val="0"/>
              </a:spcBef>
              <a:spcAft>
                <a:spcPct val="35000"/>
              </a:spcAft>
            </a:pPr>
            <a:r>
              <a:rPr lang="en-US" sz="2600" kern="1200">
                <a:latin typeface="Amazon Ember" panose="020B0603020204020204" pitchFamily="34" charset="0"/>
                <a:ea typeface="Amazon Ember" panose="020B0603020204020204" pitchFamily="34" charset="0"/>
                <a:cs typeface="Amazon Ember" panose="020B0603020204020204" pitchFamily="34" charset="0"/>
              </a:rPr>
              <a:t>Intel Xeon E7 Processor Family</a:t>
            </a:r>
          </a:p>
        </p:txBody>
      </p:sp>
      <p:sp>
        <p:nvSpPr>
          <p:cNvPr id="11" name="Freeform 10"/>
          <p:cNvSpPr/>
          <p:nvPr/>
        </p:nvSpPr>
        <p:spPr>
          <a:xfrm>
            <a:off x="8307783" y="2447773"/>
            <a:ext cx="3458393" cy="3711240"/>
          </a:xfrm>
          <a:custGeom>
            <a:avLst/>
            <a:gdLst>
              <a:gd name="connsiteX0" fmla="*/ 0 w 3458393"/>
              <a:gd name="connsiteY0" fmla="*/ 0 h 3711240"/>
              <a:gd name="connsiteX1" fmla="*/ 3458393 w 3458393"/>
              <a:gd name="connsiteY1" fmla="*/ 0 h 3711240"/>
              <a:gd name="connsiteX2" fmla="*/ 3458393 w 3458393"/>
              <a:gd name="connsiteY2" fmla="*/ 3711240 h 3711240"/>
              <a:gd name="connsiteX3" fmla="*/ 0 w 3458393"/>
              <a:gd name="connsiteY3" fmla="*/ 3711240 h 3711240"/>
              <a:gd name="connsiteX4" fmla="*/ 0 w 3458393"/>
              <a:gd name="connsiteY4" fmla="*/ 0 h 3711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93" h="3711240">
                <a:moveTo>
                  <a:pt x="0" y="0"/>
                </a:moveTo>
                <a:lnTo>
                  <a:pt x="3458393" y="0"/>
                </a:lnTo>
                <a:lnTo>
                  <a:pt x="3458393" y="3711240"/>
                </a:lnTo>
                <a:lnTo>
                  <a:pt x="0" y="3711240"/>
                </a:lnTo>
                <a:lnTo>
                  <a:pt x="0" y="0"/>
                </a:lnTo>
                <a:close/>
              </a:path>
            </a:pathLst>
          </a:custGeom>
        </p:spPr>
        <p:style>
          <a:lnRef idx="2">
            <a:schemeClr val="accent1">
              <a:alpha val="90000"/>
              <a:tint val="55000"/>
              <a:hueOff val="0"/>
              <a:satOff val="0"/>
              <a:lumOff val="0"/>
              <a:alphaOff val="0"/>
            </a:schemeClr>
          </a:lnRef>
          <a:fillRef idx="1">
            <a:schemeClr val="accent1">
              <a:alpha val="90000"/>
              <a:tint val="55000"/>
              <a:hueOff val="0"/>
              <a:satOff val="0"/>
              <a:lumOff val="0"/>
              <a:alphaOff val="0"/>
            </a:schemeClr>
          </a:fillRef>
          <a:effectRef idx="0">
            <a:schemeClr val="accent1">
              <a:alpha val="90000"/>
              <a:tint val="55000"/>
              <a:hueOff val="0"/>
              <a:satOff val="0"/>
              <a:lumOff val="0"/>
              <a:alphaOff val="0"/>
            </a:schemeClr>
          </a:effectRef>
          <a:fontRef idx="minor">
            <a:schemeClr val="dk1">
              <a:hueOff val="0"/>
              <a:satOff val="0"/>
              <a:lumOff val="0"/>
              <a:alphaOff val="0"/>
            </a:schemeClr>
          </a:fontRef>
        </p:style>
        <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X1/X1e</a:t>
            </a:r>
          </a:p>
          <a:p>
            <a:pPr marL="228600" lvl="1" indent="-228600" algn="l" defTabSz="1155700">
              <a:lnSpc>
                <a:spcPct val="90000"/>
              </a:lnSpc>
              <a:spcBef>
                <a:spcPct val="0"/>
              </a:spcBef>
              <a:spcAft>
                <a:spcPct val="15000"/>
              </a:spcAft>
              <a:buChar char="••"/>
            </a:pPr>
            <a:endParaRPr lang="en-US" sz="2600" kern="1200">
              <a:latin typeface="Amazon Ember Light" panose="020B0403020204020204" pitchFamily="34" charset="0"/>
              <a:ea typeface="Amazon Ember Light" panose="020B0403020204020204" pitchFamily="34" charset="0"/>
              <a:cs typeface="Amazon Ember Light" panose="020B0403020204020204" pitchFamily="34" charset="0"/>
            </a:endParaRPr>
          </a:p>
          <a:p>
            <a:pPr marL="228600" lvl="1" indent="-228600" algn="l" defTabSz="1155700">
              <a:lnSpc>
                <a:spcPct val="90000"/>
              </a:lnSpc>
              <a:spcBef>
                <a:spcPct val="0"/>
              </a:spcBef>
              <a:spcAft>
                <a:spcPct val="15000"/>
              </a:spcAft>
              <a:buChar char="••"/>
            </a:pPr>
            <a:endParaRPr lang="en-US" sz="2600" kern="120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Freeform 11"/>
          <p:cNvSpPr/>
          <p:nvPr/>
        </p:nvSpPr>
        <p:spPr>
          <a:xfrm>
            <a:off x="418991" y="1500674"/>
            <a:ext cx="3458393" cy="947099"/>
          </a:xfrm>
          <a:custGeom>
            <a:avLst/>
            <a:gdLst>
              <a:gd name="connsiteX0" fmla="*/ 0 w 3458393"/>
              <a:gd name="connsiteY0" fmla="*/ 0 h 947099"/>
              <a:gd name="connsiteX1" fmla="*/ 3458393 w 3458393"/>
              <a:gd name="connsiteY1" fmla="*/ 0 h 947099"/>
              <a:gd name="connsiteX2" fmla="*/ 3458393 w 3458393"/>
              <a:gd name="connsiteY2" fmla="*/ 947099 h 947099"/>
              <a:gd name="connsiteX3" fmla="*/ 0 w 3458393"/>
              <a:gd name="connsiteY3" fmla="*/ 947099 h 947099"/>
              <a:gd name="connsiteX4" fmla="*/ 0 w 3458393"/>
              <a:gd name="connsiteY4" fmla="*/ 0 h 947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93" h="947099">
                <a:moveTo>
                  <a:pt x="0" y="0"/>
                </a:moveTo>
                <a:lnTo>
                  <a:pt x="3458393" y="0"/>
                </a:lnTo>
                <a:lnTo>
                  <a:pt x="3458393" y="947099"/>
                </a:lnTo>
                <a:lnTo>
                  <a:pt x="0" y="947099"/>
                </a:lnTo>
                <a:lnTo>
                  <a:pt x="0" y="0"/>
                </a:lnTo>
                <a:close/>
              </a:path>
            </a:pathLst>
          </a:custGeom>
          <a:solidFill>
            <a:schemeClr val="accent1"/>
          </a:solidFill>
        </p:spPr>
        <p:style>
          <a:lnRef idx="2">
            <a:schemeClr val="accent1">
              <a:shade val="50000"/>
              <a:hueOff val="268329"/>
              <a:satOff val="-6535"/>
              <a:lumOff val="28597"/>
              <a:alphaOff val="0"/>
            </a:schemeClr>
          </a:lnRef>
          <a:fillRef idx="1">
            <a:schemeClr val="accent1">
              <a:shade val="50000"/>
              <a:hueOff val="268329"/>
              <a:satOff val="-6535"/>
              <a:lumOff val="28597"/>
              <a:alphaOff val="0"/>
            </a:schemeClr>
          </a:fillRef>
          <a:effectRef idx="0">
            <a:schemeClr val="accent1">
              <a:shade val="50000"/>
              <a:hueOff val="268329"/>
              <a:satOff val="-6535"/>
              <a:lumOff val="28597"/>
              <a:alphaOff val="0"/>
            </a:schemeClr>
          </a:effectRef>
          <a:fontRef idx="minor">
            <a:schemeClr val="lt1"/>
          </a:fontRef>
        </p:style>
        <p:txBody>
          <a:bodyPr spcFirstLastPara="0" vert="horz" wrap="square" lIns="184912" tIns="105664" rIns="184912" bIns="105664" numCol="1" spcCol="1270" anchor="ctr" anchorCtr="0">
            <a:noAutofit/>
          </a:bodyPr>
          <a:lstStyle/>
          <a:p>
            <a:pPr lvl="0" algn="ctr" defTabSz="1155700">
              <a:spcBef>
                <a:spcPct val="0"/>
              </a:spcBef>
              <a:spcAft>
                <a:spcPct val="35000"/>
              </a:spcAft>
            </a:pPr>
            <a:r>
              <a:rPr lang="en-US" sz="2600" kern="1200">
                <a:latin typeface="Amazon Ember" panose="020B0603020204020204" pitchFamily="34" charset="0"/>
                <a:ea typeface="Amazon Ember" panose="020B0603020204020204" pitchFamily="34" charset="0"/>
                <a:cs typeface="Amazon Ember" panose="020B0603020204020204" pitchFamily="34" charset="0"/>
              </a:rPr>
              <a:t>Intel Xeon Scalable Processor Family</a:t>
            </a:r>
          </a:p>
        </p:txBody>
      </p:sp>
      <p:sp>
        <p:nvSpPr>
          <p:cNvPr id="13" name="Freeform 12"/>
          <p:cNvSpPr/>
          <p:nvPr/>
        </p:nvSpPr>
        <p:spPr>
          <a:xfrm>
            <a:off x="418991" y="2460589"/>
            <a:ext cx="3458393" cy="3711240"/>
          </a:xfrm>
          <a:custGeom>
            <a:avLst/>
            <a:gdLst>
              <a:gd name="connsiteX0" fmla="*/ 0 w 3458393"/>
              <a:gd name="connsiteY0" fmla="*/ 0 h 3711240"/>
              <a:gd name="connsiteX1" fmla="*/ 3458393 w 3458393"/>
              <a:gd name="connsiteY1" fmla="*/ 0 h 3711240"/>
              <a:gd name="connsiteX2" fmla="*/ 3458393 w 3458393"/>
              <a:gd name="connsiteY2" fmla="*/ 3711240 h 3711240"/>
              <a:gd name="connsiteX3" fmla="*/ 0 w 3458393"/>
              <a:gd name="connsiteY3" fmla="*/ 3711240 h 3711240"/>
              <a:gd name="connsiteX4" fmla="*/ 0 w 3458393"/>
              <a:gd name="connsiteY4" fmla="*/ 0 h 3711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93" h="3711240">
                <a:moveTo>
                  <a:pt x="0" y="0"/>
                </a:moveTo>
                <a:lnTo>
                  <a:pt x="3458393" y="0"/>
                </a:lnTo>
                <a:lnTo>
                  <a:pt x="3458393" y="3711240"/>
                </a:lnTo>
                <a:lnTo>
                  <a:pt x="0" y="3711240"/>
                </a:lnTo>
                <a:lnTo>
                  <a:pt x="0" y="0"/>
                </a:lnTo>
                <a:close/>
              </a:path>
            </a:pathLst>
          </a:custGeom>
        </p:spPr>
        <p:style>
          <a:lnRef idx="2">
            <a:schemeClr val="accent1">
              <a:alpha val="90000"/>
              <a:tint val="55000"/>
              <a:hueOff val="0"/>
              <a:satOff val="0"/>
              <a:lumOff val="0"/>
              <a:alphaOff val="0"/>
            </a:schemeClr>
          </a:lnRef>
          <a:fillRef idx="1">
            <a:schemeClr val="accent1">
              <a:alpha val="90000"/>
              <a:tint val="55000"/>
              <a:hueOff val="0"/>
              <a:satOff val="0"/>
              <a:lumOff val="0"/>
              <a:alphaOff val="0"/>
            </a:schemeClr>
          </a:fillRef>
          <a:effectRef idx="0">
            <a:schemeClr val="accent1">
              <a:alpha val="90000"/>
              <a:tint val="55000"/>
              <a:hueOff val="0"/>
              <a:satOff val="0"/>
              <a:lumOff val="0"/>
              <a:alphaOff val="0"/>
            </a:schemeClr>
          </a:effectRef>
          <a:fontRef idx="minor">
            <a:schemeClr val="dk1">
              <a:hueOff val="0"/>
              <a:satOff val="0"/>
              <a:lumOff val="0"/>
              <a:alphaOff val="0"/>
            </a:schemeClr>
          </a:fontRef>
        </p:style>
        <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High Memory</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z1d</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C5/C5n</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M5</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R5</a:t>
            </a:r>
          </a:p>
          <a:p>
            <a:pPr marL="228600" lvl="1" indent="-228600" algn="l" defTabSz="1155700">
              <a:lnSpc>
                <a:spcPct val="90000"/>
              </a:lnSpc>
              <a:spcBef>
                <a:spcPct val="0"/>
              </a:spcBef>
              <a:spcAft>
                <a:spcPct val="15000"/>
              </a:spcAft>
              <a:buChar char="••"/>
            </a:pPr>
            <a:r>
              <a:rPr lang="en-US" sz="2600" kern="1200">
                <a:latin typeface="Amazon Ember Light" panose="020B0403020204020204" pitchFamily="34" charset="0"/>
                <a:ea typeface="Amazon Ember Light" panose="020B0403020204020204" pitchFamily="34" charset="0"/>
                <a:cs typeface="Amazon Ember Light" panose="020B0403020204020204" pitchFamily="34" charset="0"/>
              </a:rPr>
              <a:t>T3</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8192" y="4303393"/>
            <a:ext cx="1130494" cy="1130494"/>
          </a:xfrm>
          <a:prstGeom prst="rect">
            <a:avLst/>
          </a:prstGeom>
        </p:spPr>
      </p:pic>
      <p:pic>
        <p:nvPicPr>
          <p:cNvPr id="15" name="Picture 2" descr="https://www.intel.com/content/dam/products/hero/foreground/processor-badge-xeon-1x1.png.rendition.intel.web.225.22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658" y="4245028"/>
            <a:ext cx="1247224" cy="124722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s://www.intel.com/content/dam/products/hero/foreground/processor-badge-xeon-1x1.png.rendition.intel.web.225.22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4037" y="4245028"/>
            <a:ext cx="1247224" cy="1247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79597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Instance Generations and Cost</a:t>
            </a:r>
          </a:p>
        </p:txBody>
      </p:sp>
      <p:sp>
        <p:nvSpPr>
          <p:cNvPr id="3" name="Content Placeholder 2"/>
          <p:cNvSpPr>
            <a:spLocks noGrp="1"/>
          </p:cNvSpPr>
          <p:nvPr>
            <p:ph idx="1"/>
          </p:nvPr>
        </p:nvSpPr>
        <p:spPr>
          <a:xfrm>
            <a:off x="2062653" y="1419800"/>
            <a:ext cx="8623409" cy="1085181"/>
          </a:xfrm>
        </p:spPr>
        <p:txBody>
          <a:bodyPr>
            <a:normAutofit/>
          </a:bodyPr>
          <a:lstStyle/>
          <a:p>
            <a:pPr marL="0" indent="0" algn="ctr">
              <a:buNone/>
            </a:pPr>
            <a:r>
              <a:rPr lang="en-US" sz="3200"/>
              <a:t>Newer generation instances generally have better price-to-performance ratios</a:t>
            </a:r>
          </a:p>
        </p:txBody>
      </p:sp>
      <p:graphicFrame>
        <p:nvGraphicFramePr>
          <p:cNvPr id="6" name="Chart 5"/>
          <p:cNvGraphicFramePr/>
          <p:nvPr>
            <p:extLst>
              <p:ext uri="{D42A27DB-BD31-4B8C-83A1-F6EECF244321}">
                <p14:modId xmlns:p14="http://schemas.microsoft.com/office/powerpoint/2010/main" val="1037117880"/>
              </p:ext>
            </p:extLst>
          </p:nvPr>
        </p:nvGraphicFramePr>
        <p:xfrm>
          <a:off x="2885001" y="2708878"/>
          <a:ext cx="6978714" cy="361214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17397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a:t>Amazon EC2 Pricing Options</a:t>
            </a:r>
          </a:p>
        </p:txBody>
      </p:sp>
    </p:spTree>
    <p:extLst>
      <p:ext uri="{BB962C8B-B14F-4D97-AF65-F5344CB8AC3E}">
        <p14:creationId xmlns:p14="http://schemas.microsoft.com/office/powerpoint/2010/main" val="17748096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EC2 Pricing Options</a:t>
            </a:r>
          </a:p>
        </p:txBody>
      </p:sp>
      <p:pic>
        <p:nvPicPr>
          <p:cNvPr id="6" name="Picture 5">
            <a:extLst>
              <a:ext uri="{FF2B5EF4-FFF2-40B4-BE49-F238E27FC236}">
                <a16:creationId xmlns:a16="http://schemas.microsoft.com/office/drawing/2014/main" xmlns="" id="{609E8202-81DD-7840-BB42-08420EDB9099}"/>
              </a:ext>
            </a:extLst>
          </p:cNvPr>
          <p:cNvPicPr>
            <a:picLocks noChangeAspect="1"/>
          </p:cNvPicPr>
          <p:nvPr/>
        </p:nvPicPr>
        <p:blipFill>
          <a:blip r:embed="rId3"/>
          <a:stretch>
            <a:fillRect/>
          </a:stretch>
        </p:blipFill>
        <p:spPr>
          <a:xfrm>
            <a:off x="1024984" y="3314933"/>
            <a:ext cx="1331134" cy="1331132"/>
          </a:xfrm>
          <a:prstGeom prst="rect">
            <a:avLst/>
          </a:prstGeom>
        </p:spPr>
      </p:pic>
      <p:sp>
        <p:nvSpPr>
          <p:cNvPr id="12" name="Rectangle 11">
            <a:extLst>
              <a:ext uri="{FF2B5EF4-FFF2-40B4-BE49-F238E27FC236}">
                <a16:creationId xmlns:a16="http://schemas.microsoft.com/office/drawing/2014/main" xmlns="" id="{0561A062-B43E-4C4E-AE0D-699E6DDD496C}"/>
              </a:ext>
            </a:extLst>
          </p:cNvPr>
          <p:cNvSpPr/>
          <p:nvPr/>
        </p:nvSpPr>
        <p:spPr>
          <a:xfrm>
            <a:off x="425621" y="1863546"/>
            <a:ext cx="2529859" cy="369332"/>
          </a:xfrm>
          <a:prstGeom prst="rect">
            <a:avLst/>
          </a:prstGeom>
        </p:spPr>
        <p:txBody>
          <a:bodyPr wrap="none">
            <a:spAutoFit/>
          </a:bodyPr>
          <a:lstStyle/>
          <a:p>
            <a:pPr marL="0" lvl="1" algn="ctr"/>
            <a:r>
              <a:rPr lang="en-US" sz="1800">
                <a:solidFill>
                  <a:schemeClr val="tx1">
                    <a:lumMod val="75000"/>
                    <a:lumOff val="25000"/>
                  </a:schemeClr>
                </a:solidFill>
                <a:latin typeface="Amazon Ember Medium" panose="020B0603020204030204" pitchFamily="34" charset="0"/>
                <a:ea typeface="Amazon Ember Medium" panose="020B0603020204030204" pitchFamily="34" charset="0"/>
                <a:cs typeface="Amazon Ember Medium" panose="020B0603020204030204" pitchFamily="34" charset="0"/>
              </a:rPr>
              <a:t>On-Demand Instances</a:t>
            </a:r>
          </a:p>
        </p:txBody>
      </p:sp>
      <p:sp>
        <p:nvSpPr>
          <p:cNvPr id="13" name="Rectangle 12">
            <a:extLst>
              <a:ext uri="{FF2B5EF4-FFF2-40B4-BE49-F238E27FC236}">
                <a16:creationId xmlns:a16="http://schemas.microsoft.com/office/drawing/2014/main" xmlns="" id="{7AC85F76-4F4E-7D4A-94CA-D838519DA632}"/>
              </a:ext>
            </a:extLst>
          </p:cNvPr>
          <p:cNvSpPr/>
          <p:nvPr/>
        </p:nvSpPr>
        <p:spPr>
          <a:xfrm>
            <a:off x="764283" y="2430417"/>
            <a:ext cx="1852537" cy="3100165"/>
          </a:xfrm>
          <a:prstGeom prst="rect">
            <a:avLst/>
          </a:prstGeom>
          <a:noFill/>
          <a:ln w="381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xmlns="" id="{9531CFEC-03F9-804D-B3C9-D40ECCE2DCF0}"/>
              </a:ext>
            </a:extLst>
          </p:cNvPr>
          <p:cNvPicPr>
            <a:picLocks noChangeAspect="1"/>
          </p:cNvPicPr>
          <p:nvPr/>
        </p:nvPicPr>
        <p:blipFill>
          <a:blip r:embed="rId4"/>
          <a:stretch>
            <a:fillRect/>
          </a:stretch>
        </p:blipFill>
        <p:spPr>
          <a:xfrm>
            <a:off x="9588544" y="3314933"/>
            <a:ext cx="1241450" cy="1241450"/>
          </a:xfrm>
          <a:prstGeom prst="rect">
            <a:avLst/>
          </a:prstGeom>
        </p:spPr>
      </p:pic>
      <p:sp>
        <p:nvSpPr>
          <p:cNvPr id="14" name="Rectangle 13">
            <a:extLst>
              <a:ext uri="{FF2B5EF4-FFF2-40B4-BE49-F238E27FC236}">
                <a16:creationId xmlns:a16="http://schemas.microsoft.com/office/drawing/2014/main" xmlns="" id="{DABF390D-9742-6942-BC89-1B04DCCDB24E}"/>
              </a:ext>
            </a:extLst>
          </p:cNvPr>
          <p:cNvSpPr/>
          <p:nvPr/>
        </p:nvSpPr>
        <p:spPr>
          <a:xfrm>
            <a:off x="9283001" y="2430417"/>
            <a:ext cx="1852537" cy="310016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224CCB50-06DC-F44D-8BD0-65A289896CD8}"/>
              </a:ext>
            </a:extLst>
          </p:cNvPr>
          <p:cNvSpPr/>
          <p:nvPr/>
        </p:nvSpPr>
        <p:spPr>
          <a:xfrm>
            <a:off x="9343487" y="1860282"/>
            <a:ext cx="1731564" cy="369332"/>
          </a:xfrm>
          <a:prstGeom prst="rect">
            <a:avLst/>
          </a:prstGeom>
        </p:spPr>
        <p:txBody>
          <a:bodyPr wrap="none">
            <a:spAutoFit/>
          </a:bodyPr>
          <a:lstStyle/>
          <a:p>
            <a:pPr marL="0" lvl="1" algn="ctr"/>
            <a:r>
              <a:rPr lang="en-US" sz="1800">
                <a:solidFill>
                  <a:schemeClr val="tx1">
                    <a:lumMod val="75000"/>
                    <a:lumOff val="25000"/>
                  </a:schemeClr>
                </a:solidFill>
                <a:latin typeface="Amazon Ember Medium" panose="020B0603020204030204" pitchFamily="34" charset="0"/>
                <a:ea typeface="Amazon Ember Medium" panose="020B0603020204030204" pitchFamily="34" charset="0"/>
                <a:cs typeface="Amazon Ember Medium" panose="020B0603020204030204" pitchFamily="34" charset="0"/>
              </a:rPr>
              <a:t>Spot Instances</a:t>
            </a:r>
          </a:p>
        </p:txBody>
      </p:sp>
      <p:pic>
        <p:nvPicPr>
          <p:cNvPr id="10" name="Picture 9">
            <a:extLst>
              <a:ext uri="{FF2B5EF4-FFF2-40B4-BE49-F238E27FC236}">
                <a16:creationId xmlns:a16="http://schemas.microsoft.com/office/drawing/2014/main" xmlns="" id="{3327A02C-F712-204B-937A-5C312F5C0E08}"/>
              </a:ext>
            </a:extLst>
          </p:cNvPr>
          <p:cNvPicPr>
            <a:picLocks noChangeAspect="1"/>
          </p:cNvPicPr>
          <p:nvPr/>
        </p:nvPicPr>
        <p:blipFill>
          <a:blip r:embed="rId5"/>
          <a:stretch>
            <a:fillRect/>
          </a:stretch>
        </p:blipFill>
        <p:spPr>
          <a:xfrm>
            <a:off x="3930914" y="3314933"/>
            <a:ext cx="1198420" cy="1198420"/>
          </a:xfrm>
          <a:prstGeom prst="rect">
            <a:avLst/>
          </a:prstGeom>
        </p:spPr>
      </p:pic>
      <p:sp>
        <p:nvSpPr>
          <p:cNvPr id="15" name="Rectangle 14">
            <a:extLst>
              <a:ext uri="{FF2B5EF4-FFF2-40B4-BE49-F238E27FC236}">
                <a16:creationId xmlns:a16="http://schemas.microsoft.com/office/drawing/2014/main" xmlns="" id="{2B23F176-C432-8F45-8297-B83234581479}"/>
              </a:ext>
            </a:extLst>
          </p:cNvPr>
          <p:cNvSpPr/>
          <p:nvPr/>
        </p:nvSpPr>
        <p:spPr>
          <a:xfrm>
            <a:off x="6443429" y="2430417"/>
            <a:ext cx="1852537" cy="3100165"/>
          </a:xfrm>
          <a:prstGeom prst="rect">
            <a:avLst/>
          </a:prstGeom>
          <a:noFill/>
          <a:ln w="38100">
            <a:solidFill>
              <a:srgbClr val="DB6F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BA705597-64DB-914D-B5B7-9A17C3292135}"/>
              </a:ext>
            </a:extLst>
          </p:cNvPr>
          <p:cNvSpPr/>
          <p:nvPr/>
        </p:nvSpPr>
        <p:spPr>
          <a:xfrm>
            <a:off x="3431105" y="1858216"/>
            <a:ext cx="2198038" cy="369332"/>
          </a:xfrm>
          <a:prstGeom prst="rect">
            <a:avLst/>
          </a:prstGeom>
        </p:spPr>
        <p:txBody>
          <a:bodyPr wrap="none">
            <a:spAutoFit/>
          </a:bodyPr>
          <a:lstStyle/>
          <a:p>
            <a:pPr marL="0" lvl="1" algn="ctr"/>
            <a:r>
              <a:rPr lang="en-US" sz="1800">
                <a:solidFill>
                  <a:schemeClr val="tx1">
                    <a:lumMod val="75000"/>
                    <a:lumOff val="25000"/>
                  </a:schemeClr>
                </a:solidFill>
                <a:latin typeface="Amazon Ember Medium" panose="020B0603020204030204" pitchFamily="34" charset="0"/>
                <a:ea typeface="Amazon Ember Medium" panose="020B0603020204030204" pitchFamily="34" charset="0"/>
                <a:cs typeface="Amazon Ember Medium" panose="020B0603020204030204" pitchFamily="34" charset="0"/>
              </a:rPr>
              <a:t>Reserved Instances</a:t>
            </a:r>
          </a:p>
        </p:txBody>
      </p:sp>
      <p:sp>
        <p:nvSpPr>
          <p:cNvPr id="22" name="Rectangle 21">
            <a:extLst>
              <a:ext uri="{FF2B5EF4-FFF2-40B4-BE49-F238E27FC236}">
                <a16:creationId xmlns:a16="http://schemas.microsoft.com/office/drawing/2014/main" xmlns="" id="{BA705597-64DB-914D-B5B7-9A17C3292135}"/>
              </a:ext>
            </a:extLst>
          </p:cNvPr>
          <p:cNvSpPr/>
          <p:nvPr/>
        </p:nvSpPr>
        <p:spPr>
          <a:xfrm>
            <a:off x="6555211" y="1858216"/>
            <a:ext cx="1628972" cy="369332"/>
          </a:xfrm>
          <a:prstGeom prst="rect">
            <a:avLst/>
          </a:prstGeom>
        </p:spPr>
        <p:txBody>
          <a:bodyPr wrap="none">
            <a:spAutoFit/>
          </a:bodyPr>
          <a:lstStyle/>
          <a:p>
            <a:pPr marL="0" lvl="1" algn="ctr"/>
            <a:r>
              <a:rPr lang="en-US" sz="1800">
                <a:solidFill>
                  <a:schemeClr val="tx1">
                    <a:lumMod val="75000"/>
                    <a:lumOff val="25000"/>
                  </a:schemeClr>
                </a:solidFill>
                <a:latin typeface="Amazon Ember Medium" panose="020B0603020204030204" pitchFamily="34" charset="0"/>
                <a:ea typeface="Amazon Ember Medium" panose="020B0603020204030204" pitchFamily="34" charset="0"/>
                <a:cs typeface="Amazon Ember Medium" panose="020B0603020204030204" pitchFamily="34" charset="0"/>
              </a:rPr>
              <a:t>Savings Plans</a:t>
            </a:r>
          </a:p>
        </p:txBody>
      </p:sp>
      <p:sp>
        <p:nvSpPr>
          <p:cNvPr id="23" name="Rectangle 22">
            <a:extLst>
              <a:ext uri="{FF2B5EF4-FFF2-40B4-BE49-F238E27FC236}">
                <a16:creationId xmlns:a16="http://schemas.microsoft.com/office/drawing/2014/main" xmlns="" id="{2B23F176-C432-8F45-8297-B83234581479}"/>
              </a:ext>
            </a:extLst>
          </p:cNvPr>
          <p:cNvSpPr/>
          <p:nvPr/>
        </p:nvSpPr>
        <p:spPr>
          <a:xfrm>
            <a:off x="3603856" y="2430417"/>
            <a:ext cx="1852537" cy="3100165"/>
          </a:xfrm>
          <a:prstGeom prst="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xmlns="" id="{17D905C5-19F0-CF4C-8E57-45EC360AD592}"/>
              </a:ext>
            </a:extLst>
          </p:cNvPr>
          <p:cNvPicPr>
            <a:picLocks noChangeAspect="1"/>
          </p:cNvPicPr>
          <p:nvPr/>
        </p:nvPicPr>
        <p:blipFill>
          <a:blip r:embed="rId6">
            <a:duotone>
              <a:schemeClr val="accent3">
                <a:shade val="45000"/>
                <a:satMod val="135000"/>
              </a:schemeClr>
              <a:prstClr val="white"/>
            </a:duotone>
          </a:blip>
          <a:stretch>
            <a:fillRect/>
          </a:stretch>
        </p:blipFill>
        <p:spPr>
          <a:xfrm>
            <a:off x="6738706" y="3299693"/>
            <a:ext cx="1261981" cy="1361612"/>
          </a:xfrm>
          <a:prstGeom prst="rect">
            <a:avLst/>
          </a:prstGeom>
        </p:spPr>
      </p:pic>
    </p:spTree>
    <p:extLst>
      <p:ext uri="{BB962C8B-B14F-4D97-AF65-F5344CB8AC3E}">
        <p14:creationId xmlns:p14="http://schemas.microsoft.com/office/powerpoint/2010/main" val="15264695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On-Demand Instances</a:t>
            </a:r>
          </a:p>
        </p:txBody>
      </p:sp>
      <p:sp>
        <p:nvSpPr>
          <p:cNvPr id="5" name="Rectangle 4">
            <a:extLst>
              <a:ext uri="{FF2B5EF4-FFF2-40B4-BE49-F238E27FC236}">
                <a16:creationId xmlns:a16="http://schemas.microsoft.com/office/drawing/2014/main" xmlns="" id="{D790D076-D7A9-8747-A7BC-585401DEB80E}"/>
              </a:ext>
            </a:extLst>
          </p:cNvPr>
          <p:cNvSpPr/>
          <p:nvPr/>
        </p:nvSpPr>
        <p:spPr>
          <a:xfrm>
            <a:off x="2232003" y="1927857"/>
            <a:ext cx="9515502" cy="2862322"/>
          </a:xfrm>
          <a:prstGeom prst="rect">
            <a:avLst/>
          </a:prstGeom>
        </p:spPr>
        <p:txBody>
          <a:bodyPr wrap="square">
            <a:spAutoFit/>
          </a:bodyPr>
          <a:lstStyle/>
          <a:p>
            <a:pPr marL="285750" marR="0" lvl="1" indent="-285750">
              <a:spcBef>
                <a:spcPts val="0"/>
              </a:spcBef>
              <a:spcAft>
                <a:spcPts val="0"/>
              </a:spcAft>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Pay for compute capacity per second (Amazon Linux and Ubuntu) or by the hour (all other OS)</a:t>
            </a:r>
          </a:p>
          <a:p>
            <a:pPr marL="285750" marR="0" lvl="1" indent="-285750">
              <a:spcBef>
                <a:spcPts val="0"/>
              </a:spcBef>
              <a:spcAft>
                <a:spcPts val="0"/>
              </a:spcAft>
              <a:buClr>
                <a:schemeClr val="tx1">
                  <a:lumMod val="85000"/>
                  <a:lumOff val="15000"/>
                </a:schemeClr>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marR="0" lvl="1" indent="-285750">
              <a:spcBef>
                <a:spcPts val="0"/>
              </a:spcBef>
              <a:spcAft>
                <a:spcPts val="0"/>
              </a:spcAft>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No long-term commitments</a:t>
            </a:r>
          </a:p>
          <a:p>
            <a:pPr marL="285750" marR="0" lvl="1" indent="-285750">
              <a:spcBef>
                <a:spcPts val="0"/>
              </a:spcBef>
              <a:spcAft>
                <a:spcPts val="0"/>
              </a:spcAft>
              <a:buClr>
                <a:schemeClr val="tx1">
                  <a:lumMod val="85000"/>
                  <a:lumOff val="15000"/>
                </a:schemeClr>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marR="0" lvl="1" indent="-285750">
              <a:spcBef>
                <a:spcPts val="0"/>
              </a:spcBef>
              <a:spcAft>
                <a:spcPts val="0"/>
              </a:spcAft>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No upfront payments</a:t>
            </a:r>
          </a:p>
          <a:p>
            <a:pPr marL="285750" marR="0" lvl="1" indent="-285750">
              <a:spcBef>
                <a:spcPts val="0"/>
              </a:spcBef>
              <a:spcAft>
                <a:spcPts val="0"/>
              </a:spcAft>
              <a:buClr>
                <a:schemeClr val="tx1">
                  <a:lumMod val="85000"/>
                  <a:lumOff val="15000"/>
                </a:schemeClr>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marR="0" lvl="1" indent="-285750">
              <a:spcBef>
                <a:spcPts val="0"/>
              </a:spcBef>
              <a:spcAft>
                <a:spcPts val="0"/>
              </a:spcAft>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Increase or decrease your compute capacity depending on the demands of your application</a:t>
            </a:r>
            <a:endParaRPr lang="en-US" sz="2000">
              <a:effectLst/>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8" name="Group 7">
            <a:extLst>
              <a:ext uri="{FF2B5EF4-FFF2-40B4-BE49-F238E27FC236}">
                <a16:creationId xmlns:a16="http://schemas.microsoft.com/office/drawing/2014/main" xmlns="" id="{9AF1D5EF-8035-7B4F-BA73-2A4956E9C05F}"/>
              </a:ext>
            </a:extLst>
          </p:cNvPr>
          <p:cNvGrpSpPr/>
          <p:nvPr/>
        </p:nvGrpSpPr>
        <p:grpSpPr>
          <a:xfrm>
            <a:off x="788214" y="2031181"/>
            <a:ext cx="1018814" cy="1364648"/>
            <a:chOff x="1310727" y="2885496"/>
            <a:chExt cx="2314509" cy="3100165"/>
          </a:xfrm>
        </p:grpSpPr>
        <p:pic>
          <p:nvPicPr>
            <p:cNvPr id="6" name="Picture 5">
              <a:extLst>
                <a:ext uri="{FF2B5EF4-FFF2-40B4-BE49-F238E27FC236}">
                  <a16:creationId xmlns:a16="http://schemas.microsoft.com/office/drawing/2014/main" xmlns="" id="{9DFAB4CD-74F4-9E44-ABC5-066A083BDEF7}"/>
                </a:ext>
              </a:extLst>
            </p:cNvPr>
            <p:cNvPicPr>
              <a:picLocks noChangeAspect="1"/>
            </p:cNvPicPr>
            <p:nvPr/>
          </p:nvPicPr>
          <p:blipFill>
            <a:blip r:embed="rId3"/>
            <a:stretch>
              <a:fillRect/>
            </a:stretch>
          </p:blipFill>
          <p:spPr>
            <a:xfrm>
              <a:off x="1603052" y="3542896"/>
              <a:ext cx="1729861" cy="1729861"/>
            </a:xfrm>
            <a:prstGeom prst="rect">
              <a:avLst/>
            </a:prstGeom>
          </p:spPr>
        </p:pic>
        <p:sp>
          <p:nvSpPr>
            <p:cNvPr id="7" name="Rectangle 6">
              <a:extLst>
                <a:ext uri="{FF2B5EF4-FFF2-40B4-BE49-F238E27FC236}">
                  <a16:creationId xmlns:a16="http://schemas.microsoft.com/office/drawing/2014/main" xmlns="" id="{721C5D55-85CD-1642-A94D-F741F2FE79A8}"/>
                </a:ext>
              </a:extLst>
            </p:cNvPr>
            <p:cNvSpPr/>
            <p:nvPr/>
          </p:nvSpPr>
          <p:spPr>
            <a:xfrm>
              <a:off x="1310727" y="2885496"/>
              <a:ext cx="2314509" cy="3100165"/>
            </a:xfrm>
            <a:prstGeom prst="rect">
              <a:avLst/>
            </a:prstGeom>
            <a:noFill/>
            <a:ln w="381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xmlns="" id="{B9DC6FA8-F2D2-2843-8940-03C25AE3F82E}"/>
              </a:ext>
            </a:extLst>
          </p:cNvPr>
          <p:cNvSpPr txBox="1"/>
          <p:nvPr/>
        </p:nvSpPr>
        <p:spPr>
          <a:xfrm>
            <a:off x="2232003" y="5367265"/>
            <a:ext cx="8758990"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Solves the need for immediate compute capacity</a:t>
            </a:r>
          </a:p>
        </p:txBody>
      </p:sp>
    </p:spTree>
    <p:extLst>
      <p:ext uri="{BB962C8B-B14F-4D97-AF65-F5344CB8AC3E}">
        <p14:creationId xmlns:p14="http://schemas.microsoft.com/office/powerpoint/2010/main" val="380196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Reserved Instances</a:t>
            </a:r>
          </a:p>
        </p:txBody>
      </p:sp>
      <p:sp>
        <p:nvSpPr>
          <p:cNvPr id="5" name="Rectangle 4">
            <a:extLst>
              <a:ext uri="{FF2B5EF4-FFF2-40B4-BE49-F238E27FC236}">
                <a16:creationId xmlns:a16="http://schemas.microsoft.com/office/drawing/2014/main" xmlns="" id="{D790D076-D7A9-8747-A7BC-585401DEB80E}"/>
              </a:ext>
            </a:extLst>
          </p:cNvPr>
          <p:cNvSpPr/>
          <p:nvPr/>
        </p:nvSpPr>
        <p:spPr>
          <a:xfrm>
            <a:off x="2232003" y="1927857"/>
            <a:ext cx="9515502" cy="3785652"/>
          </a:xfrm>
          <a:prstGeom prst="rect">
            <a:avLst/>
          </a:prstGeom>
        </p:spPr>
        <p:txBody>
          <a:bodyPr wrap="square">
            <a:spAutoFit/>
          </a:bodyPr>
          <a:lstStyle/>
          <a:p>
            <a:pPr marL="0" marR="0" lvl="1">
              <a:spcBef>
                <a:spcPts val="0"/>
              </a:spcBef>
              <a:spcAft>
                <a:spcPts val="0"/>
              </a:spcAft>
              <a:buClr>
                <a:schemeClr val="accent2"/>
              </a:buCl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Can provide a significant discount for your architectures.</a:t>
            </a:r>
          </a:p>
          <a:p>
            <a:pPr marL="285750" marR="0" lvl="1" indent="-285750">
              <a:spcBef>
                <a:spcPts val="0"/>
              </a:spcBef>
              <a:spcAft>
                <a:spcPts val="0"/>
              </a:spcAft>
              <a:buClr>
                <a:schemeClr val="accent2"/>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742449" lvl="2" indent="-285750">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Pre-pay for capacity</a:t>
            </a:r>
          </a:p>
          <a:p>
            <a:pPr marL="742449" lvl="2" indent="-285750">
              <a:buClr>
                <a:schemeClr val="tx1">
                  <a:lumMod val="85000"/>
                  <a:lumOff val="15000"/>
                </a:schemeClr>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742449" lvl="2" indent="-285750">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Standard RI, Convertible RIs, Scheduled RIs</a:t>
            </a:r>
          </a:p>
          <a:p>
            <a:pPr marL="456699" lvl="2">
              <a:buClr>
                <a:schemeClr val="tx1">
                  <a:lumMod val="85000"/>
                  <a:lumOff val="15000"/>
                </a:schemeClr>
              </a:buCl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742449" lvl="2" indent="-285750">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Three upfront payment methods</a:t>
            </a:r>
          </a:p>
          <a:p>
            <a:pPr marL="742449" lvl="2" indent="-285750">
              <a:buClr>
                <a:schemeClr val="tx1">
                  <a:lumMod val="85000"/>
                  <a:lumOff val="15000"/>
                </a:schemeClr>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742449" lvl="2" indent="-285750">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Can be shared between multiple accounts (within a billing family)</a:t>
            </a:r>
          </a:p>
          <a:p>
            <a:pPr marL="742449" lvl="2" indent="-285750">
              <a:buClr>
                <a:schemeClr val="accent2"/>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marR="0" lvl="1" indent="-285750">
              <a:spcBef>
                <a:spcPts val="0"/>
              </a:spcBef>
              <a:spcAft>
                <a:spcPts val="0"/>
              </a:spcAft>
              <a:buClr>
                <a:schemeClr val="accent2"/>
              </a:buClr>
              <a:buFont typeface="Arial" panose="020B0604020202020204" pitchFamily="34" charset="0"/>
              <a:buChar char="•"/>
            </a:pPr>
            <a:endParaRPr lang="en-US" sz="2000">
              <a:latin typeface="Amazon Ember" panose="020B0603020204020204" pitchFamily="34" charset="0"/>
              <a:ea typeface="Amazon Ember" panose="020B0603020204020204" pitchFamily="34" charset="0"/>
              <a:cs typeface="Amazon Ember" panose="020B0603020204020204" pitchFamily="34" charset="0"/>
            </a:endParaRPr>
          </a:p>
          <a:p>
            <a:pPr marL="285750" marR="0" lvl="1" indent="-285750">
              <a:spcBef>
                <a:spcPts val="0"/>
              </a:spcBef>
              <a:spcAft>
                <a:spcPts val="0"/>
              </a:spcAft>
              <a:buClr>
                <a:schemeClr val="accent2"/>
              </a:buClr>
              <a:buFont typeface="Arial" panose="020B0604020202020204" pitchFamily="34" charset="0"/>
              <a:buChar char="•"/>
            </a:pPr>
            <a:endParaRPr lang="en-US" sz="200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Rectangle 6">
            <a:extLst>
              <a:ext uri="{FF2B5EF4-FFF2-40B4-BE49-F238E27FC236}">
                <a16:creationId xmlns:a16="http://schemas.microsoft.com/office/drawing/2014/main" xmlns="" id="{721C5D55-85CD-1642-A94D-F741F2FE79A8}"/>
              </a:ext>
            </a:extLst>
          </p:cNvPr>
          <p:cNvSpPr/>
          <p:nvPr/>
        </p:nvSpPr>
        <p:spPr>
          <a:xfrm>
            <a:off x="788214" y="2031181"/>
            <a:ext cx="1018814" cy="1364648"/>
          </a:xfrm>
          <a:prstGeom prst="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xmlns="" id="{96E7E454-B77F-A946-A82A-2B0F029BB410}"/>
              </a:ext>
            </a:extLst>
          </p:cNvPr>
          <p:cNvPicPr>
            <a:picLocks noChangeAspect="1"/>
          </p:cNvPicPr>
          <p:nvPr/>
        </p:nvPicPr>
        <p:blipFill>
          <a:blip r:embed="rId3"/>
          <a:stretch>
            <a:fillRect/>
          </a:stretch>
        </p:blipFill>
        <p:spPr>
          <a:xfrm>
            <a:off x="903514" y="2319398"/>
            <a:ext cx="788214" cy="788214"/>
          </a:xfrm>
          <a:prstGeom prst="rect">
            <a:avLst/>
          </a:prstGeom>
        </p:spPr>
      </p:pic>
      <p:sp>
        <p:nvSpPr>
          <p:cNvPr id="8" name="TextBox 7">
            <a:extLst>
              <a:ext uri="{FF2B5EF4-FFF2-40B4-BE49-F238E27FC236}">
                <a16:creationId xmlns:a16="http://schemas.microsoft.com/office/drawing/2014/main" xmlns="" id="{042A451E-F0D6-0E45-BC30-DCD36ECBAA17}"/>
              </a:ext>
            </a:extLst>
          </p:cNvPr>
          <p:cNvSpPr txBox="1"/>
          <p:nvPr/>
        </p:nvSpPr>
        <p:spPr>
          <a:xfrm>
            <a:off x="2232003" y="5367265"/>
            <a:ext cx="8758990"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Provides the ability to reserve capacity ahead of time, reducing cost</a:t>
            </a:r>
          </a:p>
        </p:txBody>
      </p:sp>
      <p:sp>
        <p:nvSpPr>
          <p:cNvPr id="3" name="TextBox 2">
            <a:extLst>
              <a:ext uri="{FF2B5EF4-FFF2-40B4-BE49-F238E27FC236}">
                <a16:creationId xmlns:a16="http://schemas.microsoft.com/office/drawing/2014/main" xmlns="" id="{3719121A-2C03-2A4A-9366-7AC9135598E1}"/>
              </a:ext>
            </a:extLst>
          </p:cNvPr>
          <p:cNvSpPr txBox="1"/>
          <p:nvPr/>
        </p:nvSpPr>
        <p:spPr>
          <a:xfrm>
            <a:off x="5694947" y="5736277"/>
            <a:ext cx="184731" cy="36901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3074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Savings Plans</a:t>
            </a:r>
          </a:p>
        </p:txBody>
      </p:sp>
      <p:sp>
        <p:nvSpPr>
          <p:cNvPr id="5" name="Rectangle 4">
            <a:extLst>
              <a:ext uri="{FF2B5EF4-FFF2-40B4-BE49-F238E27FC236}">
                <a16:creationId xmlns:a16="http://schemas.microsoft.com/office/drawing/2014/main" xmlns="" id="{D790D076-D7A9-8747-A7BC-585401DEB80E}"/>
              </a:ext>
            </a:extLst>
          </p:cNvPr>
          <p:cNvSpPr/>
          <p:nvPr/>
        </p:nvSpPr>
        <p:spPr>
          <a:xfrm>
            <a:off x="1803707" y="2031181"/>
            <a:ext cx="9515502" cy="2554545"/>
          </a:xfrm>
          <a:prstGeom prst="rect">
            <a:avLst/>
          </a:prstGeom>
        </p:spPr>
        <p:txBody>
          <a:bodyPr wrap="square">
            <a:spAutoFit/>
          </a:bodyPr>
          <a:lstStyle/>
          <a:p>
            <a:pPr marL="799599" lvl="2" indent="-342900">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Compute Savings Plans provide the most flexibility and help to reduce your costs by up to 66%</a:t>
            </a:r>
          </a:p>
          <a:p>
            <a:pPr marL="799599" lvl="2" indent="-342900">
              <a:buClr>
                <a:schemeClr val="tx1">
                  <a:lumMod val="85000"/>
                  <a:lumOff val="15000"/>
                </a:schemeClr>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799599" lvl="2" indent="-342900">
              <a:buClr>
                <a:schemeClr val="tx1">
                  <a:lumMod val="85000"/>
                  <a:lumOff val="15000"/>
                </a:schemeClr>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EC2 Instance Savings Plans apply to a specific instance family within a Region and provide the largest discount (up to 72%, just like Standard RIs)</a:t>
            </a:r>
          </a:p>
          <a:p>
            <a:pPr marL="742449" lvl="2" indent="-285750">
              <a:buClr>
                <a:schemeClr val="accent2"/>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marR="0" lvl="1" indent="-285750">
              <a:spcBef>
                <a:spcPts val="0"/>
              </a:spcBef>
              <a:spcAft>
                <a:spcPts val="0"/>
              </a:spcAft>
              <a:buClr>
                <a:schemeClr val="accent2"/>
              </a:buClr>
              <a:buFont typeface="Arial" panose="020B0604020202020204" pitchFamily="34" charset="0"/>
              <a:buChar char="•"/>
            </a:pPr>
            <a:endParaRPr lang="en-US" sz="2000">
              <a:latin typeface="Amazon Ember" panose="020B0603020204020204" pitchFamily="34" charset="0"/>
              <a:ea typeface="Amazon Ember" panose="020B0603020204020204" pitchFamily="34" charset="0"/>
              <a:cs typeface="Amazon Ember" panose="020B0603020204020204" pitchFamily="34" charset="0"/>
            </a:endParaRPr>
          </a:p>
          <a:p>
            <a:pPr marL="285750" marR="0" lvl="1" indent="-285750">
              <a:spcBef>
                <a:spcPts val="0"/>
              </a:spcBef>
              <a:spcAft>
                <a:spcPts val="0"/>
              </a:spcAft>
              <a:buClr>
                <a:schemeClr val="accent2"/>
              </a:buClr>
              <a:buFont typeface="Arial" panose="020B0604020202020204" pitchFamily="34" charset="0"/>
              <a:buChar char="•"/>
            </a:pPr>
            <a:endParaRPr lang="en-US" sz="200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Rectangle 6">
            <a:extLst>
              <a:ext uri="{FF2B5EF4-FFF2-40B4-BE49-F238E27FC236}">
                <a16:creationId xmlns:a16="http://schemas.microsoft.com/office/drawing/2014/main" xmlns="" id="{721C5D55-85CD-1642-A94D-F741F2FE79A8}"/>
              </a:ext>
            </a:extLst>
          </p:cNvPr>
          <p:cNvSpPr/>
          <p:nvPr/>
        </p:nvSpPr>
        <p:spPr>
          <a:xfrm>
            <a:off x="788214" y="2031181"/>
            <a:ext cx="1018814" cy="1364648"/>
          </a:xfrm>
          <a:prstGeom prst="rect">
            <a:avLst/>
          </a:prstGeom>
          <a:noFill/>
          <a:ln w="38100">
            <a:solidFill>
              <a:srgbClr val="DB6F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xmlns="" id="{042A451E-F0D6-0E45-BC30-DCD36ECBAA17}"/>
              </a:ext>
            </a:extLst>
          </p:cNvPr>
          <p:cNvSpPr txBox="1"/>
          <p:nvPr/>
        </p:nvSpPr>
        <p:spPr>
          <a:xfrm>
            <a:off x="2232003" y="5367265"/>
            <a:ext cx="8758990"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Don’t have to coordinate your RI purchases</a:t>
            </a:r>
          </a:p>
        </p:txBody>
      </p:sp>
      <p:sp>
        <p:nvSpPr>
          <p:cNvPr id="3" name="TextBox 2">
            <a:extLst>
              <a:ext uri="{FF2B5EF4-FFF2-40B4-BE49-F238E27FC236}">
                <a16:creationId xmlns:a16="http://schemas.microsoft.com/office/drawing/2014/main" xmlns="" id="{3719121A-2C03-2A4A-9366-7AC9135598E1}"/>
              </a:ext>
            </a:extLst>
          </p:cNvPr>
          <p:cNvSpPr txBox="1"/>
          <p:nvPr/>
        </p:nvSpPr>
        <p:spPr>
          <a:xfrm>
            <a:off x="5694947" y="5736277"/>
            <a:ext cx="184731" cy="369012"/>
          </a:xfrm>
          <a:prstGeom prst="rect">
            <a:avLst/>
          </a:prstGeom>
          <a:noFill/>
        </p:spPr>
        <p:txBody>
          <a:bodyPr wrap="none" rtlCol="0">
            <a:spAutoFit/>
          </a:bodyPr>
          <a:lstStyle/>
          <a:p>
            <a:endParaRPr lang="en-US"/>
          </a:p>
        </p:txBody>
      </p:sp>
      <p:pic>
        <p:nvPicPr>
          <p:cNvPr id="11" name="Picture 10">
            <a:extLst>
              <a:ext uri="{FF2B5EF4-FFF2-40B4-BE49-F238E27FC236}">
                <a16:creationId xmlns:a16="http://schemas.microsoft.com/office/drawing/2014/main" xmlns="" id="{17D905C5-19F0-CF4C-8E57-45EC360AD592}"/>
              </a:ext>
            </a:extLst>
          </p:cNvPr>
          <p:cNvPicPr>
            <a:picLocks noChangeAspect="1"/>
          </p:cNvPicPr>
          <p:nvPr/>
        </p:nvPicPr>
        <p:blipFill>
          <a:blip r:embed="rId3">
            <a:duotone>
              <a:schemeClr val="accent3">
                <a:shade val="45000"/>
                <a:satMod val="135000"/>
              </a:schemeClr>
              <a:prstClr val="white"/>
            </a:duotone>
          </a:blip>
          <a:stretch>
            <a:fillRect/>
          </a:stretch>
        </p:blipFill>
        <p:spPr>
          <a:xfrm>
            <a:off x="934183" y="2319398"/>
            <a:ext cx="723555" cy="780678"/>
          </a:xfrm>
          <a:prstGeom prst="rect">
            <a:avLst/>
          </a:prstGeom>
        </p:spPr>
      </p:pic>
    </p:spTree>
    <p:extLst>
      <p:ext uri="{BB962C8B-B14F-4D97-AF65-F5344CB8AC3E}">
        <p14:creationId xmlns:p14="http://schemas.microsoft.com/office/powerpoint/2010/main" val="315656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Spot Instances</a:t>
            </a:r>
          </a:p>
        </p:txBody>
      </p:sp>
      <p:sp>
        <p:nvSpPr>
          <p:cNvPr id="5" name="Rectangle 4">
            <a:extLst>
              <a:ext uri="{FF2B5EF4-FFF2-40B4-BE49-F238E27FC236}">
                <a16:creationId xmlns:a16="http://schemas.microsoft.com/office/drawing/2014/main" xmlns="" id="{D790D076-D7A9-8747-A7BC-585401DEB80E}"/>
              </a:ext>
            </a:extLst>
          </p:cNvPr>
          <p:cNvSpPr/>
          <p:nvPr/>
        </p:nvSpPr>
        <p:spPr>
          <a:xfrm>
            <a:off x="2232003" y="2115425"/>
            <a:ext cx="9515502" cy="2554545"/>
          </a:xfrm>
          <a:prstGeom prst="rect">
            <a:avLst/>
          </a:prstGeom>
        </p:spPr>
        <p:txBody>
          <a:bodyPr wrap="square">
            <a:spAutoFit/>
          </a:bodyPr>
          <a:lstStyle/>
          <a:p>
            <a:pPr marL="285750" marR="0" lvl="1" indent="-285750">
              <a:spcBef>
                <a:spcPts val="0"/>
              </a:spcBef>
              <a:spcAft>
                <a:spcPts val="0"/>
              </a:spcAft>
              <a:buClr>
                <a:srgbClr val="333E48"/>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Purchase unused Amazon EC2 capacity</a:t>
            </a:r>
          </a:p>
          <a:p>
            <a:pPr marL="285750" marR="0" lvl="1" indent="-285750">
              <a:spcBef>
                <a:spcPts val="0"/>
              </a:spcBef>
              <a:spcAft>
                <a:spcPts val="0"/>
              </a:spcAft>
              <a:buClr>
                <a:srgbClr val="333E48"/>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lvl="1" indent="-285750">
              <a:buClr>
                <a:srgbClr val="333E48"/>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No more bidding! – prices based on long term trends of supply &amp; demand</a:t>
            </a:r>
          </a:p>
          <a:p>
            <a:pPr marL="285750" lvl="1" indent="-285750">
              <a:buClr>
                <a:srgbClr val="333E48"/>
              </a:buClr>
              <a:buFont typeface="Arial" panose="020B0604020202020204" pitchFamily="34" charset="0"/>
              <a:buChar cha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lvl="1" indent="-285750">
              <a:buClr>
                <a:srgbClr val="333E48"/>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Interruption notice provided 2 minutes prior to instance termination</a:t>
            </a:r>
          </a:p>
          <a:p>
            <a:pPr marL="0" lvl="1">
              <a:buClr>
                <a:srgbClr val="333E48"/>
              </a:buClr>
            </a:pPr>
            <a:endParaRPr lang="en-US" sz="2000">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lvl="1" indent="-285750">
              <a:buClr>
                <a:srgbClr val="333E48"/>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Flexibility is the key to success</a:t>
            </a:r>
          </a:p>
          <a:p>
            <a:pPr marL="285750" marR="0" lvl="1" indent="-285750">
              <a:spcBef>
                <a:spcPts val="0"/>
              </a:spcBef>
              <a:spcAft>
                <a:spcPts val="0"/>
              </a:spcAft>
              <a:buClr>
                <a:schemeClr val="accent2"/>
              </a:buClr>
              <a:buFont typeface="Arial" panose="020B0604020202020204" pitchFamily="34" charset="0"/>
              <a:buChar char="•"/>
            </a:pPr>
            <a:endParaRPr lang="en-US" sz="200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Rectangle 6">
            <a:extLst>
              <a:ext uri="{FF2B5EF4-FFF2-40B4-BE49-F238E27FC236}">
                <a16:creationId xmlns:a16="http://schemas.microsoft.com/office/drawing/2014/main" xmlns="" id="{721C5D55-85CD-1642-A94D-F741F2FE79A8}"/>
              </a:ext>
            </a:extLst>
          </p:cNvPr>
          <p:cNvSpPr/>
          <p:nvPr/>
        </p:nvSpPr>
        <p:spPr>
          <a:xfrm>
            <a:off x="788214" y="2031181"/>
            <a:ext cx="1018814" cy="1364648"/>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xmlns="" id="{8B04AC71-FDDC-7842-8938-02692B7EB118}"/>
              </a:ext>
            </a:extLst>
          </p:cNvPr>
          <p:cNvPicPr>
            <a:picLocks noChangeAspect="1"/>
          </p:cNvPicPr>
          <p:nvPr/>
        </p:nvPicPr>
        <p:blipFill>
          <a:blip r:embed="rId3"/>
          <a:stretch>
            <a:fillRect/>
          </a:stretch>
        </p:blipFill>
        <p:spPr>
          <a:xfrm>
            <a:off x="867098" y="2282982"/>
            <a:ext cx="861045" cy="861045"/>
          </a:xfrm>
          <a:prstGeom prst="rect">
            <a:avLst/>
          </a:prstGeom>
        </p:spPr>
      </p:pic>
      <p:sp>
        <p:nvSpPr>
          <p:cNvPr id="8" name="TextBox 7">
            <a:extLst>
              <a:ext uri="{FF2B5EF4-FFF2-40B4-BE49-F238E27FC236}">
                <a16:creationId xmlns:a16="http://schemas.microsoft.com/office/drawing/2014/main" xmlns="" id="{13242A55-504A-6145-896B-273199A860FF}"/>
              </a:ext>
            </a:extLst>
          </p:cNvPr>
          <p:cNvSpPr txBox="1"/>
          <p:nvPr/>
        </p:nvSpPr>
        <p:spPr>
          <a:xfrm>
            <a:off x="2232003" y="5367265"/>
            <a:ext cx="8758990" cy="707886"/>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Spot can provide up to 90% off on-demand pricing.  Spot Instances are appropriate for stateless, fault-tolerant workloads.</a:t>
            </a:r>
          </a:p>
        </p:txBody>
      </p:sp>
    </p:spTree>
    <p:extLst>
      <p:ext uri="{BB962C8B-B14F-4D97-AF65-F5344CB8AC3E}">
        <p14:creationId xmlns:p14="http://schemas.microsoft.com/office/powerpoint/2010/main" val="185420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Amazon EC2 Dedicated Options</a:t>
            </a:r>
          </a:p>
        </p:txBody>
      </p:sp>
      <p:grpSp>
        <p:nvGrpSpPr>
          <p:cNvPr id="4" name="Group 3"/>
          <p:cNvGrpSpPr/>
          <p:nvPr/>
        </p:nvGrpSpPr>
        <p:grpSpPr>
          <a:xfrm>
            <a:off x="7676939" y="1975186"/>
            <a:ext cx="2314509" cy="3667036"/>
            <a:chOff x="7676939" y="1975186"/>
            <a:chExt cx="2314509" cy="3667036"/>
          </a:xfrm>
        </p:grpSpPr>
        <p:sp>
          <p:nvSpPr>
            <p:cNvPr id="15" name="Rectangle 14">
              <a:extLst>
                <a:ext uri="{FF2B5EF4-FFF2-40B4-BE49-F238E27FC236}">
                  <a16:creationId xmlns:a16="http://schemas.microsoft.com/office/drawing/2014/main" xmlns="" id="{2B23F176-C432-8F45-8297-B83234581479}"/>
                </a:ext>
              </a:extLst>
            </p:cNvPr>
            <p:cNvSpPr/>
            <p:nvPr/>
          </p:nvSpPr>
          <p:spPr>
            <a:xfrm>
              <a:off x="7676939" y="2542057"/>
              <a:ext cx="2314509" cy="310016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BA705597-64DB-914D-B5B7-9A17C3292135}"/>
                </a:ext>
              </a:extLst>
            </p:cNvPr>
            <p:cNvSpPr/>
            <p:nvPr/>
          </p:nvSpPr>
          <p:spPr>
            <a:xfrm>
              <a:off x="7766440" y="1975186"/>
              <a:ext cx="2135521" cy="400110"/>
            </a:xfrm>
            <a:prstGeom prst="rect">
              <a:avLst/>
            </a:prstGeom>
          </p:spPr>
          <p:txBody>
            <a:bodyPr wrap="none">
              <a:spAutoFit/>
            </a:bodyPr>
            <a:lstStyle/>
            <a:p>
              <a:pPr marL="0" lvl="1" algn="ctr"/>
              <a:r>
                <a:rPr lang="en-US" sz="20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Dedicated Hosts</a:t>
              </a:r>
            </a:p>
          </p:txBody>
        </p:sp>
        <p:pic>
          <p:nvPicPr>
            <p:cNvPr id="7" name="Picture 6">
              <a:extLst>
                <a:ext uri="{FF2B5EF4-FFF2-40B4-BE49-F238E27FC236}">
                  <a16:creationId xmlns:a16="http://schemas.microsoft.com/office/drawing/2014/main" xmlns="" id="{E6319A81-869F-3B45-88BC-3B96CC19000D}"/>
                </a:ext>
              </a:extLst>
            </p:cNvPr>
            <p:cNvPicPr>
              <a:picLocks noChangeAspect="1"/>
            </p:cNvPicPr>
            <p:nvPr/>
          </p:nvPicPr>
          <p:blipFill>
            <a:blip r:embed="rId3"/>
            <a:stretch>
              <a:fillRect/>
            </a:stretch>
          </p:blipFill>
          <p:spPr>
            <a:xfrm>
              <a:off x="7890845" y="3161998"/>
              <a:ext cx="1886696" cy="1860282"/>
            </a:xfrm>
            <a:prstGeom prst="rect">
              <a:avLst/>
            </a:prstGeom>
          </p:spPr>
        </p:pic>
      </p:grpSp>
      <p:grpSp>
        <p:nvGrpSpPr>
          <p:cNvPr id="3" name="Group 2"/>
          <p:cNvGrpSpPr/>
          <p:nvPr/>
        </p:nvGrpSpPr>
        <p:grpSpPr>
          <a:xfrm>
            <a:off x="2215334" y="1975186"/>
            <a:ext cx="2590774" cy="3667036"/>
            <a:chOff x="2215334" y="1975186"/>
            <a:chExt cx="2590774" cy="3667036"/>
          </a:xfrm>
        </p:grpSpPr>
        <p:sp>
          <p:nvSpPr>
            <p:cNvPr id="12" name="Rectangle 11">
              <a:extLst>
                <a:ext uri="{FF2B5EF4-FFF2-40B4-BE49-F238E27FC236}">
                  <a16:creationId xmlns:a16="http://schemas.microsoft.com/office/drawing/2014/main" xmlns="" id="{0561A062-B43E-4C4E-AE0D-699E6DDD496C}"/>
                </a:ext>
              </a:extLst>
            </p:cNvPr>
            <p:cNvSpPr/>
            <p:nvPr/>
          </p:nvSpPr>
          <p:spPr>
            <a:xfrm>
              <a:off x="2215334" y="1975186"/>
              <a:ext cx="2590774" cy="400110"/>
            </a:xfrm>
            <a:prstGeom prst="rect">
              <a:avLst/>
            </a:prstGeom>
          </p:spPr>
          <p:txBody>
            <a:bodyPr wrap="none">
              <a:spAutoFit/>
            </a:bodyPr>
            <a:lstStyle/>
            <a:p>
              <a:pPr marL="0" lvl="1" algn="ctr"/>
              <a:r>
                <a:rPr lang="en-US" sz="20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Dedicated Instances</a:t>
              </a:r>
            </a:p>
          </p:txBody>
        </p:sp>
        <p:sp>
          <p:nvSpPr>
            <p:cNvPr id="13" name="Rectangle 12">
              <a:extLst>
                <a:ext uri="{FF2B5EF4-FFF2-40B4-BE49-F238E27FC236}">
                  <a16:creationId xmlns:a16="http://schemas.microsoft.com/office/drawing/2014/main" xmlns="" id="{7AC85F76-4F4E-7D4A-94CA-D838519DA632}"/>
                </a:ext>
              </a:extLst>
            </p:cNvPr>
            <p:cNvSpPr/>
            <p:nvPr/>
          </p:nvSpPr>
          <p:spPr>
            <a:xfrm>
              <a:off x="2353463" y="2542057"/>
              <a:ext cx="2314509" cy="3100165"/>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xmlns="" id="{6980EB13-9C0F-B745-93FC-8E578E8EC68F}"/>
                </a:ext>
              </a:extLst>
            </p:cNvPr>
            <p:cNvPicPr>
              <a:picLocks noChangeAspect="1"/>
            </p:cNvPicPr>
            <p:nvPr/>
          </p:nvPicPr>
          <p:blipFill>
            <a:blip r:embed="rId4"/>
            <a:stretch>
              <a:fillRect/>
            </a:stretch>
          </p:blipFill>
          <p:spPr>
            <a:xfrm>
              <a:off x="2566245" y="3133337"/>
              <a:ext cx="1888943" cy="1888943"/>
            </a:xfrm>
            <a:prstGeom prst="rect">
              <a:avLst/>
            </a:prstGeom>
          </p:spPr>
        </p:pic>
      </p:grpSp>
    </p:spTree>
    <p:extLst>
      <p:ext uri="{BB962C8B-B14F-4D97-AF65-F5344CB8AC3E}">
        <p14:creationId xmlns:p14="http://schemas.microsoft.com/office/powerpoint/2010/main" val="281480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EC2 Dedicated Instances</a:t>
            </a:r>
          </a:p>
        </p:txBody>
      </p:sp>
      <p:sp>
        <p:nvSpPr>
          <p:cNvPr id="5" name="Rectangle 4">
            <a:extLst>
              <a:ext uri="{FF2B5EF4-FFF2-40B4-BE49-F238E27FC236}">
                <a16:creationId xmlns:a16="http://schemas.microsoft.com/office/drawing/2014/main" xmlns="" id="{62DEAA48-91A3-5D46-BE35-A70096E40620}"/>
              </a:ext>
            </a:extLst>
          </p:cNvPr>
          <p:cNvSpPr/>
          <p:nvPr/>
        </p:nvSpPr>
        <p:spPr>
          <a:xfrm>
            <a:off x="5332055" y="3094908"/>
            <a:ext cx="1443790" cy="2695073"/>
          </a:xfrm>
          <a:prstGeom prst="rect">
            <a:avLst/>
          </a:prstGeom>
          <a:solidFill>
            <a:schemeClr val="accent1">
              <a:lumMod val="60000"/>
              <a:lumOff val="40000"/>
            </a:schemeClr>
          </a:solidFill>
          <a:ln w="254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FA3DFFD2-E289-5248-8225-930D2792081F}"/>
              </a:ext>
            </a:extLst>
          </p:cNvPr>
          <p:cNvSpPr txBox="1"/>
          <p:nvPr/>
        </p:nvSpPr>
        <p:spPr>
          <a:xfrm>
            <a:off x="6467768" y="1459159"/>
            <a:ext cx="4443663" cy="645690"/>
          </a:xfrm>
          <a:prstGeom prst="rect">
            <a:avLst/>
          </a:prstGeom>
          <a:noFill/>
          <a:ln w="38100">
            <a:solidFill>
              <a:schemeClr val="accent2"/>
            </a:solidFill>
          </a:ln>
        </p:spPr>
        <p:txBody>
          <a:bodyPr wrap="square" rtlCol="0">
            <a:spAutoFit/>
          </a:bodyPr>
          <a:lstStyle/>
          <a:p>
            <a:pPr algn="ctr"/>
            <a:r>
              <a:rPr lang="en-US">
                <a:latin typeface="Amazon Ember" panose="020B0603020204020204" pitchFamily="34" charset="0"/>
                <a:ea typeface="Amazon Ember" panose="020B0603020204020204" pitchFamily="34" charset="0"/>
                <a:cs typeface="Amazon Ember" panose="020B0603020204020204" pitchFamily="34" charset="0"/>
              </a:rPr>
              <a:t>Dedicated instances are </a:t>
            </a:r>
            <a:r>
              <a:rPr lang="en-US">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physically isolated</a:t>
            </a:r>
            <a:r>
              <a:rPr lang="en-US">
                <a:latin typeface="Amazon Ember" panose="020B0603020204020204" pitchFamily="34" charset="0"/>
                <a:ea typeface="Amazon Ember" panose="020B0603020204020204" pitchFamily="34" charset="0"/>
                <a:cs typeface="Amazon Ember" panose="020B0603020204020204" pitchFamily="34" charset="0"/>
              </a:rPr>
              <a:t> from other </a:t>
            </a:r>
            <a:r>
              <a:rPr lang="en-US">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AWS accounts</a:t>
            </a:r>
          </a:p>
        </p:txBody>
      </p:sp>
      <p:cxnSp>
        <p:nvCxnSpPr>
          <p:cNvPr id="12" name="Elbow Connector 11">
            <a:extLst>
              <a:ext uri="{FF2B5EF4-FFF2-40B4-BE49-F238E27FC236}">
                <a16:creationId xmlns:a16="http://schemas.microsoft.com/office/drawing/2014/main" xmlns="" id="{DCF931AC-1DAF-8A45-A2E1-AD74FBDF330A}"/>
              </a:ext>
            </a:extLst>
          </p:cNvPr>
          <p:cNvCxnSpPr>
            <a:cxnSpLocks/>
            <a:stCxn id="10" idx="1"/>
          </p:cNvCxnSpPr>
          <p:nvPr/>
        </p:nvCxnSpPr>
        <p:spPr>
          <a:xfrm rot="10800000" flipV="1">
            <a:off x="6053950" y="1782004"/>
            <a:ext cx="413818" cy="1681872"/>
          </a:xfrm>
          <a:prstGeom prst="bentConnector2">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xmlns="" id="{A4C3B55F-ED38-C34F-8D3A-3BEDCD995778}"/>
              </a:ext>
            </a:extLst>
          </p:cNvPr>
          <p:cNvSpPr/>
          <p:nvPr/>
        </p:nvSpPr>
        <p:spPr>
          <a:xfrm>
            <a:off x="5332055" y="3463876"/>
            <a:ext cx="1443790" cy="224592"/>
          </a:xfrm>
          <a:prstGeom prst="rect">
            <a:avLst/>
          </a:prstGeom>
          <a:solidFill>
            <a:schemeClr val="accent2">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8F202CAC-44B9-094A-886D-773EDDF5D5E4}"/>
              </a:ext>
            </a:extLst>
          </p:cNvPr>
          <p:cNvSpPr/>
          <p:nvPr/>
        </p:nvSpPr>
        <p:spPr>
          <a:xfrm>
            <a:off x="5332057" y="4971877"/>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xmlns="" id="{0669442E-F0AA-8C44-95E4-FD920758086F}"/>
              </a:ext>
            </a:extLst>
          </p:cNvPr>
          <p:cNvSpPr/>
          <p:nvPr/>
        </p:nvSpPr>
        <p:spPr>
          <a:xfrm>
            <a:off x="5332057" y="53443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xmlns="" id="{B853369C-1509-F348-8486-FED0F5B18BB7}"/>
              </a:ext>
            </a:extLst>
          </p:cNvPr>
          <p:cNvSpPr/>
          <p:nvPr/>
        </p:nvSpPr>
        <p:spPr>
          <a:xfrm>
            <a:off x="1061660" y="2195355"/>
            <a:ext cx="2590774" cy="400110"/>
          </a:xfrm>
          <a:prstGeom prst="rect">
            <a:avLst/>
          </a:prstGeom>
        </p:spPr>
        <p:txBody>
          <a:bodyPr wrap="none">
            <a:spAutoFit/>
          </a:bodyPr>
          <a:lstStyle/>
          <a:p>
            <a:pPr marL="0" lvl="1" algn="ctr"/>
            <a:r>
              <a:rPr lang="en-US" sz="20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Dedicated Instances</a:t>
            </a:r>
          </a:p>
        </p:txBody>
      </p:sp>
      <p:sp>
        <p:nvSpPr>
          <p:cNvPr id="36" name="Rectangle 35">
            <a:extLst>
              <a:ext uri="{FF2B5EF4-FFF2-40B4-BE49-F238E27FC236}">
                <a16:creationId xmlns:a16="http://schemas.microsoft.com/office/drawing/2014/main" xmlns="" id="{3AF93B39-91F1-934A-B50F-48B18AB80CF7}"/>
              </a:ext>
            </a:extLst>
          </p:cNvPr>
          <p:cNvSpPr/>
          <p:nvPr/>
        </p:nvSpPr>
        <p:spPr>
          <a:xfrm>
            <a:off x="1199789" y="2762226"/>
            <a:ext cx="2314509" cy="3100165"/>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xmlns="" id="{2D53202D-712D-624A-A865-A32DA0B3FD49}"/>
              </a:ext>
            </a:extLst>
          </p:cNvPr>
          <p:cNvPicPr>
            <a:picLocks noChangeAspect="1"/>
          </p:cNvPicPr>
          <p:nvPr/>
        </p:nvPicPr>
        <p:blipFill>
          <a:blip r:embed="rId3"/>
          <a:stretch>
            <a:fillRect/>
          </a:stretch>
        </p:blipFill>
        <p:spPr>
          <a:xfrm>
            <a:off x="1412571" y="3353506"/>
            <a:ext cx="1888943" cy="1888943"/>
          </a:xfrm>
          <a:prstGeom prst="rect">
            <a:avLst/>
          </a:prstGeom>
        </p:spPr>
      </p:pic>
      <p:sp>
        <p:nvSpPr>
          <p:cNvPr id="16" name="Rectangle 15">
            <a:extLst>
              <a:ext uri="{FF2B5EF4-FFF2-40B4-BE49-F238E27FC236}">
                <a16:creationId xmlns:a16="http://schemas.microsoft.com/office/drawing/2014/main" xmlns="" id="{95CA334A-E736-4946-8134-AFD2FE7D4E84}"/>
              </a:ext>
            </a:extLst>
          </p:cNvPr>
          <p:cNvSpPr/>
          <p:nvPr/>
        </p:nvSpPr>
        <p:spPr>
          <a:xfrm>
            <a:off x="5330398" y="3466379"/>
            <a:ext cx="1443790" cy="224592"/>
          </a:xfrm>
          <a:prstGeom prst="rect">
            <a:avLst/>
          </a:prstGeom>
          <a:solidFill>
            <a:srgbClr val="F4B183"/>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5B626859-0F44-F04F-ABE1-8ABCE3800637}"/>
              </a:ext>
            </a:extLst>
          </p:cNvPr>
          <p:cNvSpPr/>
          <p:nvPr/>
        </p:nvSpPr>
        <p:spPr>
          <a:xfrm>
            <a:off x="5671907"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xmlns="" id="{5DD2EAD8-53CC-EA41-BD1A-0EF19B298571}"/>
              </a:ext>
            </a:extLst>
          </p:cNvPr>
          <p:cNvSpPr/>
          <p:nvPr/>
        </p:nvSpPr>
        <p:spPr>
          <a:xfrm>
            <a:off x="6490847"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xmlns="" id="{6EA683AA-2FF7-B748-A633-77EFB44B481C}"/>
              </a:ext>
            </a:extLst>
          </p:cNvPr>
          <p:cNvSpPr/>
          <p:nvPr/>
        </p:nvSpPr>
        <p:spPr>
          <a:xfrm>
            <a:off x="6224985"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0FDDB048-0BB7-7C4C-BCBD-8C405F3FA9C0}"/>
              </a:ext>
            </a:extLst>
          </p:cNvPr>
          <p:cNvSpPr/>
          <p:nvPr/>
        </p:nvSpPr>
        <p:spPr>
          <a:xfrm>
            <a:off x="5332057" y="4975020"/>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3641C5E0-B7B2-B144-96E0-46862CC47ED2}"/>
              </a:ext>
            </a:extLst>
          </p:cNvPr>
          <p:cNvSpPr/>
          <p:nvPr/>
        </p:nvSpPr>
        <p:spPr>
          <a:xfrm>
            <a:off x="5332057" y="53475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xmlns="" id="{E1C4C2DC-E0B4-7B48-996D-72A5109825B3}"/>
              </a:ext>
            </a:extLst>
          </p:cNvPr>
          <p:cNvSpPr/>
          <p:nvPr/>
        </p:nvSpPr>
        <p:spPr>
          <a:xfrm>
            <a:off x="5400586" y="4978935"/>
            <a:ext cx="216443" cy="212528"/>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xmlns="" id="{1B1E14B2-4C33-0947-ACD8-A67D5C117314}"/>
              </a:ext>
            </a:extLst>
          </p:cNvPr>
          <p:cNvSpPr/>
          <p:nvPr/>
        </p:nvSpPr>
        <p:spPr>
          <a:xfrm>
            <a:off x="5673566" y="4980282"/>
            <a:ext cx="216443" cy="212528"/>
          </a:xfrm>
          <a:prstGeom prst="rect">
            <a:avLst/>
          </a:prstGeom>
          <a:solidFill>
            <a:schemeClr val="bg2">
              <a:lumMod val="9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xmlns="" id="{DD8E157A-7549-C140-8E34-7F87325936C1}"/>
              </a:ext>
            </a:extLst>
          </p:cNvPr>
          <p:cNvSpPr/>
          <p:nvPr/>
        </p:nvSpPr>
        <p:spPr>
          <a:xfrm>
            <a:off x="5946546" y="4982508"/>
            <a:ext cx="216443" cy="212528"/>
          </a:xfrm>
          <a:prstGeom prst="rect">
            <a:avLst/>
          </a:prstGeom>
          <a:solidFill>
            <a:srgbClr val="0070C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xmlns="" id="{B8A1A7B9-CC30-194B-B7E5-54F468E0C9D9}"/>
              </a:ext>
            </a:extLst>
          </p:cNvPr>
          <p:cNvSpPr/>
          <p:nvPr/>
        </p:nvSpPr>
        <p:spPr>
          <a:xfrm>
            <a:off x="6219526" y="4981733"/>
            <a:ext cx="216443" cy="212528"/>
          </a:xfrm>
          <a:prstGeom prst="rect">
            <a:avLst/>
          </a:prstGeom>
          <a:solidFill>
            <a:srgbClr val="4AC1FF"/>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xmlns="" id="{1E78E21A-4BCE-834D-8872-1625A83EDE88}"/>
              </a:ext>
            </a:extLst>
          </p:cNvPr>
          <p:cNvSpPr/>
          <p:nvPr/>
        </p:nvSpPr>
        <p:spPr>
          <a:xfrm>
            <a:off x="6492506" y="4978935"/>
            <a:ext cx="216443" cy="212528"/>
          </a:xfrm>
          <a:prstGeom prst="rect">
            <a:avLst/>
          </a:prstGeom>
          <a:solidFill>
            <a:schemeClr val="accent6">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xmlns="" id="{0E4F1BC6-6629-5540-852B-4C2179B74327}"/>
              </a:ext>
            </a:extLst>
          </p:cNvPr>
          <p:cNvSpPr/>
          <p:nvPr/>
        </p:nvSpPr>
        <p:spPr>
          <a:xfrm>
            <a:off x="5400586" y="5356013"/>
            <a:ext cx="216443" cy="212528"/>
          </a:xfrm>
          <a:prstGeom prst="rect">
            <a:avLst/>
          </a:prstGeom>
          <a:solidFill>
            <a:schemeClr val="bg2">
              <a:lumMod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xmlns="" id="{EED8BFF7-A573-A041-8CDE-4463699789C9}"/>
              </a:ext>
            </a:extLst>
          </p:cNvPr>
          <p:cNvSpPr/>
          <p:nvPr/>
        </p:nvSpPr>
        <p:spPr>
          <a:xfrm>
            <a:off x="5673566" y="5357360"/>
            <a:ext cx="216443" cy="212528"/>
          </a:xfrm>
          <a:prstGeom prst="rect">
            <a:avLst/>
          </a:prstGeom>
          <a:solidFill>
            <a:srgbClr val="FFFF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xmlns="" id="{0F8831EC-AC34-0D4C-9B75-5CE62263C754}"/>
              </a:ext>
            </a:extLst>
          </p:cNvPr>
          <p:cNvSpPr/>
          <p:nvPr/>
        </p:nvSpPr>
        <p:spPr>
          <a:xfrm>
            <a:off x="5946546" y="5359586"/>
            <a:ext cx="216443" cy="212528"/>
          </a:xfrm>
          <a:prstGeom prst="rect">
            <a:avLst/>
          </a:prstGeom>
          <a:solidFill>
            <a:schemeClr val="accent4">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xmlns="" id="{72B67A41-F44B-3B43-B014-451C64ED09E2}"/>
              </a:ext>
            </a:extLst>
          </p:cNvPr>
          <p:cNvSpPr/>
          <p:nvPr/>
        </p:nvSpPr>
        <p:spPr>
          <a:xfrm>
            <a:off x="6219526" y="5358811"/>
            <a:ext cx="216443" cy="212528"/>
          </a:xfrm>
          <a:prstGeom prst="rect">
            <a:avLst/>
          </a:prstGeom>
          <a:solidFill>
            <a:schemeClr val="accent2">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xmlns="" id="{01A7CCC5-F929-CB4C-8D6D-5DF3793CBCBB}"/>
              </a:ext>
            </a:extLst>
          </p:cNvPr>
          <p:cNvSpPr/>
          <p:nvPr/>
        </p:nvSpPr>
        <p:spPr>
          <a:xfrm>
            <a:off x="6492506" y="53560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Bracket 8">
            <a:extLst>
              <a:ext uri="{FF2B5EF4-FFF2-40B4-BE49-F238E27FC236}">
                <a16:creationId xmlns:a16="http://schemas.microsoft.com/office/drawing/2014/main" xmlns="" id="{52A312F1-8340-D540-A302-D5BBB3658508}"/>
              </a:ext>
            </a:extLst>
          </p:cNvPr>
          <p:cNvSpPr/>
          <p:nvPr/>
        </p:nvSpPr>
        <p:spPr>
          <a:xfrm>
            <a:off x="6844374" y="3861411"/>
            <a:ext cx="130783" cy="1710703"/>
          </a:xfrm>
          <a:prstGeom prst="rightBracket">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Elbow Connector 12">
            <a:extLst>
              <a:ext uri="{FF2B5EF4-FFF2-40B4-BE49-F238E27FC236}">
                <a16:creationId xmlns:a16="http://schemas.microsoft.com/office/drawing/2014/main" xmlns="" id="{A9E8ACD6-D2B2-FB41-B1CF-655148125ADA}"/>
              </a:ext>
            </a:extLst>
          </p:cNvPr>
          <p:cNvCxnSpPr>
            <a:cxnSpLocks/>
          </p:cNvCxnSpPr>
          <p:nvPr/>
        </p:nvCxnSpPr>
        <p:spPr>
          <a:xfrm rot="10800000" flipV="1">
            <a:off x="7086602" y="2195355"/>
            <a:ext cx="2686048" cy="2247960"/>
          </a:xfrm>
          <a:prstGeom prst="bentConnector3">
            <a:avLst>
              <a:gd name="adj1" fmla="val 0"/>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EA68B564-5737-6841-81A2-7F19A3DAAC63}"/>
              </a:ext>
            </a:extLst>
          </p:cNvPr>
          <p:cNvSpPr txBox="1"/>
          <p:nvPr/>
        </p:nvSpPr>
        <p:spPr>
          <a:xfrm>
            <a:off x="6909765" y="5246126"/>
            <a:ext cx="5071456" cy="645690"/>
          </a:xfrm>
          <a:prstGeom prst="rect">
            <a:avLst/>
          </a:prstGeom>
          <a:noFill/>
        </p:spPr>
        <p:txBody>
          <a:bodyPr wrap="square" rtlCol="0">
            <a:spAutoFit/>
          </a:bodyPr>
          <a:lstStyle/>
          <a:p>
            <a:pPr algn="ctr"/>
            <a:r>
              <a:rPr lang="en-US"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Helps meet requirements for regulatory compliance or software license use</a:t>
            </a:r>
          </a:p>
        </p:txBody>
      </p:sp>
      <p:grpSp>
        <p:nvGrpSpPr>
          <p:cNvPr id="6" name="Group 5"/>
          <p:cNvGrpSpPr/>
          <p:nvPr/>
        </p:nvGrpSpPr>
        <p:grpSpPr>
          <a:xfrm>
            <a:off x="5332053" y="4619377"/>
            <a:ext cx="1443790" cy="227735"/>
            <a:chOff x="5484457" y="5496779"/>
            <a:chExt cx="1443790" cy="227735"/>
          </a:xfrm>
        </p:grpSpPr>
        <p:sp>
          <p:nvSpPr>
            <p:cNvPr id="65" name="Rectangle 64">
              <a:extLst>
                <a:ext uri="{FF2B5EF4-FFF2-40B4-BE49-F238E27FC236}">
                  <a16:creationId xmlns:a16="http://schemas.microsoft.com/office/drawing/2014/main" xmlns="" id="{0669442E-F0AA-8C44-95E4-FD920758086F}"/>
                </a:ext>
              </a:extLst>
            </p:cNvPr>
            <p:cNvSpPr/>
            <p:nvPr/>
          </p:nvSpPr>
          <p:spPr>
            <a:xfrm>
              <a:off x="5484457" y="54967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xmlns="" id="{3641C5E0-B7B2-B144-96E0-46862CC47ED2}"/>
                </a:ext>
              </a:extLst>
            </p:cNvPr>
            <p:cNvSpPr/>
            <p:nvPr/>
          </p:nvSpPr>
          <p:spPr>
            <a:xfrm>
              <a:off x="5484457" y="54999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xmlns="" id="{0E4F1BC6-6629-5540-852B-4C2179B74327}"/>
                </a:ext>
              </a:extLst>
            </p:cNvPr>
            <p:cNvSpPr/>
            <p:nvPr/>
          </p:nvSpPr>
          <p:spPr>
            <a:xfrm>
              <a:off x="5552986" y="5508413"/>
              <a:ext cx="216443" cy="212528"/>
            </a:xfrm>
            <a:prstGeom prst="rect">
              <a:avLst/>
            </a:prstGeom>
            <a:solidFill>
              <a:schemeClr val="accent2"/>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xmlns="" id="{EED8BFF7-A573-A041-8CDE-4463699789C9}"/>
                </a:ext>
              </a:extLst>
            </p:cNvPr>
            <p:cNvSpPr/>
            <p:nvPr/>
          </p:nvSpPr>
          <p:spPr>
            <a:xfrm>
              <a:off x="5825966" y="5509760"/>
              <a:ext cx="216443" cy="212528"/>
            </a:xfrm>
            <a:prstGeom prst="rect">
              <a:avLst/>
            </a:prstGeom>
            <a:solidFill>
              <a:srgbClr val="92D05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xmlns="" id="{0F8831EC-AC34-0D4C-9B75-5CE62263C754}"/>
                </a:ext>
              </a:extLst>
            </p:cNvPr>
            <p:cNvSpPr/>
            <p:nvPr/>
          </p:nvSpPr>
          <p:spPr>
            <a:xfrm>
              <a:off x="6098946" y="5511986"/>
              <a:ext cx="216443" cy="212528"/>
            </a:xfrm>
            <a:prstGeom prst="rect">
              <a:avLst/>
            </a:prstGeom>
            <a:solidFill>
              <a:schemeClr val="accent4">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xmlns="" id="{01A7CCC5-F929-CB4C-8D6D-5DF3793CBCBB}"/>
                </a:ext>
              </a:extLst>
            </p:cNvPr>
            <p:cNvSpPr/>
            <p:nvPr/>
          </p:nvSpPr>
          <p:spPr>
            <a:xfrm>
              <a:off x="6644906" y="55084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p:cNvGrpSpPr/>
          <p:nvPr/>
        </p:nvGrpSpPr>
        <p:grpSpPr>
          <a:xfrm>
            <a:off x="5320510" y="4229107"/>
            <a:ext cx="1443790" cy="227735"/>
            <a:chOff x="5484457" y="5496779"/>
            <a:chExt cx="1443790" cy="227735"/>
          </a:xfrm>
        </p:grpSpPr>
        <p:sp>
          <p:nvSpPr>
            <p:cNvPr id="73" name="Rectangle 72">
              <a:extLst>
                <a:ext uri="{FF2B5EF4-FFF2-40B4-BE49-F238E27FC236}">
                  <a16:creationId xmlns:a16="http://schemas.microsoft.com/office/drawing/2014/main" xmlns="" id="{0669442E-F0AA-8C44-95E4-FD920758086F}"/>
                </a:ext>
              </a:extLst>
            </p:cNvPr>
            <p:cNvSpPr/>
            <p:nvPr/>
          </p:nvSpPr>
          <p:spPr>
            <a:xfrm>
              <a:off x="5484457" y="54967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xmlns="" id="{3641C5E0-B7B2-B144-96E0-46862CC47ED2}"/>
                </a:ext>
              </a:extLst>
            </p:cNvPr>
            <p:cNvSpPr/>
            <p:nvPr/>
          </p:nvSpPr>
          <p:spPr>
            <a:xfrm>
              <a:off x="5484457" y="54999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xmlns="" id="{0E4F1BC6-6629-5540-852B-4C2179B74327}"/>
                </a:ext>
              </a:extLst>
            </p:cNvPr>
            <p:cNvSpPr/>
            <p:nvPr/>
          </p:nvSpPr>
          <p:spPr>
            <a:xfrm>
              <a:off x="5552986" y="5508413"/>
              <a:ext cx="216443" cy="212528"/>
            </a:xfrm>
            <a:prstGeom prst="rect">
              <a:avLst/>
            </a:prstGeom>
            <a:solidFill>
              <a:srgbClr val="4AC1FF"/>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xmlns="" id="{0F8831EC-AC34-0D4C-9B75-5CE62263C754}"/>
                </a:ext>
              </a:extLst>
            </p:cNvPr>
            <p:cNvSpPr/>
            <p:nvPr/>
          </p:nvSpPr>
          <p:spPr>
            <a:xfrm>
              <a:off x="6098946" y="5511986"/>
              <a:ext cx="216443" cy="212528"/>
            </a:xfrm>
            <a:prstGeom prst="rect">
              <a:avLst/>
            </a:prstGeom>
            <a:solidFill>
              <a:srgbClr val="FF99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xmlns="" id="{72B67A41-F44B-3B43-B014-451C64ED09E2}"/>
                </a:ext>
              </a:extLst>
            </p:cNvPr>
            <p:cNvSpPr/>
            <p:nvPr/>
          </p:nvSpPr>
          <p:spPr>
            <a:xfrm>
              <a:off x="6371926" y="5511211"/>
              <a:ext cx="216443" cy="212528"/>
            </a:xfrm>
            <a:prstGeom prst="rect">
              <a:avLst/>
            </a:prstGeom>
            <a:solidFill>
              <a:schemeClr val="accent2">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xmlns="" id="{01A7CCC5-F929-CB4C-8D6D-5DF3793CBCBB}"/>
                </a:ext>
              </a:extLst>
            </p:cNvPr>
            <p:cNvSpPr/>
            <p:nvPr/>
          </p:nvSpPr>
          <p:spPr>
            <a:xfrm>
              <a:off x="6644906" y="55084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p:cNvGrpSpPr/>
          <p:nvPr/>
        </p:nvGrpSpPr>
        <p:grpSpPr>
          <a:xfrm>
            <a:off x="5323018" y="3891039"/>
            <a:ext cx="1443790" cy="227735"/>
            <a:chOff x="5484457" y="5496779"/>
            <a:chExt cx="1443790" cy="227735"/>
          </a:xfrm>
        </p:grpSpPr>
        <p:sp>
          <p:nvSpPr>
            <p:cNvPr id="81" name="Rectangle 80">
              <a:extLst>
                <a:ext uri="{FF2B5EF4-FFF2-40B4-BE49-F238E27FC236}">
                  <a16:creationId xmlns:a16="http://schemas.microsoft.com/office/drawing/2014/main" xmlns="" id="{0669442E-F0AA-8C44-95E4-FD920758086F}"/>
                </a:ext>
              </a:extLst>
            </p:cNvPr>
            <p:cNvSpPr/>
            <p:nvPr/>
          </p:nvSpPr>
          <p:spPr>
            <a:xfrm>
              <a:off x="5484457" y="54967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xmlns="" id="{3641C5E0-B7B2-B144-96E0-46862CC47ED2}"/>
                </a:ext>
              </a:extLst>
            </p:cNvPr>
            <p:cNvSpPr/>
            <p:nvPr/>
          </p:nvSpPr>
          <p:spPr>
            <a:xfrm>
              <a:off x="5484457" y="54999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xmlns="" id="{0E4F1BC6-6629-5540-852B-4C2179B74327}"/>
                </a:ext>
              </a:extLst>
            </p:cNvPr>
            <p:cNvSpPr/>
            <p:nvPr/>
          </p:nvSpPr>
          <p:spPr>
            <a:xfrm>
              <a:off x="5552986" y="5508413"/>
              <a:ext cx="216443" cy="212528"/>
            </a:xfrm>
            <a:prstGeom prst="rect">
              <a:avLst/>
            </a:prstGeom>
            <a:solidFill>
              <a:schemeClr val="accent2"/>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xmlns="" id="{EED8BFF7-A573-A041-8CDE-4463699789C9}"/>
                </a:ext>
              </a:extLst>
            </p:cNvPr>
            <p:cNvSpPr/>
            <p:nvPr/>
          </p:nvSpPr>
          <p:spPr>
            <a:xfrm>
              <a:off x="5825966" y="5509760"/>
              <a:ext cx="216443" cy="212528"/>
            </a:xfrm>
            <a:prstGeom prst="rect">
              <a:avLst/>
            </a:prstGeom>
            <a:solidFill>
              <a:schemeClr val="accent6">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xmlns="" id="{0F8831EC-AC34-0D4C-9B75-5CE62263C754}"/>
                </a:ext>
              </a:extLst>
            </p:cNvPr>
            <p:cNvSpPr/>
            <p:nvPr/>
          </p:nvSpPr>
          <p:spPr>
            <a:xfrm>
              <a:off x="6098946" y="5511986"/>
              <a:ext cx="216443" cy="212528"/>
            </a:xfrm>
            <a:prstGeom prst="rect">
              <a:avLst/>
            </a:prstGeom>
            <a:solidFill>
              <a:schemeClr val="accent4">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xmlns="" id="{72B67A41-F44B-3B43-B014-451C64ED09E2}"/>
                </a:ext>
              </a:extLst>
            </p:cNvPr>
            <p:cNvSpPr/>
            <p:nvPr/>
          </p:nvSpPr>
          <p:spPr>
            <a:xfrm>
              <a:off x="6371926" y="5511211"/>
              <a:ext cx="216443" cy="212528"/>
            </a:xfrm>
            <a:prstGeom prst="rect">
              <a:avLst/>
            </a:prstGeom>
            <a:solidFill>
              <a:schemeClr val="accent2">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xmlns="" id="{01A7CCC5-F929-CB4C-8D6D-5DF3793CBCBB}"/>
                </a:ext>
              </a:extLst>
            </p:cNvPr>
            <p:cNvSpPr/>
            <p:nvPr/>
          </p:nvSpPr>
          <p:spPr>
            <a:xfrm>
              <a:off x="6644906" y="55084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22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Amazon EC2 Dedicated Hosts</a:t>
            </a:r>
          </a:p>
        </p:txBody>
      </p:sp>
      <p:sp>
        <p:nvSpPr>
          <p:cNvPr id="10" name="TextBox 9">
            <a:extLst>
              <a:ext uri="{FF2B5EF4-FFF2-40B4-BE49-F238E27FC236}">
                <a16:creationId xmlns:a16="http://schemas.microsoft.com/office/drawing/2014/main" xmlns="" id="{FA3DFFD2-E289-5248-8225-930D2792081F}"/>
              </a:ext>
            </a:extLst>
          </p:cNvPr>
          <p:cNvSpPr txBox="1"/>
          <p:nvPr/>
        </p:nvSpPr>
        <p:spPr>
          <a:xfrm>
            <a:off x="3717099" y="2079455"/>
            <a:ext cx="5316628" cy="645690"/>
          </a:xfrm>
          <a:prstGeom prst="rect">
            <a:avLst/>
          </a:prstGeom>
          <a:noFill/>
          <a:ln w="38100">
            <a:solidFill>
              <a:schemeClr val="accent2"/>
            </a:solidFill>
          </a:ln>
        </p:spPr>
        <p:txBody>
          <a:bodyPr wrap="square" rtlCol="0">
            <a:spAutoFit/>
          </a:bodyPr>
          <a:lstStyle/>
          <a:p>
            <a:pPr algn="ctr"/>
            <a:r>
              <a:rPr lang="en-US">
                <a:latin typeface="Amazon Ember" panose="020B0603020204020204" pitchFamily="34" charset="0"/>
                <a:ea typeface="Amazon Ember" panose="020B0603020204020204" pitchFamily="34" charset="0"/>
                <a:cs typeface="Amazon Ember" panose="020B0603020204020204" pitchFamily="34" charset="0"/>
              </a:rPr>
              <a:t>A </a:t>
            </a:r>
            <a:r>
              <a:rPr lang="en-US" i="1">
                <a:latin typeface="Amazon Ember" panose="020B0603020204020204" pitchFamily="34" charset="0"/>
                <a:ea typeface="Amazon Ember" panose="020B0603020204020204" pitchFamily="34" charset="0"/>
                <a:cs typeface="Amazon Ember" panose="020B0603020204020204" pitchFamily="34" charset="0"/>
              </a:rPr>
              <a:t>dedicated host </a:t>
            </a:r>
            <a:r>
              <a:rPr lang="en-US">
                <a:latin typeface="Amazon Ember" panose="020B0603020204020204" pitchFamily="34" charset="0"/>
                <a:ea typeface="Amazon Ember" panose="020B0603020204020204" pitchFamily="34" charset="0"/>
                <a:cs typeface="Amazon Ember" panose="020B0603020204020204" pitchFamily="34" charset="0"/>
              </a:rPr>
              <a:t>is a full physical server with EC2 instance capacity fully dedicated to your use.</a:t>
            </a:r>
          </a:p>
        </p:txBody>
      </p:sp>
      <p:sp>
        <p:nvSpPr>
          <p:cNvPr id="34" name="Rectangle 33">
            <a:extLst>
              <a:ext uri="{FF2B5EF4-FFF2-40B4-BE49-F238E27FC236}">
                <a16:creationId xmlns:a16="http://schemas.microsoft.com/office/drawing/2014/main" xmlns="" id="{B853369C-1509-F348-8486-FED0F5B18BB7}"/>
              </a:ext>
            </a:extLst>
          </p:cNvPr>
          <p:cNvSpPr/>
          <p:nvPr/>
        </p:nvSpPr>
        <p:spPr>
          <a:xfrm>
            <a:off x="1289286" y="2195355"/>
            <a:ext cx="2135521" cy="400110"/>
          </a:xfrm>
          <a:prstGeom prst="rect">
            <a:avLst/>
          </a:prstGeom>
        </p:spPr>
        <p:txBody>
          <a:bodyPr wrap="none">
            <a:spAutoFit/>
          </a:bodyPr>
          <a:lstStyle/>
          <a:p>
            <a:pPr marL="0" lvl="1" algn="ctr"/>
            <a:r>
              <a:rPr lang="en-US" sz="20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Dedicated Hosts</a:t>
            </a:r>
          </a:p>
        </p:txBody>
      </p:sp>
      <p:sp>
        <p:nvSpPr>
          <p:cNvPr id="36" name="Rectangle 35">
            <a:extLst>
              <a:ext uri="{FF2B5EF4-FFF2-40B4-BE49-F238E27FC236}">
                <a16:creationId xmlns:a16="http://schemas.microsoft.com/office/drawing/2014/main" xmlns="" id="{3AF93B39-91F1-934A-B50F-48B18AB80CF7}"/>
              </a:ext>
            </a:extLst>
          </p:cNvPr>
          <p:cNvSpPr/>
          <p:nvPr/>
        </p:nvSpPr>
        <p:spPr>
          <a:xfrm>
            <a:off x="1199789" y="2762226"/>
            <a:ext cx="2314509" cy="310016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Elbow Connector 11">
            <a:extLst>
              <a:ext uri="{FF2B5EF4-FFF2-40B4-BE49-F238E27FC236}">
                <a16:creationId xmlns:a16="http://schemas.microsoft.com/office/drawing/2014/main" xmlns="" id="{DCF931AC-1DAF-8A45-A2E1-AD74FBDF330A}"/>
              </a:ext>
            </a:extLst>
          </p:cNvPr>
          <p:cNvCxnSpPr>
            <a:cxnSpLocks/>
            <a:endCxn id="44" idx="1"/>
          </p:cNvCxnSpPr>
          <p:nvPr/>
        </p:nvCxnSpPr>
        <p:spPr>
          <a:xfrm>
            <a:off x="6575676" y="2731709"/>
            <a:ext cx="2900281" cy="846966"/>
          </a:xfrm>
          <a:prstGeom prst="bentConnector3">
            <a:avLst>
              <a:gd name="adj1" fmla="val -7144"/>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xmlns="" id="{D2B12D09-4D46-B840-8DEA-365D725D3AD2}"/>
              </a:ext>
            </a:extLst>
          </p:cNvPr>
          <p:cNvPicPr>
            <a:picLocks noChangeAspect="1"/>
          </p:cNvPicPr>
          <p:nvPr/>
        </p:nvPicPr>
        <p:blipFill>
          <a:blip r:embed="rId3"/>
          <a:stretch>
            <a:fillRect/>
          </a:stretch>
        </p:blipFill>
        <p:spPr>
          <a:xfrm>
            <a:off x="1413695" y="3426116"/>
            <a:ext cx="1886696" cy="1860282"/>
          </a:xfrm>
          <a:prstGeom prst="rect">
            <a:avLst/>
          </a:prstGeom>
        </p:spPr>
      </p:pic>
      <p:sp>
        <p:nvSpPr>
          <p:cNvPr id="16" name="TextBox 15">
            <a:extLst>
              <a:ext uri="{FF2B5EF4-FFF2-40B4-BE49-F238E27FC236}">
                <a16:creationId xmlns:a16="http://schemas.microsoft.com/office/drawing/2014/main" xmlns="" id="{EA68B564-5737-6841-81A2-7F19A3DAAC63}"/>
              </a:ext>
            </a:extLst>
          </p:cNvPr>
          <p:cNvSpPr txBox="1"/>
          <p:nvPr/>
        </p:nvSpPr>
        <p:spPr>
          <a:xfrm>
            <a:off x="3840937" y="5395148"/>
            <a:ext cx="5298493" cy="645690"/>
          </a:xfrm>
          <a:prstGeom prst="rect">
            <a:avLst/>
          </a:prstGeom>
          <a:noFill/>
        </p:spPr>
        <p:txBody>
          <a:bodyPr wrap="square" rtlCol="0">
            <a:spAutoFit/>
          </a:bodyPr>
          <a:lstStyle/>
          <a:p>
            <a:pPr algn="ctr"/>
            <a:r>
              <a:rPr lang="en-US"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Helps meet </a:t>
            </a:r>
            <a:r>
              <a:rPr lang="en-US" b="1" i="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strict</a:t>
            </a:r>
            <a:r>
              <a:rPr lang="en-US"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requirements for regulatory compliance or software license use</a:t>
            </a:r>
          </a:p>
        </p:txBody>
      </p:sp>
      <p:grpSp>
        <p:nvGrpSpPr>
          <p:cNvPr id="3" name="Group 2">
            <a:extLst>
              <a:ext uri="{FF2B5EF4-FFF2-40B4-BE49-F238E27FC236}">
                <a16:creationId xmlns:a16="http://schemas.microsoft.com/office/drawing/2014/main" xmlns="" id="{FCFF45F8-E786-6741-B0A6-BF1D63F1BAC0}"/>
              </a:ext>
            </a:extLst>
          </p:cNvPr>
          <p:cNvGrpSpPr/>
          <p:nvPr/>
        </p:nvGrpSpPr>
        <p:grpSpPr>
          <a:xfrm>
            <a:off x="9466069" y="3094908"/>
            <a:ext cx="1455337" cy="2695073"/>
            <a:chOff x="5320510" y="3094908"/>
            <a:chExt cx="1455337" cy="2695073"/>
          </a:xfrm>
        </p:grpSpPr>
        <p:sp>
          <p:nvSpPr>
            <p:cNvPr id="40" name="Rectangle 39">
              <a:extLst>
                <a:ext uri="{FF2B5EF4-FFF2-40B4-BE49-F238E27FC236}">
                  <a16:creationId xmlns:a16="http://schemas.microsoft.com/office/drawing/2014/main" xmlns="" id="{0DF7FCDC-33DF-664B-827E-1DB2D2D6B508}"/>
                </a:ext>
              </a:extLst>
            </p:cNvPr>
            <p:cNvSpPr/>
            <p:nvPr/>
          </p:nvSpPr>
          <p:spPr>
            <a:xfrm>
              <a:off x="5332055" y="3094908"/>
              <a:ext cx="1443790" cy="2695073"/>
            </a:xfrm>
            <a:prstGeom prst="rect">
              <a:avLst/>
            </a:prstGeom>
            <a:solidFill>
              <a:schemeClr val="accent1">
                <a:lumMod val="60000"/>
                <a:lumOff val="40000"/>
              </a:schemeClr>
            </a:solidFill>
            <a:ln w="254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xmlns="" id="{F2A2B5FF-B7CD-2943-8229-30A2F41BDC3B}"/>
                </a:ext>
              </a:extLst>
            </p:cNvPr>
            <p:cNvSpPr/>
            <p:nvPr/>
          </p:nvSpPr>
          <p:spPr>
            <a:xfrm>
              <a:off x="5332055" y="3463876"/>
              <a:ext cx="1443790" cy="224592"/>
            </a:xfrm>
            <a:prstGeom prst="rect">
              <a:avLst/>
            </a:prstGeom>
            <a:solidFill>
              <a:schemeClr val="accent2">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xmlns="" id="{613FCB6B-A855-CC49-A176-05F08395992E}"/>
                </a:ext>
              </a:extLst>
            </p:cNvPr>
            <p:cNvSpPr/>
            <p:nvPr/>
          </p:nvSpPr>
          <p:spPr>
            <a:xfrm>
              <a:off x="5332057" y="4971877"/>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xmlns="" id="{06613C42-293F-0743-A57A-BDB05C36CCB9}"/>
                </a:ext>
              </a:extLst>
            </p:cNvPr>
            <p:cNvSpPr/>
            <p:nvPr/>
          </p:nvSpPr>
          <p:spPr>
            <a:xfrm>
              <a:off x="5332057" y="53443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xmlns="" id="{A393498C-44F7-3048-9D36-439F8CFB35C8}"/>
                </a:ext>
              </a:extLst>
            </p:cNvPr>
            <p:cNvSpPr/>
            <p:nvPr/>
          </p:nvSpPr>
          <p:spPr>
            <a:xfrm>
              <a:off x="5330398" y="3466379"/>
              <a:ext cx="1443790" cy="224592"/>
            </a:xfrm>
            <a:prstGeom prst="rect">
              <a:avLst/>
            </a:prstGeom>
            <a:solidFill>
              <a:srgbClr val="F4B183"/>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xmlns="" id="{9FD29060-59BE-8B43-93C2-58E45076973E}"/>
                </a:ext>
              </a:extLst>
            </p:cNvPr>
            <p:cNvSpPr/>
            <p:nvPr/>
          </p:nvSpPr>
          <p:spPr>
            <a:xfrm>
              <a:off x="5671907"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E7D090F4-9913-7E42-8B00-70A43C06B7F0}"/>
                </a:ext>
              </a:extLst>
            </p:cNvPr>
            <p:cNvSpPr/>
            <p:nvPr/>
          </p:nvSpPr>
          <p:spPr>
            <a:xfrm>
              <a:off x="5944887"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xmlns="" id="{24EA1B02-9A1A-6F4F-8632-E811763E7601}"/>
                </a:ext>
              </a:extLst>
            </p:cNvPr>
            <p:cNvSpPr/>
            <p:nvPr/>
          </p:nvSpPr>
          <p:spPr>
            <a:xfrm>
              <a:off x="6490847"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xmlns="" id="{EB376057-44A9-8B40-B9D7-FB933D2B4B9F}"/>
                </a:ext>
              </a:extLst>
            </p:cNvPr>
            <p:cNvSpPr/>
            <p:nvPr/>
          </p:nvSpPr>
          <p:spPr>
            <a:xfrm>
              <a:off x="6224985" y="3473419"/>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xmlns="" id="{88789814-3F87-7142-800E-7BC316531F52}"/>
                </a:ext>
              </a:extLst>
            </p:cNvPr>
            <p:cNvSpPr/>
            <p:nvPr/>
          </p:nvSpPr>
          <p:spPr>
            <a:xfrm>
              <a:off x="5332057" y="4975020"/>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xmlns="" id="{53B504E7-72B1-D94C-B6DE-172126C6FF29}"/>
                </a:ext>
              </a:extLst>
            </p:cNvPr>
            <p:cNvSpPr/>
            <p:nvPr/>
          </p:nvSpPr>
          <p:spPr>
            <a:xfrm>
              <a:off x="5332057" y="53475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xmlns="" id="{F1C92815-CE5A-5145-A3F7-412FF4E0EE94}"/>
                </a:ext>
              </a:extLst>
            </p:cNvPr>
            <p:cNvSpPr/>
            <p:nvPr/>
          </p:nvSpPr>
          <p:spPr>
            <a:xfrm>
              <a:off x="5400586" y="4978935"/>
              <a:ext cx="216443" cy="212528"/>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xmlns="" id="{E22A9507-C6E0-6E44-A50F-8446C53BEB0E}"/>
                </a:ext>
              </a:extLst>
            </p:cNvPr>
            <p:cNvSpPr/>
            <p:nvPr/>
          </p:nvSpPr>
          <p:spPr>
            <a:xfrm>
              <a:off x="5673566" y="4980282"/>
              <a:ext cx="216443" cy="212528"/>
            </a:xfrm>
            <a:prstGeom prst="rect">
              <a:avLst/>
            </a:prstGeom>
            <a:solidFill>
              <a:schemeClr val="bg2">
                <a:lumMod val="9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xmlns="" id="{81E6E6EF-9FB6-3F40-B90B-3C402ADAFEF6}"/>
                </a:ext>
              </a:extLst>
            </p:cNvPr>
            <p:cNvSpPr/>
            <p:nvPr/>
          </p:nvSpPr>
          <p:spPr>
            <a:xfrm>
              <a:off x="5946546" y="4982508"/>
              <a:ext cx="216443" cy="212528"/>
            </a:xfrm>
            <a:prstGeom prst="rect">
              <a:avLst/>
            </a:prstGeom>
            <a:solidFill>
              <a:srgbClr val="0070C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xmlns="" id="{E718E6C3-9A9A-D840-A6F3-799A4728B93F}"/>
                </a:ext>
              </a:extLst>
            </p:cNvPr>
            <p:cNvSpPr/>
            <p:nvPr/>
          </p:nvSpPr>
          <p:spPr>
            <a:xfrm>
              <a:off x="6219526" y="4981733"/>
              <a:ext cx="216443" cy="212528"/>
            </a:xfrm>
            <a:prstGeom prst="rect">
              <a:avLst/>
            </a:prstGeom>
            <a:solidFill>
              <a:srgbClr val="4AC1FF"/>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xmlns="" id="{95922454-4BEF-654D-92BA-86D31664FCEE}"/>
                </a:ext>
              </a:extLst>
            </p:cNvPr>
            <p:cNvSpPr/>
            <p:nvPr/>
          </p:nvSpPr>
          <p:spPr>
            <a:xfrm>
              <a:off x="6492506" y="4978935"/>
              <a:ext cx="216443" cy="212528"/>
            </a:xfrm>
            <a:prstGeom prst="rect">
              <a:avLst/>
            </a:prstGeom>
            <a:solidFill>
              <a:schemeClr val="accent6">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xmlns="" id="{44C82200-68A6-3E41-B10A-5EF78F7B008E}"/>
                </a:ext>
              </a:extLst>
            </p:cNvPr>
            <p:cNvSpPr/>
            <p:nvPr/>
          </p:nvSpPr>
          <p:spPr>
            <a:xfrm>
              <a:off x="5400586" y="5356013"/>
              <a:ext cx="216443" cy="212528"/>
            </a:xfrm>
            <a:prstGeom prst="rect">
              <a:avLst/>
            </a:prstGeom>
            <a:solidFill>
              <a:schemeClr val="bg2">
                <a:lumMod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xmlns="" id="{9181DACF-0381-AE4B-84E9-939341359F63}"/>
                </a:ext>
              </a:extLst>
            </p:cNvPr>
            <p:cNvSpPr/>
            <p:nvPr/>
          </p:nvSpPr>
          <p:spPr>
            <a:xfrm>
              <a:off x="5673566" y="5357360"/>
              <a:ext cx="216443" cy="212528"/>
            </a:xfrm>
            <a:prstGeom prst="rect">
              <a:avLst/>
            </a:prstGeom>
            <a:solidFill>
              <a:srgbClr val="FFFF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xmlns="" id="{EECACEB4-B303-EA4E-958A-2C3C75A571C8}"/>
                </a:ext>
              </a:extLst>
            </p:cNvPr>
            <p:cNvSpPr/>
            <p:nvPr/>
          </p:nvSpPr>
          <p:spPr>
            <a:xfrm>
              <a:off x="5946546" y="5359586"/>
              <a:ext cx="216443" cy="212528"/>
            </a:xfrm>
            <a:prstGeom prst="rect">
              <a:avLst/>
            </a:prstGeom>
            <a:solidFill>
              <a:schemeClr val="accent4">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xmlns="" id="{A50719A2-B677-9341-827A-1F5658B25701}"/>
                </a:ext>
              </a:extLst>
            </p:cNvPr>
            <p:cNvSpPr/>
            <p:nvPr/>
          </p:nvSpPr>
          <p:spPr>
            <a:xfrm>
              <a:off x="6219526" y="5358811"/>
              <a:ext cx="216443" cy="212528"/>
            </a:xfrm>
            <a:prstGeom prst="rect">
              <a:avLst/>
            </a:prstGeom>
            <a:solidFill>
              <a:schemeClr val="accent2">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xmlns="" id="{0AD12C8B-4BD8-FD41-98F8-6D1401774814}"/>
                </a:ext>
              </a:extLst>
            </p:cNvPr>
            <p:cNvSpPr/>
            <p:nvPr/>
          </p:nvSpPr>
          <p:spPr>
            <a:xfrm>
              <a:off x="6492506" y="53560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xmlns="" id="{3A4F3424-FB4A-104E-960C-C92682453D47}"/>
                </a:ext>
              </a:extLst>
            </p:cNvPr>
            <p:cNvGrpSpPr/>
            <p:nvPr/>
          </p:nvGrpSpPr>
          <p:grpSpPr>
            <a:xfrm>
              <a:off x="5332053" y="4619377"/>
              <a:ext cx="1443790" cy="227735"/>
              <a:chOff x="5484457" y="5496779"/>
              <a:chExt cx="1443790" cy="227735"/>
            </a:xfrm>
          </p:grpSpPr>
          <p:sp>
            <p:nvSpPr>
              <p:cNvPr id="62" name="Rectangle 61">
                <a:extLst>
                  <a:ext uri="{FF2B5EF4-FFF2-40B4-BE49-F238E27FC236}">
                    <a16:creationId xmlns:a16="http://schemas.microsoft.com/office/drawing/2014/main" xmlns="" id="{57E08C75-0585-0B48-B602-0B37AE83C855}"/>
                  </a:ext>
                </a:extLst>
              </p:cNvPr>
              <p:cNvSpPr/>
              <p:nvPr/>
            </p:nvSpPr>
            <p:spPr>
              <a:xfrm>
                <a:off x="5484457" y="54967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xmlns="" id="{AC7EDCFB-1407-664E-8ABB-5C5665462F0B}"/>
                  </a:ext>
                </a:extLst>
              </p:cNvPr>
              <p:cNvSpPr/>
              <p:nvPr/>
            </p:nvSpPr>
            <p:spPr>
              <a:xfrm>
                <a:off x="5484457" y="54999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xmlns="" id="{B1D63A36-0905-0140-A2FA-114E98D9F3AE}"/>
                  </a:ext>
                </a:extLst>
              </p:cNvPr>
              <p:cNvSpPr/>
              <p:nvPr/>
            </p:nvSpPr>
            <p:spPr>
              <a:xfrm>
                <a:off x="5552986" y="5508413"/>
                <a:ext cx="216443" cy="212528"/>
              </a:xfrm>
              <a:prstGeom prst="rect">
                <a:avLst/>
              </a:prstGeom>
              <a:solidFill>
                <a:schemeClr val="accent2"/>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xmlns="" id="{379710FC-BC52-F640-A526-5EA911636D2F}"/>
                  </a:ext>
                </a:extLst>
              </p:cNvPr>
              <p:cNvSpPr/>
              <p:nvPr/>
            </p:nvSpPr>
            <p:spPr>
              <a:xfrm>
                <a:off x="5825966" y="5509760"/>
                <a:ext cx="216443" cy="212528"/>
              </a:xfrm>
              <a:prstGeom prst="rect">
                <a:avLst/>
              </a:prstGeom>
              <a:solidFill>
                <a:srgbClr val="92D05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xmlns="" id="{1F09CA82-7207-9B48-A984-128B89810C27}"/>
                  </a:ext>
                </a:extLst>
              </p:cNvPr>
              <p:cNvSpPr/>
              <p:nvPr/>
            </p:nvSpPr>
            <p:spPr>
              <a:xfrm>
                <a:off x="6098946" y="5511986"/>
                <a:ext cx="216443" cy="212528"/>
              </a:xfrm>
              <a:prstGeom prst="rect">
                <a:avLst/>
              </a:prstGeom>
              <a:solidFill>
                <a:schemeClr val="accent4">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xmlns="" id="{555EE89A-4333-B54C-A17D-DB0CC4068D45}"/>
                  </a:ext>
                </a:extLst>
              </p:cNvPr>
              <p:cNvSpPr/>
              <p:nvPr/>
            </p:nvSpPr>
            <p:spPr>
              <a:xfrm>
                <a:off x="6644906" y="55084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xmlns="" id="{9E1A94CB-DAFC-2E49-A03E-37DCA8C64D94}"/>
                </a:ext>
              </a:extLst>
            </p:cNvPr>
            <p:cNvGrpSpPr/>
            <p:nvPr/>
          </p:nvGrpSpPr>
          <p:grpSpPr>
            <a:xfrm>
              <a:off x="5320510" y="4229107"/>
              <a:ext cx="1443790" cy="227735"/>
              <a:chOff x="5484457" y="5496779"/>
              <a:chExt cx="1443790" cy="227735"/>
            </a:xfrm>
          </p:grpSpPr>
          <p:sp>
            <p:nvSpPr>
              <p:cNvPr id="69" name="Rectangle 68">
                <a:extLst>
                  <a:ext uri="{FF2B5EF4-FFF2-40B4-BE49-F238E27FC236}">
                    <a16:creationId xmlns:a16="http://schemas.microsoft.com/office/drawing/2014/main" xmlns="" id="{EF45DF40-03E3-E841-87A2-4E9AABEE7589}"/>
                  </a:ext>
                </a:extLst>
              </p:cNvPr>
              <p:cNvSpPr/>
              <p:nvPr/>
            </p:nvSpPr>
            <p:spPr>
              <a:xfrm>
                <a:off x="5484457" y="54967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xmlns="" id="{2490B558-E83C-8E47-8114-737F7DCC62C3}"/>
                  </a:ext>
                </a:extLst>
              </p:cNvPr>
              <p:cNvSpPr/>
              <p:nvPr/>
            </p:nvSpPr>
            <p:spPr>
              <a:xfrm>
                <a:off x="5484457" y="54999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xmlns="" id="{14ACF07B-DB1E-2244-9FD7-7A90C4407A36}"/>
                  </a:ext>
                </a:extLst>
              </p:cNvPr>
              <p:cNvSpPr/>
              <p:nvPr/>
            </p:nvSpPr>
            <p:spPr>
              <a:xfrm>
                <a:off x="5552986" y="5508413"/>
                <a:ext cx="216443" cy="212528"/>
              </a:xfrm>
              <a:prstGeom prst="rect">
                <a:avLst/>
              </a:prstGeom>
              <a:solidFill>
                <a:srgbClr val="4AC1FF"/>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xmlns="" id="{9CFDB9B3-9F00-5E42-AF04-2533A7C33613}"/>
                  </a:ext>
                </a:extLst>
              </p:cNvPr>
              <p:cNvSpPr/>
              <p:nvPr/>
            </p:nvSpPr>
            <p:spPr>
              <a:xfrm>
                <a:off x="6098946" y="5511986"/>
                <a:ext cx="216443" cy="212528"/>
              </a:xfrm>
              <a:prstGeom prst="rect">
                <a:avLst/>
              </a:prstGeom>
              <a:solidFill>
                <a:srgbClr val="FF99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xmlns="" id="{E0765D8F-655F-4845-8FEB-77480FFAE5BA}"/>
                  </a:ext>
                </a:extLst>
              </p:cNvPr>
              <p:cNvSpPr/>
              <p:nvPr/>
            </p:nvSpPr>
            <p:spPr>
              <a:xfrm>
                <a:off x="6371926" y="5511211"/>
                <a:ext cx="216443" cy="212528"/>
              </a:xfrm>
              <a:prstGeom prst="rect">
                <a:avLst/>
              </a:prstGeom>
              <a:solidFill>
                <a:schemeClr val="accent2">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xmlns="" id="{067F530C-2C89-2D4F-97D1-9166474754EF}"/>
                  </a:ext>
                </a:extLst>
              </p:cNvPr>
              <p:cNvSpPr/>
              <p:nvPr/>
            </p:nvSpPr>
            <p:spPr>
              <a:xfrm>
                <a:off x="6644906" y="55084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xmlns="" id="{D95AA9C6-5927-C542-8FDF-F24A23A0114C}"/>
                </a:ext>
              </a:extLst>
            </p:cNvPr>
            <p:cNvGrpSpPr/>
            <p:nvPr/>
          </p:nvGrpSpPr>
          <p:grpSpPr>
            <a:xfrm>
              <a:off x="5323018" y="3891039"/>
              <a:ext cx="1443790" cy="227735"/>
              <a:chOff x="5484457" y="5496779"/>
              <a:chExt cx="1443790" cy="227735"/>
            </a:xfrm>
          </p:grpSpPr>
          <p:sp>
            <p:nvSpPr>
              <p:cNvPr id="76" name="Rectangle 75">
                <a:extLst>
                  <a:ext uri="{FF2B5EF4-FFF2-40B4-BE49-F238E27FC236}">
                    <a16:creationId xmlns:a16="http://schemas.microsoft.com/office/drawing/2014/main" xmlns="" id="{6C93F2DD-A7CF-D240-A96C-CD0C47E8C3F8}"/>
                  </a:ext>
                </a:extLst>
              </p:cNvPr>
              <p:cNvSpPr/>
              <p:nvPr/>
            </p:nvSpPr>
            <p:spPr>
              <a:xfrm>
                <a:off x="5484457" y="5496779"/>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xmlns="" id="{50CB2192-BBA5-0B4A-BBC4-4BF6AB92EFB6}"/>
                  </a:ext>
                </a:extLst>
              </p:cNvPr>
              <p:cNvSpPr/>
              <p:nvPr/>
            </p:nvSpPr>
            <p:spPr>
              <a:xfrm>
                <a:off x="5484457" y="5499922"/>
                <a:ext cx="1443790" cy="224592"/>
              </a:xfrm>
              <a:prstGeom prst="rect">
                <a:avLst/>
              </a:prstGeom>
              <a:solidFill>
                <a:schemeClr val="accent1">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xmlns="" id="{F8A8BF77-5B24-4646-A659-4BFFDE39E273}"/>
                  </a:ext>
                </a:extLst>
              </p:cNvPr>
              <p:cNvSpPr/>
              <p:nvPr/>
            </p:nvSpPr>
            <p:spPr>
              <a:xfrm>
                <a:off x="5552986" y="5508413"/>
                <a:ext cx="216443" cy="212528"/>
              </a:xfrm>
              <a:prstGeom prst="rect">
                <a:avLst/>
              </a:prstGeom>
              <a:solidFill>
                <a:schemeClr val="accent2"/>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xmlns="" id="{9A8A33AE-576E-C249-AC31-A1DFEF5024A0}"/>
                  </a:ext>
                </a:extLst>
              </p:cNvPr>
              <p:cNvSpPr/>
              <p:nvPr/>
            </p:nvSpPr>
            <p:spPr>
              <a:xfrm>
                <a:off x="5825966" y="5509760"/>
                <a:ext cx="216443" cy="212528"/>
              </a:xfrm>
              <a:prstGeom prst="rect">
                <a:avLst/>
              </a:prstGeom>
              <a:solidFill>
                <a:schemeClr val="accent6">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xmlns="" id="{4FF0601E-1B77-2049-90A5-6A1719463A18}"/>
                  </a:ext>
                </a:extLst>
              </p:cNvPr>
              <p:cNvSpPr/>
              <p:nvPr/>
            </p:nvSpPr>
            <p:spPr>
              <a:xfrm>
                <a:off x="6098946" y="5511986"/>
                <a:ext cx="216443" cy="212528"/>
              </a:xfrm>
              <a:prstGeom prst="rect">
                <a:avLst/>
              </a:prstGeom>
              <a:solidFill>
                <a:schemeClr val="accent4">
                  <a:lumMod val="40000"/>
                  <a:lumOff val="6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xmlns="" id="{59E97AB1-D945-7D44-A5F7-658FDEFCDCB4}"/>
                  </a:ext>
                </a:extLst>
              </p:cNvPr>
              <p:cNvSpPr/>
              <p:nvPr/>
            </p:nvSpPr>
            <p:spPr>
              <a:xfrm>
                <a:off x="6371926" y="5511211"/>
                <a:ext cx="216443" cy="212528"/>
              </a:xfrm>
              <a:prstGeom prst="rect">
                <a:avLst/>
              </a:prstGeom>
              <a:solidFill>
                <a:schemeClr val="accent2">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xmlns="" id="{E0694DAD-A9DF-D144-B683-F51AA557A02B}"/>
                  </a:ext>
                </a:extLst>
              </p:cNvPr>
              <p:cNvSpPr/>
              <p:nvPr/>
            </p:nvSpPr>
            <p:spPr>
              <a:xfrm>
                <a:off x="6644906" y="5508413"/>
                <a:ext cx="216443" cy="212528"/>
              </a:xfrm>
              <a:prstGeom prst="rect">
                <a:avLst/>
              </a:prstGeom>
              <a:solidFill>
                <a:schemeClr val="tx2">
                  <a:lumMod val="60000"/>
                  <a:lumOff val="4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3" name="Rectangle 82">
              <a:extLst>
                <a:ext uri="{FF2B5EF4-FFF2-40B4-BE49-F238E27FC236}">
                  <a16:creationId xmlns:a16="http://schemas.microsoft.com/office/drawing/2014/main" xmlns="" id="{53D47D73-33D1-8746-9AB7-44BB2747540B}"/>
                </a:ext>
              </a:extLst>
            </p:cNvPr>
            <p:cNvSpPr/>
            <p:nvPr/>
          </p:nvSpPr>
          <p:spPr>
            <a:xfrm>
              <a:off x="5398927" y="3468365"/>
              <a:ext cx="216443" cy="212528"/>
            </a:xfrm>
            <a:prstGeom prst="rect">
              <a:avLst/>
            </a:prstGeom>
            <a:solidFill>
              <a:srgbClr val="FF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xmlns="" id="{CC0DB993-2D18-C945-92F5-7EA0D1667492}"/>
              </a:ext>
            </a:extLst>
          </p:cNvPr>
          <p:cNvSpPr txBox="1"/>
          <p:nvPr/>
        </p:nvSpPr>
        <p:spPr>
          <a:xfrm>
            <a:off x="6471731" y="3426115"/>
            <a:ext cx="2724852" cy="307777"/>
          </a:xfrm>
          <a:prstGeom prst="rect">
            <a:avLst/>
          </a:prstGeom>
          <a:solidFill>
            <a:schemeClr val="bg1"/>
          </a:solidFill>
        </p:spPr>
        <p:txBody>
          <a:bodyPr wrap="square" rtlCol="0">
            <a:spAutoFit/>
          </a:bodyPr>
          <a:lstStyle/>
          <a:p>
            <a:pPr algn="ctr"/>
            <a:r>
              <a:rPr lang="en-US" sz="1400">
                <a:latin typeface="Amazon Ember Light" panose="020B0403020204020204" pitchFamily="34" charset="0"/>
                <a:ea typeface="Amazon Ember Light" panose="020B0403020204020204" pitchFamily="34" charset="0"/>
                <a:cs typeface="Amazon Ember Light" panose="020B0403020204020204" pitchFamily="34" charset="0"/>
              </a:rPr>
              <a:t>Host ID:  h-039725dyhe980010</a:t>
            </a:r>
          </a:p>
        </p:txBody>
      </p:sp>
    </p:spTree>
    <p:extLst>
      <p:ext uri="{BB962C8B-B14F-4D97-AF65-F5344CB8AC3E}">
        <p14:creationId xmlns:p14="http://schemas.microsoft.com/office/powerpoint/2010/main" val="121996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Amazon EC2 Tenancy</a:t>
            </a:r>
          </a:p>
        </p:txBody>
      </p:sp>
      <p:graphicFrame>
        <p:nvGraphicFramePr>
          <p:cNvPr id="3" name="Table 2">
            <a:extLst>
              <a:ext uri="{FF2B5EF4-FFF2-40B4-BE49-F238E27FC236}">
                <a16:creationId xmlns:a16="http://schemas.microsoft.com/office/drawing/2014/main" xmlns="" id="{09664A07-C1CA-F04A-96B9-ACBC6E95DE1B}"/>
              </a:ext>
            </a:extLst>
          </p:cNvPr>
          <p:cNvGraphicFramePr>
            <a:graphicFrameLocks noGrp="1"/>
          </p:cNvGraphicFramePr>
          <p:nvPr>
            <p:extLst>
              <p:ext uri="{D42A27DB-BD31-4B8C-83A1-F6EECF244321}">
                <p14:modId xmlns:p14="http://schemas.microsoft.com/office/powerpoint/2010/main" val="356372631"/>
              </p:ext>
            </p:extLst>
          </p:nvPr>
        </p:nvGraphicFramePr>
        <p:xfrm>
          <a:off x="144378" y="1997487"/>
          <a:ext cx="11747505" cy="3683785"/>
        </p:xfrm>
        <a:graphic>
          <a:graphicData uri="http://schemas.openxmlformats.org/drawingml/2006/table">
            <a:tbl>
              <a:tblPr>
                <a:effectLst>
                  <a:outerShdw blurRad="50800" dist="38100" dir="2700000" algn="tl" rotWithShape="0">
                    <a:prstClr val="black">
                      <a:alpha val="40000"/>
                    </a:prstClr>
                  </a:outerShdw>
                </a:effectLst>
                <a:tableStyleId>{22838BEF-8BB2-4498-84A7-C5851F593DF1}</a:tableStyleId>
              </a:tblPr>
              <a:tblGrid>
                <a:gridCol w="2282631">
                  <a:extLst>
                    <a:ext uri="{9D8B030D-6E8A-4147-A177-3AD203B41FA5}">
                      <a16:colId xmlns:a16="http://schemas.microsoft.com/office/drawing/2014/main" xmlns="" val="3196525513"/>
                    </a:ext>
                  </a:extLst>
                </a:gridCol>
                <a:gridCol w="2575119">
                  <a:extLst>
                    <a:ext uri="{9D8B030D-6E8A-4147-A177-3AD203B41FA5}">
                      <a16:colId xmlns:a16="http://schemas.microsoft.com/office/drawing/2014/main" xmlns="" val="4140800876"/>
                    </a:ext>
                  </a:extLst>
                </a:gridCol>
                <a:gridCol w="6889755">
                  <a:extLst>
                    <a:ext uri="{9D8B030D-6E8A-4147-A177-3AD203B41FA5}">
                      <a16:colId xmlns:a16="http://schemas.microsoft.com/office/drawing/2014/main" xmlns="" val="3136575092"/>
                    </a:ext>
                  </a:extLst>
                </a:gridCol>
              </a:tblGrid>
              <a:tr h="369443">
                <a:tc>
                  <a:txBody>
                    <a:bodyPr/>
                    <a:lstStyle/>
                    <a:p>
                      <a:pPr algn="r" fontAlgn="t"/>
                      <a:endParaRPr lang="en-US" sz="2400" b="0" i="0">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47625" marR="47625" marT="47625" marB="47625"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400">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Only your AWS account on the hardware?</a:t>
                      </a:r>
                      <a:endParaRPr lang="en-US" sz="2400" b="0" i="0">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US" sz="2400">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rPr>
                        <a:t>Description</a:t>
                      </a:r>
                      <a:endParaRPr lang="en-US" sz="2400" b="0" i="0">
                        <a:solidFill>
                          <a:schemeClr val="tx1">
                            <a:lumMod val="85000"/>
                            <a:lumOff val="15000"/>
                          </a:schemeClr>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542815933"/>
                  </a:ext>
                </a:extLst>
              </a:tr>
              <a:tr h="617292">
                <a:tc>
                  <a:txBody>
                    <a:bodyPr/>
                    <a:lstStyle/>
                    <a:p>
                      <a:pPr algn="ctr" fontAlgn="t"/>
                      <a:r>
                        <a:rPr lang="en-US" sz="2400" b="0" i="0">
                          <a:solidFill>
                            <a:schemeClr val="tx1">
                              <a:lumMod val="75000"/>
                              <a:lumOff val="25000"/>
                            </a:schemeClr>
                          </a:solidFill>
                          <a:effectLst/>
                          <a:latin typeface="Amazon Ember" panose="020B0603020204020204" pitchFamily="34" charset="0"/>
                          <a:ea typeface="Amazon Ember" panose="020B0603020204020204" pitchFamily="34" charset="0"/>
                          <a:cs typeface="Amazon Ember" panose="020B0603020204020204" pitchFamily="34" charset="0"/>
                        </a:rPr>
                        <a:t>Default</a:t>
                      </a:r>
                    </a:p>
                  </a:txBody>
                  <a:tcPr marL="47625" marR="47625" marT="47625" marB="47625"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i="0">
                          <a:solidFill>
                            <a:schemeClr val="tx1">
                              <a:lumMod val="85000"/>
                              <a:lumOff val="15000"/>
                            </a:schemeClr>
                          </a:solidFill>
                          <a:effectLst/>
                          <a:latin typeface="Amazon Ember Light" panose="020B0403020204020204" pitchFamily="34" charset="0"/>
                          <a:ea typeface="Amazon Ember Light" panose="020B0403020204020204" pitchFamily="34" charset="0"/>
                          <a:cs typeface="Amazon Ember Light" panose="020B0403020204020204" pitchFamily="34" charset="0"/>
                        </a:rPr>
                        <a:t>No</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US" sz="2200" b="0" i="0">
                          <a:solidFill>
                            <a:schemeClr val="tx1">
                              <a:lumMod val="85000"/>
                              <a:lumOff val="15000"/>
                            </a:schemeClr>
                          </a:solidFill>
                          <a:effectLst/>
                          <a:latin typeface="Amazon Ember Light" panose="020B0403020204020204" pitchFamily="34" charset="0"/>
                          <a:ea typeface="Amazon Ember Light" panose="020B0403020204020204" pitchFamily="34" charset="0"/>
                          <a:cs typeface="Amazon Ember Light" panose="020B0403020204020204" pitchFamily="34" charset="0"/>
                        </a:rPr>
                        <a:t>Your instance runs on shared hardware.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903685148"/>
                  </a:ext>
                </a:extLst>
              </a:tr>
              <a:tr h="369443">
                <a:tc>
                  <a:txBody>
                    <a:bodyPr/>
                    <a:lstStyle/>
                    <a:p>
                      <a:pPr algn="ctr" fontAlgn="t"/>
                      <a:r>
                        <a:rPr lang="en-US" sz="2400" b="0" i="0">
                          <a:solidFill>
                            <a:schemeClr val="tx1">
                              <a:lumMod val="75000"/>
                              <a:lumOff val="25000"/>
                            </a:schemeClr>
                          </a:solidFill>
                          <a:effectLst/>
                          <a:latin typeface="Amazon Ember" panose="020B0603020204020204" pitchFamily="34" charset="0"/>
                          <a:ea typeface="Amazon Ember" panose="020B0603020204020204" pitchFamily="34" charset="0"/>
                          <a:cs typeface="Amazon Ember" panose="020B0603020204020204" pitchFamily="34" charset="0"/>
                        </a:rPr>
                        <a:t>Dedicated Instance</a:t>
                      </a:r>
                    </a:p>
                  </a:txBody>
                  <a:tcPr marL="47625" marR="47625" marT="47625" marB="47625"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i="0">
                          <a:solidFill>
                            <a:schemeClr val="tx1">
                              <a:lumMod val="85000"/>
                              <a:lumOff val="15000"/>
                            </a:schemeClr>
                          </a:solidFill>
                          <a:effectLst/>
                          <a:latin typeface="Amazon Ember Light" panose="020B0403020204020204" pitchFamily="34" charset="0"/>
                          <a:ea typeface="Amazon Ember Light" panose="020B0403020204020204" pitchFamily="34" charset="0"/>
                          <a:cs typeface="Amazon Ember Light" panose="020B0403020204020204" pitchFamily="34" charset="0"/>
                        </a:rPr>
                        <a:t>Yes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US" sz="2200" b="0" i="0">
                          <a:solidFill>
                            <a:schemeClr val="tx1">
                              <a:lumMod val="85000"/>
                              <a:lumOff val="15000"/>
                            </a:schemeClr>
                          </a:solidFill>
                          <a:effectLst/>
                          <a:latin typeface="Amazon Ember Light" panose="020B0403020204020204" pitchFamily="34" charset="0"/>
                          <a:ea typeface="Amazon Ember Light" panose="020B0403020204020204" pitchFamily="34" charset="0"/>
                          <a:cs typeface="Amazon Ember Light" panose="020B0403020204020204" pitchFamily="34" charset="0"/>
                        </a:rPr>
                        <a:t>Runs on a non-specific piece of hardware.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3068491502"/>
                  </a:ext>
                </a:extLst>
              </a:tr>
              <a:tr h="1047193">
                <a:tc>
                  <a:txBody>
                    <a:bodyPr/>
                    <a:lstStyle/>
                    <a:p>
                      <a:pPr algn="ctr" fontAlgn="t"/>
                      <a:r>
                        <a:rPr lang="en-US" sz="2400" b="0" i="0">
                          <a:solidFill>
                            <a:schemeClr val="tx1">
                              <a:lumMod val="75000"/>
                              <a:lumOff val="25000"/>
                            </a:schemeClr>
                          </a:solidFill>
                          <a:effectLst/>
                          <a:latin typeface="Amazon Ember" panose="020B0603020204020204" pitchFamily="34" charset="0"/>
                          <a:ea typeface="Amazon Ember" panose="020B0603020204020204" pitchFamily="34" charset="0"/>
                          <a:cs typeface="Amazon Ember" panose="020B0603020204020204" pitchFamily="34" charset="0"/>
                        </a:rPr>
                        <a:t>Dedicated Host</a:t>
                      </a:r>
                    </a:p>
                  </a:txBody>
                  <a:tcPr marL="47625" marR="47625" marT="47625" marB="47625"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i="0">
                          <a:solidFill>
                            <a:schemeClr val="tx1">
                              <a:lumMod val="85000"/>
                              <a:lumOff val="15000"/>
                            </a:schemeClr>
                          </a:solidFill>
                          <a:effectLst/>
                          <a:latin typeface="Amazon Ember Light" panose="020B0403020204020204" pitchFamily="34" charset="0"/>
                          <a:ea typeface="Amazon Ember Light" panose="020B0403020204020204" pitchFamily="34" charset="0"/>
                          <a:cs typeface="Amazon Ember Light" panose="020B0403020204020204" pitchFamily="34" charset="0"/>
                        </a:rPr>
                        <a:t>Yes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US" sz="2200" b="0" i="0">
                          <a:solidFill>
                            <a:schemeClr val="tx1">
                              <a:lumMod val="85000"/>
                              <a:lumOff val="15000"/>
                            </a:schemeClr>
                          </a:solidFill>
                          <a:effectLst/>
                          <a:latin typeface="Amazon Ember Light" panose="020B0403020204020204" pitchFamily="34" charset="0"/>
                          <a:ea typeface="Amazon Ember Light" panose="020B0403020204020204" pitchFamily="34" charset="0"/>
                          <a:cs typeface="Amazon Ember Light" panose="020B0403020204020204" pitchFamily="34" charset="0"/>
                        </a:rPr>
                        <a:t>Runs on a specific piece of hardware of your choosing, over which you receive greater control.</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6672443"/>
                  </a:ext>
                </a:extLst>
              </a:tr>
            </a:tbl>
          </a:graphicData>
        </a:graphic>
      </p:graphicFrame>
    </p:spTree>
    <p:extLst>
      <p:ext uri="{BB962C8B-B14F-4D97-AF65-F5344CB8AC3E}">
        <p14:creationId xmlns:p14="http://schemas.microsoft.com/office/powerpoint/2010/main" val="14123793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AWS Compute Optimizer</a:t>
            </a:r>
          </a:p>
        </p:txBody>
      </p:sp>
      <p:sp>
        <p:nvSpPr>
          <p:cNvPr id="4" name="Rectangle 3"/>
          <p:cNvSpPr/>
          <p:nvPr/>
        </p:nvSpPr>
        <p:spPr>
          <a:xfrm>
            <a:off x="1940312" y="1929945"/>
            <a:ext cx="9604917" cy="922368"/>
          </a:xfrm>
          <a:prstGeom prst="rect">
            <a:avLst/>
          </a:prstGeom>
        </p:spPr>
        <p:txBody>
          <a:bodyPr wrap="square">
            <a:spAutoFit/>
          </a:bodyPr>
          <a:lstStyle/>
          <a:p>
            <a:r>
              <a:rPr lang="en-US">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AWS Compute Optimizer recommends optimal AWS compute resources for your workloads to reduce costs and improve performance by using machine learning to analyze historical utilization metrics.</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12" name="Group 11"/>
          <p:cNvGrpSpPr/>
          <p:nvPr/>
        </p:nvGrpSpPr>
        <p:grpSpPr>
          <a:xfrm>
            <a:off x="760690" y="1962753"/>
            <a:ext cx="859138" cy="856751"/>
            <a:chOff x="379251" y="1929945"/>
            <a:chExt cx="859138" cy="856751"/>
          </a:xfrm>
        </p:grpSpPr>
        <p:pic>
          <p:nvPicPr>
            <p:cNvPr id="6" name="Picture 5">
              <a:extLst>
                <a:ext uri="{FF2B5EF4-FFF2-40B4-BE49-F238E27FC236}">
                  <a16:creationId xmlns:a16="http://schemas.microsoft.com/office/drawing/2014/main" xmlns="" id="{D2DBD646-F76D-7148-9D00-8E6C090DF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709" y="1929945"/>
              <a:ext cx="381439" cy="395567"/>
            </a:xfrm>
            <a:prstGeom prst="rect">
              <a:avLst/>
            </a:prstGeom>
          </p:spPr>
        </p:pic>
        <p:pic>
          <p:nvPicPr>
            <p:cNvPr id="9" name="Picture 8">
              <a:extLst>
                <a:ext uri="{FF2B5EF4-FFF2-40B4-BE49-F238E27FC236}">
                  <a16:creationId xmlns:a16="http://schemas.microsoft.com/office/drawing/2014/main" xmlns="" id="{D2DBD646-F76D-7148-9D00-8E6C090DF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251" y="2391129"/>
              <a:ext cx="381439" cy="395567"/>
            </a:xfrm>
            <a:prstGeom prst="rect">
              <a:avLst/>
            </a:prstGeom>
          </p:spPr>
        </p:pic>
        <p:pic>
          <p:nvPicPr>
            <p:cNvPr id="10" name="Picture 9">
              <a:extLst>
                <a:ext uri="{FF2B5EF4-FFF2-40B4-BE49-F238E27FC236}">
                  <a16:creationId xmlns:a16="http://schemas.microsoft.com/office/drawing/2014/main" xmlns="" id="{D2DBD646-F76D-7148-9D00-8E6C090DF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319" y="1934980"/>
              <a:ext cx="381439" cy="395567"/>
            </a:xfrm>
            <a:prstGeom prst="rect">
              <a:avLst/>
            </a:prstGeom>
          </p:spPr>
        </p:pic>
        <p:pic>
          <p:nvPicPr>
            <p:cNvPr id="11" name="Picture 10">
              <a:extLst>
                <a:ext uri="{FF2B5EF4-FFF2-40B4-BE49-F238E27FC236}">
                  <a16:creationId xmlns:a16="http://schemas.microsoft.com/office/drawing/2014/main" xmlns="" id="{D2DBD646-F76D-7148-9D00-8E6C090DF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950" y="2391129"/>
              <a:ext cx="381439" cy="395567"/>
            </a:xfrm>
            <a:prstGeom prst="rect">
              <a:avLst/>
            </a:prstGeom>
          </p:spPr>
        </p:pic>
      </p:grpSp>
      <p:sp>
        <p:nvSpPr>
          <p:cNvPr id="13" name="Rectangle 12"/>
          <p:cNvSpPr/>
          <p:nvPr/>
        </p:nvSpPr>
        <p:spPr>
          <a:xfrm>
            <a:off x="1940312" y="5032021"/>
            <a:ext cx="2453486" cy="645690"/>
          </a:xfrm>
          <a:prstGeom prst="rect">
            <a:avLst/>
          </a:prstGeom>
        </p:spPr>
        <p:txBody>
          <a:bodyPr wrap="square">
            <a:spAutoFit/>
          </a:bodyPr>
          <a:lstStyle/>
          <a:p>
            <a:pPr algn="ctr"/>
            <a:r>
              <a:rPr lang="en-US">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Lower costs by up to 25%</a:t>
            </a:r>
            <a:endParaRPr lang="en-US" b="0" i="0">
              <a:solidFill>
                <a:srgbClr val="232F3E"/>
              </a:solidFill>
              <a:effectLst/>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4" name="Rectangle 13"/>
          <p:cNvSpPr/>
          <p:nvPr/>
        </p:nvSpPr>
        <p:spPr>
          <a:xfrm>
            <a:off x="6667235" y="5034960"/>
            <a:ext cx="2842150" cy="922368"/>
          </a:xfrm>
          <a:prstGeom prst="rect">
            <a:avLst/>
          </a:prstGeom>
        </p:spPr>
        <p:txBody>
          <a:bodyPr wrap="square">
            <a:spAutoFit/>
          </a:bodyPr>
          <a:lstStyle/>
          <a:p>
            <a:pPr algn="ctr"/>
            <a:r>
              <a:rPr lang="en-US">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Optimize performance with actionable recommendations</a:t>
            </a:r>
            <a:endParaRPr lang="en-US" b="0" i="0">
              <a:solidFill>
                <a:srgbClr val="232F3E"/>
              </a:solidFill>
              <a:effectLst/>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5" name="Picture 14">
            <a:extLst>
              <a:ext uri="{FF2B5EF4-FFF2-40B4-BE49-F238E27FC236}">
                <a16:creationId xmlns:a16="http://schemas.microsoft.com/office/drawing/2014/main" xmlns="" id="{EED8AE8C-3E72-EA43-8F89-78BA8947ED1F}"/>
              </a:ext>
            </a:extLst>
          </p:cNvPr>
          <p:cNvPicPr>
            <a:picLocks noChangeAspect="1"/>
          </p:cNvPicPr>
          <p:nvPr/>
        </p:nvPicPr>
        <p:blipFill>
          <a:blip r:embed="rId3"/>
          <a:stretch>
            <a:fillRect/>
          </a:stretch>
        </p:blipFill>
        <p:spPr>
          <a:xfrm>
            <a:off x="7528997" y="3686771"/>
            <a:ext cx="1118627" cy="1118627"/>
          </a:xfrm>
          <a:prstGeom prst="rect">
            <a:avLst/>
          </a:prstGeom>
        </p:spPr>
      </p:pic>
      <p:pic>
        <p:nvPicPr>
          <p:cNvPr id="16" name="Picture 15">
            <a:extLst>
              <a:ext uri="{FF2B5EF4-FFF2-40B4-BE49-F238E27FC236}">
                <a16:creationId xmlns:a16="http://schemas.microsoft.com/office/drawing/2014/main" xmlns="" id="{FF5BCE06-36AE-F545-934F-F14D2C35B8ED}"/>
              </a:ext>
            </a:extLst>
          </p:cNvPr>
          <p:cNvPicPr>
            <a:picLocks noChangeAspect="1"/>
          </p:cNvPicPr>
          <p:nvPr/>
        </p:nvPicPr>
        <p:blipFill>
          <a:blip r:embed="rId4"/>
          <a:stretch>
            <a:fillRect/>
          </a:stretch>
        </p:blipFill>
        <p:spPr>
          <a:xfrm>
            <a:off x="2645822" y="3686771"/>
            <a:ext cx="1042466" cy="1098936"/>
          </a:xfrm>
          <a:prstGeom prst="rect">
            <a:avLst/>
          </a:prstGeom>
        </p:spPr>
      </p:pic>
    </p:spTree>
    <p:extLst>
      <p:ext uri="{BB962C8B-B14F-4D97-AF65-F5344CB8AC3E}">
        <p14:creationId xmlns:p14="http://schemas.microsoft.com/office/powerpoint/2010/main" val="6180566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Keeping Track of Your Instances</a:t>
            </a:r>
          </a:p>
        </p:txBody>
      </p:sp>
      <p:sp>
        <p:nvSpPr>
          <p:cNvPr id="3" name="TextBox 2">
            <a:extLst>
              <a:ext uri="{FF2B5EF4-FFF2-40B4-BE49-F238E27FC236}">
                <a16:creationId xmlns:a16="http://schemas.microsoft.com/office/drawing/2014/main" xmlns="" id="{382E0BAA-3987-2540-A68C-A2760C00CFA7}"/>
              </a:ext>
            </a:extLst>
          </p:cNvPr>
          <p:cNvSpPr txBox="1"/>
          <p:nvPr/>
        </p:nvSpPr>
        <p:spPr>
          <a:xfrm>
            <a:off x="1183385" y="1855166"/>
            <a:ext cx="9822055" cy="430887"/>
          </a:xfrm>
          <a:prstGeom prst="rect">
            <a:avLst/>
          </a:prstGeom>
          <a:noFill/>
        </p:spPr>
        <p:txBody>
          <a:bodyPr wrap="square" rtlCol="0">
            <a:spAutoFit/>
          </a:bodyPr>
          <a:lstStyle/>
          <a:p>
            <a:pPr algn="ctr"/>
            <a:r>
              <a:rPr lang="en-US" sz="22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Assign metadata </a:t>
            </a:r>
            <a:r>
              <a:rPr lang="en-US" sz="2200" b="1">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tags</a:t>
            </a:r>
            <a:r>
              <a:rPr lang="en-US" sz="220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 </a:t>
            </a:r>
            <a:r>
              <a:rPr lang="en-US" sz="220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to your AWS resources to help you:</a:t>
            </a:r>
          </a:p>
        </p:txBody>
      </p:sp>
      <p:grpSp>
        <p:nvGrpSpPr>
          <p:cNvPr id="16" name="Group 15">
            <a:extLst>
              <a:ext uri="{FF2B5EF4-FFF2-40B4-BE49-F238E27FC236}">
                <a16:creationId xmlns:a16="http://schemas.microsoft.com/office/drawing/2014/main" xmlns="" id="{0670778A-9EE7-3C44-8E84-5CF825F3317A}"/>
              </a:ext>
            </a:extLst>
          </p:cNvPr>
          <p:cNvGrpSpPr/>
          <p:nvPr/>
        </p:nvGrpSpPr>
        <p:grpSpPr>
          <a:xfrm>
            <a:off x="1675459" y="2889757"/>
            <a:ext cx="8837906" cy="2556983"/>
            <a:chOff x="2444366" y="3529113"/>
            <a:chExt cx="7339835" cy="2123561"/>
          </a:xfrm>
        </p:grpSpPr>
        <p:sp>
          <p:nvSpPr>
            <p:cNvPr id="5" name="TextBox 4">
              <a:extLst>
                <a:ext uri="{FF2B5EF4-FFF2-40B4-BE49-F238E27FC236}">
                  <a16:creationId xmlns:a16="http://schemas.microsoft.com/office/drawing/2014/main" xmlns="" id="{C05E6D54-1D8C-B744-8620-F856D8AF35FA}"/>
                </a:ext>
              </a:extLst>
            </p:cNvPr>
            <p:cNvSpPr txBox="1"/>
            <p:nvPr/>
          </p:nvSpPr>
          <p:spPr>
            <a:xfrm>
              <a:off x="2444366" y="3529113"/>
              <a:ext cx="1504223"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Manage</a:t>
              </a:r>
            </a:p>
          </p:txBody>
        </p:sp>
        <p:sp>
          <p:nvSpPr>
            <p:cNvPr id="6" name="TextBox 5">
              <a:extLst>
                <a:ext uri="{FF2B5EF4-FFF2-40B4-BE49-F238E27FC236}">
                  <a16:creationId xmlns:a16="http://schemas.microsoft.com/office/drawing/2014/main" xmlns="" id="{E8A4BD66-9FFB-FF43-853A-AD4CFAEFC661}"/>
                </a:ext>
              </a:extLst>
            </p:cNvPr>
            <p:cNvSpPr txBox="1"/>
            <p:nvPr/>
          </p:nvSpPr>
          <p:spPr>
            <a:xfrm>
              <a:off x="5302017" y="3529113"/>
              <a:ext cx="1504223"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Search</a:t>
              </a:r>
            </a:p>
          </p:txBody>
        </p:sp>
        <p:sp>
          <p:nvSpPr>
            <p:cNvPr id="7" name="TextBox 6">
              <a:extLst>
                <a:ext uri="{FF2B5EF4-FFF2-40B4-BE49-F238E27FC236}">
                  <a16:creationId xmlns:a16="http://schemas.microsoft.com/office/drawing/2014/main" xmlns="" id="{E56AE84D-0A24-E148-94AF-8E6F966FB1ED}"/>
                </a:ext>
              </a:extLst>
            </p:cNvPr>
            <p:cNvSpPr txBox="1"/>
            <p:nvPr/>
          </p:nvSpPr>
          <p:spPr>
            <a:xfrm>
              <a:off x="8279978" y="3529113"/>
              <a:ext cx="1504223"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Filter</a:t>
              </a:r>
            </a:p>
          </p:txBody>
        </p:sp>
        <p:pic>
          <p:nvPicPr>
            <p:cNvPr id="9" name="Picture 8">
              <a:extLst>
                <a:ext uri="{FF2B5EF4-FFF2-40B4-BE49-F238E27FC236}">
                  <a16:creationId xmlns:a16="http://schemas.microsoft.com/office/drawing/2014/main" xmlns="" id="{078FEF4E-57F4-2D46-8715-411C2D480D98}"/>
                </a:ext>
              </a:extLst>
            </p:cNvPr>
            <p:cNvPicPr>
              <a:picLocks noChangeAspect="1"/>
            </p:cNvPicPr>
            <p:nvPr/>
          </p:nvPicPr>
          <p:blipFill>
            <a:blip r:embed="rId3"/>
            <a:stretch>
              <a:fillRect/>
            </a:stretch>
          </p:blipFill>
          <p:spPr>
            <a:xfrm>
              <a:off x="5365378" y="4282760"/>
              <a:ext cx="1458067" cy="1315090"/>
            </a:xfrm>
            <a:prstGeom prst="rect">
              <a:avLst/>
            </a:prstGeom>
          </p:spPr>
        </p:pic>
        <p:pic>
          <p:nvPicPr>
            <p:cNvPr id="11" name="Picture 10">
              <a:extLst>
                <a:ext uri="{FF2B5EF4-FFF2-40B4-BE49-F238E27FC236}">
                  <a16:creationId xmlns:a16="http://schemas.microsoft.com/office/drawing/2014/main" xmlns="" id="{E07CCAB5-C3E1-4444-A502-78D2BA93AF82}"/>
                </a:ext>
              </a:extLst>
            </p:cNvPr>
            <p:cNvPicPr>
              <a:picLocks noChangeAspect="1"/>
            </p:cNvPicPr>
            <p:nvPr/>
          </p:nvPicPr>
          <p:blipFill>
            <a:blip r:embed="rId4"/>
            <a:stretch>
              <a:fillRect/>
            </a:stretch>
          </p:blipFill>
          <p:spPr>
            <a:xfrm>
              <a:off x="2484107" y="4227935"/>
              <a:ext cx="1424739" cy="1424739"/>
            </a:xfrm>
            <a:prstGeom prst="rect">
              <a:avLst/>
            </a:prstGeom>
          </p:spPr>
        </p:pic>
        <p:pic>
          <p:nvPicPr>
            <p:cNvPr id="15" name="Picture 14">
              <a:extLst>
                <a:ext uri="{FF2B5EF4-FFF2-40B4-BE49-F238E27FC236}">
                  <a16:creationId xmlns:a16="http://schemas.microsoft.com/office/drawing/2014/main" xmlns="" id="{701F9CE6-BF80-4744-9307-A18AE4E04D01}"/>
                </a:ext>
              </a:extLst>
            </p:cNvPr>
            <p:cNvPicPr>
              <a:picLocks noChangeAspect="1"/>
            </p:cNvPicPr>
            <p:nvPr/>
          </p:nvPicPr>
          <p:blipFill>
            <a:blip r:embed="rId5"/>
            <a:stretch>
              <a:fillRect/>
            </a:stretch>
          </p:blipFill>
          <p:spPr>
            <a:xfrm>
              <a:off x="8400286" y="4282760"/>
              <a:ext cx="1243432" cy="1123429"/>
            </a:xfrm>
            <a:prstGeom prst="rect">
              <a:avLst/>
            </a:prstGeom>
          </p:spPr>
        </p:pic>
      </p:grpSp>
    </p:spTree>
    <p:extLst>
      <p:ext uri="{BB962C8B-B14F-4D97-AF65-F5344CB8AC3E}">
        <p14:creationId xmlns:p14="http://schemas.microsoft.com/office/powerpoint/2010/main" val="225429140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lstStyle/>
          <a:p>
            <a:r>
              <a:rPr lang="en-US"/>
              <a:t>Tagging Best Practices</a:t>
            </a:r>
          </a:p>
        </p:txBody>
      </p:sp>
      <p:sp>
        <p:nvSpPr>
          <p:cNvPr id="8" name="Rectangle 7">
            <a:extLst>
              <a:ext uri="{FF2B5EF4-FFF2-40B4-BE49-F238E27FC236}">
                <a16:creationId xmlns:a16="http://schemas.microsoft.com/office/drawing/2014/main" xmlns="" id="{45E07A4D-F7F3-1442-A51F-3AA74952E379}"/>
              </a:ext>
            </a:extLst>
          </p:cNvPr>
          <p:cNvSpPr/>
          <p:nvPr/>
        </p:nvSpPr>
        <p:spPr>
          <a:xfrm>
            <a:off x="788214" y="2031181"/>
            <a:ext cx="1018814" cy="1364648"/>
          </a:xfrm>
          <a:prstGeom prst="rect">
            <a:avLst/>
          </a:prstGeom>
          <a:noFill/>
          <a:ln w="381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FD1EA2EF-2CE7-C54C-A3B1-86758BD6E260}"/>
              </a:ext>
            </a:extLst>
          </p:cNvPr>
          <p:cNvSpPr/>
          <p:nvPr/>
        </p:nvSpPr>
        <p:spPr>
          <a:xfrm>
            <a:off x="2232003" y="1927857"/>
            <a:ext cx="9515502" cy="3416320"/>
          </a:xfrm>
          <a:prstGeom prst="rect">
            <a:avLst/>
          </a:prstGeom>
        </p:spPr>
        <p:txBody>
          <a:bodyPr wrap="square">
            <a:spAutoFit/>
          </a:bodyPr>
          <a:lstStyle/>
          <a:p>
            <a:pPr marL="285750" indent="-285750">
              <a:buClr>
                <a:srgbClr val="333E48"/>
              </a:buClr>
              <a:buFont typeface="Arial" panose="020B0604020202020204" pitchFamily="34" charset="0"/>
              <a:buChar char="•"/>
            </a:pPr>
            <a:r>
              <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Standardized, case-sensitive format for tags</a:t>
            </a:r>
          </a:p>
          <a:p>
            <a:pPr marL="285750" indent="-285750">
              <a:buClr>
                <a:srgbClr val="333E48"/>
              </a:buClr>
              <a:buFont typeface="Arial" panose="020B0604020202020204" pitchFamily="34" charset="0"/>
              <a:buChar char="•"/>
            </a:pPr>
            <a:endPar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Clr>
                <a:srgbClr val="333E48"/>
              </a:buClr>
              <a:buFont typeface="Arial" panose="020B0604020202020204" pitchFamily="34" charset="0"/>
              <a:buChar char="•"/>
            </a:pPr>
            <a:r>
              <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Implement automated tools to help manage resource tags</a:t>
            </a:r>
          </a:p>
          <a:p>
            <a:pPr marL="285750" indent="-285750">
              <a:buClr>
                <a:srgbClr val="333E48"/>
              </a:buClr>
              <a:buFont typeface="Arial" panose="020B0604020202020204" pitchFamily="34" charset="0"/>
              <a:buChar char="•"/>
            </a:pPr>
            <a:endPar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Clr>
                <a:srgbClr val="333E48"/>
              </a:buClr>
              <a:buFont typeface="Arial" panose="020B0604020202020204" pitchFamily="34" charset="0"/>
              <a:buChar char="•"/>
            </a:pPr>
            <a:r>
              <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Favor using too many tags rather than too few</a:t>
            </a:r>
          </a:p>
          <a:p>
            <a:pPr marL="285750" indent="-285750">
              <a:buClr>
                <a:srgbClr val="333E48"/>
              </a:buClr>
              <a:buFont typeface="Arial" panose="020B0604020202020204" pitchFamily="34" charset="0"/>
              <a:buChar char="•"/>
            </a:pPr>
            <a:endPar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Clr>
                <a:srgbClr val="333E48"/>
              </a:buClr>
              <a:buFont typeface="Arial" panose="020B0604020202020204" pitchFamily="34" charset="0"/>
              <a:buChar char="•"/>
            </a:pPr>
            <a:r>
              <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Remember, it’s easy to modify tags</a:t>
            </a:r>
          </a:p>
          <a:p>
            <a:pPr marL="285750" indent="-285750">
              <a:buClr>
                <a:srgbClr val="333E48"/>
              </a:buClr>
              <a:buFont typeface="Arial" panose="020B0604020202020204" pitchFamily="34" charset="0"/>
              <a:buChar char="•"/>
            </a:pPr>
            <a:endPar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Clr>
                <a:srgbClr val="333E48"/>
              </a:buClr>
              <a:buFont typeface="Arial" panose="020B0604020202020204" pitchFamily="34" charset="0"/>
              <a:buChar char="•"/>
            </a:pPr>
            <a:r>
              <a:rPr lang="en-US" sz="24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Examples: App Version, ENV, DNS Name, App Stack Identifier</a:t>
            </a:r>
          </a:p>
        </p:txBody>
      </p:sp>
      <p:sp>
        <p:nvSpPr>
          <p:cNvPr id="10" name="TextBox 9">
            <a:extLst>
              <a:ext uri="{FF2B5EF4-FFF2-40B4-BE49-F238E27FC236}">
                <a16:creationId xmlns:a16="http://schemas.microsoft.com/office/drawing/2014/main" xmlns="" id="{6B7FE838-AF00-6044-91ED-04D5BC11E3C6}"/>
              </a:ext>
            </a:extLst>
          </p:cNvPr>
          <p:cNvSpPr txBox="1"/>
          <p:nvPr/>
        </p:nvSpPr>
        <p:spPr>
          <a:xfrm>
            <a:off x="788214" y="5750037"/>
            <a:ext cx="10572002" cy="400110"/>
          </a:xfrm>
          <a:prstGeom prst="rect">
            <a:avLst/>
          </a:prstGeom>
          <a:noFill/>
        </p:spPr>
        <p:txBody>
          <a:bodyPr wrap="square" rtlCol="0">
            <a:spAutoFit/>
          </a:bodyPr>
          <a:lstStyle/>
          <a:p>
            <a:pPr algn="ctr"/>
            <a:r>
              <a:rPr lang="en-US" sz="20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Helps you to understand what your resources are doing and their cost impact.</a:t>
            </a:r>
          </a:p>
        </p:txBody>
      </p:sp>
      <p:pic>
        <p:nvPicPr>
          <p:cNvPr id="12" name="Picture 11">
            <a:extLst>
              <a:ext uri="{FF2B5EF4-FFF2-40B4-BE49-F238E27FC236}">
                <a16:creationId xmlns:a16="http://schemas.microsoft.com/office/drawing/2014/main" xmlns="" id="{AA24C9E3-C1CB-B142-89B1-3A0A3531CF6E}"/>
              </a:ext>
            </a:extLst>
          </p:cNvPr>
          <p:cNvPicPr>
            <a:picLocks noChangeAspect="1"/>
          </p:cNvPicPr>
          <p:nvPr/>
        </p:nvPicPr>
        <p:blipFill>
          <a:blip r:embed="rId3"/>
          <a:stretch>
            <a:fillRect/>
          </a:stretch>
        </p:blipFill>
        <p:spPr>
          <a:xfrm>
            <a:off x="788214" y="2231658"/>
            <a:ext cx="989513" cy="989513"/>
          </a:xfrm>
          <a:prstGeom prst="rect">
            <a:avLst/>
          </a:prstGeom>
        </p:spPr>
      </p:pic>
    </p:spTree>
    <p:extLst>
      <p:ext uri="{BB962C8B-B14F-4D97-AF65-F5344CB8AC3E}">
        <p14:creationId xmlns:p14="http://schemas.microsoft.com/office/powerpoint/2010/main" val="200787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a:t>Amazon EC2 Considerations</a:t>
            </a:r>
          </a:p>
        </p:txBody>
      </p:sp>
    </p:spTree>
    <p:extLst>
      <p:ext uri="{BB962C8B-B14F-4D97-AF65-F5344CB8AC3E}">
        <p14:creationId xmlns:p14="http://schemas.microsoft.com/office/powerpoint/2010/main" val="30568151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Architectural Considerations 1</a:t>
            </a:r>
          </a:p>
        </p:txBody>
      </p:sp>
      <p:sp>
        <p:nvSpPr>
          <p:cNvPr id="3" name="TextBox 2">
            <a:extLst>
              <a:ext uri="{FF2B5EF4-FFF2-40B4-BE49-F238E27FC236}">
                <a16:creationId xmlns:a16="http://schemas.microsoft.com/office/drawing/2014/main" xmlns="" id="{3DFB17BA-CF95-B64C-949B-C94C411C390F}"/>
              </a:ext>
            </a:extLst>
          </p:cNvPr>
          <p:cNvSpPr txBox="1"/>
          <p:nvPr/>
        </p:nvSpPr>
        <p:spPr>
          <a:xfrm>
            <a:off x="1079292" y="1636596"/>
            <a:ext cx="10255377" cy="892552"/>
          </a:xfrm>
          <a:prstGeom prst="rect">
            <a:avLst/>
          </a:prstGeom>
          <a:noFill/>
        </p:spPr>
        <p:txBody>
          <a:bodyPr wrap="square" rtlCol="0">
            <a:spAutoFit/>
          </a:bodyPr>
          <a:lstStyle/>
          <a:p>
            <a:pPr algn="ct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Does your compute layer require the </a:t>
            </a:r>
            <a:r>
              <a:rPr lang="en-US" sz="260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lowest latency </a:t>
            </a: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and</a:t>
            </a:r>
            <a:r>
              <a:rPr lang="en-US" sz="260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60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highest packet-per-second network performance </a:t>
            </a: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possible?</a:t>
            </a:r>
          </a:p>
        </p:txBody>
      </p:sp>
      <p:grpSp>
        <p:nvGrpSpPr>
          <p:cNvPr id="4" name="Group 3">
            <a:extLst>
              <a:ext uri="{FF2B5EF4-FFF2-40B4-BE49-F238E27FC236}">
                <a16:creationId xmlns:a16="http://schemas.microsoft.com/office/drawing/2014/main" xmlns="" id="{6C5B763E-3E35-114C-943F-B0A3434333D0}"/>
              </a:ext>
            </a:extLst>
          </p:cNvPr>
          <p:cNvGrpSpPr/>
          <p:nvPr/>
        </p:nvGrpSpPr>
        <p:grpSpPr>
          <a:xfrm>
            <a:off x="4397831" y="3184305"/>
            <a:ext cx="3618298" cy="2949475"/>
            <a:chOff x="4158514" y="3184306"/>
            <a:chExt cx="3618298" cy="2949475"/>
          </a:xfrm>
        </p:grpSpPr>
        <p:pic>
          <p:nvPicPr>
            <p:cNvPr id="6" name="Picture 5">
              <a:extLst>
                <a:ext uri="{FF2B5EF4-FFF2-40B4-BE49-F238E27FC236}">
                  <a16:creationId xmlns:a16="http://schemas.microsoft.com/office/drawing/2014/main" xmlns="" id="{96E8B7E6-76C8-5E40-8BCD-E5F8F4ABC4AA}"/>
                </a:ext>
              </a:extLst>
            </p:cNvPr>
            <p:cNvPicPr>
              <a:picLocks noChangeAspect="1"/>
            </p:cNvPicPr>
            <p:nvPr/>
          </p:nvPicPr>
          <p:blipFill>
            <a:blip r:embed="rId3"/>
            <a:stretch>
              <a:fillRect/>
            </a:stretch>
          </p:blipFill>
          <p:spPr>
            <a:xfrm>
              <a:off x="5239251" y="4266122"/>
              <a:ext cx="1456824" cy="1456824"/>
            </a:xfrm>
            <a:prstGeom prst="rect">
              <a:avLst/>
            </a:prstGeom>
          </p:spPr>
        </p:pic>
        <p:sp>
          <p:nvSpPr>
            <p:cNvPr id="14" name="Rectangle 13">
              <a:extLst>
                <a:ext uri="{FF2B5EF4-FFF2-40B4-BE49-F238E27FC236}">
                  <a16:creationId xmlns:a16="http://schemas.microsoft.com/office/drawing/2014/main" xmlns="" id="{58146CA8-5636-9F47-A094-AE90FFDB3B2C}"/>
                </a:ext>
              </a:extLst>
            </p:cNvPr>
            <p:cNvSpPr/>
            <p:nvPr/>
          </p:nvSpPr>
          <p:spPr>
            <a:xfrm>
              <a:off x="5087051" y="3855287"/>
              <a:ext cx="1762928" cy="2278494"/>
            </a:xfrm>
            <a:prstGeom prst="rect">
              <a:avLst/>
            </a:prstGeom>
            <a:no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xmlns="" id="{086E8A06-8B2A-5046-9C2D-8466ED80FE32}"/>
                </a:ext>
              </a:extLst>
            </p:cNvPr>
            <p:cNvSpPr/>
            <p:nvPr/>
          </p:nvSpPr>
          <p:spPr>
            <a:xfrm>
              <a:off x="4158514" y="3184306"/>
              <a:ext cx="3618298" cy="430887"/>
            </a:xfrm>
            <a:prstGeom prst="rect">
              <a:avLst/>
            </a:prstGeom>
          </p:spPr>
          <p:txBody>
            <a:bodyPr wrap="none">
              <a:spAutoFit/>
            </a:bodyPr>
            <a:lstStyle/>
            <a:p>
              <a:pPr marL="0" lvl="1" algn="ctr"/>
              <a:r>
                <a:rPr lang="en-US" sz="22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Cluster Placement Groups</a:t>
              </a:r>
            </a:p>
          </p:txBody>
        </p:sp>
      </p:grpSp>
    </p:spTree>
    <p:extLst>
      <p:ext uri="{BB962C8B-B14F-4D97-AF65-F5344CB8AC3E}">
        <p14:creationId xmlns:p14="http://schemas.microsoft.com/office/powerpoint/2010/main" val="36941068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4519B38F-78D9-624C-BF86-1597795BBCE8}"/>
              </a:ext>
            </a:extLst>
          </p:cNvPr>
          <p:cNvPicPr>
            <a:picLocks noChangeAspect="1"/>
          </p:cNvPicPr>
          <p:nvPr/>
        </p:nvPicPr>
        <p:blipFill>
          <a:blip r:embed="rId3"/>
          <a:stretch>
            <a:fillRect/>
          </a:stretch>
        </p:blipFill>
        <p:spPr>
          <a:xfrm>
            <a:off x="5471824" y="4307897"/>
            <a:ext cx="1470312" cy="1373271"/>
          </a:xfrm>
          <a:prstGeom prst="rect">
            <a:avLst/>
          </a:prstGeom>
        </p:spPr>
      </p:pic>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Architectural Considerations 2</a:t>
            </a:r>
          </a:p>
        </p:txBody>
      </p:sp>
      <p:sp>
        <p:nvSpPr>
          <p:cNvPr id="3" name="TextBox 2">
            <a:extLst>
              <a:ext uri="{FF2B5EF4-FFF2-40B4-BE49-F238E27FC236}">
                <a16:creationId xmlns:a16="http://schemas.microsoft.com/office/drawing/2014/main" xmlns="" id="{3DFB17BA-CF95-B64C-949B-C94C411C390F}"/>
              </a:ext>
            </a:extLst>
          </p:cNvPr>
          <p:cNvSpPr txBox="1"/>
          <p:nvPr/>
        </p:nvSpPr>
        <p:spPr>
          <a:xfrm>
            <a:off x="1079292" y="1636596"/>
            <a:ext cx="10255377" cy="892552"/>
          </a:xfrm>
          <a:prstGeom prst="rect">
            <a:avLst/>
          </a:prstGeom>
          <a:noFill/>
        </p:spPr>
        <p:txBody>
          <a:bodyPr wrap="square" rtlCol="0">
            <a:spAutoFit/>
          </a:bodyPr>
          <a:lstStyle/>
          <a:p>
            <a:pPr algn="ct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Do you have applications that have a small number of </a:t>
            </a:r>
            <a:r>
              <a:rPr lang="en-US" sz="260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critical instances that should be kept separate </a:t>
            </a: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from each other?</a:t>
            </a:r>
          </a:p>
        </p:txBody>
      </p:sp>
      <p:grpSp>
        <p:nvGrpSpPr>
          <p:cNvPr id="4" name="Group 3">
            <a:extLst>
              <a:ext uri="{FF2B5EF4-FFF2-40B4-BE49-F238E27FC236}">
                <a16:creationId xmlns:a16="http://schemas.microsoft.com/office/drawing/2014/main" xmlns="" id="{6C5B763E-3E35-114C-943F-B0A3434333D0}"/>
              </a:ext>
            </a:extLst>
          </p:cNvPr>
          <p:cNvGrpSpPr/>
          <p:nvPr/>
        </p:nvGrpSpPr>
        <p:grpSpPr>
          <a:xfrm>
            <a:off x="4400235" y="3184305"/>
            <a:ext cx="3613490" cy="2949475"/>
            <a:chOff x="4160918" y="3184306"/>
            <a:chExt cx="3613490" cy="2949475"/>
          </a:xfrm>
        </p:grpSpPr>
        <p:sp>
          <p:nvSpPr>
            <p:cNvPr id="14" name="Rectangle 13">
              <a:extLst>
                <a:ext uri="{FF2B5EF4-FFF2-40B4-BE49-F238E27FC236}">
                  <a16:creationId xmlns:a16="http://schemas.microsoft.com/office/drawing/2014/main" xmlns="" id="{58146CA8-5636-9F47-A094-AE90FFDB3B2C}"/>
                </a:ext>
              </a:extLst>
            </p:cNvPr>
            <p:cNvSpPr/>
            <p:nvPr/>
          </p:nvSpPr>
          <p:spPr>
            <a:xfrm>
              <a:off x="5087051" y="3855287"/>
              <a:ext cx="1762928" cy="2278494"/>
            </a:xfrm>
            <a:prstGeom prst="rect">
              <a:avLst/>
            </a:prstGeom>
            <a:no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xmlns="" id="{086E8A06-8B2A-5046-9C2D-8466ED80FE32}"/>
                </a:ext>
              </a:extLst>
            </p:cNvPr>
            <p:cNvSpPr/>
            <p:nvPr/>
          </p:nvSpPr>
          <p:spPr>
            <a:xfrm>
              <a:off x="4160918" y="3184306"/>
              <a:ext cx="3613490" cy="430887"/>
            </a:xfrm>
            <a:prstGeom prst="rect">
              <a:avLst/>
            </a:prstGeom>
          </p:spPr>
          <p:txBody>
            <a:bodyPr wrap="none">
              <a:spAutoFit/>
            </a:bodyPr>
            <a:lstStyle/>
            <a:p>
              <a:pPr marL="0" lvl="1" algn="ctr"/>
              <a:r>
                <a:rPr lang="en-US" sz="22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Spread Placement Groups</a:t>
              </a:r>
            </a:p>
          </p:txBody>
        </p:sp>
      </p:grpSp>
    </p:spTree>
    <p:extLst>
      <p:ext uri="{BB962C8B-B14F-4D97-AF65-F5344CB8AC3E}">
        <p14:creationId xmlns:p14="http://schemas.microsoft.com/office/powerpoint/2010/main" val="35630846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Architectural Considerations 3</a:t>
            </a:r>
          </a:p>
        </p:txBody>
      </p:sp>
      <p:sp>
        <p:nvSpPr>
          <p:cNvPr id="3" name="TextBox 2">
            <a:extLst>
              <a:ext uri="{FF2B5EF4-FFF2-40B4-BE49-F238E27FC236}">
                <a16:creationId xmlns:a16="http://schemas.microsoft.com/office/drawing/2014/main" xmlns="" id="{3DFB17BA-CF95-B64C-949B-C94C411C390F}"/>
              </a:ext>
            </a:extLst>
          </p:cNvPr>
          <p:cNvSpPr txBox="1"/>
          <p:nvPr/>
        </p:nvSpPr>
        <p:spPr>
          <a:xfrm>
            <a:off x="1079292" y="1636596"/>
            <a:ext cx="10255377" cy="892552"/>
          </a:xfrm>
          <a:prstGeom prst="rect">
            <a:avLst/>
          </a:prstGeom>
          <a:noFill/>
        </p:spPr>
        <p:txBody>
          <a:bodyPr wrap="square" rtlCol="0">
            <a:spAutoFit/>
          </a:bodyPr>
          <a:lstStyle/>
          <a:p>
            <a:pPr algn="ct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Do you have </a:t>
            </a:r>
            <a:r>
              <a:rPr lang="en-US" sz="260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large distributed and replicated workloads </a:t>
            </a:r>
            <a:r>
              <a:rPr lang="en-US" sz="260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such as HDFS, HBase and Cassandra running on EC2?</a:t>
            </a:r>
          </a:p>
        </p:txBody>
      </p:sp>
      <p:grpSp>
        <p:nvGrpSpPr>
          <p:cNvPr id="4" name="Group 3">
            <a:extLst>
              <a:ext uri="{FF2B5EF4-FFF2-40B4-BE49-F238E27FC236}">
                <a16:creationId xmlns:a16="http://schemas.microsoft.com/office/drawing/2014/main" xmlns="" id="{6C5B763E-3E35-114C-943F-B0A3434333D0}"/>
              </a:ext>
            </a:extLst>
          </p:cNvPr>
          <p:cNvGrpSpPr/>
          <p:nvPr/>
        </p:nvGrpSpPr>
        <p:grpSpPr>
          <a:xfrm>
            <a:off x="4280010" y="3184305"/>
            <a:ext cx="3853940" cy="2949475"/>
            <a:chOff x="4040693" y="3184306"/>
            <a:chExt cx="3853940" cy="2949475"/>
          </a:xfrm>
        </p:grpSpPr>
        <p:sp>
          <p:nvSpPr>
            <p:cNvPr id="14" name="Rectangle 13">
              <a:extLst>
                <a:ext uri="{FF2B5EF4-FFF2-40B4-BE49-F238E27FC236}">
                  <a16:creationId xmlns:a16="http://schemas.microsoft.com/office/drawing/2014/main" xmlns="" id="{58146CA8-5636-9F47-A094-AE90FFDB3B2C}"/>
                </a:ext>
              </a:extLst>
            </p:cNvPr>
            <p:cNvSpPr/>
            <p:nvPr/>
          </p:nvSpPr>
          <p:spPr>
            <a:xfrm>
              <a:off x="5087051" y="3855287"/>
              <a:ext cx="1762928" cy="2278494"/>
            </a:xfrm>
            <a:prstGeom prst="rect">
              <a:avLst/>
            </a:prstGeom>
            <a:no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xmlns="" id="{086E8A06-8B2A-5046-9C2D-8466ED80FE32}"/>
                </a:ext>
              </a:extLst>
            </p:cNvPr>
            <p:cNvSpPr/>
            <p:nvPr/>
          </p:nvSpPr>
          <p:spPr>
            <a:xfrm>
              <a:off x="4040693" y="3184306"/>
              <a:ext cx="3853940" cy="430887"/>
            </a:xfrm>
            <a:prstGeom prst="rect">
              <a:avLst/>
            </a:prstGeom>
          </p:spPr>
          <p:txBody>
            <a:bodyPr wrap="none">
              <a:spAutoFit/>
            </a:bodyPr>
            <a:lstStyle/>
            <a:p>
              <a:pPr marL="0" lvl="1" algn="ctr"/>
              <a:r>
                <a:rPr lang="en-US" sz="2200" b="1">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Partition Placement Groups</a:t>
              </a:r>
            </a:p>
          </p:txBody>
        </p:sp>
      </p:grpSp>
      <p:grpSp>
        <p:nvGrpSpPr>
          <p:cNvPr id="11" name="Group 10">
            <a:extLst>
              <a:ext uri="{FF2B5EF4-FFF2-40B4-BE49-F238E27FC236}">
                <a16:creationId xmlns:a16="http://schemas.microsoft.com/office/drawing/2014/main" xmlns="" id="{1E1E0BF4-9369-5C4D-8013-861FB45175CD}"/>
              </a:ext>
            </a:extLst>
          </p:cNvPr>
          <p:cNvGrpSpPr/>
          <p:nvPr/>
        </p:nvGrpSpPr>
        <p:grpSpPr>
          <a:xfrm>
            <a:off x="5429250" y="4186237"/>
            <a:ext cx="1557338" cy="1657350"/>
            <a:chOff x="5429250" y="4186237"/>
            <a:chExt cx="1557338" cy="1657350"/>
          </a:xfrm>
        </p:grpSpPr>
        <p:grpSp>
          <p:nvGrpSpPr>
            <p:cNvPr id="6" name="Group 5">
              <a:extLst>
                <a:ext uri="{FF2B5EF4-FFF2-40B4-BE49-F238E27FC236}">
                  <a16:creationId xmlns:a16="http://schemas.microsoft.com/office/drawing/2014/main" xmlns="" id="{175E0C9F-463C-A14B-9177-6EC8FBD804EC}"/>
                </a:ext>
              </a:extLst>
            </p:cNvPr>
            <p:cNvGrpSpPr/>
            <p:nvPr/>
          </p:nvGrpSpPr>
          <p:grpSpPr>
            <a:xfrm>
              <a:off x="5643566" y="4429128"/>
              <a:ext cx="1149732" cy="1206468"/>
              <a:chOff x="5557838" y="4357688"/>
              <a:chExt cx="1149732" cy="1206468"/>
            </a:xfrm>
          </p:grpSpPr>
          <p:sp>
            <p:nvSpPr>
              <p:cNvPr id="5" name="Rectangle 4">
                <a:extLst>
                  <a:ext uri="{FF2B5EF4-FFF2-40B4-BE49-F238E27FC236}">
                    <a16:creationId xmlns:a16="http://schemas.microsoft.com/office/drawing/2014/main" xmlns="" id="{B4B25276-6EBA-1840-A276-D25E0680FBFF}"/>
                  </a:ext>
                </a:extLst>
              </p:cNvPr>
              <p:cNvSpPr/>
              <p:nvPr/>
            </p:nvSpPr>
            <p:spPr>
              <a:xfrm>
                <a:off x="5557838" y="4357688"/>
                <a:ext cx="649142" cy="6368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1DED2087-D885-1D43-8A59-B687630DDD5B}"/>
                  </a:ext>
                </a:extLst>
              </p:cNvPr>
              <p:cNvSpPr/>
              <p:nvPr/>
            </p:nvSpPr>
            <p:spPr>
              <a:xfrm>
                <a:off x="5789308" y="4663126"/>
                <a:ext cx="649142" cy="6368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A515CEFF-C1E0-5241-8CB7-37CA8001EC87}"/>
                  </a:ext>
                </a:extLst>
              </p:cNvPr>
              <p:cNvSpPr/>
              <p:nvPr/>
            </p:nvSpPr>
            <p:spPr>
              <a:xfrm>
                <a:off x="6058428" y="4927311"/>
                <a:ext cx="649142" cy="6368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sp>
          <p:nvSpPr>
            <p:cNvPr id="7" name="Rectangle 6">
              <a:extLst>
                <a:ext uri="{FF2B5EF4-FFF2-40B4-BE49-F238E27FC236}">
                  <a16:creationId xmlns:a16="http://schemas.microsoft.com/office/drawing/2014/main" xmlns="" id="{0C098CB4-5B22-7348-A034-89EC3A8D4BA0}"/>
                </a:ext>
              </a:extLst>
            </p:cNvPr>
            <p:cNvSpPr/>
            <p:nvPr/>
          </p:nvSpPr>
          <p:spPr>
            <a:xfrm>
              <a:off x="5429250" y="4186237"/>
              <a:ext cx="1557338" cy="165735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2612259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Checks</a:t>
            </a:r>
          </a:p>
        </p:txBody>
      </p:sp>
    </p:spTree>
    <p:extLst>
      <p:ext uri="{BB962C8B-B14F-4D97-AF65-F5344CB8AC3E}">
        <p14:creationId xmlns:p14="http://schemas.microsoft.com/office/powerpoint/2010/main" val="40508911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Knowledge Check 4</a:t>
            </a:r>
          </a:p>
        </p:txBody>
      </p:sp>
      <p:sp>
        <p:nvSpPr>
          <p:cNvPr id="7" name="TextBox 6">
            <a:extLst>
              <a:ext uri="{FF2B5EF4-FFF2-40B4-BE49-F238E27FC236}">
                <a16:creationId xmlns:a16="http://schemas.microsoft.com/office/drawing/2014/main" xmlns="" id="{D741FB31-4B0D-694B-B45F-2D2BA16AC068}"/>
              </a:ext>
            </a:extLst>
          </p:cNvPr>
          <p:cNvSpPr txBox="1"/>
          <p:nvPr/>
        </p:nvSpPr>
        <p:spPr>
          <a:xfrm>
            <a:off x="209441" y="1864162"/>
            <a:ext cx="4292157" cy="461665"/>
          </a:xfrm>
          <a:prstGeom prst="rect">
            <a:avLst/>
          </a:prstGeom>
          <a:noFill/>
        </p:spPr>
        <p:txBody>
          <a:bodyPr wrap="square" rtlCol="0">
            <a:spAutoFit/>
          </a:bodyPr>
          <a:lstStyle/>
          <a:p>
            <a:pPr algn="ct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What is an AMI?</a:t>
            </a:r>
          </a:p>
        </p:txBody>
      </p:sp>
      <p:sp>
        <p:nvSpPr>
          <p:cNvPr id="4" name="TextBox 3">
            <a:extLst>
              <a:ext uri="{FF2B5EF4-FFF2-40B4-BE49-F238E27FC236}">
                <a16:creationId xmlns:a16="http://schemas.microsoft.com/office/drawing/2014/main" xmlns="" id="{79D03C27-58A4-3441-99E7-DF4ED0552689}"/>
              </a:ext>
            </a:extLst>
          </p:cNvPr>
          <p:cNvSpPr txBox="1"/>
          <p:nvPr/>
        </p:nvSpPr>
        <p:spPr>
          <a:xfrm>
            <a:off x="4711148" y="1864162"/>
            <a:ext cx="7076661" cy="3816429"/>
          </a:xfrm>
          <a:prstGeom prst="rect">
            <a:avLst/>
          </a:prstGeom>
          <a:noFill/>
        </p:spPr>
        <p:txBody>
          <a:bodyPr wrap="square" rtlCol="0">
            <a:spAutoFit/>
          </a:bodyPr>
          <a:lstStyle/>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1.  An AMI is an object that stores data about the instance such as Local Hostname, Instance ID, or Public IP address.</a:t>
            </a:r>
          </a:p>
          <a:p>
            <a:pPr marL="358775" indent="-457200">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2.  It provides block-level storage that will disappear on instance shutdown.</a:t>
            </a:r>
          </a:p>
          <a:p>
            <a:pPr marL="358775" indent="-457200">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3.  AMIs are used to create new EC2 instances and contain a template for the root volume.</a:t>
            </a:r>
          </a:p>
          <a:p>
            <a:pPr marL="358775" indent="-457200">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4.  A type of storage bucket for Amazon S3.</a:t>
            </a:r>
          </a:p>
        </p:txBody>
      </p:sp>
      <p:pic>
        <p:nvPicPr>
          <p:cNvPr id="9" name="Picture 8">
            <a:extLst>
              <a:ext uri="{FF2B5EF4-FFF2-40B4-BE49-F238E27FC236}">
                <a16:creationId xmlns:a16="http://schemas.microsoft.com/office/drawing/2014/main" xmlns="" id="{CD8B9A44-6BCD-334D-A5B9-84BC931DC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195" y="2864990"/>
            <a:ext cx="1278650" cy="1326010"/>
          </a:xfrm>
          <a:prstGeom prst="rect">
            <a:avLst/>
          </a:prstGeom>
        </p:spPr>
      </p:pic>
    </p:spTree>
    <p:extLst>
      <p:ext uri="{BB962C8B-B14F-4D97-AF65-F5344CB8AC3E}">
        <p14:creationId xmlns:p14="http://schemas.microsoft.com/office/powerpoint/2010/main" val="168165804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Knowledge Check 4: Answer</a:t>
            </a:r>
          </a:p>
        </p:txBody>
      </p:sp>
      <p:sp>
        <p:nvSpPr>
          <p:cNvPr id="7" name="TextBox 6">
            <a:extLst>
              <a:ext uri="{FF2B5EF4-FFF2-40B4-BE49-F238E27FC236}">
                <a16:creationId xmlns:a16="http://schemas.microsoft.com/office/drawing/2014/main" xmlns="" id="{D741FB31-4B0D-694B-B45F-2D2BA16AC068}"/>
              </a:ext>
            </a:extLst>
          </p:cNvPr>
          <p:cNvSpPr txBox="1"/>
          <p:nvPr/>
        </p:nvSpPr>
        <p:spPr>
          <a:xfrm>
            <a:off x="209441" y="1864162"/>
            <a:ext cx="4292157" cy="461665"/>
          </a:xfrm>
          <a:prstGeom prst="rect">
            <a:avLst/>
          </a:prstGeom>
          <a:noFill/>
        </p:spPr>
        <p:txBody>
          <a:bodyPr wrap="square" rtlCol="0">
            <a:spAutoFit/>
          </a:bodyPr>
          <a:lstStyle/>
          <a:p>
            <a:pPr algn="ct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What is an AMI?</a:t>
            </a:r>
          </a:p>
        </p:txBody>
      </p:sp>
      <p:sp>
        <p:nvSpPr>
          <p:cNvPr id="4" name="TextBox 3">
            <a:extLst>
              <a:ext uri="{FF2B5EF4-FFF2-40B4-BE49-F238E27FC236}">
                <a16:creationId xmlns:a16="http://schemas.microsoft.com/office/drawing/2014/main" xmlns="" id="{79D03C27-58A4-3441-99E7-DF4ED0552689}"/>
              </a:ext>
            </a:extLst>
          </p:cNvPr>
          <p:cNvSpPr txBox="1"/>
          <p:nvPr/>
        </p:nvSpPr>
        <p:spPr>
          <a:xfrm>
            <a:off x="4711148" y="1864162"/>
            <a:ext cx="7076661" cy="3816429"/>
          </a:xfrm>
          <a:prstGeom prst="rect">
            <a:avLst/>
          </a:prstGeom>
          <a:noFill/>
        </p:spPr>
        <p:txBody>
          <a:bodyPr wrap="square" rtlCol="0">
            <a:spAutoFit/>
          </a:bodyPr>
          <a:lstStyle/>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1.  An AMI is an object that stores data about the instance such as Local Hostname, Instance ID, or Public IP address.</a:t>
            </a:r>
          </a:p>
          <a:p>
            <a:pPr marL="358775" indent="-457200">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2.  It provides block-level storage that will disappear on instance shutdown.</a:t>
            </a:r>
          </a:p>
          <a:p>
            <a:pPr marL="358775" indent="-457200">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tabLst>
                <a:tab pos="396875"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3.  </a:t>
            </a:r>
            <a:r>
              <a:rPr lang="en-US" sz="22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AMIs are used to create new EC2 instances and contain a template for the root volume.</a:t>
            </a:r>
          </a:p>
          <a:p>
            <a:pPr marL="358775" indent="-457200">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4.  A type of storage bucket for Amazon S3.</a:t>
            </a:r>
          </a:p>
        </p:txBody>
      </p:sp>
      <p:pic>
        <p:nvPicPr>
          <p:cNvPr id="9" name="Picture 8">
            <a:extLst>
              <a:ext uri="{FF2B5EF4-FFF2-40B4-BE49-F238E27FC236}">
                <a16:creationId xmlns:a16="http://schemas.microsoft.com/office/drawing/2014/main" xmlns="" id="{CD8B9A44-6BCD-334D-A5B9-84BC931DC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195" y="2864990"/>
            <a:ext cx="1278650" cy="1326010"/>
          </a:xfrm>
          <a:prstGeom prst="rect">
            <a:avLst/>
          </a:prstGeom>
        </p:spPr>
      </p:pic>
    </p:spTree>
    <p:extLst>
      <p:ext uri="{BB962C8B-B14F-4D97-AF65-F5344CB8AC3E}">
        <p14:creationId xmlns:p14="http://schemas.microsoft.com/office/powerpoint/2010/main" val="16601401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Knowledge Check 5</a:t>
            </a:r>
          </a:p>
        </p:txBody>
      </p:sp>
      <p:sp>
        <p:nvSpPr>
          <p:cNvPr id="7" name="TextBox 6">
            <a:extLst>
              <a:ext uri="{FF2B5EF4-FFF2-40B4-BE49-F238E27FC236}">
                <a16:creationId xmlns:a16="http://schemas.microsoft.com/office/drawing/2014/main" xmlns="" id="{D741FB31-4B0D-694B-B45F-2D2BA16AC068}"/>
              </a:ext>
            </a:extLst>
          </p:cNvPr>
          <p:cNvSpPr txBox="1"/>
          <p:nvPr/>
        </p:nvSpPr>
        <p:spPr>
          <a:xfrm>
            <a:off x="1400288" y="1864162"/>
            <a:ext cx="9763899" cy="830997"/>
          </a:xfrm>
          <a:prstGeom prst="rect">
            <a:avLst/>
          </a:prstGeom>
          <a:noFill/>
        </p:spPr>
        <p:txBody>
          <a:bodyPr wrap="square" rtlCol="0">
            <a:spAutoFit/>
          </a:bodyPr>
          <a:lstStyle/>
          <a:p>
            <a:pPr algn="ct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If you wanted to select the host on which an instance would run, which option should you use?</a:t>
            </a:r>
          </a:p>
        </p:txBody>
      </p:sp>
      <p:sp>
        <p:nvSpPr>
          <p:cNvPr id="4" name="TextBox 3">
            <a:extLst>
              <a:ext uri="{FF2B5EF4-FFF2-40B4-BE49-F238E27FC236}">
                <a16:creationId xmlns:a16="http://schemas.microsoft.com/office/drawing/2014/main" xmlns="" id="{79D03C27-58A4-3441-99E7-DF4ED0552689}"/>
              </a:ext>
            </a:extLst>
          </p:cNvPr>
          <p:cNvSpPr txBox="1"/>
          <p:nvPr/>
        </p:nvSpPr>
        <p:spPr>
          <a:xfrm>
            <a:off x="5774404" y="3516327"/>
            <a:ext cx="7076661" cy="1785104"/>
          </a:xfrm>
          <a:prstGeom prst="rect">
            <a:avLst/>
          </a:prstGeom>
          <a:noFill/>
        </p:spPr>
        <p:txBody>
          <a:bodyPr wrap="square" rtlCol="0">
            <a:spAutoFit/>
          </a:bodyPr>
          <a:lstStyle/>
          <a:p>
            <a:pPr marL="358775" indent="-457200">
              <a:buClr>
                <a:srgbClr val="333E48"/>
              </a:buClr>
              <a:buAutoNum type="arabicPeriod"/>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Default</a:t>
            </a:r>
          </a:p>
          <a:p>
            <a:pPr marL="358775" indent="-457200">
              <a:buClr>
                <a:srgbClr val="333E48"/>
              </a:buClr>
              <a:buAutoNum type="arabicPeriod"/>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buClr>
                <a:srgbClr val="333E48"/>
              </a:buClr>
              <a:buAutoNum type="arabicPeriod"/>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Dedicated instance</a:t>
            </a:r>
          </a:p>
          <a:p>
            <a:pPr marL="358775" indent="-457200">
              <a:buClr>
                <a:srgbClr val="333E48"/>
              </a:buClr>
              <a:buAutoNum type="arabicPeriod"/>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buClr>
                <a:srgbClr val="333E48"/>
              </a:buClr>
              <a:buAutoNum type="arabicPeriod"/>
              <a:tabLst>
                <a:tab pos="396875"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Dedicated Host</a:t>
            </a:r>
          </a:p>
        </p:txBody>
      </p:sp>
      <p:pic>
        <p:nvPicPr>
          <p:cNvPr id="6" name="Picture 5">
            <a:extLst>
              <a:ext uri="{FF2B5EF4-FFF2-40B4-BE49-F238E27FC236}">
                <a16:creationId xmlns:a16="http://schemas.microsoft.com/office/drawing/2014/main" xmlns="" id="{3AB0EE3D-AB8C-EE48-BCE0-16372C91965E}"/>
              </a:ext>
            </a:extLst>
          </p:cNvPr>
          <p:cNvPicPr>
            <a:picLocks noChangeAspect="1"/>
          </p:cNvPicPr>
          <p:nvPr/>
        </p:nvPicPr>
        <p:blipFill>
          <a:blip r:embed="rId3"/>
          <a:stretch>
            <a:fillRect/>
          </a:stretch>
        </p:blipFill>
        <p:spPr>
          <a:xfrm>
            <a:off x="2823944" y="3516327"/>
            <a:ext cx="1976478" cy="1948808"/>
          </a:xfrm>
          <a:prstGeom prst="rect">
            <a:avLst/>
          </a:prstGeom>
        </p:spPr>
      </p:pic>
    </p:spTree>
    <p:extLst>
      <p:ext uri="{BB962C8B-B14F-4D97-AF65-F5344CB8AC3E}">
        <p14:creationId xmlns:p14="http://schemas.microsoft.com/office/powerpoint/2010/main" val="16895194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Knowledge Check 5: Answer</a:t>
            </a:r>
          </a:p>
        </p:txBody>
      </p:sp>
      <p:sp>
        <p:nvSpPr>
          <p:cNvPr id="7" name="TextBox 6">
            <a:extLst>
              <a:ext uri="{FF2B5EF4-FFF2-40B4-BE49-F238E27FC236}">
                <a16:creationId xmlns:a16="http://schemas.microsoft.com/office/drawing/2014/main" xmlns="" id="{D741FB31-4B0D-694B-B45F-2D2BA16AC068}"/>
              </a:ext>
            </a:extLst>
          </p:cNvPr>
          <p:cNvSpPr txBox="1"/>
          <p:nvPr/>
        </p:nvSpPr>
        <p:spPr>
          <a:xfrm>
            <a:off x="1400288" y="1864162"/>
            <a:ext cx="9763899" cy="830997"/>
          </a:xfrm>
          <a:prstGeom prst="rect">
            <a:avLst/>
          </a:prstGeom>
          <a:noFill/>
        </p:spPr>
        <p:txBody>
          <a:bodyPr wrap="square" rtlCol="0">
            <a:spAutoFit/>
          </a:bodyPr>
          <a:lstStyle/>
          <a:p>
            <a:pPr algn="ct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If you wanted to select the host on which an instance would run, which option should you use?</a:t>
            </a:r>
          </a:p>
        </p:txBody>
      </p:sp>
      <p:sp>
        <p:nvSpPr>
          <p:cNvPr id="4" name="TextBox 3">
            <a:extLst>
              <a:ext uri="{FF2B5EF4-FFF2-40B4-BE49-F238E27FC236}">
                <a16:creationId xmlns:a16="http://schemas.microsoft.com/office/drawing/2014/main" xmlns="" id="{79D03C27-58A4-3441-99E7-DF4ED0552689}"/>
              </a:ext>
            </a:extLst>
          </p:cNvPr>
          <p:cNvSpPr txBox="1"/>
          <p:nvPr/>
        </p:nvSpPr>
        <p:spPr>
          <a:xfrm>
            <a:off x="5774404" y="3516327"/>
            <a:ext cx="7076661" cy="1785104"/>
          </a:xfrm>
          <a:prstGeom prst="rect">
            <a:avLst/>
          </a:prstGeom>
          <a:noFill/>
        </p:spPr>
        <p:txBody>
          <a:bodyPr wrap="square" rtlCol="0">
            <a:spAutoFit/>
          </a:bodyPr>
          <a:lstStyle/>
          <a:p>
            <a:pPr marL="358775" indent="-457200">
              <a:buClr>
                <a:srgbClr val="333E48"/>
              </a:buClr>
              <a:buAutoNum type="arabicPeriod"/>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Default</a:t>
            </a:r>
          </a:p>
          <a:p>
            <a:pPr marL="358775" indent="-457200">
              <a:buClr>
                <a:srgbClr val="333E48"/>
              </a:buClr>
              <a:buAutoNum type="arabicPeriod"/>
              <a:tabLst>
                <a:tab pos="396875" algn="l"/>
              </a:tabLst>
            </a:pPr>
            <a:endParaRPr lang="en-US" sz="2200">
              <a:latin typeface="Amazon Ember Light" panose="020B0403020204020204" pitchFamily="34" charset="0"/>
              <a:ea typeface="Amazon Ember Light" panose="020B0403020204020204" pitchFamily="34" charset="0"/>
              <a:cs typeface="Amazon Ember Light" panose="020B0403020204020204" pitchFamily="34" charset="0"/>
            </a:endParaRPr>
          </a:p>
          <a:p>
            <a:pPr marL="358775" indent="-457200">
              <a:buClr>
                <a:srgbClr val="333E48"/>
              </a:buClr>
              <a:buAutoNum type="arabicPeriod"/>
              <a:tabLst>
                <a:tab pos="396875" algn="l"/>
              </a:tabLst>
            </a:pPr>
            <a:r>
              <a:rPr lang="en-US" sz="2200">
                <a:latin typeface="Amazon Ember Light" panose="020B0403020204020204" pitchFamily="34" charset="0"/>
                <a:ea typeface="Amazon Ember Light" panose="020B0403020204020204" pitchFamily="34" charset="0"/>
                <a:cs typeface="Amazon Ember Light" panose="020B0403020204020204" pitchFamily="34" charset="0"/>
              </a:rPr>
              <a:t>Dedicated instance</a:t>
            </a:r>
          </a:p>
          <a:p>
            <a:pPr marL="358775" indent="-457200">
              <a:buClr>
                <a:srgbClr val="333E48"/>
              </a:buClr>
              <a:buAutoNum type="arabicPeriod"/>
              <a:tabLst>
                <a:tab pos="396875" algn="l"/>
              </a:tabLst>
            </a:pPr>
            <a:endParaRPr lang="en-US" sz="2200" b="1">
              <a:latin typeface="Amazon Ember Light" panose="020B0403020204020204" pitchFamily="34" charset="0"/>
              <a:ea typeface="Amazon Ember Light" panose="020B0403020204020204" pitchFamily="34" charset="0"/>
              <a:cs typeface="Amazon Ember Light" panose="020B0403020204020204" pitchFamily="34" charset="0"/>
            </a:endParaRPr>
          </a:p>
          <a:p>
            <a:pPr>
              <a:buClr>
                <a:srgbClr val="333E48"/>
              </a:buClr>
              <a:tabLst>
                <a:tab pos="396875"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3.	</a:t>
            </a:r>
            <a:r>
              <a:rPr lang="en-US" sz="220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2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Dedicated Host</a:t>
            </a:r>
            <a:endParaRPr lang="en-US" sz="2200" b="1">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6" name="Picture 5">
            <a:extLst>
              <a:ext uri="{FF2B5EF4-FFF2-40B4-BE49-F238E27FC236}">
                <a16:creationId xmlns:a16="http://schemas.microsoft.com/office/drawing/2014/main" xmlns="" id="{3AB0EE3D-AB8C-EE48-BCE0-16372C91965E}"/>
              </a:ext>
            </a:extLst>
          </p:cNvPr>
          <p:cNvPicPr>
            <a:picLocks noChangeAspect="1"/>
          </p:cNvPicPr>
          <p:nvPr/>
        </p:nvPicPr>
        <p:blipFill>
          <a:blip r:embed="rId3"/>
          <a:stretch>
            <a:fillRect/>
          </a:stretch>
        </p:blipFill>
        <p:spPr>
          <a:xfrm>
            <a:off x="2823944" y="3516327"/>
            <a:ext cx="1976478" cy="1948808"/>
          </a:xfrm>
          <a:prstGeom prst="rect">
            <a:avLst/>
          </a:prstGeom>
        </p:spPr>
      </p:pic>
    </p:spTree>
    <p:extLst>
      <p:ext uri="{BB962C8B-B14F-4D97-AF65-F5344CB8AC3E}">
        <p14:creationId xmlns:p14="http://schemas.microsoft.com/office/powerpoint/2010/main" val="140447507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Knowledge Check 6</a:t>
            </a:r>
          </a:p>
        </p:txBody>
      </p:sp>
      <p:sp>
        <p:nvSpPr>
          <p:cNvPr id="3" name="TextBox 2">
            <a:extLst>
              <a:ext uri="{FF2B5EF4-FFF2-40B4-BE49-F238E27FC236}">
                <a16:creationId xmlns:a16="http://schemas.microsoft.com/office/drawing/2014/main" xmlns="" id="{CDBF3996-0F2C-8442-9BD0-693EB1584A43}"/>
              </a:ext>
            </a:extLst>
          </p:cNvPr>
          <p:cNvSpPr txBox="1"/>
          <p:nvPr/>
        </p:nvSpPr>
        <p:spPr>
          <a:xfrm>
            <a:off x="418991" y="1864162"/>
            <a:ext cx="4074269" cy="461665"/>
          </a:xfrm>
          <a:prstGeom prst="rect">
            <a:avLst/>
          </a:prstGeom>
          <a:noFill/>
        </p:spPr>
        <p:txBody>
          <a:bodyPr wrap="square" rtlCol="0">
            <a:spAutoFit/>
          </a:bodyPr>
          <a:lstStyle/>
          <a:p>
            <a:pPr algn="ct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What is Amazon EBS?</a:t>
            </a:r>
          </a:p>
        </p:txBody>
      </p:sp>
      <p:sp>
        <p:nvSpPr>
          <p:cNvPr id="6" name="TextBox 5">
            <a:extLst>
              <a:ext uri="{FF2B5EF4-FFF2-40B4-BE49-F238E27FC236}">
                <a16:creationId xmlns:a16="http://schemas.microsoft.com/office/drawing/2014/main" xmlns="" id="{386F1342-FA1C-BB4D-9564-1F05AA460FD4}"/>
              </a:ext>
            </a:extLst>
          </p:cNvPr>
          <p:cNvSpPr txBox="1"/>
          <p:nvPr/>
        </p:nvSpPr>
        <p:spPr>
          <a:xfrm>
            <a:off x="4711148" y="1864162"/>
            <a:ext cx="7076661" cy="4154984"/>
          </a:xfrm>
          <a:prstGeom prst="rect">
            <a:avLst/>
          </a:prstGeom>
          <a:noFill/>
        </p:spPr>
        <p:txBody>
          <a:bodyPr wrap="square" rtlCol="0">
            <a:spAutoFit/>
          </a:bodyPr>
          <a:lstStyle/>
          <a:p>
            <a:pPr marL="350838" indent="-350838">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1.  Object storage solution that can scale to incredible sizes to meet demand and storage requirements</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50838" indent="-350838">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2.  Block storage device that can connect to multiple instances at the same time.</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50838" indent="-350838">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3.  File storage system that can connect to multiple instances at the same time.</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409575" indent="-409575">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4.  Block storage device that connects to one instance at a time. Can be backed up to Amazon S3.</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 name="Picture 6">
            <a:extLst>
              <a:ext uri="{FF2B5EF4-FFF2-40B4-BE49-F238E27FC236}">
                <a16:creationId xmlns:a16="http://schemas.microsoft.com/office/drawing/2014/main" xmlns="" id="{49DD529B-8070-8345-B89B-679BF127C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947" y="3203604"/>
            <a:ext cx="1212356" cy="1692246"/>
          </a:xfrm>
          <a:prstGeom prst="rect">
            <a:avLst/>
          </a:prstGeom>
        </p:spPr>
      </p:pic>
    </p:spTree>
    <p:extLst>
      <p:ext uri="{BB962C8B-B14F-4D97-AF65-F5344CB8AC3E}">
        <p14:creationId xmlns:p14="http://schemas.microsoft.com/office/powerpoint/2010/main" val="419240968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333780-451D-624F-B22F-AC4418A3F4D9}"/>
              </a:ext>
            </a:extLst>
          </p:cNvPr>
          <p:cNvSpPr>
            <a:spLocks noGrp="1"/>
          </p:cNvSpPr>
          <p:nvPr>
            <p:ph type="title"/>
          </p:nvPr>
        </p:nvSpPr>
        <p:spPr/>
        <p:txBody>
          <a:bodyPr>
            <a:normAutofit/>
          </a:bodyPr>
          <a:lstStyle/>
          <a:p>
            <a:r>
              <a:rPr lang="en-US"/>
              <a:t>Knowledge Check 6: Answer</a:t>
            </a:r>
          </a:p>
        </p:txBody>
      </p:sp>
      <p:sp>
        <p:nvSpPr>
          <p:cNvPr id="3" name="TextBox 2">
            <a:extLst>
              <a:ext uri="{FF2B5EF4-FFF2-40B4-BE49-F238E27FC236}">
                <a16:creationId xmlns:a16="http://schemas.microsoft.com/office/drawing/2014/main" xmlns="" id="{CDBF3996-0F2C-8442-9BD0-693EB1584A43}"/>
              </a:ext>
            </a:extLst>
          </p:cNvPr>
          <p:cNvSpPr txBox="1"/>
          <p:nvPr/>
        </p:nvSpPr>
        <p:spPr>
          <a:xfrm>
            <a:off x="418991" y="1864162"/>
            <a:ext cx="4074269" cy="461665"/>
          </a:xfrm>
          <a:prstGeom prst="rect">
            <a:avLst/>
          </a:prstGeom>
          <a:noFill/>
        </p:spPr>
        <p:txBody>
          <a:bodyPr wrap="square" rtlCol="0">
            <a:spAutoFit/>
          </a:bodyPr>
          <a:lstStyle/>
          <a:p>
            <a:pPr algn="ct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What is Amazon EBS?</a:t>
            </a:r>
          </a:p>
        </p:txBody>
      </p:sp>
      <p:sp>
        <p:nvSpPr>
          <p:cNvPr id="6" name="TextBox 5">
            <a:extLst>
              <a:ext uri="{FF2B5EF4-FFF2-40B4-BE49-F238E27FC236}">
                <a16:creationId xmlns:a16="http://schemas.microsoft.com/office/drawing/2014/main" xmlns="" id="{386F1342-FA1C-BB4D-9564-1F05AA460FD4}"/>
              </a:ext>
            </a:extLst>
          </p:cNvPr>
          <p:cNvSpPr txBox="1"/>
          <p:nvPr/>
        </p:nvSpPr>
        <p:spPr>
          <a:xfrm>
            <a:off x="4711148" y="1864162"/>
            <a:ext cx="7076661" cy="4154984"/>
          </a:xfrm>
          <a:prstGeom prst="rect">
            <a:avLst/>
          </a:prstGeom>
          <a:noFill/>
        </p:spPr>
        <p:txBody>
          <a:bodyPr wrap="square" rtlCol="0">
            <a:spAutoFit/>
          </a:bodyPr>
          <a:lstStyle/>
          <a:p>
            <a:pPr marL="350838" indent="-350838">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1.  Object storage solution that can scale to incredible sizes to meet demand and storage requirements</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50838" indent="-350838">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2.  Block storage device that can connect to multiple instances at the same time.</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50838" indent="-350838">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3.  File storage system that can connect to multiple instances at the same time.</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409575" indent="-409575">
              <a:tabLst>
                <a:tab pos="331788" algn="l"/>
              </a:tabLst>
            </a:pPr>
            <a:r>
              <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4.  </a:t>
            </a:r>
            <a:r>
              <a:rPr lang="en-US" sz="22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Block storage device that connects to one instance at a time. Can be backed up to Amazon S3.</a:t>
            </a:r>
          </a:p>
          <a:p>
            <a:pPr>
              <a:tabLst>
                <a:tab pos="331788" algn="l"/>
              </a:tabLst>
            </a:pPr>
            <a:endParaRPr lang="en-US" sz="220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 name="Picture 6">
            <a:extLst>
              <a:ext uri="{FF2B5EF4-FFF2-40B4-BE49-F238E27FC236}">
                <a16:creationId xmlns:a16="http://schemas.microsoft.com/office/drawing/2014/main" xmlns="" id="{49DD529B-8070-8345-B89B-679BF127C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947" y="3203604"/>
            <a:ext cx="1212356" cy="1692246"/>
          </a:xfrm>
          <a:prstGeom prst="rect">
            <a:avLst/>
          </a:prstGeom>
        </p:spPr>
      </p:pic>
    </p:spTree>
    <p:extLst>
      <p:ext uri="{BB962C8B-B14F-4D97-AF65-F5344CB8AC3E}">
        <p14:creationId xmlns:p14="http://schemas.microsoft.com/office/powerpoint/2010/main" val="252596364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77F793-0795-F244-A83F-3C767FE9EB3F}"/>
              </a:ext>
            </a:extLst>
          </p:cNvPr>
          <p:cNvSpPr>
            <a:spLocks noGrp="1"/>
          </p:cNvSpPr>
          <p:nvPr>
            <p:ph type="ctrTitle"/>
          </p:nvPr>
        </p:nvSpPr>
        <p:spPr/>
        <p:txBody>
          <a:bodyPr/>
          <a:lstStyle/>
          <a:p>
            <a:r>
              <a:rPr lang="en-US"/>
              <a:t>Thank You </a:t>
            </a:r>
          </a:p>
        </p:txBody>
      </p:sp>
    </p:spTree>
    <p:extLst>
      <p:ext uri="{BB962C8B-B14F-4D97-AF65-F5344CB8AC3E}">
        <p14:creationId xmlns:p14="http://schemas.microsoft.com/office/powerpoint/2010/main" val="39053142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EC3CBD49A9D74AB59EB8F208DED5D9" ma:contentTypeVersion="4" ma:contentTypeDescription="Create a new document." ma:contentTypeScope="" ma:versionID="7daf4a3c1576a459487efcb13ac74181">
  <xsd:schema xmlns:xsd="http://www.w3.org/2001/XMLSchema" xmlns:xs="http://www.w3.org/2001/XMLSchema" xmlns:p="http://schemas.microsoft.com/office/2006/metadata/properties" xmlns:ns2="61d7a295-102b-4ba7-8142-2982d133915a" targetNamespace="http://schemas.microsoft.com/office/2006/metadata/properties" ma:root="true" ma:fieldsID="589ccf5a2417981e7e5052ae0f1735bc" ns2:_="">
    <xsd:import namespace="61d7a295-102b-4ba7-8142-2982d133915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7a295-102b-4ba7-8142-2982d13391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C6B664-F04B-4528-818A-3BC51F921BC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7977FFC-5EF9-4D8C-A089-689E29DE39F1}">
  <ds:schemaRefs>
    <ds:schemaRef ds:uri="http://schemas.microsoft.com/sharepoint/v3/contenttype/forms"/>
  </ds:schemaRefs>
</ds:datastoreItem>
</file>

<file path=customXml/itemProps3.xml><?xml version="1.0" encoding="utf-8"?>
<ds:datastoreItem xmlns:ds="http://schemas.openxmlformats.org/officeDocument/2006/customXml" ds:itemID="{0CB0DCAC-1370-4132-9A97-70A7A168162D}">
  <ds:schemaRefs>
    <ds:schemaRef ds:uri="61d7a295-102b-4ba7-8142-2982d133915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213</TotalTime>
  <Words>5748</Words>
  <Application>Microsoft Office PowerPoint</Application>
  <PresentationFormat>Custom</PresentationFormat>
  <Paragraphs>878</Paragraphs>
  <Slides>68</Slides>
  <Notes>66</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Amazon Ember</vt:lpstr>
      <vt:lpstr>Amazon Ember Light</vt:lpstr>
      <vt:lpstr>Amazon Ember Medium</vt:lpstr>
      <vt:lpstr>AmazonEmber</vt:lpstr>
      <vt:lpstr>Arial</vt:lpstr>
      <vt:lpstr>Calibri</vt:lpstr>
      <vt:lpstr>Courier New</vt:lpstr>
      <vt:lpstr>Helvetica Neue</vt:lpstr>
      <vt:lpstr>Office Theme</vt:lpstr>
      <vt:lpstr>Adding a Compute Layer</vt:lpstr>
      <vt:lpstr>Adding the Compute Layer</vt:lpstr>
      <vt:lpstr>Module 3</vt:lpstr>
      <vt:lpstr>Adding Compute with Amazon EC2</vt:lpstr>
      <vt:lpstr>What Needs Can Amazon EC2 Address?</vt:lpstr>
      <vt:lpstr>Virtual Machines vs. Physical Servers</vt:lpstr>
      <vt:lpstr>Launching Amazon EC2 Instances with Amazon Machine Images (AMIs)</vt:lpstr>
      <vt:lpstr>Amazon EC2 and AMIs</vt:lpstr>
      <vt:lpstr>Amazon EC2 and AMIs</vt:lpstr>
      <vt:lpstr>Where Do You Get an AMI?</vt:lpstr>
      <vt:lpstr>How Do AMIs Help?</vt:lpstr>
      <vt:lpstr>How Do AMIs Help?</vt:lpstr>
      <vt:lpstr>How Do AMIs Help?</vt:lpstr>
      <vt:lpstr>How Do AMIs Help?</vt:lpstr>
      <vt:lpstr>How Do AMIs Help?</vt:lpstr>
      <vt:lpstr>EC2 Image Builder</vt:lpstr>
      <vt:lpstr>Launching Amazon EC2 Instances with User Data</vt:lpstr>
      <vt:lpstr>Launching EC2 Instances with User Data</vt:lpstr>
      <vt:lpstr>Retrieving Information about Your EC2 Instance with Instance Metadata</vt:lpstr>
      <vt:lpstr>Amazon EC2 and Storing Data</vt:lpstr>
      <vt:lpstr>What Problems Does Amazon Elastic Block Store (Amazon EBS) Solve?</vt:lpstr>
      <vt:lpstr>Amazon EBS Volume Types</vt:lpstr>
      <vt:lpstr>Amazon EBS Volume Types</vt:lpstr>
      <vt:lpstr>Instances Optimized for Amazon EBS</vt:lpstr>
      <vt:lpstr>Shared File Systems</vt:lpstr>
      <vt:lpstr>Amazon Elastic File System (EFS)</vt:lpstr>
      <vt:lpstr>Amazon EC2 Instance Types</vt:lpstr>
      <vt:lpstr>EC2 Instances – What’s in a Name? </vt:lpstr>
      <vt:lpstr>EC2 Instances – Sizes</vt:lpstr>
      <vt:lpstr>EC2 Instances – Types</vt:lpstr>
      <vt:lpstr>EC2 Instances – Types </vt:lpstr>
      <vt:lpstr>EC2 – General Purpose Example</vt:lpstr>
      <vt:lpstr>EC2 – Compute Optimized Example</vt:lpstr>
      <vt:lpstr>EC2 – Memory Optimized Example</vt:lpstr>
      <vt:lpstr>EC2 – Accelerated Computing Example</vt:lpstr>
      <vt:lpstr>EC2 – Storage Optimized Example</vt:lpstr>
      <vt:lpstr>Graviton2 Processors</vt:lpstr>
      <vt:lpstr>Intel® Xeon CPUs and EC2 Instances</vt:lpstr>
      <vt:lpstr>Intel® Xeon CPUs and EC2 Instances</vt:lpstr>
      <vt:lpstr>Intel Processors for Your Workloads</vt:lpstr>
      <vt:lpstr>Intel® Xeon Scalable Processors</vt:lpstr>
      <vt:lpstr>Intel® Xeon Family and EC2 Instances</vt:lpstr>
      <vt:lpstr>Instance Generations and Cost</vt:lpstr>
      <vt:lpstr>Amazon EC2 Pricing Options</vt:lpstr>
      <vt:lpstr>EC2 Pricing Options</vt:lpstr>
      <vt:lpstr>On-Demand Instances</vt:lpstr>
      <vt:lpstr>Reserved Instances</vt:lpstr>
      <vt:lpstr>Savings Plans</vt:lpstr>
      <vt:lpstr>Spot Instances</vt:lpstr>
      <vt:lpstr>Amazon EC2 Dedicated Options</vt:lpstr>
      <vt:lpstr>Amazon EC2 Dedicated Instances</vt:lpstr>
      <vt:lpstr>Amazon EC2 Dedicated Hosts</vt:lpstr>
      <vt:lpstr>Amazon EC2 Tenancy</vt:lpstr>
      <vt:lpstr>AWS Compute Optimizer</vt:lpstr>
      <vt:lpstr>Keeping Track of Your Instances</vt:lpstr>
      <vt:lpstr>Tagging Best Practices</vt:lpstr>
      <vt:lpstr>Amazon EC2 Considerations</vt:lpstr>
      <vt:lpstr>Architectural Considerations 1</vt:lpstr>
      <vt:lpstr>Architectural Considerations 2</vt:lpstr>
      <vt:lpstr>Architectural Considerations 3</vt:lpstr>
      <vt:lpstr>Knowledge Checks</vt:lpstr>
      <vt:lpstr>Knowledge Check 4</vt:lpstr>
      <vt:lpstr>Knowledge Check 4: Answer</vt:lpstr>
      <vt:lpstr>Knowledge Check 5</vt:lpstr>
      <vt:lpstr>Knowledge Check 5: Answer</vt:lpstr>
      <vt:lpstr>Knowledge Check 6</vt:lpstr>
      <vt:lpstr>Knowledge Check 6: Answer</vt:lpstr>
      <vt:lpstr>Thank You </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CTPClassification=CTP_NT</cp:keywords>
  <dc:description/>
  <cp:lastModifiedBy>Admin</cp:lastModifiedBy>
  <cp:revision>7</cp:revision>
  <cp:lastPrinted>2017-08-03T20:30:13Z</cp:lastPrinted>
  <dcterms:created xsi:type="dcterms:W3CDTF">2017-05-11T23:06:57Z</dcterms:created>
  <dcterms:modified xsi:type="dcterms:W3CDTF">2022-06-07T07:07:10Z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263bf1b3-1ee1-4698-8f8a-c906fe3b0a7e</vt:lpwstr>
  </property>
  <property fmtid="{D5CDD505-2E9C-101B-9397-08002B2CF9AE}" pid="3" name="CTP_TimeStamp">
    <vt:lpwstr>2020-04-09 23:17:52Z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0x010100D4EC3CBD49A9D74AB59EB8F208DED5D9</vt:lpwstr>
  </property>
</Properties>
</file>